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563242"/>
            <a:ext cx="10477500" cy="1381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913632"/>
            <a:ext cx="1047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EXECUTIVE PRESENTATION • TECHNICAL DELIVERY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247007"/>
            <a:ext cx="11001375" cy="61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0" sz="4200" i="0" u="none">
                <a:solidFill>
                  <a:srgbClr val="FFFFFF"/>
                </a:solidFill>
                <a:latin typeface="Urbanist ExtraBold"/>
              </a:rPr>
              <a:t>TDM Nexus: </a:t>
            </a:r>
            <a:r>
              <a:rPr b="0" sz="4200" i="0" u="none">
                <a:solidFill>
                  <a:srgbClr val="FFFFFF"/>
                </a:solidFill>
                <a:latin typeface="Urbanist ExtraBold"/>
              </a:rPr>
              <a:t>AI-Driven Portfolio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098452"/>
            <a:ext cx="104775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Transforming Technical Delivery Oversight into Predictive Steering &amp; Measurable ROI.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810892"/>
            <a:ext cx="9858375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8BDF8"/>
                </a:solidFill>
                <a:latin typeface="Inter SemiBold"/>
              </a:rPr>
              <a:t>The Executive Friction: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According to PMI, project leaders spend up to </a:t>
            </a:r>
            <a:r>
              <a:rPr b="0" sz="1500" i="0" u="none">
                <a:solidFill>
                  <a:srgbClr val="F1F5F9"/>
                </a:solidFill>
                <a:latin typeface="Inter SemiBold"/>
              </a:rPr>
              <a:t>54% of their working hours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on manual status updates and tracking. While many deploy generic AI, McKinsey research confirms that </a:t>
            </a:r>
            <a:r>
              <a:rPr b="0" sz="1500" i="0" u="none">
                <a:solidFill>
                  <a:srgbClr val="F1F5F9"/>
                </a:solidFill>
                <a:latin typeface="Inter SemiBold"/>
              </a:rPr>
              <a:t>up to 300% ROI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is realized only when AI is </a:t>
            </a:r>
            <a:r>
              <a:rPr b="0" sz="1500" i="1" u="none">
                <a:solidFill>
                  <a:srgbClr val="CBD5E1"/>
                </a:solidFill>
                <a:latin typeface="Inter"/>
              </a:rPr>
              <a:t>embedded directly into core delivery governance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27311"/>
            <a:ext cx="5372100" cy="40528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827311"/>
            <a:ext cx="5372100" cy="40528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4666" y="544710"/>
            <a:ext cx="1656308" cy="2933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2170211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62100" y="2279749"/>
            <a:ext cx="3341667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Urbanist"/>
              </a:rPr>
              <a:t>Traditional Delivery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0625" y="2856011"/>
            <a:ext cx="44196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F1F5F9"/>
                </a:solidFill>
                <a:latin typeface="Inter SemiBold"/>
              </a:rPr>
              <a:t>54% Admin Waste: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PMs spend half their time collecting manual updates across 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0625" y="3526333"/>
            <a:ext cx="44196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F1F5F9"/>
                </a:solidFill>
                <a:latin typeface="Inter SemiBold"/>
              </a:rPr>
              <a:t>Late Risk Detection: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Technical blockers are discovered only during milestone failures.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0625" y="4196655"/>
            <a:ext cx="44196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F1F5F9"/>
                </a:solidFill>
                <a:latin typeface="Inter SemiBold"/>
              </a:rPr>
              <a:t>Fragmented Visibility: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Cross-project dependency collisions remain hidden in siloes.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0625" y="4866977"/>
            <a:ext cx="44196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F1F5F9"/>
                </a:solidFill>
                <a:latin typeface="Inter SemiBold"/>
              </a:rPr>
              <a:t>Disconnected AI: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Standalone chatbots offer generic summaries without operational context.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2170211"/>
            <a:ext cx="5334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58050" y="2279749"/>
            <a:ext cx="2549537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Urbanist"/>
              </a:rPr>
              <a:t>TDM Nexus AI Paradigm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8475" y="2856011"/>
            <a:ext cx="44196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F1F5F9"/>
                </a:solidFill>
                <a:latin typeface="Inter SemiBold"/>
              </a:rPr>
              <a:t>Automated Synthesis: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Real-time delivery data transformed into executive updates instantly.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475" y="3526333"/>
            <a:ext cx="44196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F1F5F9"/>
                </a:solidFill>
                <a:latin typeface="Inter SemiBold"/>
              </a:rPr>
              <a:t>Predictive Risk Engine: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Early alerts flag delivery velocity drops before deadline slips.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8475" y="4196655"/>
            <a:ext cx="44196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F1F5F9"/>
                </a:solidFill>
                <a:latin typeface="Inter SemiBold"/>
              </a:rPr>
              <a:t>Unified Governance: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Centralized technical delivery nerve center for portfolio leaders.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475" y="4866977"/>
            <a:ext cx="44196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F1F5F9"/>
                </a:solidFill>
                <a:latin typeface="Inter SemiBold"/>
              </a:rPr>
              <a:t>Embedded ROI: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Up to 3x productivity gains built directly into team workflows.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2856011"/>
            <a:ext cx="161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3526333"/>
            <a:ext cx="161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4196655"/>
            <a:ext cx="161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4866977"/>
            <a:ext cx="161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2856011"/>
            <a:ext cx="161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775" y="3526333"/>
            <a:ext cx="161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1775" y="4196655"/>
            <a:ext cx="161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1775" y="4866977"/>
            <a:ext cx="161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025" y="485775"/>
            <a:ext cx="11581447" cy="4208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FFFFF"/>
                </a:solidFill>
                <a:latin typeface="Urbanist"/>
              </a:rPr>
              <a:t>The Strategic Shift: Reactive vs Predictive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1025" y="104001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858" y="2044005"/>
            <a:ext cx="4792116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8586" y="544710"/>
            <a:ext cx="1252388" cy="2933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383" y="2053530"/>
            <a:ext cx="4773066" cy="3600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2191642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3515617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4839592"/>
            <a:ext cx="17145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1100" y="2163067"/>
            <a:ext cx="530956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Urbanist"/>
              </a:rPr>
              <a:t>Centralized Delivery 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2439292"/>
            <a:ext cx="505673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Aggregates technical metrics, tickets, and release pipelines into a unified executive dashboard.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487042"/>
            <a:ext cx="533957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Urbanist"/>
              </a:rPr>
              <a:t>AI Risk &amp; Blocker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3763267"/>
            <a:ext cx="50853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Automatically flags dependency bottlenecks, resource burn spikes, and potential milestone delays.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4811017"/>
            <a:ext cx="539958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Urbanist"/>
              </a:rPr>
              <a:t>1-Click Executive Briefings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375" y="5087242"/>
            <a:ext cx="51424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Generates tailored, concise narrative summaries for senior portfolio managers in seconds.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485775"/>
            <a:ext cx="11581447" cy="4208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FFFFF"/>
                </a:solidFill>
                <a:latin typeface="Urbanist"/>
              </a:rPr>
              <a:t>TDM Nexus Feature Spotlight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04001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67892"/>
            <a:ext cx="3517850" cy="2371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667892"/>
            <a:ext cx="3517850" cy="2371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667892"/>
            <a:ext cx="3517999" cy="2371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8057" y="544710"/>
            <a:ext cx="962917" cy="2933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39800" y="3010792"/>
            <a:ext cx="12001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0" sz="4800" i="0" u="none">
                <a:solidFill>
                  <a:srgbClr val="38BDF8"/>
                </a:solidFill>
                <a:latin typeface="Urbanist ExtraBold"/>
              </a:rPr>
              <a:t>54%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4075" y="3715642"/>
            <a:ext cx="1371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Inter"/>
              </a:rPr>
              <a:t>Time Recovered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75" y="4010917"/>
            <a:ext cx="3022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Reduction in manual status collection and deck compilation for project leads.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3851" y="3010792"/>
            <a:ext cx="1524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0" sz="4800" i="0" u="none">
                <a:solidFill>
                  <a:srgbClr val="38BDF8"/>
                </a:solidFill>
                <a:latin typeface="Urbanist ExtraBold"/>
              </a:rPr>
              <a:t>300%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2926" y="3715642"/>
            <a:ext cx="10858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Inter"/>
              </a:rPr>
              <a:t>Targeted ROI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4650" y="4010917"/>
            <a:ext cx="3022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Achieved by embedding AI natively into delivery governance workflows.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6187" y="3010792"/>
            <a:ext cx="11715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0" sz="4800" i="0" u="none">
                <a:solidFill>
                  <a:srgbClr val="38BDF8"/>
                </a:solidFill>
                <a:latin typeface="Urbanist ExtraBold"/>
              </a:rPr>
              <a:t>72%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3800" y="3715642"/>
            <a:ext cx="12763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Inter"/>
              </a:rPr>
              <a:t>Risk Avoidance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0625" y="4010917"/>
            <a:ext cx="30226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Proactive mitigation of cross-project dependency collisions before milestone breach.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4208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FFFFF"/>
                </a:solidFill>
                <a:latin typeface="Urbanist"/>
              </a:rPr>
              <a:t>Measurable Portfolio Impact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104001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821" y="2957512"/>
            <a:ext cx="342900" cy="342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591" y="2957512"/>
            <a:ext cx="3429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8360" y="2957512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6129" y="2957512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119437"/>
            <a:ext cx="2426493" cy="146848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8794" y="3119437"/>
            <a:ext cx="2426493" cy="146848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6563" y="3119437"/>
            <a:ext cx="2426493" cy="146848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4332" y="3119437"/>
            <a:ext cx="2426493" cy="146848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54022" y="544710"/>
            <a:ext cx="856952" cy="2933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81025" y="3839319"/>
            <a:ext cx="1102995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0388" y="3443287"/>
            <a:ext cx="212776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Urbanist"/>
              </a:rPr>
              <a:t>Phase 1: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3748087"/>
            <a:ext cx="2026443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Onboard 2 key technical delivery streams into TDM Nexus hub.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8158" y="3443287"/>
            <a:ext cx="212776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Urbanist"/>
              </a:rPr>
              <a:t>Phase 2: Integrate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819" y="3748087"/>
            <a:ext cx="2026443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Connect CI/CD pipelines, issue trackers, and automated telemetry.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5927" y="3443287"/>
            <a:ext cx="212776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Urbanist"/>
              </a:rPr>
              <a:t>Phase 3: AI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6588" y="3748087"/>
            <a:ext cx="2026443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Configure custom risk thresholds and automated executive reporting.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3696" y="3443287"/>
            <a:ext cx="212776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Urbanist"/>
              </a:rPr>
              <a:t>Phase 4: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4357" y="3748087"/>
            <a:ext cx="2026443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Expand across full portfolio with standardized governance dashboards.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025" y="485775"/>
            <a:ext cx="11581447" cy="4208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FFFFF"/>
                </a:solidFill>
                <a:latin typeface="Urbanist"/>
              </a:rPr>
              <a:t>Portfolio Rollout Strategy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" y="104001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615481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76400" y="3608933"/>
            <a:ext cx="9934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https://digital.ai/wp-content/uploads/2022/09/RC-SS-AI-2023-4-intelligence-product-screenshot.png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6400" y="3854648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digital.ai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485775"/>
            <a:ext cx="11581447" cy="4208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FFFFF"/>
                </a:solidFill>
                <a:latin typeface="Urbanist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81025" y="104001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