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F8BC-4C29-6D69-50A1-171491D53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AB1A9-7FC8-0AA6-6F16-BBBD42AEC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82046-F803-65D1-743A-01EAB859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00E34-152C-9A67-84BE-C98DBF784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3513C-9025-F412-2124-BF4513DF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3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56C8-853F-7DF3-EECC-C5544CD8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CEBD3-FCEB-2207-9EDD-3F934D28F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D1F80-EAC6-E548-D12A-3A7577DD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559C4-C407-F4EA-0676-9658D6C05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CB640-294D-B6D5-672F-78C70D83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40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F3668-2F50-05B1-F2FE-AB01627F0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6414F-2B2E-9F52-D728-A1E38F4D2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CD7F5-2A26-BDCF-3EDE-19B50B93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4E74A-B6A5-1388-0008-A8A65C366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072E2-F71F-2A4C-B285-8701ACBD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0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18007-86C3-69AE-FFF1-C40C71B3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4761A-971B-EF00-3E58-B74BBA298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4EEF4-257C-E7A7-3884-AAD015783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B23C0-996E-B8CD-187B-636A1F96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32924-57AF-A1D8-EF30-834D3E01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9889D-119B-1689-3650-E1B5B20A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9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1829-AB1B-CC5C-E162-254DAF0CB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737E0-3812-52A2-D081-8E321A0E7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7539A-29EA-FA98-6EA1-2894A7C19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07BC4F-5051-4A7A-CFCA-7FF267953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D3B00A-C14C-4CD6-2C7F-2C0C725CD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F444E4-A540-3904-A898-634832002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07D76D-0A3E-16BF-274E-7F7D7D15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13A5B5-CB63-6374-5513-0F706C30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145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A778-3886-6017-2133-BB688FF3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7A716-8C3D-D816-8D35-7680425B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9D08D-B93A-0CC0-959A-99937598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F0DAC-D959-359D-CABE-D26E7F5C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9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5B022-F017-C38F-5F85-F83C70C9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551152-15C8-D5C5-1FA5-17E7A6F0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13566-69FA-62C7-DADB-C9D597662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2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4FB5-356A-FF11-8EB3-0C7C9D67B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F6616-0C73-04C6-D37D-39E6D2832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13349-C44D-12B8-061E-67D711DA0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7CE93-F3D5-0FE1-777D-30896809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26DA0-9708-08C2-F2D2-8E0E39BF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7D074-CE2D-B5F8-A989-DBD00DA7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A29F-70B1-C119-CC82-2ED22643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71F7A-DD0F-0901-8260-51A12D0FF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5BD9D-CD2C-C068-8806-93416ADED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258FF-C0C2-C2AE-FA43-D8EC0985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3666A-5CE8-EEA3-E55A-7D6FF37C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9DEEC-D438-AB20-38FB-6FB55F9D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6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9A49-0916-AE6E-EA40-9E681051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5A5C8-7391-E69E-035C-4A5B48108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7D1F9-C9A6-6365-8BA9-06B2D184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569A1-6F51-FF4A-E870-4F669443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7A317-FB4D-96AE-5961-7F3A28A2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2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B1190-5CB5-8198-9501-80602E025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4B540-BE08-9AA2-5CE2-0C08AB43E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65A77-71C8-6E95-9C43-82D6DD2E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8E4F2-E929-DB44-5365-E0E0AE0D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4DF68-50FD-BA38-FF9C-18EF5233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1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CB007D-78ED-6929-0E56-5AE21BE4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37C96-8918-34F4-5D50-60788579B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FB8E-8793-19CD-0238-CEBC49B82A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0EA91-5994-4208-8C9F-697E37EA1F1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A23F6-29BF-B492-2A06-FB3FE9D74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C78DE-1861-A34F-DD55-CDD554F8E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AFD18-D332-4D3B-981F-A1E33619A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99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99"/>
                </a:solidFill>
              </a:defRPr>
            </a:pPr>
            <a:r>
              <a:t>TDM Nexus</a:t>
            </a:r>
          </a:p>
          <a:p>
            <a:pPr>
              <a:defRPr sz="4400" b="1">
                <a:solidFill>
                  <a:srgbClr val="003399"/>
                </a:solidFill>
              </a:defRPr>
            </a:pPr>
            <a:r>
              <a:t>Capabilities, Gains, &amp; Reflections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Web Application for Technical Delivery Managers</a:t>
            </a:r>
          </a:p>
        </p:txBody>
      </p:sp>
    </p:spTree>
    <p:extLst>
      <p:ext uri="{BB962C8B-B14F-4D97-AF65-F5344CB8AC3E}">
        <p14:creationId xmlns:p14="http://schemas.microsoft.com/office/powerpoint/2010/main" val="313540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Introduction to TDM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What is TDM Nexus?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A comprehensive dashboard and management tool tailored for Technical Delivery Managers (TDMs).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Centralized platform for tracking releases, finances, quality, and governance.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Replaces fragmented tools with an interactive, responsive, and dynamic user interface.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Features 3D visualizations and real-time tracking.</a:t>
            </a:r>
          </a:p>
        </p:txBody>
      </p:sp>
    </p:spTree>
    <p:extLst>
      <p:ext uri="{BB962C8B-B14F-4D97-AF65-F5344CB8AC3E}">
        <p14:creationId xmlns:p14="http://schemas.microsoft.com/office/powerpoint/2010/main" val="2946630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Core Capabilities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Key features that drive efficiency: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Release Planning &amp; Governance: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Dedicated modules for Release Planning Meetings (RPM).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POAP and full lifecycle tracking.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Financial Management &amp; Approvals: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End-to-end tracking of budgets.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Monitoring ICAR movements and domain cross-charges.</a:t>
            </a:r>
          </a:p>
        </p:txBody>
      </p:sp>
    </p:spTree>
    <p:extLst>
      <p:ext uri="{BB962C8B-B14F-4D97-AF65-F5344CB8AC3E}">
        <p14:creationId xmlns:p14="http://schemas.microsoft.com/office/powerpoint/2010/main" val="391124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Core Capabilities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Ensuring quality and seamless operation: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Quality Assurance: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Integrated defect tracking.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Testing quality metrics.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Hypercare (ELS) monitoring.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Seamless Workflows: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Contextual tools including walkthrough wizards.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Implementation tracking and data analyzing dashboards.</a:t>
            </a:r>
          </a:p>
        </p:txBody>
      </p:sp>
    </p:spTree>
    <p:extLst>
      <p:ext uri="{BB962C8B-B14F-4D97-AF65-F5344CB8AC3E}">
        <p14:creationId xmlns:p14="http://schemas.microsoft.com/office/powerpoint/2010/main" val="3619205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User Experience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Designed for modern workflows: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Fully responsive design accommodating desktop, tablet, and mobile views to keep TDMs connected.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Contextual views with adaptable layouts, split-modes, and data-rich tables.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Immersive data visualization powered by ThreeJS 3D canvas.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Optimized GPU performance dynamically based on the device.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Theming support, intelligent breakpoints, and accessible touch targets.</a:t>
            </a:r>
          </a:p>
        </p:txBody>
      </p:sp>
    </p:spTree>
    <p:extLst>
      <p:ext uri="{BB962C8B-B14F-4D97-AF65-F5344CB8AC3E}">
        <p14:creationId xmlns:p14="http://schemas.microsoft.com/office/powerpoint/2010/main" val="50212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Key Gains from Using TDM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Measurable improvements in daily operations: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Process Efficiency: Streamlined planning to delivery processes via a 'single pane of glass'.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Real-Time Visibility: Immediate insight into RAG statuses (Red, Amber, Green).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Platform Synchronization: Seamlessly bridges the gap between Planning and Release Management.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Robust Cost Control: Enhanced visibility into VROMs, budgets, and domain timesheet tracking.</a:t>
            </a:r>
          </a:p>
        </p:txBody>
      </p:sp>
    </p:spTree>
    <p:extLst>
      <p:ext uri="{BB962C8B-B14F-4D97-AF65-F5344CB8AC3E}">
        <p14:creationId xmlns:p14="http://schemas.microsoft.com/office/powerpoint/2010/main" val="391899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63242"/>
            <a:ext cx="10477500" cy="138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13632"/>
            <a:ext cx="1047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EXECUTIVE PRESENTATION • TECHNICAL DELIVERY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247007"/>
            <a:ext cx="11001375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0" i="0" u="none">
                <a:solidFill>
                  <a:srgbClr val="FFFFFF"/>
                </a:solidFill>
                <a:latin typeface="Urbanist ExtraBold"/>
              </a:rPr>
              <a:t>TDM Nexus: AI-Driven Portfolio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098452"/>
            <a:ext cx="10477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Transforming Technical Delivery Oversight into Predictive Steering &amp; Measurable ROI.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810892"/>
            <a:ext cx="9858375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Inter SemiBold"/>
              </a:rPr>
              <a:t>The Executive Friction: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According to PMI, project leaders spend up to </a:t>
            </a:r>
            <a:r>
              <a:rPr sz="1500" b="0" i="0" u="none">
                <a:solidFill>
                  <a:srgbClr val="F1F5F9"/>
                </a:solidFill>
                <a:latin typeface="Inter SemiBold"/>
              </a:rPr>
              <a:t>54% of their working hours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on manual status updates and tracking. While many deploy generic AI, McKinsey research confirms that </a:t>
            </a:r>
            <a:r>
              <a:rPr sz="1500" b="0" i="0" u="none">
                <a:solidFill>
                  <a:srgbClr val="F1F5F9"/>
                </a:solidFill>
                <a:latin typeface="Inter SemiBold"/>
              </a:rPr>
              <a:t>up to 300% ROI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is realized only when AI is </a:t>
            </a:r>
            <a:r>
              <a:rPr sz="1500" b="0" i="1" u="none">
                <a:solidFill>
                  <a:srgbClr val="CBD5E1"/>
                </a:solidFill>
                <a:latin typeface="Inter"/>
              </a:rPr>
              <a:t>embedded directly into core delivery governance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933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27311"/>
            <a:ext cx="5372100" cy="4052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827311"/>
            <a:ext cx="5372100" cy="4052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4666" y="544710"/>
            <a:ext cx="1656308" cy="2933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170211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2100" y="2279749"/>
            <a:ext cx="334166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Urbanist"/>
              </a:rPr>
              <a:t>Traditional Delivery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0625" y="2856011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54% Admin Waste: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PMs spend half their time collecting manual updates across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3526333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Late Risk Detection: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Technical blockers are discovered only during milestone failures.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4196655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Fragmented Visibility: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Cross-project dependency collisions remain hidden in siloes.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4866977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Disconnected AI: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Standalone chatbots offer generic summaries without operational context.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170211"/>
            <a:ext cx="5334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58050" y="2279749"/>
            <a:ext cx="254953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Urbanist"/>
              </a:rPr>
              <a:t>TDM Nexus AI Paradigm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475" y="2856011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Automated Synthesis: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Real-time delivery data transformed into executive updates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475" y="3526333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Predictive Risk Engine: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Early alerts flag delivery velocity drops before deadline slips.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475" y="4196655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Unified Governance: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Centralized technical delivery nerve center for portfolio leaders.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475" y="4866977"/>
            <a:ext cx="44196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F1F5F9"/>
                </a:solidFill>
                <a:latin typeface="Inter SemiBold"/>
              </a:rPr>
              <a:t>Embedded ROI: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Up to 3x productivity gains built directly into team 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2856011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526333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4196655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866977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2856011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526333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4196655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4866977"/>
            <a:ext cx="161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Urbanist"/>
              </a:rPr>
              <a:t>The Strategic Shift: Reactive vs Predictive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0378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858" y="2044005"/>
            <a:ext cx="4792116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586" y="544710"/>
            <a:ext cx="1252388" cy="2933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383" y="2053530"/>
            <a:ext cx="4773066" cy="3600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2191642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351561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4839592"/>
            <a:ext cx="1714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100" y="2163067"/>
            <a:ext cx="53095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Urbanist"/>
              </a:rPr>
              <a:t>Centralized Delivery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2439292"/>
            <a:ext cx="505673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Aggregates technical metrics, tickets, and release pipelines into a unified executive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487042"/>
            <a:ext cx="533957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Urbanist"/>
              </a:rPr>
              <a:t>AI Risk &amp; Blocker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763267"/>
            <a:ext cx="50853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Automatically flags dependency bottlenecks, resource burn spikes, and potential milestone delays.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4811017"/>
            <a:ext cx="53995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Urbanist"/>
              </a:rPr>
              <a:t>1-Click Executive Briefings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5087242"/>
            <a:ext cx="51424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Generates tailored, concise narrative summaries for senior portfolio managers in seconds.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Urbanist"/>
              </a:rPr>
              <a:t>TDM Nexus Feature Spotlight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99675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67892"/>
            <a:ext cx="3517850" cy="2371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667892"/>
            <a:ext cx="3517850" cy="2371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667892"/>
            <a:ext cx="3517999" cy="2371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8057" y="544710"/>
            <a:ext cx="962917" cy="293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9800" y="3010792"/>
            <a:ext cx="1200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0" i="0" u="none">
                <a:solidFill>
                  <a:srgbClr val="38BDF8"/>
                </a:solidFill>
                <a:latin typeface="Urbanist ExtraBold"/>
              </a:rPr>
              <a:t>54%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4075" y="3715642"/>
            <a:ext cx="1371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1F5F9"/>
                </a:solidFill>
                <a:latin typeface="Inter"/>
              </a:rPr>
              <a:t>Time Recovered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4010917"/>
            <a:ext cx="3022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Reduction in manual status collection and deck compilation for project leads.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3851" y="3010792"/>
            <a:ext cx="1524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0" i="0" u="none">
                <a:solidFill>
                  <a:srgbClr val="38BDF8"/>
                </a:solidFill>
                <a:latin typeface="Urbanist ExtraBold"/>
              </a:rPr>
              <a:t>300%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2926" y="3715642"/>
            <a:ext cx="1085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1F5F9"/>
                </a:solidFill>
                <a:latin typeface="Inter"/>
              </a:rPr>
              <a:t>Targeted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4650" y="4010917"/>
            <a:ext cx="3022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Achieved by embedding AI natively into delivery governance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6187" y="3010792"/>
            <a:ext cx="1171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0" i="0" u="none">
                <a:solidFill>
                  <a:srgbClr val="38BDF8"/>
                </a:solidFill>
                <a:latin typeface="Urbanist ExtraBold"/>
              </a:rP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3800" y="3715642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1F5F9"/>
                </a:solidFill>
                <a:latin typeface="Inter"/>
              </a:rPr>
              <a:t>Risk Avoidance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4010917"/>
            <a:ext cx="30226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Proactive mitigation of cross-project dependency collisions before milestone breach.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Urbanist"/>
              </a:rPr>
              <a:t>Measurable Portfolio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32829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821" y="2957512"/>
            <a:ext cx="342900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591" y="2957512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360" y="2957512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129" y="2957512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119437"/>
            <a:ext cx="2426493" cy="14684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8794" y="3119437"/>
            <a:ext cx="2426493" cy="146848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6563" y="3119437"/>
            <a:ext cx="2426493" cy="146848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4332" y="3119437"/>
            <a:ext cx="2426493" cy="146848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54022" y="544710"/>
            <a:ext cx="856952" cy="2933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81025" y="3839319"/>
            <a:ext cx="1102995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0388" y="3443287"/>
            <a:ext cx="212776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Urbanist"/>
              </a:rPr>
              <a:t>Phase 1: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3748087"/>
            <a:ext cx="2026443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Onboard 2 key technical delivery streams into TDM Nexus hub.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8158" y="3443287"/>
            <a:ext cx="212776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Urbanist"/>
              </a:rPr>
              <a:t>Phase 2: Integrate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819" y="3748087"/>
            <a:ext cx="2026443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Connect CI/CD pipelines, issue trackers, and automated telemetry.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927" y="3443287"/>
            <a:ext cx="212776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Urbanist"/>
              </a:rPr>
              <a:t>Phase 3: AI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588" y="3748087"/>
            <a:ext cx="2026443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Configure custom risk thresholds and automated executive reporting.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3696" y="3443287"/>
            <a:ext cx="212776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Urbanist"/>
              </a:rPr>
              <a:t>Phase 4: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4357" y="3748087"/>
            <a:ext cx="2026443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Expand across full portfolio with standardized governance dashboards.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Urbanist"/>
              </a:rPr>
              <a:t>Portfolio Rollout 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47920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615481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6400" y="3608933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https://digital.ai/wp-content/uploads/2022/09/RC-SS-AI-2023-4-intelligence-product-screenshot.png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3854648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digital.ai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85775"/>
            <a:ext cx="11581447" cy="420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FFFFFF"/>
                </a:solidFill>
                <a:latin typeface="Urbanist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1025" y="104001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37253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Inter</vt:lpstr>
      <vt:lpstr>Inter SemiBold</vt:lpstr>
      <vt:lpstr>Urbanist</vt:lpstr>
      <vt:lpstr>Urbanist ExtraBold</vt:lpstr>
      <vt:lpstr>Office Theme</vt:lpstr>
      <vt:lpstr>TDM Nexus Capabilities, Gains, &amp; Reflections</vt:lpstr>
      <vt:lpstr>Introduction to TDM Nexus</vt:lpstr>
      <vt:lpstr>Core Capabilities (1/2)</vt:lpstr>
      <vt:lpstr>Core Capabilities (2/2)</vt:lpstr>
      <vt:lpstr>User Experience &amp; Design</vt:lpstr>
      <vt:lpstr>Key Gains from Using TDM Nexus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Sono Pc</dc:creator>
  <cp:lastModifiedBy>Sono Pc</cp:lastModifiedBy>
  <cp:revision>1</cp:revision>
  <dcterms:created xsi:type="dcterms:W3CDTF">2026-08-13T11:10:44Z</dcterms:created>
  <dcterms:modified xsi:type="dcterms:W3CDTF">2026-08-13T11:10:44Z</dcterms:modified>
</cp:coreProperties>
</file>