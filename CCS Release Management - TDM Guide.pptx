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9" r:id="rId4"/>
  </p:sldMasterIdLst>
  <p:notesMasterIdLst>
    <p:notesMasterId r:id="rId56"/>
  </p:notesMasterIdLst>
  <p:handoutMasterIdLst>
    <p:handoutMasterId r:id="rId57"/>
  </p:handoutMasterIdLst>
  <p:sldIdLst>
    <p:sldId id="530" r:id="rId5"/>
    <p:sldId id="531" r:id="rId6"/>
    <p:sldId id="2147471113" r:id="rId7"/>
    <p:sldId id="2147483085" r:id="rId8"/>
    <p:sldId id="2147471104" r:id="rId9"/>
    <p:sldId id="834" r:id="rId10"/>
    <p:sldId id="2147483086" r:id="rId11"/>
    <p:sldId id="262" r:id="rId12"/>
    <p:sldId id="2147483087" r:id="rId13"/>
    <p:sldId id="2078558175" r:id="rId14"/>
    <p:sldId id="2078558176" r:id="rId15"/>
    <p:sldId id="2078558177" r:id="rId16"/>
    <p:sldId id="2078558178" r:id="rId17"/>
    <p:sldId id="2078558179" r:id="rId18"/>
    <p:sldId id="2078558182" r:id="rId19"/>
    <p:sldId id="270" r:id="rId20"/>
    <p:sldId id="312" r:id="rId21"/>
    <p:sldId id="2147471111" r:id="rId22"/>
    <p:sldId id="2147471112" r:id="rId23"/>
    <p:sldId id="2147471065" r:id="rId24"/>
    <p:sldId id="2147471031" r:id="rId25"/>
    <p:sldId id="2147471085" r:id="rId26"/>
    <p:sldId id="2147471093" r:id="rId27"/>
    <p:sldId id="2147471095" r:id="rId28"/>
    <p:sldId id="2147471096" r:id="rId29"/>
    <p:sldId id="2147471102" r:id="rId30"/>
    <p:sldId id="2147471063" r:id="rId31"/>
    <p:sldId id="2147471047" r:id="rId32"/>
    <p:sldId id="2147471077" r:id="rId33"/>
    <p:sldId id="2147471048" r:id="rId34"/>
    <p:sldId id="2147471049" r:id="rId35"/>
    <p:sldId id="2147471097" r:id="rId36"/>
    <p:sldId id="2147471099" r:id="rId37"/>
    <p:sldId id="2147471100" r:id="rId38"/>
    <p:sldId id="298" r:id="rId39"/>
    <p:sldId id="300" r:id="rId40"/>
    <p:sldId id="317" r:id="rId41"/>
    <p:sldId id="2147471098" r:id="rId42"/>
    <p:sldId id="2147471101" r:id="rId43"/>
    <p:sldId id="2147471107" r:id="rId44"/>
    <p:sldId id="267" r:id="rId45"/>
    <p:sldId id="281" r:id="rId46"/>
    <p:sldId id="2147471110" r:id="rId47"/>
    <p:sldId id="2147471071" r:id="rId48"/>
    <p:sldId id="485" r:id="rId49"/>
    <p:sldId id="486" r:id="rId50"/>
    <p:sldId id="2147471072" r:id="rId51"/>
    <p:sldId id="2147471073" r:id="rId52"/>
    <p:sldId id="2147471108" r:id="rId53"/>
    <p:sldId id="487" r:id="rId54"/>
    <p:sldId id="2147483088" r:id="rId55"/>
  </p:sldIdLst>
  <p:sldSz cx="9144000" cy="5143500" type="screen16x9"/>
  <p:notesSz cx="6797675"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4EE83E-352B-41B7-8D38-5D20CBD0DD11}">
          <p14:sldIdLst>
            <p14:sldId id="530"/>
            <p14:sldId id="531"/>
            <p14:sldId id="2147471113"/>
            <p14:sldId id="2147483085"/>
            <p14:sldId id="2147471104"/>
            <p14:sldId id="834"/>
            <p14:sldId id="2147483086"/>
            <p14:sldId id="262"/>
            <p14:sldId id="2147483087"/>
            <p14:sldId id="2078558175"/>
            <p14:sldId id="2078558176"/>
            <p14:sldId id="2078558177"/>
            <p14:sldId id="2078558178"/>
            <p14:sldId id="2078558179"/>
            <p14:sldId id="2078558182"/>
            <p14:sldId id="270"/>
            <p14:sldId id="312"/>
            <p14:sldId id="2147471111"/>
            <p14:sldId id="2147471112"/>
            <p14:sldId id="2147471065"/>
            <p14:sldId id="2147471031"/>
            <p14:sldId id="2147471085"/>
            <p14:sldId id="2147471093"/>
            <p14:sldId id="2147471095"/>
            <p14:sldId id="2147471096"/>
            <p14:sldId id="2147471102"/>
            <p14:sldId id="2147471063"/>
            <p14:sldId id="2147471047"/>
            <p14:sldId id="2147471077"/>
            <p14:sldId id="2147471048"/>
            <p14:sldId id="2147471049"/>
            <p14:sldId id="2147471097"/>
            <p14:sldId id="2147471099"/>
            <p14:sldId id="2147471100"/>
            <p14:sldId id="298"/>
            <p14:sldId id="300"/>
            <p14:sldId id="317"/>
            <p14:sldId id="2147471098"/>
            <p14:sldId id="2147471101"/>
            <p14:sldId id="2147471107"/>
            <p14:sldId id="267"/>
            <p14:sldId id="281"/>
            <p14:sldId id="2147471110"/>
            <p14:sldId id="2147471071"/>
            <p14:sldId id="485"/>
            <p14:sldId id="486"/>
            <p14:sldId id="2147471072"/>
            <p14:sldId id="2147471073"/>
            <p14:sldId id="2147471108"/>
            <p14:sldId id="487"/>
            <p14:sldId id="2147483088"/>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110" userDrawn="1">
          <p15:clr>
            <a:srgbClr val="A4A3A4"/>
          </p15:clr>
        </p15:guide>
        <p15:guide id="2" pos="214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C09D5C51-92B4-85BC-F4C9-E865B0026352}" name="Sandip Nair, Vodafone (External)" initials="SNV(" userId="S::Sandip.Nair01@vodafone.com::4fe7c5a0-e880-4997-8db8-2e0ab9c0ffee" providerId="AD"/>
  <p188:author id="{72B746B6-2D17-5AA7-5AF0-22A8906E59C9}" name="Marine Carnel, Vodafone" initials="MCV" userId="S::marine.carnel1@vodafone.com::fb3c9719-e291-4161-9fcd-a7c4b83bf61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arine Carnel, Vodafone" initials="MCV" lastIdx="5" clrIdx="0">
    <p:extLst>
      <p:ext uri="{19B8F6BF-5375-455C-9EA6-DF929625EA0E}">
        <p15:presenceInfo xmlns:p15="http://schemas.microsoft.com/office/powerpoint/2012/main" userId="S::marine.carnel1@vodafone.com::fb3c9719-e291-4161-9fcd-a7c4b83bf614" providerId="AD"/>
      </p:ext>
    </p:extLst>
  </p:cmAuthor>
  <p:cmAuthor id="2" name="Amy Tong, Vodafone" initials="ATV" lastIdx="3" clrIdx="1">
    <p:extLst>
      <p:ext uri="{19B8F6BF-5375-455C-9EA6-DF929625EA0E}">
        <p15:presenceInfo xmlns:p15="http://schemas.microsoft.com/office/powerpoint/2012/main" userId="S::amy.tong@vodafone.com::63670f83-e367-4a6f-ad9c-6e165fcc799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0000"/>
    <a:srgbClr val="00B0CA"/>
    <a:srgbClr val="D4E9AD"/>
    <a:srgbClr val="25282B"/>
    <a:srgbClr val="820000"/>
    <a:srgbClr val="5E2750"/>
    <a:srgbClr val="EB9700"/>
    <a:srgbClr val="FECB00"/>
    <a:srgbClr val="A8B400"/>
    <a:srgbClr val="007C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0" autoAdjust="0"/>
    <p:restoredTop sz="94660"/>
  </p:normalViewPr>
  <p:slideViewPr>
    <p:cSldViewPr snapToGrid="0">
      <p:cViewPr varScale="1">
        <p:scale>
          <a:sx n="78" d="100"/>
          <a:sy n="78" d="100"/>
        </p:scale>
        <p:origin x="984" y="64"/>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10"/>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64"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Kamal, Vodafone" userId="51a7dc20-ef77-410d-b0a3-9bf4d819aa4c" providerId="ADAL" clId="{A60F327E-2069-4178-AE27-C6A1D64D7A91}"/>
    <pc:docChg chg="delSld modSection">
      <pc:chgData name="Sara Kamal, Vodafone" userId="51a7dc20-ef77-410d-b0a3-9bf4d819aa4c" providerId="ADAL" clId="{A60F327E-2069-4178-AE27-C6A1D64D7A91}" dt="2026-06-23T08:24:12.605" v="0" actId="47"/>
      <pc:docMkLst>
        <pc:docMk/>
      </pc:docMkLst>
      <pc:sldChg chg="del">
        <pc:chgData name="Sara Kamal, Vodafone" userId="51a7dc20-ef77-410d-b0a3-9bf4d819aa4c" providerId="ADAL" clId="{A60F327E-2069-4178-AE27-C6A1D64D7A91}" dt="2026-06-23T08:24:12.605" v="0" actId="47"/>
        <pc:sldMkLst>
          <pc:docMk/>
          <pc:sldMk cId="757272460" sldId="82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3633"/>
          </a:xfrm>
          <a:prstGeom prst="rect">
            <a:avLst/>
          </a:prstGeom>
        </p:spPr>
        <p:txBody>
          <a:bodyPr vert="horz" lIns="91440" tIns="45720" rIns="91440" bIns="45720" rtlCol="0"/>
          <a:lstStyle>
            <a:lvl1pPr algn="l">
              <a:defRPr sz="1200"/>
            </a:lvl1pPr>
          </a:lstStyle>
          <a:p>
            <a:endParaRPr lang="en-GB">
              <a:latin typeface="Vodafone Rg" pitchFamily="34" charset="0"/>
            </a:endParaRPr>
          </a:p>
        </p:txBody>
      </p:sp>
      <p:sp>
        <p:nvSpPr>
          <p:cNvPr id="3" name="Date Placeholder 2"/>
          <p:cNvSpPr>
            <a:spLocks noGrp="1"/>
          </p:cNvSpPr>
          <p:nvPr>
            <p:ph type="dt" sz="quarter" idx="1"/>
          </p:nvPr>
        </p:nvSpPr>
        <p:spPr>
          <a:xfrm>
            <a:off x="3850443" y="0"/>
            <a:ext cx="2945659" cy="493633"/>
          </a:xfrm>
          <a:prstGeom prst="rect">
            <a:avLst/>
          </a:prstGeom>
        </p:spPr>
        <p:txBody>
          <a:bodyPr vert="horz" lIns="91440" tIns="45720" rIns="91440" bIns="45720" rtlCol="0"/>
          <a:lstStyle>
            <a:lvl1pPr algn="r">
              <a:defRPr sz="1200"/>
            </a:lvl1pPr>
          </a:lstStyle>
          <a:p>
            <a:fld id="{F9584B7D-F332-42E4-B349-DEDC589F1ADB}" type="datetimeFigureOut">
              <a:rPr lang="en-GB" smtClean="0">
                <a:latin typeface="Vodafone Rg" pitchFamily="34" charset="0"/>
              </a:rPr>
              <a:pPr/>
              <a:t>23/06/2026</a:t>
            </a:fld>
            <a:endParaRPr lang="en-GB">
              <a:latin typeface="Vodafone Rg" pitchFamily="34" charset="0"/>
            </a:endParaRPr>
          </a:p>
        </p:txBody>
      </p:sp>
      <p:sp>
        <p:nvSpPr>
          <p:cNvPr id="4" name="Footer Placeholder 3"/>
          <p:cNvSpPr>
            <a:spLocks noGrp="1"/>
          </p:cNvSpPr>
          <p:nvPr>
            <p:ph type="ftr" sz="quarter" idx="2"/>
          </p:nvPr>
        </p:nvSpPr>
        <p:spPr>
          <a:xfrm>
            <a:off x="0" y="9377317"/>
            <a:ext cx="2945659" cy="493633"/>
          </a:xfrm>
          <a:prstGeom prst="rect">
            <a:avLst/>
          </a:prstGeom>
        </p:spPr>
        <p:txBody>
          <a:bodyPr vert="horz" lIns="91440" tIns="45720" rIns="91440" bIns="45720" rtlCol="0" anchor="b"/>
          <a:lstStyle>
            <a:lvl1pPr algn="l">
              <a:defRPr sz="1200"/>
            </a:lvl1pPr>
          </a:lstStyle>
          <a:p>
            <a:endParaRPr lang="en-GB">
              <a:latin typeface="Vodafone Rg" pitchFamily="34" charset="0"/>
            </a:endParaRPr>
          </a:p>
        </p:txBody>
      </p:sp>
      <p:sp>
        <p:nvSpPr>
          <p:cNvPr id="5" name="Slide Number Placeholder 4"/>
          <p:cNvSpPr>
            <a:spLocks noGrp="1"/>
          </p:cNvSpPr>
          <p:nvPr>
            <p:ph type="sldNum" sz="quarter" idx="3"/>
          </p:nvPr>
        </p:nvSpPr>
        <p:spPr>
          <a:xfrm>
            <a:off x="3850443" y="9377317"/>
            <a:ext cx="2945659" cy="493633"/>
          </a:xfrm>
          <a:prstGeom prst="rect">
            <a:avLst/>
          </a:prstGeom>
        </p:spPr>
        <p:txBody>
          <a:bodyPr vert="horz" lIns="91440" tIns="45720" rIns="91440" bIns="45720" rtlCol="0" anchor="b"/>
          <a:lstStyle>
            <a:lvl1pPr algn="r">
              <a:defRPr sz="1200"/>
            </a:lvl1pPr>
          </a:lstStyle>
          <a:p>
            <a:fld id="{EA1C1BE2-1563-4C9C-8E4A-C427D52BD2E1}" type="slidenum">
              <a:rPr lang="en-GB" smtClean="0">
                <a:latin typeface="Vodafone Rg" pitchFamily="34" charset="0"/>
              </a:rPr>
              <a:pPr/>
              <a:t>‹#›</a:t>
            </a:fld>
            <a:endParaRPr lang="en-GB">
              <a:latin typeface="Vodafone Rg" pitchFamily="34" charset="0"/>
            </a:endParaRPr>
          </a:p>
        </p:txBody>
      </p:sp>
    </p:spTree>
    <p:extLst>
      <p:ext uri="{BB962C8B-B14F-4D97-AF65-F5344CB8AC3E}">
        <p14:creationId xmlns:p14="http://schemas.microsoft.com/office/powerpoint/2010/main" val="42807412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3633"/>
          </a:xfrm>
          <a:prstGeom prst="rect">
            <a:avLst/>
          </a:prstGeom>
        </p:spPr>
        <p:txBody>
          <a:bodyPr vert="horz" lIns="91440" tIns="45720" rIns="91440" bIns="45720" rtlCol="0"/>
          <a:lstStyle>
            <a:lvl1pPr algn="l">
              <a:defRPr sz="1200">
                <a:latin typeface="Vodafone Rg" pitchFamily="34" charset="0"/>
              </a:defRPr>
            </a:lvl1pPr>
          </a:lstStyle>
          <a:p>
            <a:endParaRPr lang="en-GB"/>
          </a:p>
        </p:txBody>
      </p:sp>
      <p:sp>
        <p:nvSpPr>
          <p:cNvPr id="3" name="Date Placeholder 2"/>
          <p:cNvSpPr>
            <a:spLocks noGrp="1"/>
          </p:cNvSpPr>
          <p:nvPr>
            <p:ph type="dt" idx="1"/>
          </p:nvPr>
        </p:nvSpPr>
        <p:spPr>
          <a:xfrm>
            <a:off x="3850443" y="0"/>
            <a:ext cx="2945659" cy="493633"/>
          </a:xfrm>
          <a:prstGeom prst="rect">
            <a:avLst/>
          </a:prstGeom>
        </p:spPr>
        <p:txBody>
          <a:bodyPr vert="horz" lIns="91440" tIns="45720" rIns="91440" bIns="45720" rtlCol="0"/>
          <a:lstStyle>
            <a:lvl1pPr algn="r">
              <a:defRPr sz="1200">
                <a:latin typeface="Vodafone Rg" pitchFamily="34" charset="0"/>
              </a:defRPr>
            </a:lvl1pPr>
          </a:lstStyle>
          <a:p>
            <a:fld id="{53ACD7AC-7E6F-4F59-A8AC-F454A6DBBD3A}" type="datetimeFigureOut">
              <a:rPr lang="en-GB" smtClean="0"/>
              <a:pPr/>
              <a:t>23/06/2026</a:t>
            </a:fld>
            <a:endParaRPr lang="en-GB"/>
          </a:p>
        </p:txBody>
      </p:sp>
      <p:sp>
        <p:nvSpPr>
          <p:cNvPr id="4" name="Slide Image Placeholder 3"/>
          <p:cNvSpPr>
            <a:spLocks noGrp="1" noRot="1" noChangeAspect="1"/>
          </p:cNvSpPr>
          <p:nvPr>
            <p:ph type="sldImg" idx="2"/>
          </p:nvPr>
        </p:nvSpPr>
        <p:spPr>
          <a:xfrm>
            <a:off x="107950" y="739775"/>
            <a:ext cx="6581775" cy="370205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689516"/>
            <a:ext cx="5438140" cy="444269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377319"/>
            <a:ext cx="2945659" cy="493633"/>
          </a:xfrm>
          <a:prstGeom prst="rect">
            <a:avLst/>
          </a:prstGeom>
        </p:spPr>
        <p:txBody>
          <a:bodyPr vert="horz" lIns="91440" tIns="45720" rIns="91440" bIns="45720" rtlCol="0" anchor="b"/>
          <a:lstStyle>
            <a:lvl1pPr algn="l">
              <a:defRPr sz="1200">
                <a:latin typeface="Vodafone Rg" pitchFamily="34" charset="0"/>
              </a:defRPr>
            </a:lvl1pPr>
          </a:lstStyle>
          <a:p>
            <a:endParaRPr lang="en-GB"/>
          </a:p>
        </p:txBody>
      </p:sp>
      <p:sp>
        <p:nvSpPr>
          <p:cNvPr id="7" name="Slide Number Placeholder 6"/>
          <p:cNvSpPr>
            <a:spLocks noGrp="1"/>
          </p:cNvSpPr>
          <p:nvPr>
            <p:ph type="sldNum" sz="quarter" idx="5"/>
          </p:nvPr>
        </p:nvSpPr>
        <p:spPr>
          <a:xfrm>
            <a:off x="3850443" y="9377319"/>
            <a:ext cx="2945659" cy="493633"/>
          </a:xfrm>
          <a:prstGeom prst="rect">
            <a:avLst/>
          </a:prstGeom>
        </p:spPr>
        <p:txBody>
          <a:bodyPr vert="horz" lIns="91440" tIns="45720" rIns="91440" bIns="45720" rtlCol="0" anchor="b"/>
          <a:lstStyle>
            <a:lvl1pPr algn="r">
              <a:defRPr sz="1200">
                <a:latin typeface="Vodafone Rg" pitchFamily="34" charset="0"/>
              </a:defRPr>
            </a:lvl1pPr>
          </a:lstStyle>
          <a:p>
            <a:fld id="{2B3E1866-6ABF-4414-AFB5-B91146A1FA19}" type="slidenum">
              <a:rPr lang="en-GB" smtClean="0"/>
              <a:pPr/>
              <a:t>‹#›</a:t>
            </a:fld>
            <a:endParaRPr lang="en-GB"/>
          </a:p>
        </p:txBody>
      </p:sp>
    </p:spTree>
    <p:extLst>
      <p:ext uri="{BB962C8B-B14F-4D97-AF65-F5344CB8AC3E}">
        <p14:creationId xmlns:p14="http://schemas.microsoft.com/office/powerpoint/2010/main" val="2208001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odafone Rg" pitchFamily="34" charset="0"/>
        <a:ea typeface="+mn-ea"/>
        <a:cs typeface="+mn-cs"/>
      </a:defRPr>
    </a:lvl1pPr>
    <a:lvl2pPr marL="457200" algn="l" defTabSz="914400" rtl="0" eaLnBrk="1" latinLnBrk="0" hangingPunct="1">
      <a:defRPr sz="1200" kern="1200">
        <a:solidFill>
          <a:schemeClr val="tx1"/>
        </a:solidFill>
        <a:latin typeface="Vodafone Rg" pitchFamily="34" charset="0"/>
        <a:ea typeface="+mn-ea"/>
        <a:cs typeface="+mn-cs"/>
      </a:defRPr>
    </a:lvl2pPr>
    <a:lvl3pPr marL="914400" algn="l" defTabSz="914400" rtl="0" eaLnBrk="1" latinLnBrk="0" hangingPunct="1">
      <a:defRPr sz="1200" kern="1200">
        <a:solidFill>
          <a:schemeClr val="tx1"/>
        </a:solidFill>
        <a:latin typeface="Vodafone Rg" pitchFamily="34" charset="0"/>
        <a:ea typeface="+mn-ea"/>
        <a:cs typeface="+mn-cs"/>
      </a:defRPr>
    </a:lvl3pPr>
    <a:lvl4pPr marL="1371600" algn="l" defTabSz="914400" rtl="0" eaLnBrk="1" latinLnBrk="0" hangingPunct="1">
      <a:defRPr sz="1200" kern="1200">
        <a:solidFill>
          <a:schemeClr val="tx1"/>
        </a:solidFill>
        <a:latin typeface="Vodafone Rg" pitchFamily="34" charset="0"/>
        <a:ea typeface="+mn-ea"/>
        <a:cs typeface="+mn-cs"/>
      </a:defRPr>
    </a:lvl4pPr>
    <a:lvl5pPr marL="1828800" algn="l" defTabSz="914400" rtl="0" eaLnBrk="1" latinLnBrk="0" hangingPunct="1">
      <a:defRPr sz="1200" kern="1200">
        <a:solidFill>
          <a:schemeClr val="tx1"/>
        </a:solidFill>
        <a:latin typeface="Vodafone Rg"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3E1866-6ABF-4414-AFB5-B91146A1FA19}" type="slidenum">
              <a:rPr lang="en-GB" smtClean="0"/>
              <a:pPr/>
              <a:t>2</a:t>
            </a:fld>
            <a:endParaRPr lang="en-GB"/>
          </a:p>
        </p:txBody>
      </p:sp>
    </p:spTree>
    <p:extLst>
      <p:ext uri="{BB962C8B-B14F-4D97-AF65-F5344CB8AC3E}">
        <p14:creationId xmlns:p14="http://schemas.microsoft.com/office/powerpoint/2010/main" val="1844079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is for presentations, such as Op Reviews</a:t>
            </a:r>
          </a:p>
        </p:txBody>
      </p:sp>
      <p:sp>
        <p:nvSpPr>
          <p:cNvPr id="4" name="Slide Number Placeholder 3"/>
          <p:cNvSpPr>
            <a:spLocks noGrp="1"/>
          </p:cNvSpPr>
          <p:nvPr>
            <p:ph type="sldNum" sz="quarter" idx="5"/>
          </p:nvPr>
        </p:nvSpPr>
        <p:spPr/>
        <p:txBody>
          <a:bodyPr/>
          <a:lstStyle/>
          <a:p>
            <a:fld id="{2B3E1866-6ABF-4414-AFB5-B91146A1FA19}" type="slidenum">
              <a:rPr lang="en-GB" smtClean="0"/>
              <a:pPr/>
              <a:t>6</a:t>
            </a:fld>
            <a:endParaRPr lang="en-GB" dirty="0"/>
          </a:p>
        </p:txBody>
      </p:sp>
    </p:spTree>
    <p:extLst>
      <p:ext uri="{BB962C8B-B14F-4D97-AF65-F5344CB8AC3E}">
        <p14:creationId xmlns:p14="http://schemas.microsoft.com/office/powerpoint/2010/main" val="1449572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2B3E1866-6ABF-4414-AFB5-B91146A1FA19}" type="slidenum">
              <a:rPr lang="en-GB" smtClean="0"/>
              <a:pPr/>
              <a:t>8</a:t>
            </a:fld>
            <a:endParaRPr lang="en-GB" dirty="0"/>
          </a:p>
        </p:txBody>
      </p:sp>
    </p:spTree>
    <p:extLst>
      <p:ext uri="{BB962C8B-B14F-4D97-AF65-F5344CB8AC3E}">
        <p14:creationId xmlns:p14="http://schemas.microsoft.com/office/powerpoint/2010/main" val="993458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95F01-5321-0FCA-8BCC-9FA9A4CBD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F5E3D6-D016-B3CB-7EA1-5B7C8C286CE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41B6B41-6CBE-FE98-9190-8AB6836A7BF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2C44E4A-69B2-7AF1-7D83-53671E595C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19C7C0-3301-4433-89CF-69344AB560A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6141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3D355-86BE-1BAC-313F-271F3E516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3C03E6-45C3-0998-1DA2-5F2E4DDB189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05E5573-BA51-7336-72B2-68DE7511F04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DA60E0D-07D2-0DF2-5E20-292F79F968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19C7C0-3301-4433-89CF-69344AB560A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6183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136F6-5300-743D-9014-EC367F0D0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966291-B651-21C5-5765-13DAD5FF19A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803FF83-251F-6057-45D2-D42391605AE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A72F551-E3D7-B154-6093-9480AF4D20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19C7C0-3301-4433-89CF-69344AB560A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655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4531F-1E65-9484-5E37-D2442D0E9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17FD8-55D4-17E4-12C9-4F927BD276E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B94ED66-087B-5817-7068-E0E6E24376A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35C5EEB-2D95-6A64-01B0-171B3BFEE84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19C7C0-3301-4433-89CF-69344AB560A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4098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41BD-B3AE-2E36-5B02-D5E0DF4C6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070473-19CA-0587-9595-43790E1FA79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606B2C6-A860-0D6D-5CE0-64F83DB6033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8C67E8E-5380-94C3-9240-BDA488AE8F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19C7C0-3301-4433-89CF-69344AB560A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4825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41BD-B3AE-2E36-5B02-D5E0DF4C6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070473-19CA-0587-9595-43790E1FA79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606B2C6-A860-0D6D-5CE0-64F83DB6033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8C67E8E-5380-94C3-9240-BDA488AE8F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19C7C0-3301-4433-89CF-69344AB560A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8030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2B3E1866-6ABF-4414-AFB5-B91146A1FA19}" type="slidenum">
              <a:rPr lang="en-GB" smtClean="0"/>
              <a:pPr/>
              <a:t>16</a:t>
            </a:fld>
            <a:endParaRPr lang="en-GB" dirty="0"/>
          </a:p>
        </p:txBody>
      </p:sp>
    </p:spTree>
    <p:extLst>
      <p:ext uri="{BB962C8B-B14F-4D97-AF65-F5344CB8AC3E}">
        <p14:creationId xmlns:p14="http://schemas.microsoft.com/office/powerpoint/2010/main" val="3558872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B3E1866-6ABF-4414-AFB5-B91146A1FA19}" type="slidenum">
              <a:rPr lang="en-GB" smtClean="0"/>
              <a:pPr/>
              <a:t>19</a:t>
            </a:fld>
            <a:endParaRPr lang="en-GB" dirty="0"/>
          </a:p>
        </p:txBody>
      </p:sp>
    </p:spTree>
    <p:extLst>
      <p:ext uri="{BB962C8B-B14F-4D97-AF65-F5344CB8AC3E}">
        <p14:creationId xmlns:p14="http://schemas.microsoft.com/office/powerpoint/2010/main" val="3711129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3E1866-6ABF-4414-AFB5-B91146A1FA19}" type="slidenum">
              <a:rPr lang="en-GB" smtClean="0"/>
              <a:pPr/>
              <a:t>23</a:t>
            </a:fld>
            <a:endParaRPr lang="en-GB"/>
          </a:p>
        </p:txBody>
      </p:sp>
    </p:spTree>
    <p:extLst>
      <p:ext uri="{BB962C8B-B14F-4D97-AF65-F5344CB8AC3E}">
        <p14:creationId xmlns:p14="http://schemas.microsoft.com/office/powerpoint/2010/main" val="4743331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3E1866-6ABF-4414-AFB5-B91146A1FA19}" type="slidenum">
              <a:rPr lang="en-GB" smtClean="0"/>
              <a:pPr/>
              <a:t>24</a:t>
            </a:fld>
            <a:endParaRPr lang="en-GB"/>
          </a:p>
        </p:txBody>
      </p:sp>
    </p:spTree>
    <p:extLst>
      <p:ext uri="{BB962C8B-B14F-4D97-AF65-F5344CB8AC3E}">
        <p14:creationId xmlns:p14="http://schemas.microsoft.com/office/powerpoint/2010/main" val="3952180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3E1866-6ABF-4414-AFB5-B91146A1FA19}" type="slidenum">
              <a:rPr lang="en-GB" smtClean="0"/>
              <a:pPr/>
              <a:t>25</a:t>
            </a:fld>
            <a:endParaRPr lang="en-GB"/>
          </a:p>
        </p:txBody>
      </p:sp>
    </p:spTree>
    <p:extLst>
      <p:ext uri="{BB962C8B-B14F-4D97-AF65-F5344CB8AC3E}">
        <p14:creationId xmlns:p14="http://schemas.microsoft.com/office/powerpoint/2010/main" val="26410764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3E1866-6ABF-4414-AFB5-B91146A1FA19}" type="slidenum">
              <a:rPr lang="en-GB" smtClean="0"/>
              <a:pPr/>
              <a:t>28</a:t>
            </a:fld>
            <a:endParaRPr lang="en-GB"/>
          </a:p>
        </p:txBody>
      </p:sp>
    </p:spTree>
    <p:extLst>
      <p:ext uri="{BB962C8B-B14F-4D97-AF65-F5344CB8AC3E}">
        <p14:creationId xmlns:p14="http://schemas.microsoft.com/office/powerpoint/2010/main" val="11890723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3E1866-6ABF-4414-AFB5-B91146A1FA19}" type="slidenum">
              <a:rPr lang="en-GB" smtClean="0"/>
              <a:pPr/>
              <a:t>29</a:t>
            </a:fld>
            <a:endParaRPr lang="en-GB"/>
          </a:p>
        </p:txBody>
      </p:sp>
    </p:spTree>
    <p:extLst>
      <p:ext uri="{BB962C8B-B14F-4D97-AF65-F5344CB8AC3E}">
        <p14:creationId xmlns:p14="http://schemas.microsoft.com/office/powerpoint/2010/main" val="79633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3E1866-6ABF-4414-AFB5-B91146A1FA19}" type="slidenum">
              <a:rPr lang="en-GB" smtClean="0"/>
              <a:pPr/>
              <a:t>30</a:t>
            </a:fld>
            <a:endParaRPr lang="en-GB"/>
          </a:p>
        </p:txBody>
      </p:sp>
    </p:spTree>
    <p:extLst>
      <p:ext uri="{BB962C8B-B14F-4D97-AF65-F5344CB8AC3E}">
        <p14:creationId xmlns:p14="http://schemas.microsoft.com/office/powerpoint/2010/main" val="29226635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 screenshots - Marine</a:t>
            </a:r>
          </a:p>
        </p:txBody>
      </p:sp>
      <p:sp>
        <p:nvSpPr>
          <p:cNvPr id="4" name="Slide Number Placeholder 3"/>
          <p:cNvSpPr>
            <a:spLocks noGrp="1"/>
          </p:cNvSpPr>
          <p:nvPr>
            <p:ph type="sldNum" sz="quarter" idx="5"/>
          </p:nvPr>
        </p:nvSpPr>
        <p:spPr/>
        <p:txBody>
          <a:bodyPr/>
          <a:lstStyle/>
          <a:p>
            <a:fld id="{2B3E1866-6ABF-4414-AFB5-B91146A1FA19}" type="slidenum">
              <a:rPr lang="en-GB" smtClean="0"/>
              <a:pPr/>
              <a:t>31</a:t>
            </a:fld>
            <a:endParaRPr lang="en-GB"/>
          </a:p>
        </p:txBody>
      </p:sp>
    </p:spTree>
    <p:extLst>
      <p:ext uri="{BB962C8B-B14F-4D97-AF65-F5344CB8AC3E}">
        <p14:creationId xmlns:p14="http://schemas.microsoft.com/office/powerpoint/2010/main" val="37733438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https://dev.azure.com/vfuk-digital/VF%20UK%20IT%20-%20Release%20Management/_workitems/edit/1280093</a:t>
            </a:r>
          </a:p>
          <a:p>
            <a:r>
              <a:rPr lang="en-GB" dirty="0"/>
              <a:t>https://dev.azure.com/vfuk-digital/VF%20UK%20IT%20-%20CCS%20Engineering/_workitems/edit/1281574</a:t>
            </a:r>
          </a:p>
        </p:txBody>
      </p:sp>
      <p:sp>
        <p:nvSpPr>
          <p:cNvPr id="4" name="Slide Number Placeholder 3"/>
          <p:cNvSpPr>
            <a:spLocks noGrp="1"/>
          </p:cNvSpPr>
          <p:nvPr>
            <p:ph type="sldNum" sz="quarter" idx="5"/>
          </p:nvPr>
        </p:nvSpPr>
        <p:spPr/>
        <p:txBody>
          <a:bodyPr/>
          <a:lstStyle/>
          <a:p>
            <a:fld id="{2B3E1866-6ABF-4414-AFB5-B91146A1FA19}" type="slidenum">
              <a:rPr lang="en-GB" smtClean="0"/>
              <a:pPr/>
              <a:t>33</a:t>
            </a:fld>
            <a:endParaRPr lang="en-GB"/>
          </a:p>
        </p:txBody>
      </p:sp>
    </p:spTree>
    <p:extLst>
      <p:ext uri="{BB962C8B-B14F-4D97-AF65-F5344CB8AC3E}">
        <p14:creationId xmlns:p14="http://schemas.microsoft.com/office/powerpoint/2010/main" val="38858241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3E1866-6ABF-4414-AFB5-B91146A1FA19}" type="slidenum">
              <a:rPr lang="en-GB" smtClean="0"/>
              <a:pPr/>
              <a:t>34</a:t>
            </a:fld>
            <a:endParaRPr lang="en-GB"/>
          </a:p>
        </p:txBody>
      </p:sp>
    </p:spTree>
    <p:extLst>
      <p:ext uri="{BB962C8B-B14F-4D97-AF65-F5344CB8AC3E}">
        <p14:creationId xmlns:p14="http://schemas.microsoft.com/office/powerpoint/2010/main" val="338914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3E1866-6ABF-4414-AFB5-B91146A1FA19}" type="slidenum">
              <a:rPr lang="en-GB" smtClean="0"/>
              <a:pPr/>
              <a:t>39</a:t>
            </a:fld>
            <a:endParaRPr lang="en-GB"/>
          </a:p>
        </p:txBody>
      </p:sp>
    </p:spTree>
    <p:extLst>
      <p:ext uri="{BB962C8B-B14F-4D97-AF65-F5344CB8AC3E}">
        <p14:creationId xmlns:p14="http://schemas.microsoft.com/office/powerpoint/2010/main" val="42846366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B3E1866-6ABF-4414-AFB5-B91146A1FA19}" type="slidenum">
              <a:rPr lang="en-GB" smtClean="0"/>
              <a:pPr/>
              <a:t>41</a:t>
            </a:fld>
            <a:endParaRPr lang="en-GB" dirty="0"/>
          </a:p>
        </p:txBody>
      </p:sp>
    </p:spTree>
    <p:extLst>
      <p:ext uri="{BB962C8B-B14F-4D97-AF65-F5344CB8AC3E}">
        <p14:creationId xmlns:p14="http://schemas.microsoft.com/office/powerpoint/2010/main" val="17440440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B3E1866-6ABF-4414-AFB5-B91146A1FA19}" type="slidenum">
              <a:rPr lang="en-GB" smtClean="0"/>
              <a:pPr/>
              <a:t>42</a:t>
            </a:fld>
            <a:endParaRPr lang="en-GB" dirty="0"/>
          </a:p>
        </p:txBody>
      </p:sp>
    </p:spTree>
    <p:extLst>
      <p:ext uri="{BB962C8B-B14F-4D97-AF65-F5344CB8AC3E}">
        <p14:creationId xmlns:p14="http://schemas.microsoft.com/office/powerpoint/2010/main" val="10253273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6AF68CF-E357-41AC-AAB9-E3AF52715557}" type="slidenum">
              <a:rPr lang="en-GB" smtClean="0"/>
              <a:t>43</a:t>
            </a:fld>
            <a:endParaRPr lang="en-GB"/>
          </a:p>
        </p:txBody>
      </p:sp>
    </p:spTree>
    <p:extLst>
      <p:ext uri="{BB962C8B-B14F-4D97-AF65-F5344CB8AC3E}">
        <p14:creationId xmlns:p14="http://schemas.microsoft.com/office/powerpoint/2010/main" val="23084416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2B3E1866-6ABF-4414-AFB5-B91146A1FA19}" type="slidenum">
              <a:rPr lang="en-GB" smtClean="0"/>
              <a:pPr/>
              <a:t>45</a:t>
            </a:fld>
            <a:endParaRPr lang="en-GB" dirty="0"/>
          </a:p>
        </p:txBody>
      </p:sp>
    </p:spTree>
    <p:extLst>
      <p:ext uri="{BB962C8B-B14F-4D97-AF65-F5344CB8AC3E}">
        <p14:creationId xmlns:p14="http://schemas.microsoft.com/office/powerpoint/2010/main" val="37176279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2B3E1866-6ABF-4414-AFB5-B91146A1FA19}" type="slidenum">
              <a:rPr lang="en-GB" smtClean="0"/>
              <a:pPr/>
              <a:t>46</a:t>
            </a:fld>
            <a:endParaRPr lang="en-GB" dirty="0"/>
          </a:p>
        </p:txBody>
      </p:sp>
    </p:spTree>
    <p:extLst>
      <p:ext uri="{BB962C8B-B14F-4D97-AF65-F5344CB8AC3E}">
        <p14:creationId xmlns:p14="http://schemas.microsoft.com/office/powerpoint/2010/main" val="17555179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Use screenshots - Marine</a:t>
            </a:r>
          </a:p>
          <a:p>
            <a:endParaRPr lang="en-GB"/>
          </a:p>
        </p:txBody>
      </p:sp>
      <p:sp>
        <p:nvSpPr>
          <p:cNvPr id="4" name="Slide Number Placeholder 3"/>
          <p:cNvSpPr>
            <a:spLocks noGrp="1"/>
          </p:cNvSpPr>
          <p:nvPr>
            <p:ph type="sldNum" sz="quarter" idx="5"/>
          </p:nvPr>
        </p:nvSpPr>
        <p:spPr/>
        <p:txBody>
          <a:bodyPr/>
          <a:lstStyle/>
          <a:p>
            <a:fld id="{2B3E1866-6ABF-4414-AFB5-B91146A1FA19}" type="slidenum">
              <a:rPr lang="en-GB" smtClean="0"/>
              <a:pPr/>
              <a:t>47</a:t>
            </a:fld>
            <a:endParaRPr lang="en-GB"/>
          </a:p>
        </p:txBody>
      </p:sp>
    </p:spTree>
    <p:extLst>
      <p:ext uri="{BB962C8B-B14F-4D97-AF65-F5344CB8AC3E}">
        <p14:creationId xmlns:p14="http://schemas.microsoft.com/office/powerpoint/2010/main" val="11386462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Use screenshots - Marine</a:t>
            </a:r>
          </a:p>
          <a:p>
            <a:endParaRPr lang="en-GB"/>
          </a:p>
        </p:txBody>
      </p:sp>
      <p:sp>
        <p:nvSpPr>
          <p:cNvPr id="4" name="Slide Number Placeholder 3"/>
          <p:cNvSpPr>
            <a:spLocks noGrp="1"/>
          </p:cNvSpPr>
          <p:nvPr>
            <p:ph type="sldNum" sz="quarter" idx="5"/>
          </p:nvPr>
        </p:nvSpPr>
        <p:spPr/>
        <p:txBody>
          <a:bodyPr/>
          <a:lstStyle/>
          <a:p>
            <a:fld id="{2B3E1866-6ABF-4414-AFB5-B91146A1FA19}" type="slidenum">
              <a:rPr lang="en-GB" smtClean="0"/>
              <a:pPr/>
              <a:t>48</a:t>
            </a:fld>
            <a:endParaRPr lang="en-GB"/>
          </a:p>
        </p:txBody>
      </p:sp>
    </p:spTree>
    <p:extLst>
      <p:ext uri="{BB962C8B-B14F-4D97-AF65-F5344CB8AC3E}">
        <p14:creationId xmlns:p14="http://schemas.microsoft.com/office/powerpoint/2010/main" val="32513771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3E1866-6ABF-4414-AFB5-B91146A1FA19}" type="slidenum">
              <a:rPr kumimoji="0" lang="en-GB" sz="1200" b="0" i="0" u="none" strike="noStrike" kern="1200" cap="none" spc="0" normalizeH="0" baseline="0" noProof="0" smtClean="0">
                <a:ln>
                  <a:noFill/>
                </a:ln>
                <a:solidFill>
                  <a:prstClr val="black"/>
                </a:solidFill>
                <a:effectLst/>
                <a:uLnTx/>
                <a:uFillTx/>
                <a:latin typeface="Vodafone Rg"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1200" b="0" i="0" u="none" strike="noStrike" kern="1200" cap="none" spc="0" normalizeH="0" baseline="0" noProof="0" dirty="0">
              <a:ln>
                <a:noFill/>
              </a:ln>
              <a:solidFill>
                <a:prstClr val="black"/>
              </a:solidFill>
              <a:effectLst/>
              <a:uLnTx/>
              <a:uFillTx/>
              <a:latin typeface="Vodafone Rg" pitchFamily="34" charset="0"/>
              <a:ea typeface="+mn-ea"/>
              <a:cs typeface="+mn-cs"/>
            </a:endParaRPr>
          </a:p>
        </p:txBody>
      </p:sp>
    </p:spTree>
    <p:extLst>
      <p:ext uri="{BB962C8B-B14F-4D97-AF65-F5344CB8AC3E}">
        <p14:creationId xmlns:p14="http://schemas.microsoft.com/office/powerpoint/2010/main" val="18427698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Image 20 One Line">
    <p:spTree>
      <p:nvGrpSpPr>
        <p:cNvPr id="1" name=""/>
        <p:cNvGrpSpPr/>
        <p:nvPr/>
      </p:nvGrpSpPr>
      <p:grpSpPr>
        <a:xfrm>
          <a:off x="0" y="0"/>
          <a:ext cx="0" cy="0"/>
          <a:chOff x="0" y="0"/>
          <a:chExt cx="0" cy="0"/>
        </a:xfrm>
      </p:grpSpPr>
      <p:grpSp>
        <p:nvGrpSpPr>
          <p:cNvPr id="9" name="Group 8"/>
          <p:cNvGrpSpPr/>
          <p:nvPr userDrawn="1"/>
        </p:nvGrpSpPr>
        <p:grpSpPr>
          <a:xfrm>
            <a:off x="1355" y="762"/>
            <a:ext cx="9141288" cy="5141975"/>
            <a:chOff x="1355" y="762"/>
            <a:chExt cx="9141288" cy="5141975"/>
          </a:xfrm>
        </p:grpSpPr>
        <p:pic>
          <p:nvPicPr>
            <p:cNvPr id="10" name="Picture 9"/>
            <p:cNvPicPr>
              <a:picLocks noChangeAspect="1"/>
            </p:cNvPicPr>
            <p:nvPr userDrawn="1"/>
          </p:nvPicPr>
          <p:blipFill>
            <a:blip r:embed="rId2"/>
            <a:stretch>
              <a:fillRect/>
            </a:stretch>
          </p:blipFill>
          <p:spPr>
            <a:xfrm>
              <a:off x="1355" y="762"/>
              <a:ext cx="9141288" cy="5141975"/>
            </a:xfrm>
            <a:prstGeom prst="rect">
              <a:avLst/>
            </a:prstGeom>
          </p:spPr>
        </p:pic>
        <p:pic>
          <p:nvPicPr>
            <p:cNvPr id="7" name="Picture 6"/>
            <p:cNvPicPr>
              <a:picLocks noChangeAspect="1"/>
            </p:cNvPicPr>
            <p:nvPr userDrawn="1"/>
          </p:nvPicPr>
          <p:blipFill>
            <a:blip r:embed="rId3"/>
            <a:stretch>
              <a:fillRect/>
            </a:stretch>
          </p:blipFill>
          <p:spPr>
            <a:xfrm>
              <a:off x="3235955" y="861748"/>
              <a:ext cx="2691135" cy="3569760"/>
            </a:xfrm>
            <a:prstGeom prst="rect">
              <a:avLst/>
            </a:prstGeom>
          </p:spPr>
        </p:pic>
      </p:grpSp>
      <p:sp>
        <p:nvSpPr>
          <p:cNvPr id="3" name="Subtitle 2"/>
          <p:cNvSpPr>
            <a:spLocks noGrp="1"/>
          </p:cNvSpPr>
          <p:nvPr userDrawn="1">
            <p:ph type="subTitle" idx="1"/>
          </p:nvPr>
        </p:nvSpPr>
        <p:spPr>
          <a:xfrm>
            <a:off x="250826" y="4039360"/>
            <a:ext cx="2090449" cy="682887"/>
          </a:xfrm>
        </p:spPr>
        <p:txBody>
          <a:bodyPr anchor="b" anchorCtr="0">
            <a:noAutofit/>
          </a:bodyPr>
          <a:lstStyle>
            <a:lvl1pPr marL="0" indent="0" algn="l">
              <a:buNone/>
              <a:defRPr sz="1400">
                <a:solidFill>
                  <a:schemeClr val="bg1"/>
                </a:solidFill>
                <a:latin typeface="Vodafone Rg"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pic>
        <p:nvPicPr>
          <p:cNvPr id="11" name="Picture 10"/>
          <p:cNvPicPr>
            <a:picLocks noChangeAspect="1"/>
          </p:cNvPicPr>
          <p:nvPr userDrawn="1"/>
        </p:nvPicPr>
        <p:blipFill>
          <a:blip r:embed="rId4"/>
          <a:stretch>
            <a:fillRect/>
          </a:stretch>
        </p:blipFill>
        <p:spPr>
          <a:xfrm>
            <a:off x="8496840" y="4547241"/>
            <a:ext cx="396335" cy="396000"/>
          </a:xfrm>
          <a:prstGeom prst="rect">
            <a:avLst/>
          </a:prstGeom>
        </p:spPr>
      </p:pic>
      <p:sp>
        <p:nvSpPr>
          <p:cNvPr id="2" name="Date Placeholder 1"/>
          <p:cNvSpPr>
            <a:spLocks noGrp="1"/>
          </p:cNvSpPr>
          <p:nvPr>
            <p:ph type="dt" sz="half" idx="10"/>
          </p:nvPr>
        </p:nvSpPr>
        <p:spPr/>
        <p:txBody>
          <a:bodyPr/>
          <a:lstStyle/>
          <a:p>
            <a:r>
              <a:rPr lang="en-US"/>
              <a:t>Last Updated: 20 Nov 2024 | Owner: Vincent Stokell | SharePoint ID: TBD</a:t>
            </a:r>
            <a:endParaRPr lang="en-US" dirty="0"/>
          </a:p>
        </p:txBody>
      </p:sp>
      <p:sp>
        <p:nvSpPr>
          <p:cNvPr id="4" name="Slide Number Placeholder 3"/>
          <p:cNvSpPr>
            <a:spLocks noGrp="1"/>
          </p:cNvSpPr>
          <p:nvPr>
            <p:ph type="sldNum" sz="quarter" idx="11"/>
          </p:nvPr>
        </p:nvSpPr>
        <p:spPr/>
        <p:txBody>
          <a:bodyPr/>
          <a:lstStyle/>
          <a:p>
            <a:fld id="{72A83A2B-3358-44F8-83A0-4598795D8FB5}" type="slidenum">
              <a:rPr lang="en-GB" smtClean="0"/>
              <a:pPr/>
              <a:t>‹#›</a:t>
            </a:fld>
            <a:endParaRPr lang="en-GB" dirty="0"/>
          </a:p>
        </p:txBody>
      </p:sp>
    </p:spTree>
    <p:extLst>
      <p:ext uri="{BB962C8B-B14F-4D97-AF65-F5344CB8AC3E}">
        <p14:creationId xmlns:p14="http://schemas.microsoft.com/office/powerpoint/2010/main" val="1070504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Image 05">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97D6856-E1EE-D36D-0CE2-7ED33229D652}"/>
              </a:ext>
            </a:extLst>
          </p:cNvPr>
          <p:cNvPicPr>
            <a:picLocks noChangeAspect="1"/>
          </p:cNvPicPr>
          <p:nvPr userDrawn="1"/>
        </p:nvPicPr>
        <p:blipFill>
          <a:blip r:embed="rId2"/>
          <a:srcRect/>
          <a:stretch/>
        </p:blipFill>
        <p:spPr>
          <a:xfrm>
            <a:off x="0" y="0"/>
            <a:ext cx="9144000" cy="5143500"/>
          </a:xfrm>
          <a:prstGeom prst="rect">
            <a:avLst/>
          </a:prstGeom>
        </p:spPr>
      </p:pic>
      <p:sp>
        <p:nvSpPr>
          <p:cNvPr id="2" name="Title 1"/>
          <p:cNvSpPr>
            <a:spLocks noGrp="1"/>
          </p:cNvSpPr>
          <p:nvPr userDrawn="1">
            <p:ph type="ctrTitle"/>
          </p:nvPr>
        </p:nvSpPr>
        <p:spPr>
          <a:xfrm>
            <a:off x="250824" y="285207"/>
            <a:ext cx="4213225" cy="721268"/>
          </a:xfrm>
        </p:spPr>
        <p:txBody>
          <a:bodyPr anchor="t" anchorCtr="0">
            <a:noAutofit/>
          </a:bodyPr>
          <a:lstStyle>
            <a:lvl1pPr algn="l">
              <a:lnSpc>
                <a:spcPct val="85000"/>
              </a:lnSpc>
              <a:defRPr sz="2600" b="1" i="0">
                <a:solidFill>
                  <a:schemeClr val="bg1"/>
                </a:solidFill>
                <a:latin typeface="Vodafone Rg"/>
                <a:cs typeface="Vodafone Rg"/>
              </a:defRPr>
            </a:lvl1pPr>
          </a:lstStyle>
          <a:p>
            <a:r>
              <a:rPr lang="en-US"/>
              <a:t>Click to edit Master title style</a:t>
            </a:r>
            <a:endParaRPr lang="en-GB"/>
          </a:p>
        </p:txBody>
      </p:sp>
      <p:sp>
        <p:nvSpPr>
          <p:cNvPr id="3" name="Subtitle 2"/>
          <p:cNvSpPr>
            <a:spLocks noGrp="1"/>
          </p:cNvSpPr>
          <p:nvPr userDrawn="1">
            <p:ph type="subTitle" idx="1"/>
          </p:nvPr>
        </p:nvSpPr>
        <p:spPr>
          <a:xfrm>
            <a:off x="250825" y="1184426"/>
            <a:ext cx="2087880" cy="682887"/>
          </a:xfrm>
        </p:spPr>
        <p:txBody>
          <a:bodyPr anchor="t" anchorCtr="0">
            <a:noAutofit/>
          </a:bodyPr>
          <a:lstStyle>
            <a:lvl1pPr marL="0" indent="0" algn="l">
              <a:lnSpc>
                <a:spcPct val="90000"/>
              </a:lnSpc>
              <a:spcAft>
                <a:spcPts val="0"/>
              </a:spcAft>
              <a:buNone/>
              <a:defRPr sz="1600">
                <a:solidFill>
                  <a:schemeClr val="bg1"/>
                </a:solidFill>
                <a:latin typeface="Vodafone Lt" panose="020B060604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pic>
        <p:nvPicPr>
          <p:cNvPr id="8" name="Picture 7">
            <a:extLst>
              <a:ext uri="{FF2B5EF4-FFF2-40B4-BE49-F238E27FC236}">
                <a16:creationId xmlns:a16="http://schemas.microsoft.com/office/drawing/2014/main" id="{F0D39B86-6FC0-A150-B851-CBC5E39E0D3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496840" y="4547241"/>
            <a:ext cx="396335" cy="396000"/>
          </a:xfrm>
          <a:prstGeom prst="rect">
            <a:avLst/>
          </a:prstGeom>
        </p:spPr>
      </p:pic>
    </p:spTree>
    <p:extLst>
      <p:ext uri="{BB962C8B-B14F-4D97-AF65-F5344CB8AC3E}">
        <p14:creationId xmlns:p14="http://schemas.microsoft.com/office/powerpoint/2010/main" val="1617032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GREY">
    <p:bg>
      <p:bgPr>
        <a:solidFill>
          <a:srgbClr val="25282B"/>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52000" y="1851750"/>
            <a:ext cx="6840000" cy="1440000"/>
          </a:xfrm>
        </p:spPr>
        <p:txBody>
          <a:bodyPr anchor="ctr" anchorCtr="1">
            <a:noAutofit/>
          </a:bodyPr>
          <a:lstStyle>
            <a:lvl1pPr algn="ctr">
              <a:lnSpc>
                <a:spcPct val="85000"/>
              </a:lnSpc>
              <a:defRPr sz="3600" b="1" cap="none" baseline="0">
                <a:solidFill>
                  <a:schemeClr val="bg1"/>
                </a:solidFill>
                <a:latin typeface="Vodafone Rg" pitchFamily="34" charset="0"/>
              </a:defRPr>
            </a:lvl1pPr>
          </a:lstStyle>
          <a:p>
            <a:r>
              <a:rPr lang="en-US"/>
              <a:t>Click to edit Master title style</a:t>
            </a:r>
            <a:endParaRPr lang="en-GB"/>
          </a:p>
        </p:txBody>
      </p:sp>
      <p:sp>
        <p:nvSpPr>
          <p:cNvPr id="9" name="Slide Number Placeholder 8"/>
          <p:cNvSpPr>
            <a:spLocks noGrp="1"/>
          </p:cNvSpPr>
          <p:nvPr>
            <p:ph type="sldNum" sz="quarter" idx="11"/>
          </p:nvPr>
        </p:nvSpPr>
        <p:spPr/>
        <p:txBody>
          <a:bodyPr/>
          <a:lstStyle>
            <a:lvl1pPr>
              <a:defRPr>
                <a:solidFill>
                  <a:schemeClr val="bg1"/>
                </a:solidFill>
              </a:defRPr>
            </a:lvl1pPr>
          </a:lstStyle>
          <a:p>
            <a:fld id="{72A83A2B-3358-44F8-83A0-4598795D8FB5}" type="slidenum">
              <a:rPr lang="en-GB" smtClean="0"/>
              <a:pPr/>
              <a:t>‹#›</a:t>
            </a:fld>
            <a:endParaRPr lang="en-GB"/>
          </a:p>
        </p:txBody>
      </p:sp>
      <p:sp>
        <p:nvSpPr>
          <p:cNvPr id="3" name="Date Placeholder 2"/>
          <p:cNvSpPr>
            <a:spLocks noGrp="1"/>
          </p:cNvSpPr>
          <p:nvPr>
            <p:ph type="dt" sz="half" idx="12"/>
          </p:nvPr>
        </p:nvSpPr>
        <p:spPr/>
        <p:txBody>
          <a:bodyPr/>
          <a:lstStyle>
            <a:lvl1pPr>
              <a:defRPr>
                <a:solidFill>
                  <a:schemeClr val="bg1"/>
                </a:solidFill>
              </a:defRPr>
            </a:lvl1pPr>
          </a:lstStyle>
          <a:p>
            <a:fld id="{50FC3112-9319-574E-965C-D7DBF43EF039}" type="datetime4">
              <a:rPr lang="en-GB" smtClean="0"/>
              <a:t>23 June 2026</a:t>
            </a:fld>
            <a:endParaRPr lang="en-GB"/>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496840" y="4547241"/>
            <a:ext cx="396335" cy="396000"/>
          </a:xfrm>
          <a:prstGeom prst="rect">
            <a:avLst/>
          </a:prstGeom>
        </p:spPr>
      </p:pic>
    </p:spTree>
    <p:extLst>
      <p:ext uri="{BB962C8B-B14F-4D97-AF65-F5344CB8AC3E}">
        <p14:creationId xmlns:p14="http://schemas.microsoft.com/office/powerpoint/2010/main" val="721457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RE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52000" y="1851750"/>
            <a:ext cx="6840000" cy="1440000"/>
          </a:xfrm>
        </p:spPr>
        <p:txBody>
          <a:bodyPr anchor="ctr" anchorCtr="1">
            <a:noAutofit/>
          </a:bodyPr>
          <a:lstStyle>
            <a:lvl1pPr algn="ctr">
              <a:lnSpc>
                <a:spcPct val="85000"/>
              </a:lnSpc>
              <a:defRPr sz="3600" b="1" cap="none" baseline="0">
                <a:solidFill>
                  <a:schemeClr val="bg1"/>
                </a:solidFill>
                <a:latin typeface="Vodafone Rg" pitchFamily="34" charset="0"/>
              </a:defRPr>
            </a:lvl1pPr>
          </a:lstStyle>
          <a:p>
            <a:r>
              <a:rPr lang="en-US"/>
              <a:t>Click to edit Master title style</a:t>
            </a:r>
            <a:endParaRPr lang="en-GB"/>
          </a:p>
        </p:txBody>
      </p:sp>
      <p:sp>
        <p:nvSpPr>
          <p:cNvPr id="9" name="Slide Number Placeholder 8"/>
          <p:cNvSpPr>
            <a:spLocks noGrp="1"/>
          </p:cNvSpPr>
          <p:nvPr>
            <p:ph type="sldNum" sz="quarter" idx="11"/>
          </p:nvPr>
        </p:nvSpPr>
        <p:spPr/>
        <p:txBody>
          <a:bodyPr/>
          <a:lstStyle>
            <a:lvl1pPr>
              <a:defRPr>
                <a:solidFill>
                  <a:schemeClr val="bg1"/>
                </a:solidFill>
              </a:defRPr>
            </a:lvl1pPr>
          </a:lstStyle>
          <a:p>
            <a:fld id="{72A83A2B-3358-44F8-83A0-4598795D8FB5}" type="slidenum">
              <a:rPr lang="en-GB" smtClean="0"/>
              <a:pPr/>
              <a:t>‹#›</a:t>
            </a:fld>
            <a:endParaRPr lang="en-GB"/>
          </a:p>
        </p:txBody>
      </p:sp>
      <p:sp>
        <p:nvSpPr>
          <p:cNvPr id="3" name="Date Placeholder 2"/>
          <p:cNvSpPr>
            <a:spLocks noGrp="1"/>
          </p:cNvSpPr>
          <p:nvPr>
            <p:ph type="dt" sz="half" idx="12"/>
          </p:nvPr>
        </p:nvSpPr>
        <p:spPr/>
        <p:txBody>
          <a:bodyPr/>
          <a:lstStyle>
            <a:lvl1pPr>
              <a:defRPr>
                <a:solidFill>
                  <a:schemeClr val="bg1"/>
                </a:solidFill>
              </a:defRPr>
            </a:lvl1pPr>
          </a:lstStyle>
          <a:p>
            <a:fld id="{30F0E956-AEC0-6E47-82BA-82F9A6FC1D28}" type="datetime4">
              <a:rPr lang="en-GB" smtClean="0"/>
              <a:t>23 June 2026</a:t>
            </a:fld>
            <a:endParaRPr lang="en-GB"/>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496840" y="4547241"/>
            <a:ext cx="396335" cy="396000"/>
          </a:xfrm>
          <a:prstGeom prst="rect">
            <a:avLst/>
          </a:prstGeom>
        </p:spPr>
      </p:pic>
    </p:spTree>
    <p:extLst>
      <p:ext uri="{BB962C8B-B14F-4D97-AF65-F5344CB8AC3E}">
        <p14:creationId xmlns:p14="http://schemas.microsoft.com/office/powerpoint/2010/main" val="3448594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Content Placeholder 9"/>
          <p:cNvSpPr>
            <a:spLocks noGrp="1"/>
          </p:cNvSpPr>
          <p:nvPr>
            <p:ph sz="quarter" idx="13"/>
          </p:nvPr>
        </p:nvSpPr>
        <p:spPr>
          <a:xfrm>
            <a:off x="180000" y="540000"/>
            <a:ext cx="8784000" cy="43200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Date Placeholder 1"/>
          <p:cNvSpPr>
            <a:spLocks noGrp="1"/>
          </p:cNvSpPr>
          <p:nvPr>
            <p:ph type="dt" sz="half" idx="14"/>
          </p:nvPr>
        </p:nvSpPr>
        <p:spPr/>
        <p:txBody>
          <a:bodyPr/>
          <a:lstStyle/>
          <a:p>
            <a:r>
              <a:rPr lang="en-US"/>
              <a:t>Last Updated: 20 Nov 2024 | Owner: Vincent Stokell | SharePoint ID: TBD</a:t>
            </a:r>
            <a:endParaRPr lang="en-US" dirty="0"/>
          </a:p>
        </p:txBody>
      </p:sp>
      <p:sp>
        <p:nvSpPr>
          <p:cNvPr id="3" name="Slide Number Placeholder 2"/>
          <p:cNvSpPr>
            <a:spLocks noGrp="1"/>
          </p:cNvSpPr>
          <p:nvPr>
            <p:ph type="sldNum" sz="quarter" idx="15"/>
          </p:nvPr>
        </p:nvSpPr>
        <p:spPr/>
        <p:txBody>
          <a:bodyPr/>
          <a:lstStyle/>
          <a:p>
            <a:fld id="{72A83A2B-3358-44F8-83A0-4598795D8FB5}" type="slidenum">
              <a:rPr lang="en-GB" smtClean="0"/>
              <a:pPr/>
              <a:t>‹#›</a:t>
            </a:fld>
            <a:endParaRPr lang="en-GB" dirty="0"/>
          </a:p>
        </p:txBody>
      </p:sp>
      <p:sp>
        <p:nvSpPr>
          <p:cNvPr id="5" name="Title 4">
            <a:extLst>
              <a:ext uri="{FF2B5EF4-FFF2-40B4-BE49-F238E27FC236}">
                <a16:creationId xmlns:a16="http://schemas.microsoft.com/office/drawing/2014/main" id="{F32E2417-301E-A328-9875-D9EF97082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37569252"/>
      </p:ext>
    </p:extLst>
  </p:cSld>
  <p:clrMapOvr>
    <a:masterClrMapping/>
  </p:clrMapOvr>
  <p:extLst>
    <p:ext uri="{DCECCB84-F9BA-43D5-87BE-67443E8EF086}">
      <p15:sldGuideLst xmlns:p15="http://schemas.microsoft.com/office/powerpoint/2012/main">
        <p15:guide id="1" pos="427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Date Placeholder 1"/>
          <p:cNvSpPr>
            <a:spLocks noGrp="1"/>
          </p:cNvSpPr>
          <p:nvPr>
            <p:ph type="dt" sz="half" idx="14"/>
          </p:nvPr>
        </p:nvSpPr>
        <p:spPr/>
        <p:txBody>
          <a:bodyPr/>
          <a:lstStyle/>
          <a:p>
            <a:r>
              <a:rPr lang="en-US"/>
              <a:t>Last Updated: 20 Nov 2024 | Owner: Vincent Stokell | SharePoint ID: TBD</a:t>
            </a:r>
            <a:endParaRPr lang="en-US" dirty="0"/>
          </a:p>
        </p:txBody>
      </p:sp>
      <p:sp>
        <p:nvSpPr>
          <p:cNvPr id="3" name="Slide Number Placeholder 2"/>
          <p:cNvSpPr>
            <a:spLocks noGrp="1"/>
          </p:cNvSpPr>
          <p:nvPr>
            <p:ph type="sldNum" sz="quarter" idx="15"/>
          </p:nvPr>
        </p:nvSpPr>
        <p:spPr/>
        <p:txBody>
          <a:bodyPr/>
          <a:lstStyle/>
          <a:p>
            <a:fld id="{72A83A2B-3358-44F8-83A0-4598795D8FB5}" type="slidenum">
              <a:rPr lang="en-GB" smtClean="0"/>
              <a:pPr/>
              <a:t>‹#›</a:t>
            </a:fld>
            <a:endParaRPr lang="en-GB" dirty="0"/>
          </a:p>
        </p:txBody>
      </p:sp>
      <p:sp>
        <p:nvSpPr>
          <p:cNvPr id="5" name="Title 4">
            <a:extLst>
              <a:ext uri="{FF2B5EF4-FFF2-40B4-BE49-F238E27FC236}">
                <a16:creationId xmlns:a16="http://schemas.microsoft.com/office/drawing/2014/main" id="{F32E2417-301E-A328-9875-D9EF97082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8834379"/>
      </p:ext>
    </p:extLst>
  </p:cSld>
  <p:clrMapOvr>
    <a:masterClrMapping/>
  </p:clrMapOvr>
  <p:extLst>
    <p:ext uri="{DCECCB84-F9BA-43D5-87BE-67443E8EF086}">
      <p15:sldGuideLst xmlns:p15="http://schemas.microsoft.com/office/powerpoint/2012/main">
        <p15:guide id="1" pos="427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Slide Number Placeholder 9"/>
          <p:cNvSpPr>
            <a:spLocks noGrp="1"/>
          </p:cNvSpPr>
          <p:nvPr>
            <p:ph type="sldNum" sz="quarter" idx="13"/>
          </p:nvPr>
        </p:nvSpPr>
        <p:spPr/>
        <p:txBody>
          <a:bodyPr/>
          <a:lstStyle/>
          <a:p>
            <a:fld id="{72A83A2B-3358-44F8-83A0-4598795D8FB5}" type="slidenum">
              <a:rPr lang="en-GB" smtClean="0"/>
              <a:pPr/>
              <a:t>‹#›</a:t>
            </a:fld>
            <a:endParaRPr lang="en-GB"/>
          </a:p>
        </p:txBody>
      </p:sp>
      <p:sp>
        <p:nvSpPr>
          <p:cNvPr id="4" name="Date Placeholder 3"/>
          <p:cNvSpPr>
            <a:spLocks noGrp="1"/>
          </p:cNvSpPr>
          <p:nvPr>
            <p:ph type="dt" sz="half" idx="14"/>
          </p:nvPr>
        </p:nvSpPr>
        <p:spPr/>
        <p:txBody>
          <a:bodyPr/>
          <a:lstStyle/>
          <a:p>
            <a:fld id="{520E4CCE-5AAE-AE4C-B060-0037F2F4F0B0}" type="datetime4">
              <a:rPr lang="en-GB" smtClean="0"/>
              <a:t>23 June 2026</a:t>
            </a:fld>
            <a:endParaRPr lang="en-GB"/>
          </a:p>
        </p:txBody>
      </p:sp>
      <p:sp>
        <p:nvSpPr>
          <p:cNvPr id="3" name="Chart Placeholder 2"/>
          <p:cNvSpPr>
            <a:spLocks noGrp="1"/>
          </p:cNvSpPr>
          <p:nvPr>
            <p:ph type="chart" sz="quarter" idx="18"/>
          </p:nvPr>
        </p:nvSpPr>
        <p:spPr>
          <a:xfrm>
            <a:off x="4679949" y="720000"/>
            <a:ext cx="4320000" cy="3960000"/>
          </a:xfrm>
        </p:spPr>
        <p:txBody>
          <a:bodyPr/>
          <a:lstStyle>
            <a:lvl1pPr marL="0" indent="0">
              <a:buNone/>
              <a:defRPr/>
            </a:lvl1pPr>
          </a:lstStyle>
          <a:p>
            <a:r>
              <a:rPr lang="en-US" dirty="0"/>
              <a:t>Click icon to add chart</a:t>
            </a:r>
            <a:endParaRPr lang="en-GB" dirty="0"/>
          </a:p>
        </p:txBody>
      </p:sp>
      <p:sp>
        <p:nvSpPr>
          <p:cNvPr id="13" name="Text Placeholder 12"/>
          <p:cNvSpPr>
            <a:spLocks noGrp="1"/>
          </p:cNvSpPr>
          <p:nvPr>
            <p:ph type="body" sz="quarter" idx="19"/>
          </p:nvPr>
        </p:nvSpPr>
        <p:spPr>
          <a:xfrm>
            <a:off x="180001" y="720000"/>
            <a:ext cx="4320000" cy="3960000"/>
          </a:xfrm>
        </p:spPr>
        <p:txBody>
          <a:bodyPr/>
          <a:lstStyle>
            <a:lvl1pPr marL="138113" indent="-138113">
              <a:spcBef>
                <a:spcPts val="600"/>
              </a:spcBef>
              <a:spcAft>
                <a:spcPts val="600"/>
              </a:spcAft>
              <a:buFont typeface="Arial" panose="020B0604020202020204" pitchFamily="34" charset="0"/>
              <a:buChar char="•"/>
              <a:defRPr sz="1600"/>
            </a:lvl1pPr>
            <a:lvl2pPr marL="347663" indent="-147638">
              <a:spcBef>
                <a:spcPts val="0"/>
              </a:spcBef>
              <a:buFont typeface="Calibri" panose="020F0502020204030204" pitchFamily="34" charset="0"/>
              <a:buChar char="–"/>
              <a:defRPr/>
            </a:lvl2pPr>
            <a:lvl3pPr marL="385763" indent="146050">
              <a:spcBef>
                <a:spcPts val="0"/>
              </a:spcBef>
              <a:buFont typeface="Courier New" panose="02070309020205020404" pitchFamily="49" charset="0"/>
              <a:buChar char="o"/>
              <a:defRPr/>
            </a:lvl3pPr>
            <a:lvl4pPr marL="717550" indent="-150813">
              <a:spcBef>
                <a:spcPts val="0"/>
              </a:spcBef>
              <a:spcAft>
                <a:spcPts val="300"/>
              </a:spcAft>
              <a:buSzPct val="80000"/>
              <a:buFont typeface="Arial" panose="020B0604020202020204" pitchFamily="34" charset="0"/>
              <a:buChar char="•"/>
              <a:defRPr/>
            </a:lvl4pPr>
            <a:lvl5pPr marL="914400" indent="-161925">
              <a:spcBef>
                <a:spcPts val="300"/>
              </a:spcBef>
              <a:buSzPct val="80000"/>
              <a:buFont typeface="Courier New" panose="02070309020205020404" pitchFamily="49" charset="0"/>
              <a:buChar char="o"/>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a:extLst>
              <a:ext uri="{FF2B5EF4-FFF2-40B4-BE49-F238E27FC236}">
                <a16:creationId xmlns:a16="http://schemas.microsoft.com/office/drawing/2014/main" id="{2774EC9A-7664-C649-528D-967730415577}"/>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8332880"/>
      </p:ext>
    </p:extLst>
  </p:cSld>
  <p:clrMapOvr>
    <a:masterClrMapping/>
  </p:clrMapOvr>
  <p:extLst>
    <p:ext uri="{DCECCB84-F9BA-43D5-87BE-67443E8EF086}">
      <p15:sldGuideLst xmlns:p15="http://schemas.microsoft.com/office/powerpoint/2012/main">
        <p15:guide id="1" pos="281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White One Lin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3247462" y="861504"/>
            <a:ext cx="2693190" cy="3586699"/>
          </a:xfrm>
          <a:prstGeom prst="rect">
            <a:avLst/>
          </a:prstGeom>
        </p:spPr>
      </p:pic>
      <p:sp>
        <p:nvSpPr>
          <p:cNvPr id="2" name="Title 1"/>
          <p:cNvSpPr>
            <a:spLocks noGrp="1"/>
          </p:cNvSpPr>
          <p:nvPr>
            <p:ph type="ctrTitle"/>
          </p:nvPr>
        </p:nvSpPr>
        <p:spPr>
          <a:xfrm>
            <a:off x="1631946" y="2810635"/>
            <a:ext cx="4130679" cy="504862"/>
          </a:xfrm>
        </p:spPr>
        <p:txBody>
          <a:bodyPr anchor="ctr" anchorCtr="0">
            <a:noAutofit/>
          </a:bodyPr>
          <a:lstStyle>
            <a:lvl1pPr algn="l">
              <a:lnSpc>
                <a:spcPct val="90000"/>
              </a:lnSpc>
              <a:defRPr sz="3000" b="1" i="0">
                <a:solidFill>
                  <a:schemeClr val="accent1"/>
                </a:solidFill>
                <a:latin typeface="Vodafone Rg"/>
                <a:cs typeface="Vodafone Rg"/>
              </a:defRPr>
            </a:lvl1pPr>
          </a:lstStyle>
          <a:p>
            <a:r>
              <a:rPr lang="en-US"/>
              <a:t>Click to edit Master title style</a:t>
            </a:r>
            <a:endParaRPr lang="en-GB" dirty="0"/>
          </a:p>
        </p:txBody>
      </p:sp>
      <p:sp>
        <p:nvSpPr>
          <p:cNvPr id="3" name="Subtitle 2"/>
          <p:cNvSpPr>
            <a:spLocks noGrp="1"/>
          </p:cNvSpPr>
          <p:nvPr>
            <p:ph type="subTitle" idx="1"/>
          </p:nvPr>
        </p:nvSpPr>
        <p:spPr>
          <a:xfrm>
            <a:off x="250826" y="4039360"/>
            <a:ext cx="2090449" cy="682887"/>
          </a:xfrm>
        </p:spPr>
        <p:txBody>
          <a:bodyPr anchor="b" anchorCtr="0">
            <a:noAutofit/>
          </a:bodyPr>
          <a:lstStyle>
            <a:lvl1pPr marL="0" indent="0" algn="l">
              <a:buNone/>
              <a:defRPr sz="1400">
                <a:solidFill>
                  <a:schemeClr val="accent1"/>
                </a:solidFill>
                <a:latin typeface="Vodafone Rg"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4" name="Date Placeholder 3"/>
          <p:cNvSpPr>
            <a:spLocks noGrp="1"/>
          </p:cNvSpPr>
          <p:nvPr>
            <p:ph type="dt" sz="half" idx="10"/>
          </p:nvPr>
        </p:nvSpPr>
        <p:spPr/>
        <p:txBody>
          <a:bodyPr/>
          <a:lstStyle/>
          <a:p>
            <a:r>
              <a:rPr lang="en-US"/>
              <a:t>Last Updated: 20 Nov 2024 | Owner: Vincent Stokell | SharePoint ID: TBD</a:t>
            </a:r>
            <a:endParaRPr lang="en-US" dirty="0"/>
          </a:p>
        </p:txBody>
      </p:sp>
      <p:sp>
        <p:nvSpPr>
          <p:cNvPr id="5" name="Slide Number Placeholder 4"/>
          <p:cNvSpPr>
            <a:spLocks noGrp="1"/>
          </p:cNvSpPr>
          <p:nvPr>
            <p:ph type="sldNum" sz="quarter" idx="11"/>
          </p:nvPr>
        </p:nvSpPr>
        <p:spPr/>
        <p:txBody>
          <a:bodyPr/>
          <a:lstStyle/>
          <a:p>
            <a:fld id="{72A83A2B-3358-44F8-83A0-4598795D8FB5}" type="slidenum">
              <a:rPr lang="en-GB" smtClean="0"/>
              <a:pPr/>
              <a:t>‹#›</a:t>
            </a:fld>
            <a:endParaRPr lang="en-GB" dirty="0"/>
          </a:p>
        </p:txBody>
      </p:sp>
    </p:spTree>
    <p:extLst>
      <p:ext uri="{BB962C8B-B14F-4D97-AF65-F5344CB8AC3E}">
        <p14:creationId xmlns:p14="http://schemas.microsoft.com/office/powerpoint/2010/main" val="3196514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5"/>
          <p:cNvSpPr>
            <a:spLocks noGrp="1"/>
          </p:cNvSpPr>
          <p:nvPr>
            <p:ph type="sldNum" sz="quarter" idx="11"/>
          </p:nvPr>
        </p:nvSpPr>
        <p:spPr/>
        <p:txBody>
          <a:bodyPr/>
          <a:lstStyle/>
          <a:p>
            <a:fld id="{72A83A2B-3358-44F8-83A0-4598795D8FB5}" type="slidenum">
              <a:rPr lang="en-GB" smtClean="0"/>
              <a:pPr/>
              <a:t>‹#›</a:t>
            </a:fld>
            <a:endParaRPr lang="en-GB"/>
          </a:p>
        </p:txBody>
      </p:sp>
    </p:spTree>
    <p:extLst>
      <p:ext uri="{BB962C8B-B14F-4D97-AF65-F5344CB8AC3E}">
        <p14:creationId xmlns:p14="http://schemas.microsoft.com/office/powerpoint/2010/main" val="2270019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9B5A2-BAC9-4D56-9B50-F866B6AD643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A25497C-3868-4C02-9877-35ABC99214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65B3AC6-A91F-4670-B146-8231A30955EB}"/>
              </a:ext>
            </a:extLst>
          </p:cNvPr>
          <p:cNvSpPr>
            <a:spLocks noGrp="1"/>
          </p:cNvSpPr>
          <p:nvPr>
            <p:ph type="dt" sz="half" idx="10"/>
          </p:nvPr>
        </p:nvSpPr>
        <p:spPr/>
        <p:txBody>
          <a:bodyPr/>
          <a:lstStyle/>
          <a:p>
            <a:fld id="{DE81390A-CFCF-4D3F-8D69-8AA92D08DA86}" type="datetimeFigureOut">
              <a:rPr lang="en-GB" smtClean="0"/>
              <a:t>23/06/2026</a:t>
            </a:fld>
            <a:endParaRPr lang="en-GB"/>
          </a:p>
        </p:txBody>
      </p:sp>
      <p:sp>
        <p:nvSpPr>
          <p:cNvPr id="5" name="Footer Placeholder 4">
            <a:extLst>
              <a:ext uri="{FF2B5EF4-FFF2-40B4-BE49-F238E27FC236}">
                <a16:creationId xmlns:a16="http://schemas.microsoft.com/office/drawing/2014/main" id="{CDBA8F6E-A24B-4467-BAB6-4603F50B7EC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CD4F00-51AD-4594-9A51-DE059E6C244F}"/>
              </a:ext>
            </a:extLst>
          </p:cNvPr>
          <p:cNvSpPr>
            <a:spLocks noGrp="1"/>
          </p:cNvSpPr>
          <p:nvPr>
            <p:ph type="sldNum" sz="quarter" idx="12"/>
          </p:nvPr>
        </p:nvSpPr>
        <p:spPr/>
        <p:txBody>
          <a:bodyPr/>
          <a:lstStyle/>
          <a:p>
            <a:fld id="{41FFDA69-F18C-4CBA-B66F-0F7ECCB49CC4}" type="slidenum">
              <a:rPr lang="en-GB" smtClean="0"/>
              <a:t>‹#›</a:t>
            </a:fld>
            <a:endParaRPr lang="en-GB"/>
          </a:p>
        </p:txBody>
      </p:sp>
    </p:spTree>
    <p:extLst>
      <p:ext uri="{BB962C8B-B14F-4D97-AF65-F5344CB8AC3E}">
        <p14:creationId xmlns:p14="http://schemas.microsoft.com/office/powerpoint/2010/main" val="2751684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8" name="Slide Number Placeholder 9">
            <a:extLst>
              <a:ext uri="{FF2B5EF4-FFF2-40B4-BE49-F238E27FC236}">
                <a16:creationId xmlns:a16="http://schemas.microsoft.com/office/drawing/2014/main" id="{6E833534-172E-F740-A953-BDC40BB0C90B}"/>
              </a:ext>
            </a:extLst>
          </p:cNvPr>
          <p:cNvSpPr>
            <a:spLocks noGrp="1"/>
          </p:cNvSpPr>
          <p:nvPr>
            <p:ph type="sldNum" sz="quarter" idx="13"/>
          </p:nvPr>
        </p:nvSpPr>
        <p:spPr>
          <a:xfrm>
            <a:off x="4365296" y="4713137"/>
            <a:ext cx="413410" cy="238889"/>
          </a:xfrm>
        </p:spPr>
        <p:txBody>
          <a:bodyPr/>
          <a:lstStyle/>
          <a:p>
            <a:fld id="{72A83A2B-3358-44F8-83A0-4598795D8FB5}" type="slidenum">
              <a:rPr lang="en-GB" smtClean="0"/>
              <a:pPr/>
              <a:t>‹#›</a:t>
            </a:fld>
            <a:endParaRPr lang="en-GB"/>
          </a:p>
        </p:txBody>
      </p:sp>
      <p:sp>
        <p:nvSpPr>
          <p:cNvPr id="2" name="Title 3">
            <a:extLst>
              <a:ext uri="{FF2B5EF4-FFF2-40B4-BE49-F238E27FC236}">
                <a16:creationId xmlns:a16="http://schemas.microsoft.com/office/drawing/2014/main" id="{74937080-0E4C-E823-9D51-34B6613904E3}"/>
              </a:ext>
            </a:extLst>
          </p:cNvPr>
          <p:cNvSpPr>
            <a:spLocks noGrp="1"/>
          </p:cNvSpPr>
          <p:nvPr>
            <p:ph type="title" hasCustomPrompt="1"/>
          </p:nvPr>
        </p:nvSpPr>
        <p:spPr>
          <a:xfrm>
            <a:off x="250826" y="0"/>
            <a:ext cx="8642350" cy="998924"/>
          </a:xfrm>
          <a:prstGeom prst="rect">
            <a:avLst/>
          </a:prstGeom>
        </p:spPr>
        <p:txBody>
          <a:bodyPr lIns="0" tIns="0" rIns="0" bIns="0" anchor="ctr"/>
          <a:lstStyle>
            <a:lvl1pPr>
              <a:defRPr sz="2600" b="1" i="0" spc="0" baseline="0">
                <a:latin typeface="+mj-lt"/>
              </a:defRPr>
            </a:lvl1pPr>
          </a:lstStyle>
          <a:p>
            <a:r>
              <a:rPr lang="en-US"/>
              <a:t>Click To Edit Master Title Style</a:t>
            </a:r>
            <a:endParaRPr lang="en-GB"/>
          </a:p>
        </p:txBody>
      </p:sp>
      <p:sp>
        <p:nvSpPr>
          <p:cNvPr id="3" name="Footer Placeholder 5">
            <a:extLst>
              <a:ext uri="{FF2B5EF4-FFF2-40B4-BE49-F238E27FC236}">
                <a16:creationId xmlns:a16="http://schemas.microsoft.com/office/drawing/2014/main" id="{0F263BC4-348D-2204-D92A-D416B47D9262}"/>
              </a:ext>
            </a:extLst>
          </p:cNvPr>
          <p:cNvSpPr>
            <a:spLocks noGrp="1"/>
          </p:cNvSpPr>
          <p:nvPr>
            <p:ph type="ftr" sz="quarter" idx="3"/>
          </p:nvPr>
        </p:nvSpPr>
        <p:spPr>
          <a:xfrm>
            <a:off x="253396" y="4712100"/>
            <a:ext cx="2753330" cy="238889"/>
          </a:xfrm>
          <a:prstGeom prst="rect">
            <a:avLst/>
          </a:prstGeom>
        </p:spPr>
        <p:txBody>
          <a:bodyPr vert="horz" lIns="0" tIns="0" rIns="0" bIns="0" rtlCol="0" anchor="b" anchorCtr="0"/>
          <a:lstStyle>
            <a:lvl1pPr algn="l">
              <a:defRPr lang="en-IE" sz="700" kern="1200" spc="0" baseline="0" dirty="0">
                <a:solidFill>
                  <a:schemeClr val="tx1"/>
                </a:solidFill>
                <a:latin typeface="+mn-lt"/>
                <a:ea typeface="+mn-ea"/>
                <a:cs typeface="+mn-cs"/>
              </a:defRPr>
            </a:lvl1pPr>
          </a:lstStyle>
          <a:p>
            <a:r>
              <a:rPr lang="en-GB"/>
              <a:t>C2-General</a:t>
            </a:r>
          </a:p>
        </p:txBody>
      </p:sp>
    </p:spTree>
    <p:extLst>
      <p:ext uri="{BB962C8B-B14F-4D97-AF65-F5344CB8AC3E}">
        <p14:creationId xmlns:p14="http://schemas.microsoft.com/office/powerpoint/2010/main" val="4042663068"/>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0000" y="72000"/>
            <a:ext cx="8784000" cy="3600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180000" y="540000"/>
            <a:ext cx="8784000" cy="4320000"/>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p:cNvSpPr>
            <a:spLocks noGrp="1"/>
          </p:cNvSpPr>
          <p:nvPr>
            <p:ph type="sldNum" sz="quarter" idx="4"/>
          </p:nvPr>
        </p:nvSpPr>
        <p:spPr>
          <a:xfrm>
            <a:off x="4365295" y="4968000"/>
            <a:ext cx="413410" cy="180000"/>
          </a:xfrm>
          <a:prstGeom prst="rect">
            <a:avLst/>
          </a:prstGeom>
        </p:spPr>
        <p:txBody>
          <a:bodyPr vert="horz" lIns="0" tIns="0" rIns="0" bIns="0" rtlCol="0" anchor="b" anchorCtr="0"/>
          <a:lstStyle>
            <a:lvl1pPr algn="ctr">
              <a:defRPr sz="800">
                <a:solidFill>
                  <a:schemeClr val="tx1"/>
                </a:solidFill>
              </a:defRPr>
            </a:lvl1pPr>
          </a:lstStyle>
          <a:p>
            <a:fld id="{72A83A2B-3358-44F8-83A0-4598795D8FB5}" type="slidenum">
              <a:rPr lang="en-GB" smtClean="0"/>
              <a:pPr/>
              <a:t>‹#›</a:t>
            </a:fld>
            <a:endParaRPr lang="en-GB" dirty="0"/>
          </a:p>
        </p:txBody>
      </p:sp>
      <p:sp>
        <p:nvSpPr>
          <p:cNvPr id="8" name="Date Placeholder 2"/>
          <p:cNvSpPr>
            <a:spLocks noGrp="1"/>
          </p:cNvSpPr>
          <p:nvPr>
            <p:ph type="dt" sz="half" idx="2"/>
          </p:nvPr>
        </p:nvSpPr>
        <p:spPr>
          <a:xfrm>
            <a:off x="4950691" y="4968000"/>
            <a:ext cx="3941309" cy="180000"/>
          </a:xfrm>
          <a:prstGeom prst="rect">
            <a:avLst/>
          </a:prstGeom>
        </p:spPr>
        <p:txBody>
          <a:bodyPr/>
          <a:lstStyle>
            <a:lvl1pPr algn="r">
              <a:defRPr sz="700">
                <a:solidFill>
                  <a:schemeClr val="tx1"/>
                </a:solidFill>
              </a:defRPr>
            </a:lvl1pPr>
          </a:lstStyle>
          <a:p>
            <a:r>
              <a:rPr lang="en-US"/>
              <a:t>Last Updated: 20 Nov 2024 | Owner: Vincent Stokell | SharePoint ID: TBD</a:t>
            </a:r>
            <a:endParaRPr lang="en-US" dirty="0"/>
          </a:p>
        </p:txBody>
      </p:sp>
      <p:sp>
        <p:nvSpPr>
          <p:cNvPr id="6" name="MSIPCMContentMarking" descr="{&quot;HashCode&quot;:-1699574231,&quot;Placement&quot;:&quot;Footer&quot;,&quot;Top&quot;:388.380066,&quot;Left&quot;:0.0,&quot;SlideWidth&quot;:720,&quot;SlideHeight&quot;:405}">
            <a:extLst>
              <a:ext uri="{FF2B5EF4-FFF2-40B4-BE49-F238E27FC236}">
                <a16:creationId xmlns:a16="http://schemas.microsoft.com/office/drawing/2014/main" id="{947FFE6A-E45F-432D-BF57-772BA036DDEF}"/>
              </a:ext>
            </a:extLst>
          </p:cNvPr>
          <p:cNvSpPr txBox="1"/>
          <p:nvPr userDrawn="1"/>
        </p:nvSpPr>
        <p:spPr>
          <a:xfrm>
            <a:off x="0" y="4932427"/>
            <a:ext cx="619703" cy="211073"/>
          </a:xfrm>
          <a:prstGeom prst="rect">
            <a:avLst/>
          </a:prstGeom>
        </p:spPr>
        <p:txBody>
          <a:bodyPr vert="horz" wrap="square" lIns="0" tIns="0" rIns="0" bIns="0" rtlCol="0" anchor="ctr" anchorCtr="1">
            <a:noAutofit/>
          </a:bodyPr>
          <a:lstStyle/>
          <a:p>
            <a:pPr marL="0" indent="0" algn="l">
              <a:spcBef>
                <a:spcPts val="0"/>
              </a:spcBef>
              <a:spcAft>
                <a:spcPts val="0"/>
              </a:spcAft>
              <a:buFont typeface="Arial" pitchFamily="34" charset="0"/>
              <a:buNone/>
            </a:pPr>
            <a:r>
              <a:rPr lang="en-GB" sz="700">
                <a:solidFill>
                  <a:srgbClr val="000000"/>
                </a:solidFill>
                <a:latin typeface="Calibri" panose="020F0502020204030204" pitchFamily="34" charset="0"/>
              </a:rPr>
              <a:t>C2 General</a:t>
            </a:r>
            <a:endParaRPr lang="en-GB" sz="7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681211830"/>
      </p:ext>
    </p:extLst>
  </p:cSld>
  <p:clrMap bg1="lt1" tx1="dk1" bg2="lt2" tx2="dk2" accent1="accent1" accent2="accent2" accent3="accent3" accent4="accent4" accent5="accent5" accent6="accent6" hlink="hlink" folHlink="folHlink"/>
  <p:sldLayoutIdLst>
    <p:sldLayoutId id="2147483770" r:id="rId1"/>
    <p:sldLayoutId id="2147483768" r:id="rId2"/>
    <p:sldLayoutId id="2147483761" r:id="rId3"/>
    <p:sldLayoutId id="2147483762" r:id="rId4"/>
    <p:sldLayoutId id="2147483772" r:id="rId5"/>
    <p:sldLayoutId id="2147483773" r:id="rId6"/>
    <p:sldLayoutId id="2147483709" r:id="rId7"/>
    <p:sldLayoutId id="2147483771" r:id="rId8"/>
    <p:sldLayoutId id="2147483660" r:id="rId9"/>
    <p:sldLayoutId id="2147483774" r:id="rId10"/>
    <p:sldLayoutId id="2147483775" r:id="rId11"/>
  </p:sldLayoutIdLst>
  <p:hf hdr="0" ftr="0"/>
  <p:txStyles>
    <p:titleStyle>
      <a:lvl1pPr algn="l" defTabSz="914400" rtl="0" eaLnBrk="1" latinLnBrk="0" hangingPunct="1">
        <a:lnSpc>
          <a:spcPct val="80000"/>
        </a:lnSpc>
        <a:spcBef>
          <a:spcPct val="0"/>
        </a:spcBef>
        <a:buNone/>
        <a:defRPr sz="2400" b="1" kern="1200">
          <a:solidFill>
            <a:schemeClr val="accent1"/>
          </a:solidFill>
          <a:latin typeface="Vodafone Rg" pitchFamily="34" charset="0"/>
          <a:ea typeface="+mj-ea"/>
          <a:cs typeface="+mj-cs"/>
        </a:defRPr>
      </a:lvl1pPr>
    </p:titleStyle>
    <p:bodyStyle>
      <a:lvl1pPr marL="138113" indent="-138113" algn="l" defTabSz="914400" rtl="0" eaLnBrk="1" latinLnBrk="0" hangingPunct="1">
        <a:spcBef>
          <a:spcPts val="0"/>
        </a:spcBef>
        <a:spcAft>
          <a:spcPts val="600"/>
        </a:spcAft>
        <a:buClr>
          <a:schemeClr val="accent1"/>
        </a:buClr>
        <a:buFont typeface="Arial" pitchFamily="34" charset="0"/>
        <a:buChar char="•"/>
        <a:defRPr sz="1800" kern="1200">
          <a:solidFill>
            <a:schemeClr val="tx1"/>
          </a:solidFill>
          <a:latin typeface="Vodafone Rg" pitchFamily="34" charset="0"/>
          <a:ea typeface="+mn-ea"/>
          <a:cs typeface="+mn-cs"/>
        </a:defRPr>
      </a:lvl1pPr>
      <a:lvl2pPr marL="347663" indent="-147638" algn="l" defTabSz="914400" rtl="0" eaLnBrk="1" latinLnBrk="0" hangingPunct="1">
        <a:spcBef>
          <a:spcPts val="0"/>
        </a:spcBef>
        <a:spcAft>
          <a:spcPts val="300"/>
        </a:spcAft>
        <a:buClr>
          <a:schemeClr val="accent1"/>
        </a:buClr>
        <a:buFont typeface="Calibri" pitchFamily="34" charset="0"/>
        <a:buChar char="–"/>
        <a:defRPr sz="1400" kern="1200">
          <a:solidFill>
            <a:schemeClr val="tx1"/>
          </a:solidFill>
          <a:latin typeface="Vodafone Rg" pitchFamily="34" charset="0"/>
          <a:ea typeface="+mn-ea"/>
          <a:cs typeface="+mn-cs"/>
        </a:defRPr>
      </a:lvl2pPr>
      <a:lvl3pPr marL="385763" indent="146050" algn="l" defTabSz="914400" rtl="0" eaLnBrk="1" latinLnBrk="0" hangingPunct="1">
        <a:spcBef>
          <a:spcPts val="0"/>
        </a:spcBef>
        <a:spcAft>
          <a:spcPts val="300"/>
        </a:spcAft>
        <a:buClr>
          <a:schemeClr val="accent1"/>
        </a:buClr>
        <a:buFont typeface="Calibri" pitchFamily="34" charset="0"/>
        <a:buChar char="–"/>
        <a:defRPr sz="1400" kern="1200">
          <a:solidFill>
            <a:schemeClr val="tx1"/>
          </a:solidFill>
          <a:latin typeface="Vodafone Rg" pitchFamily="34" charset="0"/>
          <a:ea typeface="+mn-ea"/>
          <a:cs typeface="+mn-cs"/>
        </a:defRPr>
      </a:lvl3pPr>
      <a:lvl4pPr marL="717550" indent="-150813" algn="l" defTabSz="914400" rtl="0" eaLnBrk="1" latinLnBrk="0" hangingPunct="1">
        <a:spcBef>
          <a:spcPct val="20000"/>
        </a:spcBef>
        <a:buClr>
          <a:schemeClr val="accent1"/>
        </a:buClr>
        <a:buFont typeface="Calibri" pitchFamily="34" charset="0"/>
        <a:buChar char="–"/>
        <a:defRPr sz="1200" kern="1200">
          <a:solidFill>
            <a:schemeClr val="tx1"/>
          </a:solidFill>
          <a:latin typeface="+mn-lt"/>
          <a:ea typeface="+mn-ea"/>
          <a:cs typeface="+mn-cs"/>
        </a:defRPr>
      </a:lvl4pPr>
      <a:lvl5pPr marL="914400" indent="-161925" algn="l" defTabSz="914400" rtl="0" eaLnBrk="1" latinLnBrk="0" hangingPunct="1">
        <a:spcBef>
          <a:spcPct val="20000"/>
        </a:spcBef>
        <a:buClr>
          <a:schemeClr val="accent1"/>
        </a:buClr>
        <a:buFont typeface="Calibri" pitchFamily="34" charset="0"/>
        <a:buChar char="–"/>
        <a:defRPr sz="12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58">
          <p15:clr>
            <a:srgbClr val="F26B43"/>
          </p15:clr>
        </p15:guide>
        <p15:guide id="3" orient="horz" pos="2820">
          <p15:clr>
            <a:srgbClr val="F26B43"/>
          </p15:clr>
        </p15:guide>
        <p15:guide id="4" pos="5602">
          <p15:clr>
            <a:srgbClr val="F26B43"/>
          </p15:clr>
        </p15:guide>
        <p15:guide id="5" pos="2812">
          <p15:clr>
            <a:srgbClr val="F26B43"/>
          </p15:clr>
        </p15:guide>
        <p15:guide id="6" pos="2948">
          <p15:clr>
            <a:srgbClr val="F26B43"/>
          </p15:clr>
        </p15:guide>
        <p15:guide id="7" orient="horz" pos="55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hyperlink" Target="https://vodafone.sharepoint.com/:x:/r/sites/CCSXpress/_layouts/15/Doc.aspx?sourcedoc=%7B74328B5C-C6F0-41AE-9183-F02B33877BBD%7D&amp;file=CCS%20Helix%20-%20Schedule.xlsx&amp;action=default&amp;mobileredirect=true" TargetMode="External"/><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vodafone.sharepoint.com/:w:/r/sites/CCSXpress/_layouts/15/Doc.aspx?sourcedoc=%7B2859D93F-A8F8-4215-86E0-384BC25AE130%7D&amp;file=RM%20ADO%20-%20DM%20Checklist.docx&amp;action=default&amp;mobileredirect=true" TargetMode="External"/><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hyperlink" Target="https://vodafone.sharepoint.com/:w:/r/sites/CCSXpress/_layouts/15/Doc.aspx?sourcedoc=%7B2859D93F-A8F8-4215-86E0-384BC25AE130%7D&amp;file=RM%20ADO%20-%20DM%20Checklist.docx&amp;action=default&amp;mobileredirect=true"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hyperlink" Target="https://vodafone.sharepoint.com/sites/CCSXpress/SitePages/New-Starters.aspx" TargetMode="External"/><Relationship Id="rId2" Type="http://schemas.openxmlformats.org/officeDocument/2006/relationships/slide" Target="slide2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hyperlink" Target="https://dev.azure.com/vfuk-digital/VF%20UK%20IT%20-%20Integration" TargetMode="External"/><Relationship Id="rId13" Type="http://schemas.microsoft.com/office/2007/relationships/hdphoto" Target="../media/hdphoto3.wdp"/><Relationship Id="rId18" Type="http://schemas.openxmlformats.org/officeDocument/2006/relationships/image" Target="../media/image20.png"/><Relationship Id="rId3" Type="http://schemas.microsoft.com/office/2007/relationships/hdphoto" Target="../media/hdphoto1.wdp"/><Relationship Id="rId7" Type="http://schemas.openxmlformats.org/officeDocument/2006/relationships/hyperlink" Target="https://dev.azure.com/vfuk-digital/VF%20UK%20IT%20-%20CCS%20Engineering" TargetMode="External"/><Relationship Id="rId12" Type="http://schemas.openxmlformats.org/officeDocument/2006/relationships/image" Target="../media/image17.png"/><Relationship Id="rId17" Type="http://schemas.microsoft.com/office/2007/relationships/hdphoto" Target="../media/hdphoto5.wdp"/><Relationship Id="rId2" Type="http://schemas.openxmlformats.org/officeDocument/2006/relationships/image" Target="../media/image14.png"/><Relationship Id="rId16" Type="http://schemas.openxmlformats.org/officeDocument/2006/relationships/image" Target="../media/image19.png"/><Relationship Id="rId20" Type="http://schemas.openxmlformats.org/officeDocument/2006/relationships/image" Target="../media/image21.png"/><Relationship Id="rId1" Type="http://schemas.openxmlformats.org/officeDocument/2006/relationships/slideLayout" Target="../slideLayouts/slideLayout6.xml"/><Relationship Id="rId6" Type="http://schemas.openxmlformats.org/officeDocument/2006/relationships/hyperlink" Target="https://dev.azure.com/vfuk-digital/Plan%20to%20Deliver" TargetMode="External"/><Relationship Id="rId11" Type="http://schemas.openxmlformats.org/officeDocument/2006/relationships/hyperlink" Target="https://dev.azure.com/vfuk-digital/VF%20UK%20IT%20-%20Data" TargetMode="External"/><Relationship Id="rId5" Type="http://schemas.microsoft.com/office/2007/relationships/hdphoto" Target="../media/hdphoto2.wdp"/><Relationship Id="rId15" Type="http://schemas.microsoft.com/office/2007/relationships/hdphoto" Target="../media/hdphoto4.wdp"/><Relationship Id="rId10" Type="http://schemas.openxmlformats.org/officeDocument/2006/relationships/image" Target="../media/image16.png"/><Relationship Id="rId19" Type="http://schemas.microsoft.com/office/2007/relationships/hdphoto" Target="../media/hdphoto6.wdp"/><Relationship Id="rId4" Type="http://schemas.openxmlformats.org/officeDocument/2006/relationships/image" Target="../media/image15.png"/><Relationship Id="rId9" Type="http://schemas.openxmlformats.org/officeDocument/2006/relationships/hyperlink" Target="https://vfuk-digital.visualstudio.com/VF%20UK%20IT%20-%20Release%20Management" TargetMode="External"/><Relationship Id="rId1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hyperlink" Target="https://vfuk-digital.visualstudio.com/VF%20UK%20IT%20-%20Release%20Management" TargetMode="External"/><Relationship Id="rId2" Type="http://schemas.openxmlformats.org/officeDocument/2006/relationships/hyperlink" Target="https://vfuk-digital.visualstudio.com/Plan%20to%20Deliver" TargetMode="Externa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microsoft.com/office/2007/relationships/hdphoto" Target="../media/hdphoto2.wdp"/><Relationship Id="rId11" Type="http://schemas.microsoft.com/office/2007/relationships/hdphoto" Target="../media/hdphoto4.wdp"/><Relationship Id="rId5" Type="http://schemas.openxmlformats.org/officeDocument/2006/relationships/image" Target="../media/image15.png"/><Relationship Id="rId10" Type="http://schemas.openxmlformats.org/officeDocument/2006/relationships/image" Target="../media/image18.png"/><Relationship Id="rId4" Type="http://schemas.microsoft.com/office/2007/relationships/hdphoto" Target="../media/hdphoto1.wdp"/><Relationship Id="rId9" Type="http://schemas.openxmlformats.org/officeDocument/2006/relationships/image" Target="../media/image22.png"/></Relationships>
</file>

<file path=ppt/slides/_rels/slide2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7.png"/><Relationship Id="rId7" Type="http://schemas.microsoft.com/office/2007/relationships/hdphoto" Target="../media/hdphoto4.wdp"/><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22.png"/><Relationship Id="rId4" Type="http://schemas.microsoft.com/office/2007/relationships/hdphoto" Target="../media/hdphoto3.wdp"/><Relationship Id="rId9" Type="http://schemas.microsoft.com/office/2007/relationships/hdphoto" Target="../media/hdphoto2.wdp"/></Relationships>
</file>

<file path=ppt/slides/_rels/slide25.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17.png"/><Relationship Id="rId7"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10" Type="http://schemas.microsoft.com/office/2007/relationships/hdphoto" Target="../media/hdphoto2.wdp"/><Relationship Id="rId4" Type="http://schemas.microsoft.com/office/2007/relationships/hdphoto" Target="../media/hdphoto3.wdp"/><Relationship Id="rId9"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24.png"/><Relationship Id="rId4" Type="http://schemas.microsoft.com/office/2007/relationships/hdphoto" Target="../media/hdphoto2.wdp"/></Relationships>
</file>

<file path=ppt/slides/_rels/slide29.xml.rels><?xml version="1.0" encoding="UTF-8" standalone="yes"?>
<Relationships xmlns="http://schemas.openxmlformats.org/package/2006/relationships"><Relationship Id="rId3" Type="http://schemas.openxmlformats.org/officeDocument/2006/relationships/hyperlink" Target="https://dev.azure.com/vfuk-digital/VF%20UK%20IT%20-%20Release%20Management" TargetMode="External"/><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25.png"/><Relationship Id="rId5" Type="http://schemas.microsoft.com/office/2007/relationships/hdphoto" Target="../media/hdphoto2.wdp"/><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microsoft.com/office/2007/relationships/hdphoto" Target="../media/hdphoto2.wdp"/></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image" Target="../media/image28.png"/><Relationship Id="rId4" Type="http://schemas.microsoft.com/office/2007/relationships/hdphoto" Target="../media/hdphoto2.wdp"/></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32.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hyperlink" Target="https://vodafone.sharepoint.com/sites/CCSXpress" TargetMode="Externa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hyperlink" Target="https://vodafone.sharepoint.com/sites/CCSXpress/SitePages/Azure%20Dev%20Ops%20(ADO).aspx"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hyperlink" Target="https://vodafone.sharepoint.com/sites/CCSXpress/" TargetMode="External"/><Relationship Id="rId2" Type="http://schemas.openxmlformats.org/officeDocument/2006/relationships/notesSlide" Target="../notesSlides/notesSlide24.xml"/><Relationship Id="rId1" Type="http://schemas.openxmlformats.org/officeDocument/2006/relationships/slideLayout" Target="../slideLayouts/slideLayout10.xml"/><Relationship Id="rId6" Type="http://schemas.openxmlformats.org/officeDocument/2006/relationships/hyperlink" Target="https://vodafone.sharepoint.com/sites/CCSXpress/Final%20Documents/Processes/CCSXpress%20Dependency%20Management%20for%20Delivery%20Managers.pptx" TargetMode="External"/><Relationship Id="rId5" Type="http://schemas.openxmlformats.org/officeDocument/2006/relationships/image" Target="../media/image39.svg"/><Relationship Id="rId4" Type="http://schemas.openxmlformats.org/officeDocument/2006/relationships/image" Target="../media/image38.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hyperlink" Target="https://vodafone.sharepoint.com/:p:/r/sites/CCSXpress/Training/ADO%20Guidelines/CCS%20Release%20Management%20-%20Basic%20ADO%20How%20To.pptx?d=w470c56f1642b44838bb56a6fdde967c3&amp;csf=1&amp;web=1&amp;e=Xh9YqJ" TargetMode="External"/><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42.png"/><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CCS Release Management TDM Guide</a:t>
            </a:r>
          </a:p>
        </p:txBody>
      </p:sp>
      <p:sp>
        <p:nvSpPr>
          <p:cNvPr id="3" name="Subtitle 2"/>
          <p:cNvSpPr>
            <a:spLocks noGrp="1"/>
          </p:cNvSpPr>
          <p:nvPr>
            <p:ph type="subTitle" idx="1"/>
          </p:nvPr>
        </p:nvSpPr>
        <p:spPr/>
        <p:txBody>
          <a:bodyPr/>
          <a:lstStyle/>
          <a:p>
            <a:r>
              <a:rPr lang="en-GB" dirty="0">
                <a:latin typeface="Vodafone Lt"/>
              </a:rPr>
              <a:t>Sara Kamal</a:t>
            </a:r>
          </a:p>
        </p:txBody>
      </p:sp>
      <p:sp>
        <p:nvSpPr>
          <p:cNvPr id="6" name="Footer Placeholder 5">
            <a:extLst>
              <a:ext uri="{FF2B5EF4-FFF2-40B4-BE49-F238E27FC236}">
                <a16:creationId xmlns:a16="http://schemas.microsoft.com/office/drawing/2014/main" id="{335EA8C7-5F81-CB46-B8B8-59BB57C9989A}"/>
              </a:ext>
            </a:extLst>
          </p:cNvPr>
          <p:cNvSpPr>
            <a:spLocks noGrp="1"/>
          </p:cNvSpPr>
          <p:nvPr>
            <p:ph type="ftr" sz="quarter" idx="4294967295"/>
          </p:nvPr>
        </p:nvSpPr>
        <p:spPr>
          <a:xfrm>
            <a:off x="253395" y="4712099"/>
            <a:ext cx="2087880" cy="238889"/>
          </a:xfrm>
        </p:spPr>
        <p:txBody>
          <a:bodyPr/>
          <a:lstStyle/>
          <a:p>
            <a:r>
              <a:rPr lang="en-GB" dirty="0"/>
              <a:t>Insert Confidentiality</a:t>
            </a:r>
          </a:p>
        </p:txBody>
      </p:sp>
    </p:spTree>
    <p:extLst>
      <p:ext uri="{BB962C8B-B14F-4D97-AF65-F5344CB8AC3E}">
        <p14:creationId xmlns:p14="http://schemas.microsoft.com/office/powerpoint/2010/main" val="1879589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6B45699-FFBE-4E91-BDDB-FCC89DC289AA}"/>
              </a:ext>
            </a:extLst>
          </p:cNvPr>
          <p:cNvSpPr>
            <a:spLocks noGrp="1"/>
          </p:cNvSpPr>
          <p:nvPr>
            <p:ph sz="quarter" idx="13"/>
          </p:nvPr>
        </p:nvSpPr>
        <p:spPr/>
        <p:txBody>
          <a:bodyPr/>
          <a:lstStyle/>
          <a:p>
            <a:r>
              <a:rPr lang="en-GB" sz="1600" dirty="0"/>
              <a:t>Release Introduction</a:t>
            </a:r>
          </a:p>
          <a:p>
            <a:r>
              <a:rPr lang="en-GB" sz="1600" dirty="0"/>
              <a:t>Release schedule</a:t>
            </a:r>
          </a:p>
          <a:p>
            <a:r>
              <a:rPr lang="en-GB" sz="1600" dirty="0"/>
              <a:t>Release Governance</a:t>
            </a:r>
          </a:p>
          <a:p>
            <a:r>
              <a:rPr lang="en-GB" sz="1600" dirty="0"/>
              <a:t>Release RAGs</a:t>
            </a:r>
          </a:p>
          <a:p>
            <a:r>
              <a:rPr lang="en-GB" sz="1600" dirty="0"/>
              <a:t>Journey/Process work-flow</a:t>
            </a:r>
          </a:p>
          <a:p>
            <a:pPr lvl="1"/>
            <a:r>
              <a:rPr lang="en-GB" sz="1200" dirty="0"/>
              <a:t> Features</a:t>
            </a:r>
          </a:p>
          <a:p>
            <a:pPr lvl="1"/>
            <a:r>
              <a:rPr lang="en-GB" sz="1200" dirty="0"/>
              <a:t>Delivery work item</a:t>
            </a:r>
          </a:p>
          <a:p>
            <a:pPr lvl="1"/>
            <a:r>
              <a:rPr lang="en-GB" sz="1200" dirty="0"/>
              <a:t>Function </a:t>
            </a:r>
            <a:endParaRPr lang="en-US" sz="1600" dirty="0"/>
          </a:p>
          <a:p>
            <a:r>
              <a:rPr lang="en-US" sz="1600" dirty="0"/>
              <a:t>Feature, Delivery &amp; Function State Synchronization</a:t>
            </a:r>
          </a:p>
          <a:p>
            <a:r>
              <a:rPr lang="en-GB" sz="1600" dirty="0"/>
              <a:t>How to be committed into a release?</a:t>
            </a:r>
          </a:p>
          <a:p>
            <a:r>
              <a:rPr lang="en-GB" sz="1600" dirty="0"/>
              <a:t>Change Requests</a:t>
            </a:r>
          </a:p>
          <a:p>
            <a:r>
              <a:rPr lang="en-US" sz="1600" dirty="0"/>
              <a:t>FUT, CJT &amp; ELS/Hypercare </a:t>
            </a:r>
          </a:p>
          <a:p>
            <a:endParaRPr lang="en-GB" sz="1600" dirty="0"/>
          </a:p>
          <a:p>
            <a:endParaRPr lang="en-GB" sz="1600" dirty="0"/>
          </a:p>
          <a:p>
            <a:endParaRPr lang="en-GB" sz="1600" dirty="0"/>
          </a:p>
          <a:p>
            <a:endParaRPr lang="en-GB" sz="1600" dirty="0"/>
          </a:p>
        </p:txBody>
      </p:sp>
      <p:sp>
        <p:nvSpPr>
          <p:cNvPr id="4" name="Title 3">
            <a:extLst>
              <a:ext uri="{FF2B5EF4-FFF2-40B4-BE49-F238E27FC236}">
                <a16:creationId xmlns:a16="http://schemas.microsoft.com/office/drawing/2014/main" id="{FA58CF78-4538-46A1-9128-ED8BD149E351}"/>
              </a:ext>
            </a:extLst>
          </p:cNvPr>
          <p:cNvSpPr>
            <a:spLocks noGrp="1"/>
          </p:cNvSpPr>
          <p:nvPr>
            <p:ph type="title"/>
          </p:nvPr>
        </p:nvSpPr>
        <p:spPr>
          <a:xfrm>
            <a:off x="188550" y="103500"/>
            <a:ext cx="8784000" cy="360000"/>
          </a:xfrm>
        </p:spPr>
        <p:txBody>
          <a:bodyPr/>
          <a:lstStyle/>
          <a:p>
            <a:r>
              <a:rPr lang="en-GB" dirty="0"/>
              <a:t>Agenda</a:t>
            </a:r>
          </a:p>
        </p:txBody>
      </p:sp>
    </p:spTree>
    <p:extLst>
      <p:ext uri="{BB962C8B-B14F-4D97-AF65-F5344CB8AC3E}">
        <p14:creationId xmlns:p14="http://schemas.microsoft.com/office/powerpoint/2010/main" val="1030475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2E310-7D9F-90DF-1CBD-CD297B187D4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D25E9F4-A47E-0C96-EA8E-8AF146266A11}"/>
              </a:ext>
            </a:extLst>
          </p:cNvPr>
          <p:cNvSpPr>
            <a:spLocks noGrp="1"/>
          </p:cNvSpPr>
          <p:nvPr>
            <p:ph type="ctrTitle"/>
          </p:nvPr>
        </p:nvSpPr>
        <p:spPr/>
        <p:txBody>
          <a:bodyPr/>
          <a:lstStyle/>
          <a:p>
            <a:r>
              <a:rPr lang="en-GB" dirty="0"/>
              <a:t>Release Introduction</a:t>
            </a:r>
          </a:p>
        </p:txBody>
      </p:sp>
      <p:sp>
        <p:nvSpPr>
          <p:cNvPr id="4" name="Slide Number Placeholder 3">
            <a:extLst>
              <a:ext uri="{FF2B5EF4-FFF2-40B4-BE49-F238E27FC236}">
                <a16:creationId xmlns:a16="http://schemas.microsoft.com/office/drawing/2014/main" id="{C4239AA0-38B4-A76E-AF64-F294843CA27F}"/>
              </a:ext>
            </a:extLst>
          </p:cNvPr>
          <p:cNvSpPr>
            <a:spLocks noGrp="1"/>
          </p:cNvSpPr>
          <p:nvPr>
            <p:ph type="sldNum" sz="quarter" idx="11"/>
          </p:nvPr>
        </p:nvSpPr>
        <p:spPr/>
        <p:txBody>
          <a:bodyPr/>
          <a:lstStyle/>
          <a:p>
            <a:fld id="{72A83A2B-3358-44F8-83A0-4598795D8FB5}" type="slidenum">
              <a:rPr lang="en-GB" smtClean="0"/>
              <a:pPr/>
              <a:t>3</a:t>
            </a:fld>
            <a:endParaRPr lang="en-GB"/>
          </a:p>
        </p:txBody>
      </p:sp>
    </p:spTree>
    <p:extLst>
      <p:ext uri="{BB962C8B-B14F-4D97-AF65-F5344CB8AC3E}">
        <p14:creationId xmlns:p14="http://schemas.microsoft.com/office/powerpoint/2010/main" val="3559642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620572-FB4E-7F23-331A-5D6770A53EA5}"/>
              </a:ext>
            </a:extLst>
          </p:cNvPr>
          <p:cNvPicPr>
            <a:picLocks noChangeAspect="1"/>
          </p:cNvPicPr>
          <p:nvPr/>
        </p:nvPicPr>
        <p:blipFill>
          <a:blip r:embed="rId2"/>
          <a:srcRect l="280" t="488" b="-363"/>
          <a:stretch>
            <a:fillRect/>
          </a:stretch>
        </p:blipFill>
        <p:spPr>
          <a:xfrm>
            <a:off x="94875" y="376669"/>
            <a:ext cx="6865667" cy="3357941"/>
          </a:xfrm>
          <a:prstGeom prst="rect">
            <a:avLst/>
          </a:prstGeom>
        </p:spPr>
      </p:pic>
      <p:sp>
        <p:nvSpPr>
          <p:cNvPr id="10" name="Title 9">
            <a:extLst>
              <a:ext uri="{FF2B5EF4-FFF2-40B4-BE49-F238E27FC236}">
                <a16:creationId xmlns:a16="http://schemas.microsoft.com/office/drawing/2014/main" id="{EECCC8B5-282A-6AB4-BC83-C42175A047C1}"/>
              </a:ext>
            </a:extLst>
          </p:cNvPr>
          <p:cNvSpPr>
            <a:spLocks noGrp="1"/>
          </p:cNvSpPr>
          <p:nvPr>
            <p:ph type="title"/>
          </p:nvPr>
        </p:nvSpPr>
        <p:spPr>
          <a:xfrm>
            <a:off x="2411413" y="77502"/>
            <a:ext cx="4321175" cy="598337"/>
          </a:xfrm>
        </p:spPr>
        <p:txBody>
          <a:bodyPr vert="horz" lIns="0" tIns="0" rIns="0" bIns="0" rtlCol="0" anchor="t" anchorCtr="0">
            <a:noAutofit/>
          </a:bodyPr>
          <a:lstStyle/>
          <a:p>
            <a:pPr algn="ctr" defTabSz="914378"/>
            <a:r>
              <a:rPr lang="en-US" sz="2400" dirty="0">
                <a:solidFill>
                  <a:srgbClr val="FF0000"/>
                </a:solidFill>
              </a:rPr>
              <a:t>CCS Helix –Model</a:t>
            </a:r>
            <a:endParaRPr lang="en-GB" sz="2400" dirty="0">
              <a:solidFill>
                <a:srgbClr val="FF0000"/>
              </a:solidFill>
            </a:endParaRPr>
          </a:p>
        </p:txBody>
      </p:sp>
      <p:sp>
        <p:nvSpPr>
          <p:cNvPr id="11" name="Rectangle 10">
            <a:extLst>
              <a:ext uri="{FF2B5EF4-FFF2-40B4-BE49-F238E27FC236}">
                <a16:creationId xmlns:a16="http://schemas.microsoft.com/office/drawing/2014/main" id="{02F39B4F-B9BD-C088-15D1-293345527AE6}"/>
              </a:ext>
            </a:extLst>
          </p:cNvPr>
          <p:cNvSpPr/>
          <p:nvPr/>
        </p:nvSpPr>
        <p:spPr>
          <a:xfrm>
            <a:off x="6974565" y="452088"/>
            <a:ext cx="2088583" cy="3357940"/>
          </a:xfrm>
          <a:prstGeom prst="rect">
            <a:avLst/>
          </a:prstGeom>
          <a:ln/>
        </p:spPr>
        <p:style>
          <a:lnRef idx="2">
            <a:schemeClr val="dk1"/>
          </a:lnRef>
          <a:fillRef idx="1">
            <a:schemeClr val="lt1"/>
          </a:fillRef>
          <a:effectRef idx="0">
            <a:schemeClr val="dk1"/>
          </a:effectRef>
          <a:fontRef idx="minor">
            <a:schemeClr val="dk1"/>
          </a:fontRef>
        </p:style>
        <p:txBody>
          <a:bodyPr rtlCol="0" anchor="t"/>
          <a:lstStyle/>
          <a:p>
            <a:pPr marL="128588" lvl="1" indent="-128588">
              <a:buFont typeface="Arial" panose="020B0604020202020204" pitchFamily="34" charset="0"/>
              <a:buChar char="•"/>
            </a:pPr>
            <a:endParaRPr lang="en-US" sz="675" b="1" dirty="0"/>
          </a:p>
          <a:p>
            <a:pPr marL="128588" lvl="1" indent="-128588">
              <a:buFont typeface="Arial" panose="020B0604020202020204" pitchFamily="34" charset="0"/>
              <a:buChar char="•"/>
            </a:pPr>
            <a:endParaRPr lang="en-US" sz="675" b="1" dirty="0"/>
          </a:p>
          <a:p>
            <a:pPr marL="128588" lvl="1" indent="-128588">
              <a:buFont typeface="Arial" panose="020B0604020202020204" pitchFamily="34" charset="0"/>
              <a:buChar char="•"/>
            </a:pPr>
            <a:endParaRPr lang="en-US" sz="675" b="1" dirty="0"/>
          </a:p>
          <a:p>
            <a:pPr marL="128588" lvl="1" indent="-128588">
              <a:buFont typeface="Arial" panose="020B0604020202020204" pitchFamily="34" charset="0"/>
              <a:buChar char="•"/>
            </a:pPr>
            <a:endParaRPr lang="en-US" sz="675" b="1" dirty="0"/>
          </a:p>
          <a:p>
            <a:pPr marL="128588" lvl="1" indent="-128588">
              <a:buFont typeface="Arial" panose="020B0604020202020204" pitchFamily="34" charset="0"/>
              <a:buChar char="•"/>
            </a:pPr>
            <a:endParaRPr lang="en-US" sz="675" b="1" dirty="0"/>
          </a:p>
          <a:p>
            <a:pPr marL="128588" lvl="1" indent="-128588">
              <a:buFont typeface="Arial" panose="020B0604020202020204" pitchFamily="34" charset="0"/>
              <a:buChar char="•"/>
            </a:pPr>
            <a:endParaRPr lang="en-US" sz="675" b="1" dirty="0"/>
          </a:p>
          <a:p>
            <a:pPr marL="128588" lvl="1" indent="-128588">
              <a:buFont typeface="Arial" panose="020B0604020202020204" pitchFamily="34" charset="0"/>
              <a:buChar char="•"/>
            </a:pPr>
            <a:endParaRPr lang="en-US" sz="675" b="1" dirty="0"/>
          </a:p>
          <a:p>
            <a:pPr marL="128588" lvl="1" indent="-128588">
              <a:buFont typeface="Arial" panose="020B0604020202020204" pitchFamily="34" charset="0"/>
              <a:buChar char="•"/>
            </a:pPr>
            <a:endParaRPr lang="en-US" sz="675" b="1" dirty="0"/>
          </a:p>
          <a:p>
            <a:pPr marL="128588" lvl="1" indent="-128588">
              <a:buFont typeface="Arial" panose="020B0604020202020204" pitchFamily="34" charset="0"/>
              <a:buChar char="•"/>
            </a:pPr>
            <a:endParaRPr lang="en-US" sz="675" b="1" dirty="0"/>
          </a:p>
          <a:p>
            <a:pPr marL="128588" lvl="1" indent="-128588">
              <a:buFont typeface="Arial" panose="020B0604020202020204" pitchFamily="34" charset="0"/>
              <a:buChar char="•"/>
            </a:pPr>
            <a:endParaRPr lang="en-US" sz="675" b="1" dirty="0"/>
          </a:p>
          <a:p>
            <a:pPr marL="128588" lvl="1" indent="-128588">
              <a:buFont typeface="Arial" panose="020B0604020202020204" pitchFamily="34" charset="0"/>
              <a:buChar char="•"/>
            </a:pPr>
            <a:r>
              <a:rPr lang="en-US" sz="675" b="1" dirty="0"/>
              <a:t>Predictable</a:t>
            </a:r>
          </a:p>
          <a:p>
            <a:pPr marL="471488" lvl="3" indent="-128588">
              <a:buFont typeface="Arial" panose="020B0604020202020204" pitchFamily="34" charset="0"/>
              <a:buChar char="•"/>
            </a:pPr>
            <a:r>
              <a:rPr lang="en-US" sz="675" dirty="0"/>
              <a:t>Extended Build &amp; Test Cycle provides with a predictable delivery </a:t>
            </a:r>
          </a:p>
          <a:p>
            <a:pPr marL="814388" lvl="5" indent="-128588">
              <a:buFont typeface="Arial" panose="020B0604020202020204" pitchFamily="34" charset="0"/>
              <a:buChar char="•"/>
            </a:pPr>
            <a:r>
              <a:rPr lang="en-US" sz="675" dirty="0"/>
              <a:t>7 week Build Cycle</a:t>
            </a:r>
          </a:p>
          <a:p>
            <a:pPr marL="814388" lvl="5" indent="-128588">
              <a:buFont typeface="Arial" panose="020B0604020202020204" pitchFamily="34" charset="0"/>
              <a:buChar char="•"/>
            </a:pPr>
            <a:r>
              <a:rPr lang="en-US" sz="675" dirty="0"/>
              <a:t>9 Week Continuous Test Cycle</a:t>
            </a:r>
          </a:p>
          <a:p>
            <a:pPr marL="814388" lvl="5" indent="-128588">
              <a:buFont typeface="Arial" panose="020B0604020202020204" pitchFamily="34" charset="0"/>
              <a:buChar char="•"/>
            </a:pPr>
            <a:r>
              <a:rPr lang="en-US" sz="675" dirty="0"/>
              <a:t>Go Live every 6 weeks</a:t>
            </a:r>
          </a:p>
          <a:p>
            <a:pPr marL="814388" lvl="4" indent="-128588">
              <a:buFont typeface="Arial" panose="020B0604020202020204" pitchFamily="34" charset="0"/>
              <a:buChar char="•"/>
            </a:pPr>
            <a:r>
              <a:rPr lang="en-US" sz="675" dirty="0"/>
              <a:t>Incident Drop planned in between releases</a:t>
            </a:r>
          </a:p>
          <a:p>
            <a:pPr marL="128588" lvl="2" indent="-128588">
              <a:buFont typeface="Arial" panose="020B0604020202020204" pitchFamily="34" charset="0"/>
              <a:buChar char="•"/>
            </a:pPr>
            <a:r>
              <a:rPr lang="en-US" sz="675" b="1" dirty="0"/>
              <a:t>Optimum</a:t>
            </a:r>
          </a:p>
          <a:p>
            <a:pPr marL="471488" lvl="4" indent="-128588">
              <a:buFont typeface="Arial" panose="020B0604020202020204" pitchFamily="34" charset="0"/>
              <a:buChar char="•"/>
            </a:pPr>
            <a:r>
              <a:rPr lang="en-US" sz="675" dirty="0"/>
              <a:t>Less No of releases (~8 as opposed to 15 with CCSXpress per year)</a:t>
            </a:r>
          </a:p>
          <a:p>
            <a:pPr marL="471488" lvl="4" indent="-128588">
              <a:buFont typeface="Arial" panose="020B0604020202020204" pitchFamily="34" charset="0"/>
              <a:buChar char="•"/>
            </a:pPr>
            <a:r>
              <a:rPr lang="en-US" sz="675" dirty="0"/>
              <a:t>Less Parallelism (Build overlap only 1 week between Releases R and R+1)</a:t>
            </a:r>
          </a:p>
          <a:p>
            <a:pPr marL="342900" lvl="4"/>
            <a:endParaRPr lang="en-US" sz="675" dirty="0"/>
          </a:p>
          <a:p>
            <a:pPr marL="128588" lvl="1" indent="-128588">
              <a:buFont typeface="Arial" panose="020B0604020202020204" pitchFamily="34" charset="0"/>
              <a:buChar char="•"/>
            </a:pPr>
            <a:r>
              <a:rPr lang="en-US" sz="675" b="1" dirty="0"/>
              <a:t>Time To Market</a:t>
            </a:r>
          </a:p>
          <a:p>
            <a:pPr marL="471488" lvl="2" indent="-128588">
              <a:buFont typeface="Arial" panose="020B0604020202020204" pitchFamily="34" charset="0"/>
              <a:buChar char="•"/>
            </a:pPr>
            <a:r>
              <a:rPr lang="en-US" sz="675" dirty="0"/>
              <a:t>Release frequency changed (6 weekly as opposed to 3 in CCSXpress)</a:t>
            </a:r>
          </a:p>
          <a:p>
            <a:pPr marL="471488" lvl="3" indent="-128588">
              <a:buFont typeface="Arial" panose="020B0604020202020204" pitchFamily="34" charset="0"/>
              <a:buChar char="•"/>
            </a:pPr>
            <a:r>
              <a:rPr lang="en-US" sz="675" dirty="0"/>
              <a:t>Potentially a better TTM from Business Value point of view with predictable delivery.</a:t>
            </a:r>
            <a:endParaRPr lang="en-US" sz="675" b="1" dirty="0"/>
          </a:p>
          <a:p>
            <a:pPr marL="128588" indent="-128588">
              <a:buFont typeface="Arial" panose="020B0604020202020204" pitchFamily="34" charset="0"/>
              <a:buChar char="•"/>
            </a:pPr>
            <a:endParaRPr lang="en-US" sz="675" b="1" dirty="0"/>
          </a:p>
        </p:txBody>
      </p:sp>
      <p:graphicFrame>
        <p:nvGraphicFramePr>
          <p:cNvPr id="7" name="Table 6">
            <a:extLst>
              <a:ext uri="{FF2B5EF4-FFF2-40B4-BE49-F238E27FC236}">
                <a16:creationId xmlns:a16="http://schemas.microsoft.com/office/drawing/2014/main" id="{1B7BCD81-EBDA-70D2-F031-1AC1531EA5C7}"/>
              </a:ext>
            </a:extLst>
          </p:cNvPr>
          <p:cNvGraphicFramePr>
            <a:graphicFrameLocks noGrp="1"/>
          </p:cNvGraphicFramePr>
          <p:nvPr>
            <p:extLst>
              <p:ext uri="{D42A27DB-BD31-4B8C-83A1-F6EECF244321}">
                <p14:modId xmlns:p14="http://schemas.microsoft.com/office/powerpoint/2010/main" val="137141740"/>
              </p:ext>
            </p:extLst>
          </p:nvPr>
        </p:nvGraphicFramePr>
        <p:xfrm>
          <a:off x="7257364" y="4177407"/>
          <a:ext cx="1387708" cy="217397"/>
        </p:xfrm>
        <a:graphic>
          <a:graphicData uri="http://schemas.openxmlformats.org/drawingml/2006/table">
            <a:tbl>
              <a:tblPr/>
              <a:tblGrid>
                <a:gridCol w="346927">
                  <a:extLst>
                    <a:ext uri="{9D8B030D-6E8A-4147-A177-3AD203B41FA5}">
                      <a16:colId xmlns:a16="http://schemas.microsoft.com/office/drawing/2014/main" val="3973553035"/>
                    </a:ext>
                  </a:extLst>
                </a:gridCol>
                <a:gridCol w="346927">
                  <a:extLst>
                    <a:ext uri="{9D8B030D-6E8A-4147-A177-3AD203B41FA5}">
                      <a16:colId xmlns:a16="http://schemas.microsoft.com/office/drawing/2014/main" val="3555006167"/>
                    </a:ext>
                  </a:extLst>
                </a:gridCol>
                <a:gridCol w="346927">
                  <a:extLst>
                    <a:ext uri="{9D8B030D-6E8A-4147-A177-3AD203B41FA5}">
                      <a16:colId xmlns:a16="http://schemas.microsoft.com/office/drawing/2014/main" val="338145554"/>
                    </a:ext>
                  </a:extLst>
                </a:gridCol>
                <a:gridCol w="346927">
                  <a:extLst>
                    <a:ext uri="{9D8B030D-6E8A-4147-A177-3AD203B41FA5}">
                      <a16:colId xmlns:a16="http://schemas.microsoft.com/office/drawing/2014/main" val="2445048928"/>
                    </a:ext>
                  </a:extLst>
                </a:gridCol>
              </a:tblGrid>
              <a:tr h="217397">
                <a:tc>
                  <a:txBody>
                    <a:bodyPr/>
                    <a:lstStyle/>
                    <a:p>
                      <a:pPr algn="ctr" fontAlgn="b">
                        <a:buNone/>
                      </a:pPr>
                      <a:r>
                        <a:rPr lang="en-GB" sz="800" b="0" i="0" u="none" strike="noStrike">
                          <a:solidFill>
                            <a:srgbClr val="000000"/>
                          </a:solidFill>
                          <a:effectLst/>
                          <a:latin typeface="Aptos Narrow" panose="020B0004020202020204" pitchFamily="34" charset="0"/>
                        </a:rPr>
                        <a:t>Build</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9EDD"/>
                    </a:solidFill>
                  </a:tcPr>
                </a:tc>
                <a:tc>
                  <a:txBody>
                    <a:bodyPr/>
                    <a:lstStyle/>
                    <a:p>
                      <a:pPr algn="ctr" fontAlgn="b">
                        <a:buNone/>
                      </a:pPr>
                      <a:r>
                        <a:rPr lang="en-GB" sz="800" b="0" i="0" u="none" strike="noStrike">
                          <a:solidFill>
                            <a:srgbClr val="000000"/>
                          </a:solidFill>
                          <a:effectLst/>
                          <a:latin typeface="Aptos Narrow" panose="020B0004020202020204" pitchFamily="34" charset="0"/>
                        </a:rPr>
                        <a:t>SIT</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buNone/>
                      </a:pPr>
                      <a:r>
                        <a:rPr lang="en-GB" sz="800" b="0" i="0" u="none" strike="noStrike">
                          <a:solidFill>
                            <a:srgbClr val="000000"/>
                          </a:solidFill>
                          <a:effectLst/>
                          <a:latin typeface="Aptos Narrow" panose="020B0004020202020204" pitchFamily="34" charset="0"/>
                        </a:rPr>
                        <a:t>Go-Live</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GB" sz="800" b="0" i="0" u="none" strike="noStrike" dirty="0">
                          <a:solidFill>
                            <a:srgbClr val="000000"/>
                          </a:solidFill>
                          <a:effectLst/>
                          <a:latin typeface="Aptos Narrow" panose="020B0004020202020204" pitchFamily="34" charset="0"/>
                        </a:rPr>
                        <a:t>ST</a:t>
                      </a: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7391440"/>
                  </a:ext>
                </a:extLst>
              </a:tr>
            </a:tbl>
          </a:graphicData>
        </a:graphic>
      </p:graphicFrame>
      <p:pic>
        <p:nvPicPr>
          <p:cNvPr id="16" name="Picture 15">
            <a:extLst>
              <a:ext uri="{FF2B5EF4-FFF2-40B4-BE49-F238E27FC236}">
                <a16:creationId xmlns:a16="http://schemas.microsoft.com/office/drawing/2014/main" id="{105B12B2-417F-B575-8F94-6B8328582062}"/>
              </a:ext>
            </a:extLst>
          </p:cNvPr>
          <p:cNvPicPr>
            <a:picLocks noChangeAspect="1"/>
          </p:cNvPicPr>
          <p:nvPr/>
        </p:nvPicPr>
        <p:blipFill>
          <a:blip r:embed="rId3"/>
          <a:stretch>
            <a:fillRect/>
          </a:stretch>
        </p:blipFill>
        <p:spPr>
          <a:xfrm>
            <a:off x="7100462" y="4468516"/>
            <a:ext cx="1512176" cy="423863"/>
          </a:xfrm>
          <a:prstGeom prst="rect">
            <a:avLst/>
          </a:prstGeom>
        </p:spPr>
      </p:pic>
      <p:graphicFrame>
        <p:nvGraphicFramePr>
          <p:cNvPr id="23" name="Table 22">
            <a:extLst>
              <a:ext uri="{FF2B5EF4-FFF2-40B4-BE49-F238E27FC236}">
                <a16:creationId xmlns:a16="http://schemas.microsoft.com/office/drawing/2014/main" id="{F467632A-4421-354C-D6A2-CC71D7B9D406}"/>
              </a:ext>
            </a:extLst>
          </p:cNvPr>
          <p:cNvGraphicFramePr>
            <a:graphicFrameLocks noGrp="1"/>
          </p:cNvGraphicFramePr>
          <p:nvPr>
            <p:extLst>
              <p:ext uri="{D42A27DB-BD31-4B8C-83A1-F6EECF244321}">
                <p14:modId xmlns:p14="http://schemas.microsoft.com/office/powerpoint/2010/main" val="1215872775"/>
              </p:ext>
            </p:extLst>
          </p:nvPr>
        </p:nvGraphicFramePr>
        <p:xfrm>
          <a:off x="6981940" y="452087"/>
          <a:ext cx="2067185" cy="1070051"/>
        </p:xfrm>
        <a:graphic>
          <a:graphicData uri="http://schemas.openxmlformats.org/drawingml/2006/table">
            <a:tbl>
              <a:tblPr/>
              <a:tblGrid>
                <a:gridCol w="740894">
                  <a:extLst>
                    <a:ext uri="{9D8B030D-6E8A-4147-A177-3AD203B41FA5}">
                      <a16:colId xmlns:a16="http://schemas.microsoft.com/office/drawing/2014/main" val="2668518998"/>
                    </a:ext>
                  </a:extLst>
                </a:gridCol>
                <a:gridCol w="658572">
                  <a:extLst>
                    <a:ext uri="{9D8B030D-6E8A-4147-A177-3AD203B41FA5}">
                      <a16:colId xmlns:a16="http://schemas.microsoft.com/office/drawing/2014/main" val="3510713026"/>
                    </a:ext>
                  </a:extLst>
                </a:gridCol>
                <a:gridCol w="667719">
                  <a:extLst>
                    <a:ext uri="{9D8B030D-6E8A-4147-A177-3AD203B41FA5}">
                      <a16:colId xmlns:a16="http://schemas.microsoft.com/office/drawing/2014/main" val="2744743266"/>
                    </a:ext>
                  </a:extLst>
                </a:gridCol>
              </a:tblGrid>
              <a:tr h="84483">
                <a:tc>
                  <a:txBody>
                    <a:bodyPr/>
                    <a:lstStyle/>
                    <a:p>
                      <a:pPr algn="l" fontAlgn="b">
                        <a:buNone/>
                      </a:pPr>
                      <a:r>
                        <a:rPr lang="en-GB" sz="600" b="0" i="0" u="none" strike="noStrike">
                          <a:solidFill>
                            <a:srgbClr val="000000"/>
                          </a:solidFill>
                          <a:effectLst/>
                          <a:latin typeface="Aptos Narrow" panose="020B0004020202020204" pitchFamily="34" charset="0"/>
                        </a:rPr>
                        <a:t> </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GB" sz="600" b="1" i="0" u="none" strike="noStrike">
                          <a:solidFill>
                            <a:srgbClr val="000000"/>
                          </a:solidFill>
                          <a:effectLst/>
                          <a:latin typeface="Aptos Narrow" panose="020B0004020202020204" pitchFamily="34" charset="0"/>
                        </a:rPr>
                        <a:t>CCS Express </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GB" sz="600" b="1" i="0" u="none" strike="noStrike">
                          <a:solidFill>
                            <a:srgbClr val="000000"/>
                          </a:solidFill>
                          <a:effectLst/>
                          <a:latin typeface="Aptos Narrow" panose="020B0004020202020204" pitchFamily="34" charset="0"/>
                        </a:rPr>
                        <a:t>CCS Helix</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4296805"/>
                  </a:ext>
                </a:extLst>
              </a:tr>
              <a:tr h="164493">
                <a:tc>
                  <a:txBody>
                    <a:bodyPr/>
                    <a:lstStyle/>
                    <a:p>
                      <a:pPr algn="l" fontAlgn="b">
                        <a:buNone/>
                      </a:pPr>
                      <a:r>
                        <a:rPr lang="en-GB" sz="600" b="1" i="0" u="none" strike="noStrike">
                          <a:solidFill>
                            <a:srgbClr val="000000"/>
                          </a:solidFill>
                          <a:effectLst/>
                          <a:latin typeface="Aptos Narrow" panose="020B0004020202020204" pitchFamily="34" charset="0"/>
                        </a:rPr>
                        <a:t>Go Live</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Aptos Narrow" panose="020B0004020202020204" pitchFamily="34" charset="0"/>
                        </a:rPr>
                        <a:t>Every 3 weeks - Total 15 releases</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600" b="0" i="0" u="none" strike="noStrike" dirty="0">
                          <a:solidFill>
                            <a:srgbClr val="000000"/>
                          </a:solidFill>
                          <a:effectLst/>
                          <a:latin typeface="Aptos Narrow" panose="020B0004020202020204" pitchFamily="34" charset="0"/>
                        </a:rPr>
                        <a:t>Every 6 weeks – Total ~8 releases</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5043453"/>
                  </a:ext>
                </a:extLst>
              </a:tr>
              <a:tr h="84483">
                <a:tc>
                  <a:txBody>
                    <a:bodyPr/>
                    <a:lstStyle/>
                    <a:p>
                      <a:pPr algn="l" fontAlgn="b">
                        <a:buNone/>
                      </a:pPr>
                      <a:r>
                        <a:rPr lang="en-GB" sz="600" b="1" i="0" u="none" strike="noStrike">
                          <a:solidFill>
                            <a:srgbClr val="000000"/>
                          </a:solidFill>
                          <a:effectLst/>
                          <a:latin typeface="Aptos Narrow" panose="020B0004020202020204" pitchFamily="34" charset="0"/>
                        </a:rPr>
                        <a:t>Build window</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Aptos Narrow" panose="020B0004020202020204" pitchFamily="34" charset="0"/>
                        </a:rPr>
                        <a:t>5 weeks</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Aptos Narrow" panose="020B0004020202020204" pitchFamily="34" charset="0"/>
                        </a:rPr>
                        <a:t>7 weeks</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343282"/>
                  </a:ext>
                </a:extLst>
              </a:tr>
              <a:tr h="84483">
                <a:tc>
                  <a:txBody>
                    <a:bodyPr/>
                    <a:lstStyle/>
                    <a:p>
                      <a:pPr algn="l" fontAlgn="b">
                        <a:buNone/>
                      </a:pPr>
                      <a:r>
                        <a:rPr lang="en-GB" sz="600" b="1" i="0" u="none" strike="noStrike">
                          <a:solidFill>
                            <a:srgbClr val="000000"/>
                          </a:solidFill>
                          <a:effectLst/>
                          <a:latin typeface="Aptos Narrow" panose="020B0004020202020204" pitchFamily="34" charset="0"/>
                        </a:rPr>
                        <a:t>Total SIT window</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600" b="0" i="0" u="none" strike="noStrike" dirty="0">
                          <a:solidFill>
                            <a:srgbClr val="000000"/>
                          </a:solidFill>
                          <a:effectLst/>
                          <a:latin typeface="Aptos Narrow" panose="020B0004020202020204" pitchFamily="34" charset="0"/>
                        </a:rPr>
                        <a:t>5-7 weeks</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Aptos Narrow" panose="020B0004020202020204" pitchFamily="34" charset="0"/>
                        </a:rPr>
                        <a:t>11 weeks</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9948488"/>
                  </a:ext>
                </a:extLst>
              </a:tr>
              <a:tr h="222712">
                <a:tc>
                  <a:txBody>
                    <a:bodyPr/>
                    <a:lstStyle/>
                    <a:p>
                      <a:pPr algn="l" fontAlgn="b">
                        <a:buNone/>
                      </a:pPr>
                      <a:r>
                        <a:rPr lang="en-GB" sz="600" b="1" i="0" u="none" strike="noStrike">
                          <a:solidFill>
                            <a:srgbClr val="000000"/>
                          </a:solidFill>
                          <a:effectLst/>
                          <a:latin typeface="Aptos Narrow" panose="020B0004020202020204" pitchFamily="34" charset="0"/>
                        </a:rPr>
                        <a:t>Clean SIT</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600" b="0" i="0" u="none" strike="noStrike" dirty="0">
                          <a:solidFill>
                            <a:srgbClr val="000000"/>
                          </a:solidFill>
                          <a:effectLst/>
                          <a:latin typeface="Aptos Narrow" panose="020B0004020202020204" pitchFamily="34" charset="0"/>
                        </a:rPr>
                        <a:t>1 week</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600" b="0" i="0" u="none" strike="noStrike" dirty="0">
                          <a:solidFill>
                            <a:srgbClr val="000000"/>
                          </a:solidFill>
                          <a:effectLst/>
                          <a:latin typeface="Aptos Narrow" panose="020B0004020202020204" pitchFamily="34" charset="0"/>
                        </a:rPr>
                        <a:t>6 weeks</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4752284"/>
                  </a:ext>
                </a:extLst>
              </a:tr>
              <a:tr h="149535">
                <a:tc>
                  <a:txBody>
                    <a:bodyPr/>
                    <a:lstStyle/>
                    <a:p>
                      <a:pPr algn="l" fontAlgn="b">
                        <a:buNone/>
                      </a:pPr>
                      <a:r>
                        <a:rPr lang="en-GB" sz="600" b="1" i="0" u="none" strike="noStrike">
                          <a:solidFill>
                            <a:srgbClr val="000000"/>
                          </a:solidFill>
                          <a:effectLst/>
                          <a:latin typeface="Aptos Narrow" panose="020B0004020202020204" pitchFamily="34" charset="0"/>
                        </a:rPr>
                        <a:t>SIT Clean Run</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Aptos Narrow" panose="020B0004020202020204" pitchFamily="34" charset="0"/>
                        </a:rPr>
                        <a:t>1 week</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600" b="0" i="0" u="none" strike="noStrike" dirty="0">
                          <a:solidFill>
                            <a:srgbClr val="000000"/>
                          </a:solidFill>
                          <a:effectLst/>
                          <a:latin typeface="Aptos Narrow" panose="020B0004020202020204" pitchFamily="34" charset="0"/>
                        </a:rPr>
                        <a:t>2 weeks</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2978253"/>
                  </a:ext>
                </a:extLst>
              </a:tr>
              <a:tr h="222712">
                <a:tc>
                  <a:txBody>
                    <a:bodyPr/>
                    <a:lstStyle/>
                    <a:p>
                      <a:pPr algn="l" fontAlgn="b">
                        <a:buNone/>
                      </a:pPr>
                      <a:r>
                        <a:rPr lang="en-GB" sz="600" b="1" i="0" u="none" strike="noStrike">
                          <a:solidFill>
                            <a:srgbClr val="000000"/>
                          </a:solidFill>
                          <a:effectLst/>
                          <a:latin typeface="Aptos Narrow" panose="020B0004020202020204" pitchFamily="34" charset="0"/>
                        </a:rPr>
                        <a:t>Continuous branch</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Aptos Narrow" panose="020B0004020202020204" pitchFamily="34" charset="0"/>
                        </a:rPr>
                        <a:t>Only for churchill</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600" b="0" i="0" u="none" strike="noStrike" dirty="0">
                          <a:solidFill>
                            <a:srgbClr val="000000"/>
                          </a:solidFill>
                          <a:effectLst/>
                          <a:latin typeface="Aptos Narrow" panose="020B0004020202020204" pitchFamily="34" charset="0"/>
                        </a:rPr>
                        <a:t>For eligible Long running projects</a:t>
                      </a:r>
                    </a:p>
                  </a:txBody>
                  <a:tcPr marL="4473" marR="4473" marT="447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02007894"/>
                  </a:ext>
                </a:extLst>
              </a:tr>
            </a:tbl>
          </a:graphicData>
        </a:graphic>
      </p:graphicFrame>
      <p:sp>
        <p:nvSpPr>
          <p:cNvPr id="3" name="TextBox 2">
            <a:extLst>
              <a:ext uri="{FF2B5EF4-FFF2-40B4-BE49-F238E27FC236}">
                <a16:creationId xmlns:a16="http://schemas.microsoft.com/office/drawing/2014/main" id="{89783E74-6E31-97C1-12EB-E195F9BB191D}"/>
              </a:ext>
            </a:extLst>
          </p:cNvPr>
          <p:cNvSpPr txBox="1"/>
          <p:nvPr/>
        </p:nvSpPr>
        <p:spPr>
          <a:xfrm>
            <a:off x="94875" y="3810028"/>
            <a:ext cx="6792687" cy="1169551"/>
          </a:xfrm>
          <a:prstGeom prst="rect">
            <a:avLst/>
          </a:prstGeom>
          <a:noFill/>
        </p:spPr>
        <p:txBody>
          <a:bodyPr wrap="square">
            <a:spAutoFit/>
          </a:bodyPr>
          <a:lstStyle/>
          <a:p>
            <a:pPr algn="l">
              <a:buNone/>
            </a:pPr>
            <a:r>
              <a:rPr lang="en-US" sz="1000" b="1" i="0" u="sng" dirty="0">
                <a:solidFill>
                  <a:srgbClr val="333333"/>
                </a:solidFill>
                <a:effectLst/>
                <a:latin typeface="Segoe UI" panose="020B0502040204020203" pitchFamily="34" charset="0"/>
              </a:rPr>
              <a:t>What is CCS Helix?</a:t>
            </a:r>
            <a:endParaRPr lang="en-US" sz="1000" b="0" i="0" dirty="0">
              <a:solidFill>
                <a:srgbClr val="333333"/>
              </a:solidFill>
              <a:effectLst/>
              <a:latin typeface="Segoe UI" panose="020B0502040204020203" pitchFamily="34" charset="0"/>
            </a:endParaRPr>
          </a:p>
          <a:p>
            <a:pPr algn="l">
              <a:buNone/>
            </a:pPr>
            <a:r>
              <a:rPr lang="en-US" sz="1000" b="0" i="0" dirty="0">
                <a:solidFill>
                  <a:srgbClr val="333333"/>
                </a:solidFill>
                <a:effectLst/>
                <a:latin typeface="Segoe UI" panose="020B0502040204020203" pitchFamily="34" charset="0"/>
              </a:rPr>
              <a:t>The new CCS Helix release model consists of 2 main parts:</a:t>
            </a:r>
          </a:p>
          <a:p>
            <a:pPr algn="l">
              <a:buFont typeface="+mj-lt"/>
              <a:buAutoNum type="arabicPeriod"/>
            </a:pPr>
            <a:r>
              <a:rPr lang="en-US" sz="1000" b="0" i="0" dirty="0">
                <a:solidFill>
                  <a:srgbClr val="333333"/>
                </a:solidFill>
                <a:effectLst/>
                <a:latin typeface="Segoe UI" panose="020B0502040204020203" pitchFamily="34" charset="0"/>
              </a:rPr>
              <a:t>The CCS Release go-live cadence will change from every 3 weeks to every 6 weeks, with an In-Life drop for PBIs (Bugs) in-between.  </a:t>
            </a:r>
          </a:p>
          <a:p>
            <a:pPr algn="l">
              <a:buFont typeface="+mj-lt"/>
              <a:buAutoNum type="arabicPeriod"/>
            </a:pPr>
            <a:r>
              <a:rPr lang="en-US" sz="1000" b="0" i="0" dirty="0">
                <a:solidFill>
                  <a:srgbClr val="333333"/>
                </a:solidFill>
                <a:effectLst/>
                <a:latin typeface="Segoe UI" panose="020B0502040204020203" pitchFamily="34" charset="0"/>
              </a:rPr>
              <a:t>There will be a Long Running Branch (LRB) for larger projects which are developed in parallel to the 6 weekly cadence until fully developed, tested and ready for deployment; when they will move to the next regular release for final testing and deployment</a:t>
            </a:r>
          </a:p>
        </p:txBody>
      </p:sp>
    </p:spTree>
    <p:extLst>
      <p:ext uri="{BB962C8B-B14F-4D97-AF65-F5344CB8AC3E}">
        <p14:creationId xmlns:p14="http://schemas.microsoft.com/office/powerpoint/2010/main" val="2841811831"/>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04D1542-70BE-1388-70E1-ED756419F2DE}"/>
              </a:ext>
            </a:extLst>
          </p:cNvPr>
          <p:cNvSpPr>
            <a:spLocks noGrp="1"/>
          </p:cNvSpPr>
          <p:nvPr>
            <p:ph type="ctrTitle"/>
          </p:nvPr>
        </p:nvSpPr>
        <p:spPr/>
        <p:txBody>
          <a:bodyPr/>
          <a:lstStyle/>
          <a:p>
            <a:r>
              <a:rPr lang="en-GB" dirty="0"/>
              <a:t>Release Schedule</a:t>
            </a:r>
          </a:p>
        </p:txBody>
      </p:sp>
      <p:sp>
        <p:nvSpPr>
          <p:cNvPr id="4" name="Slide Number Placeholder 3">
            <a:extLst>
              <a:ext uri="{FF2B5EF4-FFF2-40B4-BE49-F238E27FC236}">
                <a16:creationId xmlns:a16="http://schemas.microsoft.com/office/drawing/2014/main" id="{574ED55A-3206-A6AB-16EF-80DBD05EDA14}"/>
              </a:ext>
            </a:extLst>
          </p:cNvPr>
          <p:cNvSpPr>
            <a:spLocks noGrp="1"/>
          </p:cNvSpPr>
          <p:nvPr>
            <p:ph type="sldNum" sz="quarter" idx="11"/>
          </p:nvPr>
        </p:nvSpPr>
        <p:spPr/>
        <p:txBody>
          <a:bodyPr/>
          <a:lstStyle/>
          <a:p>
            <a:fld id="{72A83A2B-3358-44F8-83A0-4598795D8FB5}" type="slidenum">
              <a:rPr lang="en-GB" smtClean="0"/>
              <a:pPr/>
              <a:t>5</a:t>
            </a:fld>
            <a:endParaRPr lang="en-GB"/>
          </a:p>
        </p:txBody>
      </p:sp>
    </p:spTree>
    <p:extLst>
      <p:ext uri="{BB962C8B-B14F-4D97-AF65-F5344CB8AC3E}">
        <p14:creationId xmlns:p14="http://schemas.microsoft.com/office/powerpoint/2010/main" val="4050685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a:extLst>
              <a:ext uri="{FF2B5EF4-FFF2-40B4-BE49-F238E27FC236}">
                <a16:creationId xmlns:a16="http://schemas.microsoft.com/office/drawing/2014/main" id="{DF59F6C8-7F05-4438-871B-9C12F1BB13A4}"/>
              </a:ext>
            </a:extLst>
          </p:cNvPr>
          <p:cNvSpPr/>
          <p:nvPr/>
        </p:nvSpPr>
        <p:spPr>
          <a:xfrm>
            <a:off x="6582" y="1730952"/>
            <a:ext cx="9126000" cy="2754000"/>
          </a:xfrm>
          <a:prstGeom prst="rect">
            <a:avLst/>
          </a:prstGeom>
          <a:solidFill>
            <a:srgbClr val="212A3E"/>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4763" tIns="4763" rIns="4763" bIns="4763" numCol="1" spcCol="1270" rtlCol="0" anchor="ctr" anchorCtr="0">
            <a:noAutofit/>
          </a:bodyPr>
          <a:lstStyle/>
          <a:p>
            <a:pPr algn="ctr" defTabSz="333375">
              <a:lnSpc>
                <a:spcPct val="90000"/>
              </a:lnSpc>
              <a:spcBef>
                <a:spcPct val="0"/>
              </a:spcBef>
              <a:spcAft>
                <a:spcPct val="35000"/>
              </a:spcAft>
            </a:pPr>
            <a:endParaRPr lang="en-GB" sz="750" dirty="0">
              <a:solidFill>
                <a:srgbClr val="FF0000"/>
              </a:solidFill>
              <a:latin typeface="Vodafone Rg" pitchFamily="34" charset="0"/>
            </a:endParaRPr>
          </a:p>
        </p:txBody>
      </p:sp>
      <p:sp>
        <p:nvSpPr>
          <p:cNvPr id="19" name="Slide Number Placeholder 18">
            <a:extLst>
              <a:ext uri="{FF2B5EF4-FFF2-40B4-BE49-F238E27FC236}">
                <a16:creationId xmlns:a16="http://schemas.microsoft.com/office/drawing/2014/main" id="{67E93921-3399-4DA7-B1D5-70B7390A7646}"/>
              </a:ext>
            </a:extLst>
          </p:cNvPr>
          <p:cNvSpPr>
            <a:spLocks noGrp="1"/>
          </p:cNvSpPr>
          <p:nvPr>
            <p:ph type="sldNum" sz="quarter" idx="15"/>
          </p:nvPr>
        </p:nvSpPr>
        <p:spPr/>
        <p:txBody>
          <a:bodyPr/>
          <a:lstStyle/>
          <a:p>
            <a:fld id="{72A83A2B-3358-44F8-83A0-4598795D8FB5}" type="slidenum">
              <a:rPr lang="en-GB" smtClean="0"/>
              <a:pPr/>
              <a:t>6</a:t>
            </a:fld>
            <a:endParaRPr lang="en-GB" dirty="0"/>
          </a:p>
        </p:txBody>
      </p:sp>
      <p:sp>
        <p:nvSpPr>
          <p:cNvPr id="15" name="Title 14">
            <a:extLst>
              <a:ext uri="{FF2B5EF4-FFF2-40B4-BE49-F238E27FC236}">
                <a16:creationId xmlns:a16="http://schemas.microsoft.com/office/drawing/2014/main" id="{802A8454-B173-4C54-9E53-13D345C42662}"/>
              </a:ext>
            </a:extLst>
          </p:cNvPr>
          <p:cNvSpPr>
            <a:spLocks noGrp="1"/>
          </p:cNvSpPr>
          <p:nvPr>
            <p:ph type="title"/>
          </p:nvPr>
        </p:nvSpPr>
        <p:spPr/>
        <p:txBody>
          <a:bodyPr/>
          <a:lstStyle/>
          <a:p>
            <a:r>
              <a:rPr lang="en-GB" dirty="0"/>
              <a:t>High Level Timeline – CCS, ECS &amp; Digital  </a:t>
            </a:r>
            <a:r>
              <a:rPr lang="en-GB" b="0" dirty="0"/>
              <a:t>|| Financial Year 2026/27</a:t>
            </a:r>
          </a:p>
        </p:txBody>
      </p:sp>
      <p:grpSp>
        <p:nvGrpSpPr>
          <p:cNvPr id="25" name="Group 24">
            <a:extLst>
              <a:ext uri="{FF2B5EF4-FFF2-40B4-BE49-F238E27FC236}">
                <a16:creationId xmlns:a16="http://schemas.microsoft.com/office/drawing/2014/main" id="{3DD280C4-234E-41AE-A1DF-8831FE33CDBF}"/>
              </a:ext>
            </a:extLst>
          </p:cNvPr>
          <p:cNvGrpSpPr/>
          <p:nvPr/>
        </p:nvGrpSpPr>
        <p:grpSpPr>
          <a:xfrm>
            <a:off x="3700568" y="3065225"/>
            <a:ext cx="486000" cy="783000"/>
            <a:chOff x="7910220" y="3780000"/>
            <a:chExt cx="648000" cy="1044000"/>
          </a:xfrm>
        </p:grpSpPr>
        <p:sp>
          <p:nvSpPr>
            <p:cNvPr id="172" name="Rounded Rectangle 243">
              <a:extLst>
                <a:ext uri="{FF2B5EF4-FFF2-40B4-BE49-F238E27FC236}">
                  <a16:creationId xmlns:a16="http://schemas.microsoft.com/office/drawing/2014/main" id="{19C4BC18-75A5-46CF-AED2-232EE22CBAB3}"/>
                </a:ext>
              </a:extLst>
            </p:cNvPr>
            <p:cNvSpPr/>
            <p:nvPr/>
          </p:nvSpPr>
          <p:spPr>
            <a:xfrm>
              <a:off x="7973220" y="4464000"/>
              <a:ext cx="522000" cy="360000"/>
            </a:xfrm>
            <a:prstGeom prst="roundRect">
              <a:avLst/>
            </a:prstGeom>
            <a:solidFill>
              <a:srgbClr val="FFD89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ECS 26.9</a:t>
              </a:r>
            </a:p>
          </p:txBody>
        </p:sp>
        <p:sp>
          <p:nvSpPr>
            <p:cNvPr id="178" name="TextBox 177">
              <a:extLst>
                <a:ext uri="{FF2B5EF4-FFF2-40B4-BE49-F238E27FC236}">
                  <a16:creationId xmlns:a16="http://schemas.microsoft.com/office/drawing/2014/main" id="{29BFDF53-AE17-43B4-B9A0-D9CDCB116F07}"/>
                </a:ext>
              </a:extLst>
            </p:cNvPr>
            <p:cNvSpPr txBox="1"/>
            <p:nvPr/>
          </p:nvSpPr>
          <p:spPr>
            <a:xfrm>
              <a:off x="7910220" y="4212000"/>
              <a:ext cx="648000" cy="216000"/>
            </a:xfrm>
            <a:prstGeom prst="rect">
              <a:avLst/>
            </a:prstGeom>
            <a:noFill/>
          </p:spPr>
          <p:txBody>
            <a:bodyPr wrap="square" lIns="0" tIns="0" rIns="0" bIns="0" rtlCol="0" anchor="ctr">
              <a:noAutofit/>
            </a:bodyPr>
            <a:lstStyle/>
            <a:p>
              <a:pPr algn="ctr"/>
              <a:r>
                <a:rPr lang="en-GB" sz="750" b="1" dirty="0">
                  <a:solidFill>
                    <a:schemeClr val="bg1"/>
                  </a:solidFill>
                </a:rPr>
                <a:t>Fri 4 Sep</a:t>
              </a:r>
            </a:p>
          </p:txBody>
        </p:sp>
        <p:grpSp>
          <p:nvGrpSpPr>
            <p:cNvPr id="185" name="Group 184">
              <a:extLst>
                <a:ext uri="{FF2B5EF4-FFF2-40B4-BE49-F238E27FC236}">
                  <a16:creationId xmlns:a16="http://schemas.microsoft.com/office/drawing/2014/main" id="{07021913-6669-47B4-8A7E-8E7BCBE4F4E0}"/>
                </a:ext>
              </a:extLst>
            </p:cNvPr>
            <p:cNvGrpSpPr/>
            <p:nvPr/>
          </p:nvGrpSpPr>
          <p:grpSpPr>
            <a:xfrm rot="10800000">
              <a:off x="8036220" y="3780000"/>
              <a:ext cx="396000" cy="468000"/>
              <a:chOff x="783635" y="1980000"/>
              <a:chExt cx="584667" cy="720000"/>
            </a:xfrm>
          </p:grpSpPr>
          <p:cxnSp>
            <p:nvCxnSpPr>
              <p:cNvPr id="191" name="Straight Connector 190">
                <a:extLst>
                  <a:ext uri="{FF2B5EF4-FFF2-40B4-BE49-F238E27FC236}">
                    <a16:creationId xmlns:a16="http://schemas.microsoft.com/office/drawing/2014/main" id="{9515DCC6-045C-4694-8731-D1F572B71D71}"/>
                  </a:ext>
                </a:extLst>
              </p:cNvPr>
              <p:cNvCxnSpPr>
                <a:cxnSpLocks/>
              </p:cNvCxnSpPr>
              <p:nvPr/>
            </p:nvCxnSpPr>
            <p:spPr>
              <a:xfrm flipV="1">
                <a:off x="1075968"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2E1A9933-4165-4083-881B-1C9FF3EAC430}"/>
                  </a:ext>
                </a:extLst>
              </p:cNvPr>
              <p:cNvCxnSpPr/>
              <p:nvPr/>
            </p:nvCxnSpPr>
            <p:spPr>
              <a:xfrm>
                <a:off x="783635"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grpSp>
        <p:nvGrpSpPr>
          <p:cNvPr id="24" name="Group 23">
            <a:extLst>
              <a:ext uri="{FF2B5EF4-FFF2-40B4-BE49-F238E27FC236}">
                <a16:creationId xmlns:a16="http://schemas.microsoft.com/office/drawing/2014/main" id="{91B9DC5B-048B-47E0-BD15-19380A68B3FF}"/>
              </a:ext>
            </a:extLst>
          </p:cNvPr>
          <p:cNvGrpSpPr/>
          <p:nvPr/>
        </p:nvGrpSpPr>
        <p:grpSpPr>
          <a:xfrm>
            <a:off x="4539652" y="3065225"/>
            <a:ext cx="486000" cy="783000"/>
            <a:chOff x="8776819" y="3780000"/>
            <a:chExt cx="648000" cy="1044000"/>
          </a:xfrm>
        </p:grpSpPr>
        <p:sp>
          <p:nvSpPr>
            <p:cNvPr id="209" name="Rounded Rectangle 243">
              <a:extLst>
                <a:ext uri="{FF2B5EF4-FFF2-40B4-BE49-F238E27FC236}">
                  <a16:creationId xmlns:a16="http://schemas.microsoft.com/office/drawing/2014/main" id="{1D343BA8-5A85-46D9-9393-89C0062177F3}"/>
                </a:ext>
              </a:extLst>
            </p:cNvPr>
            <p:cNvSpPr/>
            <p:nvPr/>
          </p:nvSpPr>
          <p:spPr>
            <a:xfrm>
              <a:off x="8839819" y="4464000"/>
              <a:ext cx="522000" cy="360000"/>
            </a:xfrm>
            <a:prstGeom prst="roundRect">
              <a:avLst/>
            </a:prstGeom>
            <a:solidFill>
              <a:srgbClr val="FFD89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ECS 26.10</a:t>
              </a:r>
            </a:p>
          </p:txBody>
        </p:sp>
        <p:sp>
          <p:nvSpPr>
            <p:cNvPr id="216" name="TextBox 215">
              <a:extLst>
                <a:ext uri="{FF2B5EF4-FFF2-40B4-BE49-F238E27FC236}">
                  <a16:creationId xmlns:a16="http://schemas.microsoft.com/office/drawing/2014/main" id="{5B29CD78-1F5F-4746-ADE6-33359F509BC5}"/>
                </a:ext>
              </a:extLst>
            </p:cNvPr>
            <p:cNvSpPr txBox="1"/>
            <p:nvPr/>
          </p:nvSpPr>
          <p:spPr>
            <a:xfrm>
              <a:off x="8776819" y="4212000"/>
              <a:ext cx="648000" cy="216000"/>
            </a:xfrm>
            <a:prstGeom prst="rect">
              <a:avLst/>
            </a:prstGeom>
            <a:noFill/>
          </p:spPr>
          <p:txBody>
            <a:bodyPr wrap="square" lIns="0" tIns="0" rIns="0" bIns="0" rtlCol="0" anchor="ctr">
              <a:noAutofit/>
            </a:bodyPr>
            <a:lstStyle/>
            <a:p>
              <a:pPr algn="ctr"/>
              <a:r>
                <a:rPr lang="en-GB" sz="750" b="1" dirty="0">
                  <a:solidFill>
                    <a:schemeClr val="bg1"/>
                  </a:solidFill>
                </a:rPr>
                <a:t>Fri 9 Oct</a:t>
              </a:r>
            </a:p>
          </p:txBody>
        </p:sp>
        <p:grpSp>
          <p:nvGrpSpPr>
            <p:cNvPr id="218" name="Group 217">
              <a:extLst>
                <a:ext uri="{FF2B5EF4-FFF2-40B4-BE49-F238E27FC236}">
                  <a16:creationId xmlns:a16="http://schemas.microsoft.com/office/drawing/2014/main" id="{70BE31D9-4EDD-4756-845D-7506CB01AF35}"/>
                </a:ext>
              </a:extLst>
            </p:cNvPr>
            <p:cNvGrpSpPr/>
            <p:nvPr/>
          </p:nvGrpSpPr>
          <p:grpSpPr>
            <a:xfrm rot="10800000">
              <a:off x="8902819" y="3780000"/>
              <a:ext cx="396000" cy="468000"/>
              <a:chOff x="783635" y="1980000"/>
              <a:chExt cx="584667" cy="720000"/>
            </a:xfrm>
          </p:grpSpPr>
          <p:cxnSp>
            <p:nvCxnSpPr>
              <p:cNvPr id="219" name="Straight Connector 218">
                <a:extLst>
                  <a:ext uri="{FF2B5EF4-FFF2-40B4-BE49-F238E27FC236}">
                    <a16:creationId xmlns:a16="http://schemas.microsoft.com/office/drawing/2014/main" id="{E20442FC-EE67-4277-9584-C849FDC50049}"/>
                  </a:ext>
                </a:extLst>
              </p:cNvPr>
              <p:cNvCxnSpPr>
                <a:cxnSpLocks/>
              </p:cNvCxnSpPr>
              <p:nvPr/>
            </p:nvCxnSpPr>
            <p:spPr>
              <a:xfrm flipV="1">
                <a:off x="1075969"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C290CB8B-9784-4C1D-9297-A93AD3B02EE4}"/>
                  </a:ext>
                </a:extLst>
              </p:cNvPr>
              <p:cNvCxnSpPr/>
              <p:nvPr/>
            </p:nvCxnSpPr>
            <p:spPr>
              <a:xfrm>
                <a:off x="783635"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grpSp>
        <p:nvGrpSpPr>
          <p:cNvPr id="23" name="Group 22">
            <a:extLst>
              <a:ext uri="{FF2B5EF4-FFF2-40B4-BE49-F238E27FC236}">
                <a16:creationId xmlns:a16="http://schemas.microsoft.com/office/drawing/2014/main" id="{E8306166-F52F-4E3F-878E-5FB330518D8A}"/>
              </a:ext>
            </a:extLst>
          </p:cNvPr>
          <p:cNvGrpSpPr/>
          <p:nvPr/>
        </p:nvGrpSpPr>
        <p:grpSpPr>
          <a:xfrm>
            <a:off x="5275330" y="3065225"/>
            <a:ext cx="486000" cy="783000"/>
            <a:chOff x="9605672" y="3780000"/>
            <a:chExt cx="648000" cy="1044000"/>
          </a:xfrm>
        </p:grpSpPr>
        <p:sp>
          <p:nvSpPr>
            <p:cNvPr id="222" name="Rounded Rectangle 243">
              <a:extLst>
                <a:ext uri="{FF2B5EF4-FFF2-40B4-BE49-F238E27FC236}">
                  <a16:creationId xmlns:a16="http://schemas.microsoft.com/office/drawing/2014/main" id="{5B947EC3-BB03-4975-8923-C10223885F24}"/>
                </a:ext>
              </a:extLst>
            </p:cNvPr>
            <p:cNvSpPr/>
            <p:nvPr/>
          </p:nvSpPr>
          <p:spPr>
            <a:xfrm>
              <a:off x="9668672" y="4464000"/>
              <a:ext cx="522000" cy="360000"/>
            </a:xfrm>
            <a:prstGeom prst="roundRect">
              <a:avLst/>
            </a:prstGeom>
            <a:solidFill>
              <a:srgbClr val="FFD89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ECS 26.11</a:t>
              </a:r>
            </a:p>
          </p:txBody>
        </p:sp>
        <p:sp>
          <p:nvSpPr>
            <p:cNvPr id="223" name="TextBox 222">
              <a:extLst>
                <a:ext uri="{FF2B5EF4-FFF2-40B4-BE49-F238E27FC236}">
                  <a16:creationId xmlns:a16="http://schemas.microsoft.com/office/drawing/2014/main" id="{7A9F251B-0F64-4CCB-AA48-0731862A6694}"/>
                </a:ext>
              </a:extLst>
            </p:cNvPr>
            <p:cNvSpPr txBox="1"/>
            <p:nvPr/>
          </p:nvSpPr>
          <p:spPr>
            <a:xfrm>
              <a:off x="9605672" y="4212000"/>
              <a:ext cx="648000" cy="216000"/>
            </a:xfrm>
            <a:prstGeom prst="rect">
              <a:avLst/>
            </a:prstGeom>
            <a:noFill/>
          </p:spPr>
          <p:txBody>
            <a:bodyPr wrap="square" lIns="0" tIns="0" rIns="0" bIns="0" rtlCol="0" anchor="ctr">
              <a:noAutofit/>
            </a:bodyPr>
            <a:lstStyle/>
            <a:p>
              <a:pPr algn="ctr"/>
              <a:r>
                <a:rPr lang="en-GB" sz="750" b="1" dirty="0">
                  <a:solidFill>
                    <a:schemeClr val="bg1"/>
                  </a:solidFill>
                </a:rPr>
                <a:t>Fri 13 Nov</a:t>
              </a:r>
            </a:p>
          </p:txBody>
        </p:sp>
        <p:grpSp>
          <p:nvGrpSpPr>
            <p:cNvPr id="224" name="Group 223">
              <a:extLst>
                <a:ext uri="{FF2B5EF4-FFF2-40B4-BE49-F238E27FC236}">
                  <a16:creationId xmlns:a16="http://schemas.microsoft.com/office/drawing/2014/main" id="{34256671-2086-4FAD-BA14-7F786380BDC5}"/>
                </a:ext>
              </a:extLst>
            </p:cNvPr>
            <p:cNvGrpSpPr/>
            <p:nvPr/>
          </p:nvGrpSpPr>
          <p:grpSpPr>
            <a:xfrm rot="10800000">
              <a:off x="9731672" y="3780000"/>
              <a:ext cx="396000" cy="468000"/>
              <a:chOff x="783635" y="1980000"/>
              <a:chExt cx="584667" cy="720000"/>
            </a:xfrm>
          </p:grpSpPr>
          <p:cxnSp>
            <p:nvCxnSpPr>
              <p:cNvPr id="225" name="Straight Connector 224">
                <a:extLst>
                  <a:ext uri="{FF2B5EF4-FFF2-40B4-BE49-F238E27FC236}">
                    <a16:creationId xmlns:a16="http://schemas.microsoft.com/office/drawing/2014/main" id="{48536CED-EABB-408B-850E-8317F7173B69}"/>
                  </a:ext>
                </a:extLst>
              </p:cNvPr>
              <p:cNvCxnSpPr>
                <a:cxnSpLocks/>
              </p:cNvCxnSpPr>
              <p:nvPr/>
            </p:nvCxnSpPr>
            <p:spPr>
              <a:xfrm flipV="1">
                <a:off x="1075969"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95295882-9E59-4A5F-83EB-25EEFDC63A07}"/>
                  </a:ext>
                </a:extLst>
              </p:cNvPr>
              <p:cNvCxnSpPr/>
              <p:nvPr/>
            </p:nvCxnSpPr>
            <p:spPr>
              <a:xfrm>
                <a:off x="783635"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grpSp>
        <p:nvGrpSpPr>
          <p:cNvPr id="22" name="Group 21">
            <a:extLst>
              <a:ext uri="{FF2B5EF4-FFF2-40B4-BE49-F238E27FC236}">
                <a16:creationId xmlns:a16="http://schemas.microsoft.com/office/drawing/2014/main" id="{EF14BBF6-9A5D-486E-BF0C-B75159C39904}"/>
              </a:ext>
            </a:extLst>
          </p:cNvPr>
          <p:cNvGrpSpPr/>
          <p:nvPr/>
        </p:nvGrpSpPr>
        <p:grpSpPr>
          <a:xfrm>
            <a:off x="5977904" y="3065225"/>
            <a:ext cx="486000" cy="783000"/>
            <a:chOff x="10717181" y="3780000"/>
            <a:chExt cx="648000" cy="1044000"/>
          </a:xfrm>
        </p:grpSpPr>
        <p:sp>
          <p:nvSpPr>
            <p:cNvPr id="228" name="Rounded Rectangle 243">
              <a:extLst>
                <a:ext uri="{FF2B5EF4-FFF2-40B4-BE49-F238E27FC236}">
                  <a16:creationId xmlns:a16="http://schemas.microsoft.com/office/drawing/2014/main" id="{59A1795A-DE6A-4251-8A00-06FFC80589FB}"/>
                </a:ext>
              </a:extLst>
            </p:cNvPr>
            <p:cNvSpPr/>
            <p:nvPr/>
          </p:nvSpPr>
          <p:spPr>
            <a:xfrm>
              <a:off x="10780181" y="4464000"/>
              <a:ext cx="522000" cy="360000"/>
            </a:xfrm>
            <a:prstGeom prst="roundRect">
              <a:avLst/>
            </a:prstGeom>
            <a:solidFill>
              <a:srgbClr val="FFD89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ECS 26.12</a:t>
              </a:r>
            </a:p>
          </p:txBody>
        </p:sp>
        <p:sp>
          <p:nvSpPr>
            <p:cNvPr id="229" name="TextBox 228">
              <a:extLst>
                <a:ext uri="{FF2B5EF4-FFF2-40B4-BE49-F238E27FC236}">
                  <a16:creationId xmlns:a16="http://schemas.microsoft.com/office/drawing/2014/main" id="{5C1460F5-398F-4C9F-A75C-C3199882AF66}"/>
                </a:ext>
              </a:extLst>
            </p:cNvPr>
            <p:cNvSpPr txBox="1"/>
            <p:nvPr/>
          </p:nvSpPr>
          <p:spPr>
            <a:xfrm>
              <a:off x="10717181" y="4212000"/>
              <a:ext cx="648000" cy="216000"/>
            </a:xfrm>
            <a:prstGeom prst="rect">
              <a:avLst/>
            </a:prstGeom>
            <a:noFill/>
          </p:spPr>
          <p:txBody>
            <a:bodyPr wrap="square" lIns="0" tIns="0" rIns="0" bIns="0" rtlCol="0" anchor="ctr">
              <a:noAutofit/>
            </a:bodyPr>
            <a:lstStyle/>
            <a:p>
              <a:pPr algn="ctr"/>
              <a:r>
                <a:rPr lang="en-GB" sz="750" b="1" dirty="0">
                  <a:solidFill>
                    <a:schemeClr val="bg1"/>
                  </a:solidFill>
                </a:rPr>
                <a:t>Fri 11 Dec</a:t>
              </a:r>
            </a:p>
          </p:txBody>
        </p:sp>
        <p:grpSp>
          <p:nvGrpSpPr>
            <p:cNvPr id="230" name="Group 229">
              <a:extLst>
                <a:ext uri="{FF2B5EF4-FFF2-40B4-BE49-F238E27FC236}">
                  <a16:creationId xmlns:a16="http://schemas.microsoft.com/office/drawing/2014/main" id="{D83826E2-9E38-4F1B-B5DB-8EF58ACEE4DF}"/>
                </a:ext>
              </a:extLst>
            </p:cNvPr>
            <p:cNvGrpSpPr/>
            <p:nvPr/>
          </p:nvGrpSpPr>
          <p:grpSpPr>
            <a:xfrm rot="10800000">
              <a:off x="10843181" y="3780000"/>
              <a:ext cx="396000" cy="468000"/>
              <a:chOff x="783635" y="1980000"/>
              <a:chExt cx="584667" cy="720000"/>
            </a:xfrm>
          </p:grpSpPr>
          <p:cxnSp>
            <p:nvCxnSpPr>
              <p:cNvPr id="231" name="Straight Connector 230">
                <a:extLst>
                  <a:ext uri="{FF2B5EF4-FFF2-40B4-BE49-F238E27FC236}">
                    <a16:creationId xmlns:a16="http://schemas.microsoft.com/office/drawing/2014/main" id="{D1D09661-31A5-45B3-8C8A-1BF7439C6F61}"/>
                  </a:ext>
                </a:extLst>
              </p:cNvPr>
              <p:cNvCxnSpPr>
                <a:cxnSpLocks/>
              </p:cNvCxnSpPr>
              <p:nvPr/>
            </p:nvCxnSpPr>
            <p:spPr>
              <a:xfrm flipV="1">
                <a:off x="1075968"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AB878FB7-8550-4B8C-8B1D-FDED2FC41CAE}"/>
                  </a:ext>
                </a:extLst>
              </p:cNvPr>
              <p:cNvCxnSpPr/>
              <p:nvPr/>
            </p:nvCxnSpPr>
            <p:spPr>
              <a:xfrm>
                <a:off x="783635"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grpSp>
        <p:nvGrpSpPr>
          <p:cNvPr id="26" name="Group 25">
            <a:extLst>
              <a:ext uri="{FF2B5EF4-FFF2-40B4-BE49-F238E27FC236}">
                <a16:creationId xmlns:a16="http://schemas.microsoft.com/office/drawing/2014/main" id="{9E90949C-74EA-4979-9DE8-DBE1D0BBA036}"/>
              </a:ext>
            </a:extLst>
          </p:cNvPr>
          <p:cNvGrpSpPr/>
          <p:nvPr/>
        </p:nvGrpSpPr>
        <p:grpSpPr>
          <a:xfrm>
            <a:off x="3080549" y="3065225"/>
            <a:ext cx="486000" cy="783000"/>
            <a:chOff x="6852491" y="3780000"/>
            <a:chExt cx="648000" cy="1044000"/>
          </a:xfrm>
        </p:grpSpPr>
        <p:sp>
          <p:nvSpPr>
            <p:cNvPr id="274" name="Rounded Rectangle 243">
              <a:extLst>
                <a:ext uri="{FF2B5EF4-FFF2-40B4-BE49-F238E27FC236}">
                  <a16:creationId xmlns:a16="http://schemas.microsoft.com/office/drawing/2014/main" id="{6AB8A648-ED25-415E-96D2-F07B3DFE85F8}"/>
                </a:ext>
              </a:extLst>
            </p:cNvPr>
            <p:cNvSpPr/>
            <p:nvPr/>
          </p:nvSpPr>
          <p:spPr>
            <a:xfrm>
              <a:off x="6915491" y="4464000"/>
              <a:ext cx="522000" cy="360000"/>
            </a:xfrm>
            <a:prstGeom prst="roundRect">
              <a:avLst/>
            </a:prstGeom>
            <a:solidFill>
              <a:srgbClr val="FFD89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ECS 26.8</a:t>
              </a:r>
            </a:p>
          </p:txBody>
        </p:sp>
        <p:sp>
          <p:nvSpPr>
            <p:cNvPr id="275" name="TextBox 274">
              <a:extLst>
                <a:ext uri="{FF2B5EF4-FFF2-40B4-BE49-F238E27FC236}">
                  <a16:creationId xmlns:a16="http://schemas.microsoft.com/office/drawing/2014/main" id="{BDB23404-039E-4A20-9A06-304814CE211E}"/>
                </a:ext>
              </a:extLst>
            </p:cNvPr>
            <p:cNvSpPr txBox="1"/>
            <p:nvPr/>
          </p:nvSpPr>
          <p:spPr>
            <a:xfrm>
              <a:off x="6852491" y="4212000"/>
              <a:ext cx="648000" cy="216000"/>
            </a:xfrm>
            <a:prstGeom prst="rect">
              <a:avLst/>
            </a:prstGeom>
            <a:noFill/>
          </p:spPr>
          <p:txBody>
            <a:bodyPr wrap="square" lIns="0" tIns="0" rIns="0" bIns="0" rtlCol="0" anchor="ctr">
              <a:noAutofit/>
            </a:bodyPr>
            <a:lstStyle/>
            <a:p>
              <a:pPr algn="ctr"/>
              <a:r>
                <a:rPr lang="en-GB" sz="750" b="1" dirty="0">
                  <a:solidFill>
                    <a:schemeClr val="bg1"/>
                  </a:solidFill>
                </a:rPr>
                <a:t>Fri 7 Aug</a:t>
              </a:r>
            </a:p>
          </p:txBody>
        </p:sp>
        <p:grpSp>
          <p:nvGrpSpPr>
            <p:cNvPr id="276" name="Group 275">
              <a:extLst>
                <a:ext uri="{FF2B5EF4-FFF2-40B4-BE49-F238E27FC236}">
                  <a16:creationId xmlns:a16="http://schemas.microsoft.com/office/drawing/2014/main" id="{999B9133-A9DB-40E2-8CEC-426F66ABFD12}"/>
                </a:ext>
              </a:extLst>
            </p:cNvPr>
            <p:cNvGrpSpPr/>
            <p:nvPr/>
          </p:nvGrpSpPr>
          <p:grpSpPr>
            <a:xfrm rot="10800000">
              <a:off x="6978492" y="3780000"/>
              <a:ext cx="396000" cy="468000"/>
              <a:chOff x="783635" y="1980000"/>
              <a:chExt cx="584667" cy="720000"/>
            </a:xfrm>
          </p:grpSpPr>
          <p:cxnSp>
            <p:nvCxnSpPr>
              <p:cNvPr id="277" name="Straight Connector 276">
                <a:extLst>
                  <a:ext uri="{FF2B5EF4-FFF2-40B4-BE49-F238E27FC236}">
                    <a16:creationId xmlns:a16="http://schemas.microsoft.com/office/drawing/2014/main" id="{F8D59274-A7B1-4FAE-B478-D346415F60F9}"/>
                  </a:ext>
                </a:extLst>
              </p:cNvPr>
              <p:cNvCxnSpPr>
                <a:cxnSpLocks/>
              </p:cNvCxnSpPr>
              <p:nvPr/>
            </p:nvCxnSpPr>
            <p:spPr>
              <a:xfrm flipV="1">
                <a:off x="1075969"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BFB51CD5-5B3E-4B75-BB26-E4C696855E35}"/>
                  </a:ext>
                </a:extLst>
              </p:cNvPr>
              <p:cNvCxnSpPr/>
              <p:nvPr/>
            </p:nvCxnSpPr>
            <p:spPr>
              <a:xfrm>
                <a:off x="783635"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grpSp>
        <p:nvGrpSpPr>
          <p:cNvPr id="28" name="Group 27">
            <a:extLst>
              <a:ext uri="{FF2B5EF4-FFF2-40B4-BE49-F238E27FC236}">
                <a16:creationId xmlns:a16="http://schemas.microsoft.com/office/drawing/2014/main" id="{1FB4BC7A-8212-4B7D-B2E0-1036F25B5355}"/>
              </a:ext>
            </a:extLst>
          </p:cNvPr>
          <p:cNvGrpSpPr/>
          <p:nvPr/>
        </p:nvGrpSpPr>
        <p:grpSpPr>
          <a:xfrm>
            <a:off x="1792481" y="3065225"/>
            <a:ext cx="486000" cy="783000"/>
            <a:chOff x="5159745" y="3780000"/>
            <a:chExt cx="648000" cy="1044000"/>
          </a:xfrm>
        </p:grpSpPr>
        <p:sp>
          <p:nvSpPr>
            <p:cNvPr id="286" name="Rounded Rectangle 243">
              <a:extLst>
                <a:ext uri="{FF2B5EF4-FFF2-40B4-BE49-F238E27FC236}">
                  <a16:creationId xmlns:a16="http://schemas.microsoft.com/office/drawing/2014/main" id="{A0D04A85-C7F5-406F-9650-DC13286062F0}"/>
                </a:ext>
              </a:extLst>
            </p:cNvPr>
            <p:cNvSpPr/>
            <p:nvPr/>
          </p:nvSpPr>
          <p:spPr>
            <a:xfrm>
              <a:off x="5222745" y="4464000"/>
              <a:ext cx="522000" cy="360000"/>
            </a:xfrm>
            <a:prstGeom prst="roundRect">
              <a:avLst/>
            </a:prstGeom>
            <a:solidFill>
              <a:srgbClr val="FFD89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ECS 26.6</a:t>
              </a:r>
            </a:p>
          </p:txBody>
        </p:sp>
        <p:sp>
          <p:nvSpPr>
            <p:cNvPr id="287" name="TextBox 286">
              <a:extLst>
                <a:ext uri="{FF2B5EF4-FFF2-40B4-BE49-F238E27FC236}">
                  <a16:creationId xmlns:a16="http://schemas.microsoft.com/office/drawing/2014/main" id="{5C4DB7C8-9028-4529-863E-56A74FCB3C2B}"/>
                </a:ext>
              </a:extLst>
            </p:cNvPr>
            <p:cNvSpPr txBox="1"/>
            <p:nvPr/>
          </p:nvSpPr>
          <p:spPr>
            <a:xfrm>
              <a:off x="5159745" y="4212000"/>
              <a:ext cx="648000" cy="216000"/>
            </a:xfrm>
            <a:prstGeom prst="rect">
              <a:avLst/>
            </a:prstGeom>
            <a:noFill/>
          </p:spPr>
          <p:txBody>
            <a:bodyPr wrap="square" lIns="0" tIns="0" rIns="0" bIns="0" rtlCol="0" anchor="ctr">
              <a:noAutofit/>
            </a:bodyPr>
            <a:lstStyle/>
            <a:p>
              <a:pPr algn="ctr"/>
              <a:r>
                <a:rPr lang="en-GB" sz="750" b="1" dirty="0">
                  <a:solidFill>
                    <a:schemeClr val="bg1"/>
                  </a:solidFill>
                </a:rPr>
                <a:t>Fri 12 Jun</a:t>
              </a:r>
            </a:p>
          </p:txBody>
        </p:sp>
        <p:grpSp>
          <p:nvGrpSpPr>
            <p:cNvPr id="288" name="Group 287">
              <a:extLst>
                <a:ext uri="{FF2B5EF4-FFF2-40B4-BE49-F238E27FC236}">
                  <a16:creationId xmlns:a16="http://schemas.microsoft.com/office/drawing/2014/main" id="{83CBAA11-1640-4CFA-AA7A-9DCF2D84D95C}"/>
                </a:ext>
              </a:extLst>
            </p:cNvPr>
            <p:cNvGrpSpPr/>
            <p:nvPr/>
          </p:nvGrpSpPr>
          <p:grpSpPr>
            <a:xfrm rot="10800000">
              <a:off x="5285746" y="3780000"/>
              <a:ext cx="396000" cy="468000"/>
              <a:chOff x="783636" y="1980000"/>
              <a:chExt cx="584667" cy="720000"/>
            </a:xfrm>
          </p:grpSpPr>
          <p:cxnSp>
            <p:nvCxnSpPr>
              <p:cNvPr id="289" name="Straight Connector 288">
                <a:extLst>
                  <a:ext uri="{FF2B5EF4-FFF2-40B4-BE49-F238E27FC236}">
                    <a16:creationId xmlns:a16="http://schemas.microsoft.com/office/drawing/2014/main" id="{B4F41947-7E7C-4D62-8521-D14FBE8C9269}"/>
                  </a:ext>
                </a:extLst>
              </p:cNvPr>
              <p:cNvCxnSpPr>
                <a:cxnSpLocks/>
              </p:cNvCxnSpPr>
              <p:nvPr/>
            </p:nvCxnSpPr>
            <p:spPr>
              <a:xfrm flipV="1">
                <a:off x="1075968"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16E38D86-74C1-4065-911C-EA9D900033A0}"/>
                  </a:ext>
                </a:extLst>
              </p:cNvPr>
              <p:cNvCxnSpPr/>
              <p:nvPr/>
            </p:nvCxnSpPr>
            <p:spPr>
              <a:xfrm>
                <a:off x="783636"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grpSp>
        <p:nvGrpSpPr>
          <p:cNvPr id="29" name="Group 28">
            <a:extLst>
              <a:ext uri="{FF2B5EF4-FFF2-40B4-BE49-F238E27FC236}">
                <a16:creationId xmlns:a16="http://schemas.microsoft.com/office/drawing/2014/main" id="{BF76FA31-72C9-4410-9945-7477E3260500}"/>
              </a:ext>
            </a:extLst>
          </p:cNvPr>
          <p:cNvGrpSpPr/>
          <p:nvPr/>
        </p:nvGrpSpPr>
        <p:grpSpPr>
          <a:xfrm>
            <a:off x="1178957" y="3065225"/>
            <a:ext cx="486000" cy="783000"/>
            <a:chOff x="4102516" y="3780000"/>
            <a:chExt cx="648000" cy="1044000"/>
          </a:xfrm>
        </p:grpSpPr>
        <p:sp>
          <p:nvSpPr>
            <p:cNvPr id="580" name="Rounded Rectangle 243">
              <a:extLst>
                <a:ext uri="{FF2B5EF4-FFF2-40B4-BE49-F238E27FC236}">
                  <a16:creationId xmlns:a16="http://schemas.microsoft.com/office/drawing/2014/main" id="{7C6E646E-2058-4A5C-B98F-EB842977BC7E}"/>
                </a:ext>
              </a:extLst>
            </p:cNvPr>
            <p:cNvSpPr/>
            <p:nvPr/>
          </p:nvSpPr>
          <p:spPr>
            <a:xfrm>
              <a:off x="4165516" y="4464000"/>
              <a:ext cx="522000" cy="360000"/>
            </a:xfrm>
            <a:prstGeom prst="roundRect">
              <a:avLst/>
            </a:prstGeom>
            <a:solidFill>
              <a:srgbClr val="FFD89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ECS 26.5</a:t>
              </a:r>
            </a:p>
          </p:txBody>
        </p:sp>
        <p:sp>
          <p:nvSpPr>
            <p:cNvPr id="581" name="TextBox 580">
              <a:extLst>
                <a:ext uri="{FF2B5EF4-FFF2-40B4-BE49-F238E27FC236}">
                  <a16:creationId xmlns:a16="http://schemas.microsoft.com/office/drawing/2014/main" id="{6DA7963A-F816-4BF6-9516-888E3151D762}"/>
                </a:ext>
              </a:extLst>
            </p:cNvPr>
            <p:cNvSpPr txBox="1"/>
            <p:nvPr/>
          </p:nvSpPr>
          <p:spPr>
            <a:xfrm>
              <a:off x="4102516" y="4212000"/>
              <a:ext cx="648000" cy="216000"/>
            </a:xfrm>
            <a:prstGeom prst="rect">
              <a:avLst/>
            </a:prstGeom>
            <a:noFill/>
          </p:spPr>
          <p:txBody>
            <a:bodyPr wrap="square" lIns="0" tIns="0" rIns="0" bIns="0" rtlCol="0" anchor="ctr">
              <a:noAutofit/>
            </a:bodyPr>
            <a:lstStyle/>
            <a:p>
              <a:pPr algn="ctr"/>
              <a:r>
                <a:rPr lang="en-GB" sz="750" b="1" dirty="0">
                  <a:solidFill>
                    <a:schemeClr val="bg1"/>
                  </a:solidFill>
                </a:rPr>
                <a:t>Fri 15 May</a:t>
              </a:r>
            </a:p>
          </p:txBody>
        </p:sp>
        <p:grpSp>
          <p:nvGrpSpPr>
            <p:cNvPr id="582" name="Group 581">
              <a:extLst>
                <a:ext uri="{FF2B5EF4-FFF2-40B4-BE49-F238E27FC236}">
                  <a16:creationId xmlns:a16="http://schemas.microsoft.com/office/drawing/2014/main" id="{3B4B034E-9700-453F-A39C-47CA82681687}"/>
                </a:ext>
              </a:extLst>
            </p:cNvPr>
            <p:cNvGrpSpPr/>
            <p:nvPr/>
          </p:nvGrpSpPr>
          <p:grpSpPr>
            <a:xfrm rot="10800000">
              <a:off x="4228517" y="3780000"/>
              <a:ext cx="396000" cy="468000"/>
              <a:chOff x="783636" y="1980000"/>
              <a:chExt cx="584667" cy="720000"/>
            </a:xfrm>
          </p:grpSpPr>
          <p:cxnSp>
            <p:nvCxnSpPr>
              <p:cNvPr id="583" name="Straight Connector 582">
                <a:extLst>
                  <a:ext uri="{FF2B5EF4-FFF2-40B4-BE49-F238E27FC236}">
                    <a16:creationId xmlns:a16="http://schemas.microsoft.com/office/drawing/2014/main" id="{D27B3836-A06F-4574-8E24-A6A46E8D200C}"/>
                  </a:ext>
                </a:extLst>
              </p:cNvPr>
              <p:cNvCxnSpPr>
                <a:cxnSpLocks/>
              </p:cNvCxnSpPr>
              <p:nvPr/>
            </p:nvCxnSpPr>
            <p:spPr>
              <a:xfrm flipV="1">
                <a:off x="1075968"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584" name="Straight Connector 583">
                <a:extLst>
                  <a:ext uri="{FF2B5EF4-FFF2-40B4-BE49-F238E27FC236}">
                    <a16:creationId xmlns:a16="http://schemas.microsoft.com/office/drawing/2014/main" id="{FE04B5F0-88E8-4BBF-B117-C294E4164AE9}"/>
                  </a:ext>
                </a:extLst>
              </p:cNvPr>
              <p:cNvCxnSpPr/>
              <p:nvPr/>
            </p:nvCxnSpPr>
            <p:spPr>
              <a:xfrm>
                <a:off x="783636"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grpSp>
        <p:nvGrpSpPr>
          <p:cNvPr id="30" name="Group 29">
            <a:extLst>
              <a:ext uri="{FF2B5EF4-FFF2-40B4-BE49-F238E27FC236}">
                <a16:creationId xmlns:a16="http://schemas.microsoft.com/office/drawing/2014/main" id="{077DDAC3-7388-4438-8D85-C4265EE11683}"/>
              </a:ext>
            </a:extLst>
          </p:cNvPr>
          <p:cNvGrpSpPr/>
          <p:nvPr/>
        </p:nvGrpSpPr>
        <p:grpSpPr>
          <a:xfrm>
            <a:off x="528607" y="3065225"/>
            <a:ext cx="486000" cy="783000"/>
            <a:chOff x="3227013" y="3780000"/>
            <a:chExt cx="648000" cy="1044000"/>
          </a:xfrm>
        </p:grpSpPr>
        <p:sp>
          <p:nvSpPr>
            <p:cNvPr id="651" name="Rounded Rectangle 243">
              <a:extLst>
                <a:ext uri="{FF2B5EF4-FFF2-40B4-BE49-F238E27FC236}">
                  <a16:creationId xmlns:a16="http://schemas.microsoft.com/office/drawing/2014/main" id="{FC7BDD0C-47C3-4F04-BFCD-4A1EFA38C5CD}"/>
                </a:ext>
              </a:extLst>
            </p:cNvPr>
            <p:cNvSpPr/>
            <p:nvPr/>
          </p:nvSpPr>
          <p:spPr>
            <a:xfrm>
              <a:off x="3290013" y="4464000"/>
              <a:ext cx="522000" cy="360000"/>
            </a:xfrm>
            <a:prstGeom prst="roundRect">
              <a:avLst/>
            </a:prstGeom>
            <a:solidFill>
              <a:srgbClr val="FFD89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ECS 26.4</a:t>
              </a:r>
            </a:p>
          </p:txBody>
        </p:sp>
        <p:sp>
          <p:nvSpPr>
            <p:cNvPr id="652" name="TextBox 651">
              <a:extLst>
                <a:ext uri="{FF2B5EF4-FFF2-40B4-BE49-F238E27FC236}">
                  <a16:creationId xmlns:a16="http://schemas.microsoft.com/office/drawing/2014/main" id="{B9AC64BB-3A38-4209-B446-BD2A47B967DF}"/>
                </a:ext>
              </a:extLst>
            </p:cNvPr>
            <p:cNvSpPr txBox="1"/>
            <p:nvPr/>
          </p:nvSpPr>
          <p:spPr>
            <a:xfrm>
              <a:off x="3227013" y="4212000"/>
              <a:ext cx="648000" cy="216000"/>
            </a:xfrm>
            <a:prstGeom prst="rect">
              <a:avLst/>
            </a:prstGeom>
            <a:noFill/>
          </p:spPr>
          <p:txBody>
            <a:bodyPr wrap="square" lIns="0" tIns="0" rIns="0" bIns="0" rtlCol="0" anchor="ctr">
              <a:noAutofit/>
            </a:bodyPr>
            <a:lstStyle/>
            <a:p>
              <a:pPr algn="ctr"/>
              <a:r>
                <a:rPr lang="en-GB" sz="750" b="1" dirty="0">
                  <a:solidFill>
                    <a:schemeClr val="bg1"/>
                  </a:solidFill>
                </a:rPr>
                <a:t>Fri 17 Apr</a:t>
              </a:r>
            </a:p>
          </p:txBody>
        </p:sp>
        <p:grpSp>
          <p:nvGrpSpPr>
            <p:cNvPr id="653" name="Group 652">
              <a:extLst>
                <a:ext uri="{FF2B5EF4-FFF2-40B4-BE49-F238E27FC236}">
                  <a16:creationId xmlns:a16="http://schemas.microsoft.com/office/drawing/2014/main" id="{19643589-695B-4C3E-8305-8AAB31B21D08}"/>
                </a:ext>
              </a:extLst>
            </p:cNvPr>
            <p:cNvGrpSpPr/>
            <p:nvPr/>
          </p:nvGrpSpPr>
          <p:grpSpPr>
            <a:xfrm rot="10800000">
              <a:off x="3353014" y="3780000"/>
              <a:ext cx="396000" cy="468000"/>
              <a:chOff x="783636" y="1980000"/>
              <a:chExt cx="584667" cy="720000"/>
            </a:xfrm>
          </p:grpSpPr>
          <p:cxnSp>
            <p:nvCxnSpPr>
              <p:cNvPr id="654" name="Straight Connector 653">
                <a:extLst>
                  <a:ext uri="{FF2B5EF4-FFF2-40B4-BE49-F238E27FC236}">
                    <a16:creationId xmlns:a16="http://schemas.microsoft.com/office/drawing/2014/main" id="{28759727-37E9-4A15-B552-D8A6BC835CED}"/>
                  </a:ext>
                </a:extLst>
              </p:cNvPr>
              <p:cNvCxnSpPr>
                <a:cxnSpLocks/>
              </p:cNvCxnSpPr>
              <p:nvPr/>
            </p:nvCxnSpPr>
            <p:spPr>
              <a:xfrm flipV="1">
                <a:off x="1075968"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655" name="Straight Connector 654">
                <a:extLst>
                  <a:ext uri="{FF2B5EF4-FFF2-40B4-BE49-F238E27FC236}">
                    <a16:creationId xmlns:a16="http://schemas.microsoft.com/office/drawing/2014/main" id="{7B6F5181-ECDA-4425-AE6F-12D8733437EB}"/>
                  </a:ext>
                </a:extLst>
              </p:cNvPr>
              <p:cNvCxnSpPr/>
              <p:nvPr/>
            </p:nvCxnSpPr>
            <p:spPr>
              <a:xfrm>
                <a:off x="783636"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sp>
        <p:nvSpPr>
          <p:cNvPr id="234" name="Rounded Rectangle 243">
            <a:extLst>
              <a:ext uri="{FF2B5EF4-FFF2-40B4-BE49-F238E27FC236}">
                <a16:creationId xmlns:a16="http://schemas.microsoft.com/office/drawing/2014/main" id="{92A2EFAF-316B-4BBD-9997-67268440C4DE}"/>
              </a:ext>
            </a:extLst>
          </p:cNvPr>
          <p:cNvSpPr/>
          <p:nvPr/>
        </p:nvSpPr>
        <p:spPr>
          <a:xfrm>
            <a:off x="1101131" y="2253734"/>
            <a:ext cx="488456" cy="270000"/>
          </a:xfrm>
          <a:prstGeom prst="round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CCS</a:t>
            </a:r>
          </a:p>
          <a:p>
            <a:pPr algn="ctr">
              <a:lnSpc>
                <a:spcPts val="900"/>
              </a:lnSpc>
            </a:pPr>
            <a:r>
              <a:rPr lang="en-GB" sz="900" b="1" dirty="0">
                <a:solidFill>
                  <a:schemeClr val="tx1"/>
                </a:solidFill>
              </a:rPr>
              <a:t>26.4+26.5</a:t>
            </a:r>
          </a:p>
        </p:txBody>
      </p:sp>
      <p:sp>
        <p:nvSpPr>
          <p:cNvPr id="238" name="TextBox 237">
            <a:extLst>
              <a:ext uri="{FF2B5EF4-FFF2-40B4-BE49-F238E27FC236}">
                <a16:creationId xmlns:a16="http://schemas.microsoft.com/office/drawing/2014/main" id="{E7BB3875-2648-4DA8-B538-63712341B809}"/>
              </a:ext>
            </a:extLst>
          </p:cNvPr>
          <p:cNvSpPr txBox="1"/>
          <p:nvPr/>
        </p:nvSpPr>
        <p:spPr>
          <a:xfrm>
            <a:off x="1042180" y="2538001"/>
            <a:ext cx="606359" cy="167894"/>
          </a:xfrm>
          <a:prstGeom prst="rect">
            <a:avLst/>
          </a:prstGeom>
          <a:noFill/>
        </p:spPr>
        <p:txBody>
          <a:bodyPr wrap="square" lIns="0" tIns="0" rIns="0" bIns="0" rtlCol="0" anchor="ctr">
            <a:noAutofit/>
          </a:bodyPr>
          <a:lstStyle/>
          <a:p>
            <a:pPr algn="ctr"/>
            <a:r>
              <a:rPr lang="en-GB" sz="750" b="1" dirty="0">
                <a:solidFill>
                  <a:schemeClr val="bg1"/>
                </a:solidFill>
              </a:rPr>
              <a:t>Tue 19 May</a:t>
            </a:r>
          </a:p>
        </p:txBody>
      </p:sp>
      <p:cxnSp>
        <p:nvCxnSpPr>
          <p:cNvPr id="255" name="Straight Connector 254">
            <a:extLst>
              <a:ext uri="{FF2B5EF4-FFF2-40B4-BE49-F238E27FC236}">
                <a16:creationId xmlns:a16="http://schemas.microsoft.com/office/drawing/2014/main" id="{55512C6E-F50B-4BAA-9BAD-6DBB7D5E15E9}"/>
              </a:ext>
            </a:extLst>
          </p:cNvPr>
          <p:cNvCxnSpPr>
            <a:cxnSpLocks/>
          </p:cNvCxnSpPr>
          <p:nvPr/>
        </p:nvCxnSpPr>
        <p:spPr>
          <a:xfrm flipH="1" flipV="1">
            <a:off x="1345360" y="2687599"/>
            <a:ext cx="177275" cy="350009"/>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474D99CD-CFA5-4503-A5D2-217E2F825B40}"/>
              </a:ext>
            </a:extLst>
          </p:cNvPr>
          <p:cNvCxnSpPr>
            <a:cxnSpLocks/>
          </p:cNvCxnSpPr>
          <p:nvPr/>
        </p:nvCxnSpPr>
        <p:spPr>
          <a:xfrm>
            <a:off x="1160083" y="2685734"/>
            <a:ext cx="370553"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sp>
        <p:nvSpPr>
          <p:cNvPr id="258" name="Rounded Rectangle 243">
            <a:extLst>
              <a:ext uri="{FF2B5EF4-FFF2-40B4-BE49-F238E27FC236}">
                <a16:creationId xmlns:a16="http://schemas.microsoft.com/office/drawing/2014/main" id="{41D1575A-FE06-447B-B634-D0C5C319FE01}"/>
              </a:ext>
            </a:extLst>
          </p:cNvPr>
          <p:cNvSpPr/>
          <p:nvPr/>
        </p:nvSpPr>
        <p:spPr>
          <a:xfrm>
            <a:off x="1616437" y="2253735"/>
            <a:ext cx="391500" cy="270000"/>
          </a:xfrm>
          <a:prstGeom prst="round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CCS</a:t>
            </a:r>
          </a:p>
          <a:p>
            <a:pPr algn="ctr">
              <a:lnSpc>
                <a:spcPts val="900"/>
              </a:lnSpc>
            </a:pPr>
            <a:r>
              <a:rPr lang="en-GB" sz="900" b="1" dirty="0">
                <a:solidFill>
                  <a:schemeClr val="tx1"/>
                </a:solidFill>
              </a:rPr>
              <a:t>26.6A</a:t>
            </a:r>
          </a:p>
        </p:txBody>
      </p:sp>
      <p:sp>
        <p:nvSpPr>
          <p:cNvPr id="259" name="TextBox 258">
            <a:extLst>
              <a:ext uri="{FF2B5EF4-FFF2-40B4-BE49-F238E27FC236}">
                <a16:creationId xmlns:a16="http://schemas.microsoft.com/office/drawing/2014/main" id="{44A7CDDC-3A32-46FF-A5C3-A4BE32BF200F}"/>
              </a:ext>
            </a:extLst>
          </p:cNvPr>
          <p:cNvSpPr txBox="1"/>
          <p:nvPr/>
        </p:nvSpPr>
        <p:spPr>
          <a:xfrm>
            <a:off x="1569187" y="2538000"/>
            <a:ext cx="486000" cy="162000"/>
          </a:xfrm>
          <a:prstGeom prst="rect">
            <a:avLst/>
          </a:prstGeom>
          <a:noFill/>
        </p:spPr>
        <p:txBody>
          <a:bodyPr wrap="square" lIns="0" tIns="0" rIns="0" bIns="0" rtlCol="0" anchor="ctr">
            <a:noAutofit/>
          </a:bodyPr>
          <a:lstStyle/>
          <a:p>
            <a:pPr algn="ctr"/>
            <a:r>
              <a:rPr lang="en-GB" sz="750" b="1" dirty="0">
                <a:solidFill>
                  <a:schemeClr val="bg1"/>
                </a:solidFill>
              </a:rPr>
              <a:t>Tue 2 Jun</a:t>
            </a:r>
          </a:p>
        </p:txBody>
      </p:sp>
      <p:grpSp>
        <p:nvGrpSpPr>
          <p:cNvPr id="260" name="Group 259">
            <a:extLst>
              <a:ext uri="{FF2B5EF4-FFF2-40B4-BE49-F238E27FC236}">
                <a16:creationId xmlns:a16="http://schemas.microsoft.com/office/drawing/2014/main" id="{2EB87A66-0814-424B-9C12-B199E5705CB7}"/>
              </a:ext>
            </a:extLst>
          </p:cNvPr>
          <p:cNvGrpSpPr/>
          <p:nvPr/>
        </p:nvGrpSpPr>
        <p:grpSpPr>
          <a:xfrm>
            <a:off x="1663687" y="2685735"/>
            <a:ext cx="297000" cy="351000"/>
            <a:chOff x="783635" y="1980000"/>
            <a:chExt cx="584667" cy="720000"/>
          </a:xfrm>
        </p:grpSpPr>
        <p:cxnSp>
          <p:nvCxnSpPr>
            <p:cNvPr id="261" name="Straight Connector 260">
              <a:extLst>
                <a:ext uri="{FF2B5EF4-FFF2-40B4-BE49-F238E27FC236}">
                  <a16:creationId xmlns:a16="http://schemas.microsoft.com/office/drawing/2014/main" id="{DE543F71-A2DC-4205-84AA-38CCB014E644}"/>
                </a:ext>
              </a:extLst>
            </p:cNvPr>
            <p:cNvCxnSpPr>
              <a:cxnSpLocks/>
            </p:cNvCxnSpPr>
            <p:nvPr/>
          </p:nvCxnSpPr>
          <p:spPr>
            <a:xfrm flipV="1">
              <a:off x="1075969"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EAEE4390-73ED-4FF6-87C2-8D3AD61C0E00}"/>
                </a:ext>
              </a:extLst>
            </p:cNvPr>
            <p:cNvCxnSpPr/>
            <p:nvPr/>
          </p:nvCxnSpPr>
          <p:spPr>
            <a:xfrm>
              <a:off x="783635"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7E889718-2A27-4A7B-A012-35C14A6D3866}"/>
              </a:ext>
            </a:extLst>
          </p:cNvPr>
          <p:cNvSpPr txBox="1"/>
          <p:nvPr/>
        </p:nvSpPr>
        <p:spPr>
          <a:xfrm>
            <a:off x="0" y="1890001"/>
            <a:ext cx="9126000" cy="244577"/>
          </a:xfrm>
          <a:prstGeom prst="rect">
            <a:avLst/>
          </a:prstGeom>
        </p:spPr>
        <p:txBody>
          <a:bodyPr wrap="square" lIns="0" tIns="0" rIns="0" bIns="0" rtlCol="0">
            <a:noAutofit/>
          </a:bodyPr>
          <a:lstStyle/>
          <a:p>
            <a:pPr algn="ctr"/>
            <a:r>
              <a:rPr lang="en-GB" sz="1350" b="1" dirty="0">
                <a:solidFill>
                  <a:srgbClr val="FFFF00"/>
                </a:solidFill>
                <a:latin typeface="Vodafone Rg" pitchFamily="34" charset="0"/>
              </a:rPr>
              <a:t>CCS, ECS and Digital: Financial  Year 2026/27</a:t>
            </a:r>
          </a:p>
        </p:txBody>
      </p:sp>
      <p:sp>
        <p:nvSpPr>
          <p:cNvPr id="159" name="Content Placeholder 15">
            <a:extLst>
              <a:ext uri="{FF2B5EF4-FFF2-40B4-BE49-F238E27FC236}">
                <a16:creationId xmlns:a16="http://schemas.microsoft.com/office/drawing/2014/main" id="{E5570A42-FA8C-4286-A45D-B89B2CE314C7}"/>
              </a:ext>
            </a:extLst>
          </p:cNvPr>
          <p:cNvSpPr>
            <a:spLocks noGrp="1"/>
          </p:cNvSpPr>
          <p:nvPr>
            <p:ph sz="quarter" idx="13"/>
          </p:nvPr>
        </p:nvSpPr>
        <p:spPr>
          <a:xfrm>
            <a:off x="216000" y="485999"/>
            <a:ext cx="8640000" cy="1224718"/>
          </a:xfrm>
        </p:spPr>
        <p:txBody>
          <a:bodyPr/>
          <a:lstStyle/>
          <a:p>
            <a:pPr marL="0" indent="0">
              <a:spcAft>
                <a:spcPts val="225"/>
              </a:spcAft>
              <a:buNone/>
            </a:pPr>
            <a:r>
              <a:rPr lang="en-GB" sz="1500" b="1" dirty="0"/>
              <a:t>Consumer CCSXpress releases are every 3 weeks, while CCS Helix are every 6 weeks – Where possible</a:t>
            </a:r>
          </a:p>
          <a:p>
            <a:pPr>
              <a:spcAft>
                <a:spcPts val="225"/>
              </a:spcAft>
            </a:pPr>
            <a:r>
              <a:rPr lang="en-GB" sz="1350" dirty="0"/>
              <a:t>When planning releases and their phases, we consider a range of restrictions and factors such Holidays, Device Launches, Billing, Environments &amp; Resources; adjusting as needed after consultation with a range of stakeholders</a:t>
            </a:r>
          </a:p>
          <a:p>
            <a:pPr>
              <a:spcAft>
                <a:spcPts val="225"/>
              </a:spcAft>
            </a:pPr>
            <a:r>
              <a:rPr lang="en-GB" sz="1350" dirty="0"/>
              <a:t>A release delivers new functionality, platform upgrades, enhancements and fixes</a:t>
            </a:r>
          </a:p>
          <a:p>
            <a:pPr>
              <a:spcAft>
                <a:spcPts val="225"/>
              </a:spcAft>
            </a:pPr>
            <a:r>
              <a:rPr lang="en-GB" sz="1350" dirty="0"/>
              <a:t>CCS (Consumer) Releases are above the timeline, with ECS (Enterprise) and Digital PI durations below the timeline</a:t>
            </a:r>
          </a:p>
        </p:txBody>
      </p:sp>
      <p:grpSp>
        <p:nvGrpSpPr>
          <p:cNvPr id="7" name="Group 6">
            <a:extLst>
              <a:ext uri="{FF2B5EF4-FFF2-40B4-BE49-F238E27FC236}">
                <a16:creationId xmlns:a16="http://schemas.microsoft.com/office/drawing/2014/main" id="{FA9D5806-AEE0-143E-90A8-8A4FC4DC053F}"/>
              </a:ext>
            </a:extLst>
          </p:cNvPr>
          <p:cNvGrpSpPr/>
          <p:nvPr/>
        </p:nvGrpSpPr>
        <p:grpSpPr>
          <a:xfrm>
            <a:off x="2474815" y="3065225"/>
            <a:ext cx="486000" cy="783000"/>
            <a:chOff x="5159745" y="3780000"/>
            <a:chExt cx="648000" cy="1044000"/>
          </a:xfrm>
        </p:grpSpPr>
        <p:sp>
          <p:nvSpPr>
            <p:cNvPr id="8" name="Rounded Rectangle 243">
              <a:extLst>
                <a:ext uri="{FF2B5EF4-FFF2-40B4-BE49-F238E27FC236}">
                  <a16:creationId xmlns:a16="http://schemas.microsoft.com/office/drawing/2014/main" id="{CB60B04A-87F2-DB95-F6D4-F4B4EB555CC6}"/>
                </a:ext>
              </a:extLst>
            </p:cNvPr>
            <p:cNvSpPr/>
            <p:nvPr/>
          </p:nvSpPr>
          <p:spPr>
            <a:xfrm>
              <a:off x="5222745" y="4464000"/>
              <a:ext cx="522000" cy="360000"/>
            </a:xfrm>
            <a:prstGeom prst="roundRect">
              <a:avLst/>
            </a:prstGeom>
            <a:solidFill>
              <a:srgbClr val="FFD89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ECS 26.7</a:t>
              </a:r>
            </a:p>
          </p:txBody>
        </p:sp>
        <p:sp>
          <p:nvSpPr>
            <p:cNvPr id="9" name="TextBox 8">
              <a:extLst>
                <a:ext uri="{FF2B5EF4-FFF2-40B4-BE49-F238E27FC236}">
                  <a16:creationId xmlns:a16="http://schemas.microsoft.com/office/drawing/2014/main" id="{A95E954E-0EB4-F4B0-CD68-E7A7481F44A9}"/>
                </a:ext>
              </a:extLst>
            </p:cNvPr>
            <p:cNvSpPr txBox="1"/>
            <p:nvPr/>
          </p:nvSpPr>
          <p:spPr>
            <a:xfrm>
              <a:off x="5159745" y="4212000"/>
              <a:ext cx="648000" cy="216000"/>
            </a:xfrm>
            <a:prstGeom prst="rect">
              <a:avLst/>
            </a:prstGeom>
            <a:noFill/>
          </p:spPr>
          <p:txBody>
            <a:bodyPr wrap="square" lIns="0" tIns="0" rIns="0" bIns="0" rtlCol="0" anchor="ctr">
              <a:noAutofit/>
            </a:bodyPr>
            <a:lstStyle/>
            <a:p>
              <a:pPr algn="ctr"/>
              <a:r>
                <a:rPr lang="en-GB" sz="750" b="1" dirty="0">
                  <a:solidFill>
                    <a:schemeClr val="bg1"/>
                  </a:solidFill>
                </a:rPr>
                <a:t>Fri 10 Jul</a:t>
              </a:r>
            </a:p>
          </p:txBody>
        </p:sp>
        <p:grpSp>
          <p:nvGrpSpPr>
            <p:cNvPr id="10" name="Group 9">
              <a:extLst>
                <a:ext uri="{FF2B5EF4-FFF2-40B4-BE49-F238E27FC236}">
                  <a16:creationId xmlns:a16="http://schemas.microsoft.com/office/drawing/2014/main" id="{E49B0175-3260-8DCC-6D90-8DBC8A4AE8DE}"/>
                </a:ext>
              </a:extLst>
            </p:cNvPr>
            <p:cNvGrpSpPr/>
            <p:nvPr/>
          </p:nvGrpSpPr>
          <p:grpSpPr>
            <a:xfrm rot="10800000">
              <a:off x="5285746" y="3780000"/>
              <a:ext cx="396000" cy="468000"/>
              <a:chOff x="783636" y="1980000"/>
              <a:chExt cx="584667" cy="720000"/>
            </a:xfrm>
          </p:grpSpPr>
          <p:cxnSp>
            <p:nvCxnSpPr>
              <p:cNvPr id="11" name="Straight Connector 10">
                <a:extLst>
                  <a:ext uri="{FF2B5EF4-FFF2-40B4-BE49-F238E27FC236}">
                    <a16:creationId xmlns:a16="http://schemas.microsoft.com/office/drawing/2014/main" id="{4B1C6C8B-5A3F-809F-92DB-9CC62E5BDFE7}"/>
                  </a:ext>
                </a:extLst>
              </p:cNvPr>
              <p:cNvCxnSpPr>
                <a:cxnSpLocks/>
              </p:cNvCxnSpPr>
              <p:nvPr/>
            </p:nvCxnSpPr>
            <p:spPr>
              <a:xfrm flipV="1">
                <a:off x="1075968"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0C724D3-58F5-8180-9A4A-9187EF3A7829}"/>
                  </a:ext>
                </a:extLst>
              </p:cNvPr>
              <p:cNvCxnSpPr/>
              <p:nvPr/>
            </p:nvCxnSpPr>
            <p:spPr>
              <a:xfrm>
                <a:off x="783636"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sp>
        <p:nvSpPr>
          <p:cNvPr id="13" name="Arrow: Right 12">
            <a:extLst>
              <a:ext uri="{FF2B5EF4-FFF2-40B4-BE49-F238E27FC236}">
                <a16:creationId xmlns:a16="http://schemas.microsoft.com/office/drawing/2014/main" id="{57382808-E1AC-372A-3F8D-B85DF3393752}"/>
              </a:ext>
            </a:extLst>
          </p:cNvPr>
          <p:cNvSpPr/>
          <p:nvPr/>
        </p:nvSpPr>
        <p:spPr>
          <a:xfrm>
            <a:off x="240085" y="3915000"/>
            <a:ext cx="2105891" cy="370945"/>
          </a:xfrm>
          <a:prstGeom prst="rightArrow">
            <a:avLst>
              <a:gd name="adj1" fmla="val 72076"/>
              <a:gd name="adj2" fmla="val 50000"/>
            </a:avLst>
          </a:prstGeom>
          <a:solidFill>
            <a:schemeClr val="accent1">
              <a:lumMod val="20000"/>
              <a:lumOff val="80000"/>
            </a:schemeClr>
          </a:solidFill>
          <a:ln w="25400" cap="flat" cmpd="sng" algn="ctr">
            <a:solidFill>
              <a:schemeClr val="bg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4763" tIns="4763" rIns="4763" bIns="4763" numCol="1" spcCol="1270" rtlCol="0" anchor="ctr" anchorCtr="0">
            <a:noAutofit/>
          </a:bodyPr>
          <a:lstStyle/>
          <a:p>
            <a:pPr algn="ctr" defTabSz="333375">
              <a:spcBef>
                <a:spcPct val="0"/>
              </a:spcBef>
              <a:spcAft>
                <a:spcPts val="225"/>
              </a:spcAft>
            </a:pPr>
            <a:r>
              <a:rPr lang="en-GB" sz="750" b="1" dirty="0">
                <a:solidFill>
                  <a:schemeClr val="tx1"/>
                </a:solidFill>
              </a:rPr>
              <a:t>Digital – PI 41</a:t>
            </a:r>
            <a:br>
              <a:rPr lang="en-GB" sz="750" b="1" dirty="0">
                <a:solidFill>
                  <a:schemeClr val="tx1"/>
                </a:solidFill>
              </a:rPr>
            </a:br>
            <a:r>
              <a:rPr lang="en-GB" sz="750" b="1" dirty="0">
                <a:solidFill>
                  <a:schemeClr val="tx1"/>
                </a:solidFill>
              </a:rPr>
              <a:t>26 Mar 2026 to 24 Jun 2026</a:t>
            </a:r>
          </a:p>
        </p:txBody>
      </p:sp>
      <p:sp>
        <p:nvSpPr>
          <p:cNvPr id="17" name="Arrow: Right 16">
            <a:extLst>
              <a:ext uri="{FF2B5EF4-FFF2-40B4-BE49-F238E27FC236}">
                <a16:creationId xmlns:a16="http://schemas.microsoft.com/office/drawing/2014/main" id="{CB596933-45A7-2199-7150-32AF9F453C52}"/>
              </a:ext>
            </a:extLst>
          </p:cNvPr>
          <p:cNvSpPr/>
          <p:nvPr/>
        </p:nvSpPr>
        <p:spPr>
          <a:xfrm>
            <a:off x="2359832" y="3915000"/>
            <a:ext cx="2038987" cy="370945"/>
          </a:xfrm>
          <a:prstGeom prst="rightArrow">
            <a:avLst>
              <a:gd name="adj1" fmla="val 72076"/>
              <a:gd name="adj2" fmla="val 50000"/>
            </a:avLst>
          </a:prstGeom>
          <a:solidFill>
            <a:schemeClr val="accent1">
              <a:lumMod val="20000"/>
              <a:lumOff val="80000"/>
            </a:schemeClr>
          </a:solidFill>
          <a:ln w="25400" cap="flat" cmpd="sng" algn="ctr">
            <a:solidFill>
              <a:schemeClr val="bg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4763" tIns="4763" rIns="4763" bIns="4763" numCol="1" spcCol="1270" rtlCol="0" anchor="ctr" anchorCtr="0">
            <a:noAutofit/>
          </a:bodyPr>
          <a:lstStyle/>
          <a:p>
            <a:pPr algn="ctr" defTabSz="333375">
              <a:spcBef>
                <a:spcPct val="0"/>
              </a:spcBef>
              <a:spcAft>
                <a:spcPts val="225"/>
              </a:spcAft>
            </a:pPr>
            <a:r>
              <a:rPr lang="en-GB" sz="750" b="1" dirty="0">
                <a:solidFill>
                  <a:schemeClr val="tx1"/>
                </a:solidFill>
              </a:rPr>
              <a:t>Digital – PI 42</a:t>
            </a:r>
            <a:br>
              <a:rPr lang="en-GB" sz="750" b="1" dirty="0">
                <a:solidFill>
                  <a:schemeClr val="tx1"/>
                </a:solidFill>
              </a:rPr>
            </a:br>
            <a:r>
              <a:rPr lang="en-GB" sz="750" b="1" dirty="0">
                <a:solidFill>
                  <a:schemeClr val="tx1"/>
                </a:solidFill>
              </a:rPr>
              <a:t>25 Jun 2026 to 23 Sep 2026</a:t>
            </a:r>
          </a:p>
        </p:txBody>
      </p:sp>
      <p:sp>
        <p:nvSpPr>
          <p:cNvPr id="27" name="Arrow: Right 26">
            <a:extLst>
              <a:ext uri="{FF2B5EF4-FFF2-40B4-BE49-F238E27FC236}">
                <a16:creationId xmlns:a16="http://schemas.microsoft.com/office/drawing/2014/main" id="{42391559-D9B7-AFB8-0642-7E7A30A469AA}"/>
              </a:ext>
            </a:extLst>
          </p:cNvPr>
          <p:cNvSpPr/>
          <p:nvPr/>
        </p:nvSpPr>
        <p:spPr>
          <a:xfrm>
            <a:off x="4440382" y="3915000"/>
            <a:ext cx="2278103" cy="370945"/>
          </a:xfrm>
          <a:prstGeom prst="rightArrow">
            <a:avLst>
              <a:gd name="adj1" fmla="val 72076"/>
              <a:gd name="adj2" fmla="val 50000"/>
            </a:avLst>
          </a:prstGeom>
          <a:solidFill>
            <a:schemeClr val="accent1">
              <a:lumMod val="20000"/>
              <a:lumOff val="80000"/>
            </a:schemeClr>
          </a:solidFill>
          <a:ln w="25400" cap="flat" cmpd="sng" algn="ctr">
            <a:solidFill>
              <a:schemeClr val="bg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4763" tIns="4763" rIns="4763" bIns="4763" numCol="1" spcCol="1270" rtlCol="0" anchor="ctr" anchorCtr="0">
            <a:noAutofit/>
          </a:bodyPr>
          <a:lstStyle/>
          <a:p>
            <a:pPr algn="ctr" defTabSz="333375">
              <a:spcBef>
                <a:spcPct val="0"/>
              </a:spcBef>
              <a:spcAft>
                <a:spcPts val="225"/>
              </a:spcAft>
            </a:pPr>
            <a:r>
              <a:rPr lang="en-GB" sz="750" b="1" dirty="0">
                <a:solidFill>
                  <a:schemeClr val="tx1"/>
                </a:solidFill>
              </a:rPr>
              <a:t>Digital – PI 43</a:t>
            </a:r>
            <a:br>
              <a:rPr lang="en-GB" sz="750" b="1" dirty="0">
                <a:solidFill>
                  <a:schemeClr val="tx1"/>
                </a:solidFill>
              </a:rPr>
            </a:br>
            <a:r>
              <a:rPr lang="en-GB" sz="750" b="1" dirty="0">
                <a:solidFill>
                  <a:schemeClr val="tx1"/>
                </a:solidFill>
              </a:rPr>
              <a:t>24 Sep 2026 to 06 Jan 2027</a:t>
            </a:r>
          </a:p>
        </p:txBody>
      </p:sp>
      <p:sp>
        <p:nvSpPr>
          <p:cNvPr id="4" name="Arrow: Right 3">
            <a:extLst>
              <a:ext uri="{FF2B5EF4-FFF2-40B4-BE49-F238E27FC236}">
                <a16:creationId xmlns:a16="http://schemas.microsoft.com/office/drawing/2014/main" id="{E39B8A7C-2ACE-CA0B-08FC-7A4E31B6822B}"/>
              </a:ext>
            </a:extLst>
          </p:cNvPr>
          <p:cNvSpPr/>
          <p:nvPr/>
        </p:nvSpPr>
        <p:spPr>
          <a:xfrm>
            <a:off x="6771264" y="3914874"/>
            <a:ext cx="1795150" cy="370945"/>
          </a:xfrm>
          <a:prstGeom prst="rightArrow">
            <a:avLst>
              <a:gd name="adj1" fmla="val 72076"/>
              <a:gd name="adj2" fmla="val 50000"/>
            </a:avLst>
          </a:prstGeom>
          <a:solidFill>
            <a:schemeClr val="accent1">
              <a:lumMod val="20000"/>
              <a:lumOff val="80000"/>
            </a:schemeClr>
          </a:solidFill>
          <a:ln w="25400" cap="flat" cmpd="sng" algn="ctr">
            <a:solidFill>
              <a:schemeClr val="bg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4763" tIns="4763" rIns="4763" bIns="4763" numCol="1" spcCol="1270" rtlCol="0" anchor="ctr" anchorCtr="0">
            <a:noAutofit/>
          </a:bodyPr>
          <a:lstStyle/>
          <a:p>
            <a:pPr algn="ctr" defTabSz="333375">
              <a:spcBef>
                <a:spcPct val="0"/>
              </a:spcBef>
              <a:spcAft>
                <a:spcPts val="225"/>
              </a:spcAft>
            </a:pPr>
            <a:r>
              <a:rPr lang="en-GB" sz="750" b="1" dirty="0">
                <a:solidFill>
                  <a:schemeClr val="tx1"/>
                </a:solidFill>
              </a:rPr>
              <a:t>Digital – PI 44</a:t>
            </a:r>
            <a:br>
              <a:rPr lang="en-GB" sz="750" b="1" dirty="0">
                <a:solidFill>
                  <a:schemeClr val="tx1"/>
                </a:solidFill>
              </a:rPr>
            </a:br>
            <a:r>
              <a:rPr lang="en-GB" sz="750" b="1" dirty="0">
                <a:solidFill>
                  <a:schemeClr val="tx1"/>
                </a:solidFill>
              </a:rPr>
              <a:t>07 Jan 2027 to 24 Mar 2027</a:t>
            </a:r>
          </a:p>
        </p:txBody>
      </p:sp>
      <p:grpSp>
        <p:nvGrpSpPr>
          <p:cNvPr id="59" name="Group 58">
            <a:extLst>
              <a:ext uri="{FF2B5EF4-FFF2-40B4-BE49-F238E27FC236}">
                <a16:creationId xmlns:a16="http://schemas.microsoft.com/office/drawing/2014/main" id="{8FCABA4E-9A34-D0FB-B142-C8927679545A}"/>
              </a:ext>
            </a:extLst>
          </p:cNvPr>
          <p:cNvGrpSpPr/>
          <p:nvPr/>
        </p:nvGrpSpPr>
        <p:grpSpPr>
          <a:xfrm>
            <a:off x="3519218" y="2253734"/>
            <a:ext cx="486000" cy="783000"/>
            <a:chOff x="4439202" y="2700000"/>
            <a:chExt cx="648000" cy="1044000"/>
          </a:xfrm>
        </p:grpSpPr>
        <p:sp>
          <p:nvSpPr>
            <p:cNvPr id="60" name="Rounded Rectangle 243">
              <a:extLst>
                <a:ext uri="{FF2B5EF4-FFF2-40B4-BE49-F238E27FC236}">
                  <a16:creationId xmlns:a16="http://schemas.microsoft.com/office/drawing/2014/main" id="{CDD7E354-71B8-4231-D8DB-2920505DCAEB}"/>
                </a:ext>
              </a:extLst>
            </p:cNvPr>
            <p:cNvSpPr/>
            <p:nvPr/>
          </p:nvSpPr>
          <p:spPr>
            <a:xfrm>
              <a:off x="4502202" y="2700000"/>
              <a:ext cx="522000" cy="360000"/>
            </a:xfrm>
            <a:prstGeom prst="roundRect">
              <a:avLst/>
            </a:prstGeom>
            <a:solidFill>
              <a:srgbClr val="CCFF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CCS</a:t>
              </a:r>
            </a:p>
            <a:p>
              <a:pPr algn="ctr">
                <a:lnSpc>
                  <a:spcPts val="900"/>
                </a:lnSpc>
              </a:pPr>
              <a:r>
                <a:rPr lang="en-GB" sz="900" b="1" dirty="0">
                  <a:solidFill>
                    <a:schemeClr val="tx1"/>
                  </a:solidFill>
                </a:rPr>
                <a:t>26.8</a:t>
              </a:r>
            </a:p>
          </p:txBody>
        </p:sp>
        <p:sp>
          <p:nvSpPr>
            <p:cNvPr id="61" name="TextBox 60">
              <a:extLst>
                <a:ext uri="{FF2B5EF4-FFF2-40B4-BE49-F238E27FC236}">
                  <a16:creationId xmlns:a16="http://schemas.microsoft.com/office/drawing/2014/main" id="{A224963E-6FA7-4942-092F-6A664CE7707F}"/>
                </a:ext>
              </a:extLst>
            </p:cNvPr>
            <p:cNvSpPr txBox="1"/>
            <p:nvPr/>
          </p:nvSpPr>
          <p:spPr>
            <a:xfrm>
              <a:off x="4439202" y="3079022"/>
              <a:ext cx="648000" cy="216000"/>
            </a:xfrm>
            <a:prstGeom prst="rect">
              <a:avLst/>
            </a:prstGeom>
            <a:noFill/>
          </p:spPr>
          <p:txBody>
            <a:bodyPr wrap="square" lIns="0" tIns="0" rIns="0" bIns="0" rtlCol="0" anchor="ctr">
              <a:noAutofit/>
            </a:bodyPr>
            <a:lstStyle/>
            <a:p>
              <a:pPr algn="ctr"/>
              <a:r>
                <a:rPr lang="en-GB" sz="750" b="1" dirty="0">
                  <a:solidFill>
                    <a:schemeClr val="bg1"/>
                  </a:solidFill>
                </a:rPr>
                <a:t>Tue 25 Aug</a:t>
              </a:r>
            </a:p>
          </p:txBody>
        </p:sp>
        <p:grpSp>
          <p:nvGrpSpPr>
            <p:cNvPr id="62" name="Group 61">
              <a:extLst>
                <a:ext uri="{FF2B5EF4-FFF2-40B4-BE49-F238E27FC236}">
                  <a16:creationId xmlns:a16="http://schemas.microsoft.com/office/drawing/2014/main" id="{E0AA2108-D09A-48F7-7570-426F20C85E20}"/>
                </a:ext>
              </a:extLst>
            </p:cNvPr>
            <p:cNvGrpSpPr/>
            <p:nvPr/>
          </p:nvGrpSpPr>
          <p:grpSpPr>
            <a:xfrm>
              <a:off x="4565202" y="3276000"/>
              <a:ext cx="396000" cy="468000"/>
              <a:chOff x="783635" y="1980000"/>
              <a:chExt cx="584667" cy="720000"/>
            </a:xfrm>
          </p:grpSpPr>
          <p:cxnSp>
            <p:nvCxnSpPr>
              <p:cNvPr id="63" name="Straight Connector 62">
                <a:extLst>
                  <a:ext uri="{FF2B5EF4-FFF2-40B4-BE49-F238E27FC236}">
                    <a16:creationId xmlns:a16="http://schemas.microsoft.com/office/drawing/2014/main" id="{FBC31542-7AF1-B2FC-1D82-DC98CDA4B8EF}"/>
                  </a:ext>
                </a:extLst>
              </p:cNvPr>
              <p:cNvCxnSpPr>
                <a:cxnSpLocks/>
              </p:cNvCxnSpPr>
              <p:nvPr/>
            </p:nvCxnSpPr>
            <p:spPr>
              <a:xfrm flipV="1">
                <a:off x="1075969"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5398A9D-BDB0-35F8-8AF3-CBE1F91260F8}"/>
                  </a:ext>
                </a:extLst>
              </p:cNvPr>
              <p:cNvCxnSpPr/>
              <p:nvPr/>
            </p:nvCxnSpPr>
            <p:spPr>
              <a:xfrm>
                <a:off x="783635"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grpSp>
        <p:nvGrpSpPr>
          <p:cNvPr id="107" name="Group 106">
            <a:extLst>
              <a:ext uri="{FF2B5EF4-FFF2-40B4-BE49-F238E27FC236}">
                <a16:creationId xmlns:a16="http://schemas.microsoft.com/office/drawing/2014/main" id="{D697DE92-5DE5-31F3-5DF1-E1A374BC7E12}"/>
              </a:ext>
            </a:extLst>
          </p:cNvPr>
          <p:cNvGrpSpPr/>
          <p:nvPr/>
        </p:nvGrpSpPr>
        <p:grpSpPr>
          <a:xfrm>
            <a:off x="4468258" y="2253734"/>
            <a:ext cx="486000" cy="783000"/>
            <a:chOff x="5957677" y="3004978"/>
            <a:chExt cx="648000" cy="1044000"/>
          </a:xfrm>
        </p:grpSpPr>
        <p:sp>
          <p:nvSpPr>
            <p:cNvPr id="71" name="Rounded Rectangle 243">
              <a:extLst>
                <a:ext uri="{FF2B5EF4-FFF2-40B4-BE49-F238E27FC236}">
                  <a16:creationId xmlns:a16="http://schemas.microsoft.com/office/drawing/2014/main" id="{5B346F20-9DA7-BDAA-B201-2726FC9C8CFB}"/>
                </a:ext>
              </a:extLst>
            </p:cNvPr>
            <p:cNvSpPr/>
            <p:nvPr/>
          </p:nvSpPr>
          <p:spPr>
            <a:xfrm>
              <a:off x="6020677" y="3004978"/>
              <a:ext cx="522000" cy="360000"/>
            </a:xfrm>
            <a:prstGeom prst="roundRect">
              <a:avLst/>
            </a:prstGeom>
            <a:solidFill>
              <a:srgbClr val="CCFF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CCS</a:t>
              </a:r>
            </a:p>
            <a:p>
              <a:pPr algn="ctr">
                <a:lnSpc>
                  <a:spcPts val="900"/>
                </a:lnSpc>
              </a:pPr>
              <a:r>
                <a:rPr lang="en-GB" sz="900" b="1" dirty="0">
                  <a:solidFill>
                    <a:schemeClr val="tx1"/>
                  </a:solidFill>
                </a:rPr>
                <a:t>26.10</a:t>
              </a:r>
            </a:p>
          </p:txBody>
        </p:sp>
        <p:sp>
          <p:nvSpPr>
            <p:cNvPr id="72" name="TextBox 71">
              <a:extLst>
                <a:ext uri="{FF2B5EF4-FFF2-40B4-BE49-F238E27FC236}">
                  <a16:creationId xmlns:a16="http://schemas.microsoft.com/office/drawing/2014/main" id="{9B7D1279-2C54-AC33-60C3-DCB1C4B721C8}"/>
                </a:ext>
              </a:extLst>
            </p:cNvPr>
            <p:cNvSpPr txBox="1"/>
            <p:nvPr/>
          </p:nvSpPr>
          <p:spPr>
            <a:xfrm>
              <a:off x="5957677" y="3384000"/>
              <a:ext cx="648000" cy="216000"/>
            </a:xfrm>
            <a:prstGeom prst="rect">
              <a:avLst/>
            </a:prstGeom>
            <a:noFill/>
          </p:spPr>
          <p:txBody>
            <a:bodyPr wrap="square" lIns="0" tIns="0" rIns="0" bIns="0" rtlCol="0" anchor="ctr">
              <a:noAutofit/>
            </a:bodyPr>
            <a:lstStyle/>
            <a:p>
              <a:pPr algn="ctr"/>
              <a:r>
                <a:rPr lang="en-GB" sz="750" b="1" dirty="0">
                  <a:solidFill>
                    <a:schemeClr val="bg1"/>
                  </a:solidFill>
                </a:rPr>
                <a:t>Tue 6 Oct</a:t>
              </a:r>
            </a:p>
          </p:txBody>
        </p:sp>
        <p:cxnSp>
          <p:nvCxnSpPr>
            <p:cNvPr id="74" name="Straight Connector 73">
              <a:extLst>
                <a:ext uri="{FF2B5EF4-FFF2-40B4-BE49-F238E27FC236}">
                  <a16:creationId xmlns:a16="http://schemas.microsoft.com/office/drawing/2014/main" id="{C5816E87-3263-F3F2-358C-FE4C1AC9A121}"/>
                </a:ext>
              </a:extLst>
            </p:cNvPr>
            <p:cNvCxnSpPr>
              <a:cxnSpLocks/>
            </p:cNvCxnSpPr>
            <p:nvPr/>
          </p:nvCxnSpPr>
          <p:spPr>
            <a:xfrm flipV="1">
              <a:off x="6281677" y="3580978"/>
              <a:ext cx="0" cy="468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cxnSp>
        <p:nvCxnSpPr>
          <p:cNvPr id="75" name="Straight Connector 74">
            <a:extLst>
              <a:ext uri="{FF2B5EF4-FFF2-40B4-BE49-F238E27FC236}">
                <a16:creationId xmlns:a16="http://schemas.microsoft.com/office/drawing/2014/main" id="{72A62796-005C-38C7-B9ED-73937A9803D4}"/>
              </a:ext>
            </a:extLst>
          </p:cNvPr>
          <p:cNvCxnSpPr/>
          <p:nvPr/>
        </p:nvCxnSpPr>
        <p:spPr>
          <a:xfrm>
            <a:off x="4562757" y="2685744"/>
            <a:ext cx="297000"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85B8854E-6268-E985-7744-2C7B0FFF785E}"/>
              </a:ext>
            </a:extLst>
          </p:cNvPr>
          <p:cNvGrpSpPr/>
          <p:nvPr/>
        </p:nvGrpSpPr>
        <p:grpSpPr>
          <a:xfrm>
            <a:off x="5413829" y="2253734"/>
            <a:ext cx="486000" cy="783000"/>
            <a:chOff x="4439202" y="2700000"/>
            <a:chExt cx="648000" cy="1044000"/>
          </a:xfrm>
        </p:grpSpPr>
        <p:sp>
          <p:nvSpPr>
            <p:cNvPr id="77" name="Rounded Rectangle 243">
              <a:extLst>
                <a:ext uri="{FF2B5EF4-FFF2-40B4-BE49-F238E27FC236}">
                  <a16:creationId xmlns:a16="http://schemas.microsoft.com/office/drawing/2014/main" id="{D542DF88-422F-827E-C910-83E808D8586A}"/>
                </a:ext>
              </a:extLst>
            </p:cNvPr>
            <p:cNvSpPr/>
            <p:nvPr/>
          </p:nvSpPr>
          <p:spPr>
            <a:xfrm>
              <a:off x="4502202" y="2700000"/>
              <a:ext cx="522000" cy="360000"/>
            </a:xfrm>
            <a:prstGeom prst="roundRect">
              <a:avLst/>
            </a:prstGeom>
            <a:solidFill>
              <a:srgbClr val="CCFF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CCS</a:t>
              </a:r>
            </a:p>
            <a:p>
              <a:pPr algn="ctr">
                <a:lnSpc>
                  <a:spcPts val="900"/>
                </a:lnSpc>
              </a:pPr>
              <a:r>
                <a:rPr lang="en-GB" sz="900" b="1" dirty="0">
                  <a:solidFill>
                    <a:schemeClr val="tx1"/>
                  </a:solidFill>
                </a:rPr>
                <a:t>26.11</a:t>
              </a:r>
            </a:p>
          </p:txBody>
        </p:sp>
        <p:sp>
          <p:nvSpPr>
            <p:cNvPr id="78" name="TextBox 77">
              <a:extLst>
                <a:ext uri="{FF2B5EF4-FFF2-40B4-BE49-F238E27FC236}">
                  <a16:creationId xmlns:a16="http://schemas.microsoft.com/office/drawing/2014/main" id="{1AA2E08F-5848-647C-F013-D965266BED95}"/>
                </a:ext>
              </a:extLst>
            </p:cNvPr>
            <p:cNvSpPr txBox="1"/>
            <p:nvPr/>
          </p:nvSpPr>
          <p:spPr>
            <a:xfrm>
              <a:off x="4439202" y="3079022"/>
              <a:ext cx="648000" cy="216000"/>
            </a:xfrm>
            <a:prstGeom prst="rect">
              <a:avLst/>
            </a:prstGeom>
            <a:noFill/>
          </p:spPr>
          <p:txBody>
            <a:bodyPr wrap="square" lIns="0" tIns="0" rIns="0" bIns="0" rtlCol="0" anchor="ctr">
              <a:noAutofit/>
            </a:bodyPr>
            <a:lstStyle/>
            <a:p>
              <a:pPr algn="ctr"/>
              <a:r>
                <a:rPr lang="en-GB" sz="750" b="1" dirty="0">
                  <a:solidFill>
                    <a:schemeClr val="bg1"/>
                  </a:solidFill>
                </a:rPr>
                <a:t>Tue 17 Nov</a:t>
              </a:r>
            </a:p>
          </p:txBody>
        </p:sp>
        <p:grpSp>
          <p:nvGrpSpPr>
            <p:cNvPr id="79" name="Group 78">
              <a:extLst>
                <a:ext uri="{FF2B5EF4-FFF2-40B4-BE49-F238E27FC236}">
                  <a16:creationId xmlns:a16="http://schemas.microsoft.com/office/drawing/2014/main" id="{E61BBF2B-5DA0-315A-CA29-79DD589B848B}"/>
                </a:ext>
              </a:extLst>
            </p:cNvPr>
            <p:cNvGrpSpPr/>
            <p:nvPr/>
          </p:nvGrpSpPr>
          <p:grpSpPr>
            <a:xfrm>
              <a:off x="4565201" y="3276000"/>
              <a:ext cx="396000" cy="468000"/>
              <a:chOff x="783634" y="1980000"/>
              <a:chExt cx="584667" cy="720000"/>
            </a:xfrm>
          </p:grpSpPr>
          <p:cxnSp>
            <p:nvCxnSpPr>
              <p:cNvPr id="80" name="Straight Connector 79">
                <a:extLst>
                  <a:ext uri="{FF2B5EF4-FFF2-40B4-BE49-F238E27FC236}">
                    <a16:creationId xmlns:a16="http://schemas.microsoft.com/office/drawing/2014/main" id="{E2557223-7844-DFCE-98E9-F11025CB1C15}"/>
                  </a:ext>
                </a:extLst>
              </p:cNvPr>
              <p:cNvCxnSpPr>
                <a:cxnSpLocks/>
              </p:cNvCxnSpPr>
              <p:nvPr/>
            </p:nvCxnSpPr>
            <p:spPr>
              <a:xfrm flipV="1">
                <a:off x="1075969"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E8E50B3-C088-DB9B-97AF-98BF8755553D}"/>
                  </a:ext>
                </a:extLst>
              </p:cNvPr>
              <p:cNvCxnSpPr/>
              <p:nvPr/>
            </p:nvCxnSpPr>
            <p:spPr>
              <a:xfrm>
                <a:off x="783634"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grpSp>
        <p:nvGrpSpPr>
          <p:cNvPr id="82" name="Group 81">
            <a:extLst>
              <a:ext uri="{FF2B5EF4-FFF2-40B4-BE49-F238E27FC236}">
                <a16:creationId xmlns:a16="http://schemas.microsoft.com/office/drawing/2014/main" id="{E72AF851-8BE9-EB56-9FCC-7D96FF9F39A1}"/>
              </a:ext>
            </a:extLst>
          </p:cNvPr>
          <p:cNvGrpSpPr/>
          <p:nvPr/>
        </p:nvGrpSpPr>
        <p:grpSpPr>
          <a:xfrm>
            <a:off x="6678055" y="2253736"/>
            <a:ext cx="486000" cy="783000"/>
            <a:chOff x="4439202" y="2700000"/>
            <a:chExt cx="648000" cy="1044000"/>
          </a:xfrm>
        </p:grpSpPr>
        <p:sp>
          <p:nvSpPr>
            <p:cNvPr id="83" name="Rounded Rectangle 243">
              <a:extLst>
                <a:ext uri="{FF2B5EF4-FFF2-40B4-BE49-F238E27FC236}">
                  <a16:creationId xmlns:a16="http://schemas.microsoft.com/office/drawing/2014/main" id="{E2878D89-A036-B7B8-704B-438172EA0FD3}"/>
                </a:ext>
              </a:extLst>
            </p:cNvPr>
            <p:cNvSpPr/>
            <p:nvPr/>
          </p:nvSpPr>
          <p:spPr>
            <a:xfrm>
              <a:off x="4502202" y="2700000"/>
              <a:ext cx="522000" cy="360000"/>
            </a:xfrm>
            <a:prstGeom prst="roundRect">
              <a:avLst/>
            </a:prstGeom>
            <a:solidFill>
              <a:srgbClr val="CCFF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CCS</a:t>
              </a:r>
            </a:p>
            <a:p>
              <a:pPr algn="ctr">
                <a:lnSpc>
                  <a:spcPts val="900"/>
                </a:lnSpc>
              </a:pPr>
              <a:r>
                <a:rPr lang="en-GB" sz="900" b="1" dirty="0">
                  <a:solidFill>
                    <a:schemeClr val="tx1"/>
                  </a:solidFill>
                </a:rPr>
                <a:t>27.1</a:t>
              </a:r>
            </a:p>
          </p:txBody>
        </p:sp>
        <p:sp>
          <p:nvSpPr>
            <p:cNvPr id="84" name="TextBox 83">
              <a:extLst>
                <a:ext uri="{FF2B5EF4-FFF2-40B4-BE49-F238E27FC236}">
                  <a16:creationId xmlns:a16="http://schemas.microsoft.com/office/drawing/2014/main" id="{6AFA026A-ADFB-3FA8-501C-F29B8F034E16}"/>
                </a:ext>
              </a:extLst>
            </p:cNvPr>
            <p:cNvSpPr txBox="1"/>
            <p:nvPr/>
          </p:nvSpPr>
          <p:spPr>
            <a:xfrm>
              <a:off x="4439202" y="3079019"/>
              <a:ext cx="648000" cy="216000"/>
            </a:xfrm>
            <a:prstGeom prst="rect">
              <a:avLst/>
            </a:prstGeom>
            <a:noFill/>
          </p:spPr>
          <p:txBody>
            <a:bodyPr wrap="square" lIns="0" tIns="0" rIns="0" bIns="0" rtlCol="0" anchor="ctr">
              <a:noAutofit/>
            </a:bodyPr>
            <a:lstStyle/>
            <a:p>
              <a:pPr algn="ctr"/>
              <a:r>
                <a:rPr lang="en-GB" sz="750" b="1" dirty="0">
                  <a:solidFill>
                    <a:schemeClr val="bg1"/>
                  </a:solidFill>
                </a:rPr>
                <a:t>Tue 12 Jan</a:t>
              </a:r>
            </a:p>
          </p:txBody>
        </p:sp>
        <p:grpSp>
          <p:nvGrpSpPr>
            <p:cNvPr id="85" name="Group 84">
              <a:extLst>
                <a:ext uri="{FF2B5EF4-FFF2-40B4-BE49-F238E27FC236}">
                  <a16:creationId xmlns:a16="http://schemas.microsoft.com/office/drawing/2014/main" id="{ECD55DA3-4834-D942-881E-D411A9E7B17D}"/>
                </a:ext>
              </a:extLst>
            </p:cNvPr>
            <p:cNvGrpSpPr/>
            <p:nvPr/>
          </p:nvGrpSpPr>
          <p:grpSpPr>
            <a:xfrm>
              <a:off x="4565201" y="3276000"/>
              <a:ext cx="396000" cy="468000"/>
              <a:chOff x="783634" y="1980000"/>
              <a:chExt cx="584667" cy="720000"/>
            </a:xfrm>
          </p:grpSpPr>
          <p:cxnSp>
            <p:nvCxnSpPr>
              <p:cNvPr id="86" name="Straight Connector 85">
                <a:extLst>
                  <a:ext uri="{FF2B5EF4-FFF2-40B4-BE49-F238E27FC236}">
                    <a16:creationId xmlns:a16="http://schemas.microsoft.com/office/drawing/2014/main" id="{70114EBB-BF04-C8E5-6A89-EDDB1F4ADEA6}"/>
                  </a:ext>
                </a:extLst>
              </p:cNvPr>
              <p:cNvCxnSpPr>
                <a:cxnSpLocks/>
              </p:cNvCxnSpPr>
              <p:nvPr/>
            </p:nvCxnSpPr>
            <p:spPr>
              <a:xfrm flipV="1">
                <a:off x="1075969"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70241C5-6553-D19A-F357-B18CB2C41D13}"/>
                  </a:ext>
                </a:extLst>
              </p:cNvPr>
              <p:cNvCxnSpPr/>
              <p:nvPr/>
            </p:nvCxnSpPr>
            <p:spPr>
              <a:xfrm>
                <a:off x="783634"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grpSp>
        <p:nvGrpSpPr>
          <p:cNvPr id="88" name="Group 87">
            <a:extLst>
              <a:ext uri="{FF2B5EF4-FFF2-40B4-BE49-F238E27FC236}">
                <a16:creationId xmlns:a16="http://schemas.microsoft.com/office/drawing/2014/main" id="{F2B7F2BF-9937-2F21-E2F9-84C465E3C043}"/>
              </a:ext>
            </a:extLst>
          </p:cNvPr>
          <p:cNvGrpSpPr/>
          <p:nvPr/>
        </p:nvGrpSpPr>
        <p:grpSpPr>
          <a:xfrm>
            <a:off x="7640944" y="2253737"/>
            <a:ext cx="486000" cy="783000"/>
            <a:chOff x="4439202" y="2700000"/>
            <a:chExt cx="648000" cy="1044000"/>
          </a:xfrm>
        </p:grpSpPr>
        <p:sp>
          <p:nvSpPr>
            <p:cNvPr id="89" name="Rounded Rectangle 243">
              <a:extLst>
                <a:ext uri="{FF2B5EF4-FFF2-40B4-BE49-F238E27FC236}">
                  <a16:creationId xmlns:a16="http://schemas.microsoft.com/office/drawing/2014/main" id="{35F8ACF5-3A01-0AC7-68D0-1F1DB2E43967}"/>
                </a:ext>
              </a:extLst>
            </p:cNvPr>
            <p:cNvSpPr/>
            <p:nvPr/>
          </p:nvSpPr>
          <p:spPr>
            <a:xfrm>
              <a:off x="4502202" y="2700000"/>
              <a:ext cx="522000" cy="360000"/>
            </a:xfrm>
            <a:prstGeom prst="roundRect">
              <a:avLst/>
            </a:prstGeom>
            <a:solidFill>
              <a:srgbClr val="CCFF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CCS</a:t>
              </a:r>
            </a:p>
            <a:p>
              <a:pPr algn="ctr">
                <a:lnSpc>
                  <a:spcPts val="900"/>
                </a:lnSpc>
              </a:pPr>
              <a:r>
                <a:rPr lang="en-GB" sz="900" b="1" dirty="0">
                  <a:solidFill>
                    <a:schemeClr val="tx1"/>
                  </a:solidFill>
                </a:rPr>
                <a:t>27.2</a:t>
              </a:r>
            </a:p>
          </p:txBody>
        </p:sp>
        <p:sp>
          <p:nvSpPr>
            <p:cNvPr id="90" name="TextBox 89">
              <a:extLst>
                <a:ext uri="{FF2B5EF4-FFF2-40B4-BE49-F238E27FC236}">
                  <a16:creationId xmlns:a16="http://schemas.microsoft.com/office/drawing/2014/main" id="{E2B40C2B-0613-FBB6-9F5B-0B31ADED2C58}"/>
                </a:ext>
              </a:extLst>
            </p:cNvPr>
            <p:cNvSpPr txBox="1"/>
            <p:nvPr/>
          </p:nvSpPr>
          <p:spPr>
            <a:xfrm>
              <a:off x="4439202" y="3079018"/>
              <a:ext cx="648000" cy="216000"/>
            </a:xfrm>
            <a:prstGeom prst="rect">
              <a:avLst/>
            </a:prstGeom>
            <a:noFill/>
          </p:spPr>
          <p:txBody>
            <a:bodyPr wrap="square" lIns="0" tIns="0" rIns="0" bIns="0" rtlCol="0" anchor="ctr">
              <a:noAutofit/>
            </a:bodyPr>
            <a:lstStyle/>
            <a:p>
              <a:pPr algn="ctr"/>
              <a:r>
                <a:rPr lang="en-GB" sz="750" b="1" dirty="0">
                  <a:solidFill>
                    <a:schemeClr val="bg1"/>
                  </a:solidFill>
                </a:rPr>
                <a:t>Tue 23 Feb</a:t>
              </a:r>
            </a:p>
          </p:txBody>
        </p:sp>
        <p:grpSp>
          <p:nvGrpSpPr>
            <p:cNvPr id="91" name="Group 90">
              <a:extLst>
                <a:ext uri="{FF2B5EF4-FFF2-40B4-BE49-F238E27FC236}">
                  <a16:creationId xmlns:a16="http://schemas.microsoft.com/office/drawing/2014/main" id="{2B48DA49-3780-A15B-9E7A-E69EB99EF935}"/>
                </a:ext>
              </a:extLst>
            </p:cNvPr>
            <p:cNvGrpSpPr/>
            <p:nvPr/>
          </p:nvGrpSpPr>
          <p:grpSpPr>
            <a:xfrm>
              <a:off x="4565201" y="3276000"/>
              <a:ext cx="396000" cy="468000"/>
              <a:chOff x="783634" y="1980000"/>
              <a:chExt cx="584667" cy="720000"/>
            </a:xfrm>
          </p:grpSpPr>
          <p:cxnSp>
            <p:nvCxnSpPr>
              <p:cNvPr id="92" name="Straight Connector 91">
                <a:extLst>
                  <a:ext uri="{FF2B5EF4-FFF2-40B4-BE49-F238E27FC236}">
                    <a16:creationId xmlns:a16="http://schemas.microsoft.com/office/drawing/2014/main" id="{0B5E6261-F975-5BC4-9DD4-39C358398608}"/>
                  </a:ext>
                </a:extLst>
              </p:cNvPr>
              <p:cNvCxnSpPr>
                <a:cxnSpLocks/>
              </p:cNvCxnSpPr>
              <p:nvPr/>
            </p:nvCxnSpPr>
            <p:spPr>
              <a:xfrm flipV="1">
                <a:off x="1075969"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4E7C8027-70FA-0748-21BB-0640AF0C8DCF}"/>
                  </a:ext>
                </a:extLst>
              </p:cNvPr>
              <p:cNvCxnSpPr/>
              <p:nvPr/>
            </p:nvCxnSpPr>
            <p:spPr>
              <a:xfrm>
                <a:off x="783634"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grpSp>
        <p:nvGrpSpPr>
          <p:cNvPr id="94" name="Group 93">
            <a:extLst>
              <a:ext uri="{FF2B5EF4-FFF2-40B4-BE49-F238E27FC236}">
                <a16:creationId xmlns:a16="http://schemas.microsoft.com/office/drawing/2014/main" id="{8F08E82D-A9F0-91D6-B61E-44003E45D669}"/>
              </a:ext>
            </a:extLst>
          </p:cNvPr>
          <p:cNvGrpSpPr/>
          <p:nvPr/>
        </p:nvGrpSpPr>
        <p:grpSpPr>
          <a:xfrm>
            <a:off x="8640000" y="2254500"/>
            <a:ext cx="486000" cy="783000"/>
            <a:chOff x="4439202" y="2717033"/>
            <a:chExt cx="648000" cy="1044000"/>
          </a:xfrm>
        </p:grpSpPr>
        <p:sp>
          <p:nvSpPr>
            <p:cNvPr id="95" name="Rounded Rectangle 243">
              <a:extLst>
                <a:ext uri="{FF2B5EF4-FFF2-40B4-BE49-F238E27FC236}">
                  <a16:creationId xmlns:a16="http://schemas.microsoft.com/office/drawing/2014/main" id="{BB736A3C-43A0-4341-3FDF-2D761D10073E}"/>
                </a:ext>
              </a:extLst>
            </p:cNvPr>
            <p:cNvSpPr/>
            <p:nvPr/>
          </p:nvSpPr>
          <p:spPr>
            <a:xfrm>
              <a:off x="4502202" y="2717033"/>
              <a:ext cx="522000" cy="360000"/>
            </a:xfrm>
            <a:prstGeom prst="roundRect">
              <a:avLst/>
            </a:prstGeom>
            <a:solidFill>
              <a:srgbClr val="CCFF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CCS</a:t>
              </a:r>
            </a:p>
            <a:p>
              <a:pPr algn="ctr">
                <a:lnSpc>
                  <a:spcPts val="900"/>
                </a:lnSpc>
              </a:pPr>
              <a:r>
                <a:rPr lang="en-GB" sz="900" b="1" dirty="0">
                  <a:solidFill>
                    <a:schemeClr val="tx1"/>
                  </a:solidFill>
                </a:rPr>
                <a:t>27.4</a:t>
              </a:r>
            </a:p>
          </p:txBody>
        </p:sp>
        <p:sp>
          <p:nvSpPr>
            <p:cNvPr id="96" name="TextBox 95">
              <a:extLst>
                <a:ext uri="{FF2B5EF4-FFF2-40B4-BE49-F238E27FC236}">
                  <a16:creationId xmlns:a16="http://schemas.microsoft.com/office/drawing/2014/main" id="{41A79CB3-9997-901B-A962-C4D00B2D6EC0}"/>
                </a:ext>
              </a:extLst>
            </p:cNvPr>
            <p:cNvSpPr txBox="1"/>
            <p:nvPr/>
          </p:nvSpPr>
          <p:spPr>
            <a:xfrm>
              <a:off x="4439202" y="3096000"/>
              <a:ext cx="648000" cy="216000"/>
            </a:xfrm>
            <a:prstGeom prst="rect">
              <a:avLst/>
            </a:prstGeom>
            <a:noFill/>
          </p:spPr>
          <p:txBody>
            <a:bodyPr wrap="square" lIns="0" tIns="0" rIns="0" bIns="0" rtlCol="0" anchor="ctr">
              <a:noAutofit/>
            </a:bodyPr>
            <a:lstStyle/>
            <a:p>
              <a:pPr algn="ctr"/>
              <a:r>
                <a:rPr lang="en-GB" sz="750" b="1" dirty="0">
                  <a:solidFill>
                    <a:schemeClr val="bg1"/>
                  </a:solidFill>
                </a:rPr>
                <a:t>Tue 6 Apr</a:t>
              </a:r>
            </a:p>
          </p:txBody>
        </p:sp>
        <p:grpSp>
          <p:nvGrpSpPr>
            <p:cNvPr id="97" name="Group 96">
              <a:extLst>
                <a:ext uri="{FF2B5EF4-FFF2-40B4-BE49-F238E27FC236}">
                  <a16:creationId xmlns:a16="http://schemas.microsoft.com/office/drawing/2014/main" id="{BE3F2C3D-FA39-C6EB-ADFF-4FE1E0E7276B}"/>
                </a:ext>
              </a:extLst>
            </p:cNvPr>
            <p:cNvGrpSpPr/>
            <p:nvPr/>
          </p:nvGrpSpPr>
          <p:grpSpPr>
            <a:xfrm>
              <a:off x="4565201" y="3293033"/>
              <a:ext cx="396000" cy="468000"/>
              <a:chOff x="783634" y="2006206"/>
              <a:chExt cx="584667" cy="720000"/>
            </a:xfrm>
          </p:grpSpPr>
          <p:cxnSp>
            <p:nvCxnSpPr>
              <p:cNvPr id="98" name="Straight Connector 97">
                <a:extLst>
                  <a:ext uri="{FF2B5EF4-FFF2-40B4-BE49-F238E27FC236}">
                    <a16:creationId xmlns:a16="http://schemas.microsoft.com/office/drawing/2014/main" id="{FA2319BF-C551-7176-F511-DBD53B37E754}"/>
                  </a:ext>
                </a:extLst>
              </p:cNvPr>
              <p:cNvCxnSpPr>
                <a:cxnSpLocks/>
              </p:cNvCxnSpPr>
              <p:nvPr/>
            </p:nvCxnSpPr>
            <p:spPr>
              <a:xfrm flipV="1">
                <a:off x="1075969" y="2006206"/>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BCD38C15-3C40-34FB-F754-0B119C178B1D}"/>
                  </a:ext>
                </a:extLst>
              </p:cNvPr>
              <p:cNvCxnSpPr/>
              <p:nvPr/>
            </p:nvCxnSpPr>
            <p:spPr>
              <a:xfrm>
                <a:off x="783634" y="2008440"/>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sp>
        <p:nvSpPr>
          <p:cNvPr id="100" name="TextBox 99">
            <a:extLst>
              <a:ext uri="{FF2B5EF4-FFF2-40B4-BE49-F238E27FC236}">
                <a16:creationId xmlns:a16="http://schemas.microsoft.com/office/drawing/2014/main" id="{21EF251B-265D-EC0B-E8AB-82535BD61545}"/>
              </a:ext>
            </a:extLst>
          </p:cNvPr>
          <p:cNvSpPr txBox="1"/>
          <p:nvPr/>
        </p:nvSpPr>
        <p:spPr>
          <a:xfrm>
            <a:off x="270000" y="4752000"/>
            <a:ext cx="7498937" cy="200891"/>
          </a:xfrm>
          <a:prstGeom prst="rect">
            <a:avLst/>
          </a:prstGeom>
        </p:spPr>
        <p:txBody>
          <a:bodyPr wrap="square" lIns="0" tIns="0" rIns="0" bIns="0" rtlCol="0">
            <a:noAutofit/>
          </a:bodyPr>
          <a:lstStyle/>
          <a:p>
            <a:r>
              <a:rPr lang="en-GB" sz="825" b="1" i="1" dirty="0">
                <a:latin typeface="Vodafone Rg" pitchFamily="34" charset="0"/>
              </a:rPr>
              <a:t>Shape Key:  Light Blue = CCSXpress,  Light Green = CCS Helix, No Shape = Stability Drop, Gold = ECS, Pink = Digital, Purple = Transition</a:t>
            </a:r>
          </a:p>
        </p:txBody>
      </p:sp>
      <p:grpSp>
        <p:nvGrpSpPr>
          <p:cNvPr id="110" name="Group 109">
            <a:extLst>
              <a:ext uri="{FF2B5EF4-FFF2-40B4-BE49-F238E27FC236}">
                <a16:creationId xmlns:a16="http://schemas.microsoft.com/office/drawing/2014/main" id="{0E635DDD-3448-7D58-8137-CD43A2DFD152}"/>
              </a:ext>
            </a:extLst>
          </p:cNvPr>
          <p:cNvGrpSpPr/>
          <p:nvPr/>
        </p:nvGrpSpPr>
        <p:grpSpPr>
          <a:xfrm>
            <a:off x="4943867" y="2487957"/>
            <a:ext cx="486000" cy="571516"/>
            <a:chOff x="6591823" y="3317275"/>
            <a:chExt cx="648000" cy="762021"/>
          </a:xfrm>
        </p:grpSpPr>
        <p:grpSp>
          <p:nvGrpSpPr>
            <p:cNvPr id="153" name="Group 152">
              <a:extLst>
                <a:ext uri="{FF2B5EF4-FFF2-40B4-BE49-F238E27FC236}">
                  <a16:creationId xmlns:a16="http://schemas.microsoft.com/office/drawing/2014/main" id="{F4E4689A-EC7B-D8C6-F97F-B332F4E06C85}"/>
                </a:ext>
              </a:extLst>
            </p:cNvPr>
            <p:cNvGrpSpPr/>
            <p:nvPr/>
          </p:nvGrpSpPr>
          <p:grpSpPr>
            <a:xfrm>
              <a:off x="6591823" y="3636000"/>
              <a:ext cx="648000" cy="443296"/>
              <a:chOff x="5321417" y="3636944"/>
              <a:chExt cx="648000" cy="443296"/>
            </a:xfrm>
          </p:grpSpPr>
          <p:sp>
            <p:nvSpPr>
              <p:cNvPr id="154" name="TextBox 153">
                <a:extLst>
                  <a:ext uri="{FF2B5EF4-FFF2-40B4-BE49-F238E27FC236}">
                    <a16:creationId xmlns:a16="http://schemas.microsoft.com/office/drawing/2014/main" id="{3066B3C7-A9F9-F8B7-6ADE-6B5C7718AC54}"/>
                  </a:ext>
                </a:extLst>
              </p:cNvPr>
              <p:cNvSpPr txBox="1"/>
              <p:nvPr/>
            </p:nvSpPr>
            <p:spPr>
              <a:xfrm>
                <a:off x="5321417" y="3636944"/>
                <a:ext cx="648000" cy="180000"/>
              </a:xfrm>
              <a:prstGeom prst="rect">
                <a:avLst/>
              </a:prstGeom>
              <a:noFill/>
            </p:spPr>
            <p:txBody>
              <a:bodyPr wrap="square" lIns="0" tIns="0" rIns="0" bIns="0" rtlCol="0" anchor="ctr">
                <a:noAutofit/>
              </a:bodyPr>
              <a:lstStyle/>
              <a:p>
                <a:pPr algn="ctr"/>
                <a:r>
                  <a:rPr lang="en-GB" sz="750" b="1" dirty="0">
                    <a:solidFill>
                      <a:schemeClr val="bg1"/>
                    </a:solidFill>
                  </a:rPr>
                  <a:t>Tue 27 Oct</a:t>
                </a:r>
              </a:p>
            </p:txBody>
          </p:sp>
          <p:cxnSp>
            <p:nvCxnSpPr>
              <p:cNvPr id="155" name="Straight Connector 154">
                <a:extLst>
                  <a:ext uri="{FF2B5EF4-FFF2-40B4-BE49-F238E27FC236}">
                    <a16:creationId xmlns:a16="http://schemas.microsoft.com/office/drawing/2014/main" id="{0B8C42A1-0306-FD3A-2EED-BEBE50A71035}"/>
                  </a:ext>
                </a:extLst>
              </p:cNvPr>
              <p:cNvCxnSpPr>
                <a:cxnSpLocks/>
              </p:cNvCxnSpPr>
              <p:nvPr/>
            </p:nvCxnSpPr>
            <p:spPr>
              <a:xfrm flipV="1">
                <a:off x="5645417" y="3816944"/>
                <a:ext cx="0" cy="263296"/>
              </a:xfrm>
              <a:prstGeom prst="line">
                <a:avLst/>
              </a:prstGeom>
              <a:ln>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71DBE40F-9F7E-FCB6-BF88-CCBEAA407772}"/>
                  </a:ext>
                </a:extLst>
              </p:cNvPr>
              <p:cNvCxnSpPr>
                <a:cxnSpLocks/>
              </p:cNvCxnSpPr>
              <p:nvPr/>
            </p:nvCxnSpPr>
            <p:spPr>
              <a:xfrm>
                <a:off x="5447417" y="3816944"/>
                <a:ext cx="396000" cy="0"/>
              </a:xfrm>
              <a:prstGeom prst="line">
                <a:avLst/>
              </a:prstGeom>
              <a:ln>
                <a:solidFill>
                  <a:srgbClr val="F49EA4"/>
                </a:solidFill>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434BFCAA-6167-705F-BE1C-95059B465D52}"/>
                </a:ext>
              </a:extLst>
            </p:cNvPr>
            <p:cNvSpPr txBox="1"/>
            <p:nvPr/>
          </p:nvSpPr>
          <p:spPr>
            <a:xfrm>
              <a:off x="6681823" y="3317275"/>
              <a:ext cx="468000" cy="360000"/>
            </a:xfrm>
            <a:prstGeom prst="rect">
              <a:avLst/>
            </a:prstGeom>
          </p:spPr>
          <p:txBody>
            <a:bodyPr wrap="square" lIns="0" tIns="0" rIns="0" bIns="0" rtlCol="0">
              <a:noAutofit/>
            </a:bodyPr>
            <a:lstStyle/>
            <a:p>
              <a:pPr algn="ctr"/>
              <a:r>
                <a:rPr lang="en-GB" sz="825" b="1" dirty="0">
                  <a:solidFill>
                    <a:schemeClr val="accent5">
                      <a:lumMod val="20000"/>
                      <a:lumOff val="80000"/>
                    </a:schemeClr>
                  </a:solidFill>
                  <a:latin typeface="Vodafone Rg" pitchFamily="34" charset="0"/>
                </a:rPr>
                <a:t>SD</a:t>
              </a:r>
            </a:p>
            <a:p>
              <a:pPr algn="ctr"/>
              <a:r>
                <a:rPr lang="en-GB" sz="825" b="1" dirty="0">
                  <a:solidFill>
                    <a:schemeClr val="accent5">
                      <a:lumMod val="20000"/>
                      <a:lumOff val="80000"/>
                    </a:schemeClr>
                  </a:solidFill>
                  <a:latin typeface="Vodafone Rg" pitchFamily="34" charset="0"/>
                </a:rPr>
                <a:t>26.10</a:t>
              </a:r>
            </a:p>
          </p:txBody>
        </p:sp>
      </p:grpSp>
      <p:grpSp>
        <p:nvGrpSpPr>
          <p:cNvPr id="111" name="Group 110">
            <a:extLst>
              <a:ext uri="{FF2B5EF4-FFF2-40B4-BE49-F238E27FC236}">
                <a16:creationId xmlns:a16="http://schemas.microsoft.com/office/drawing/2014/main" id="{AB7BF51D-5226-10E3-DDDA-A95FBDBB1870}"/>
              </a:ext>
            </a:extLst>
          </p:cNvPr>
          <p:cNvGrpSpPr/>
          <p:nvPr/>
        </p:nvGrpSpPr>
        <p:grpSpPr>
          <a:xfrm>
            <a:off x="5910222" y="2487957"/>
            <a:ext cx="486000" cy="571516"/>
            <a:chOff x="7880296" y="3317275"/>
            <a:chExt cx="648000" cy="762021"/>
          </a:xfrm>
        </p:grpSpPr>
        <p:grpSp>
          <p:nvGrpSpPr>
            <p:cNvPr id="158" name="Group 157">
              <a:extLst>
                <a:ext uri="{FF2B5EF4-FFF2-40B4-BE49-F238E27FC236}">
                  <a16:creationId xmlns:a16="http://schemas.microsoft.com/office/drawing/2014/main" id="{3403CED6-A578-A8B7-586C-E845E40A5B2B}"/>
                </a:ext>
              </a:extLst>
            </p:cNvPr>
            <p:cNvGrpSpPr/>
            <p:nvPr/>
          </p:nvGrpSpPr>
          <p:grpSpPr>
            <a:xfrm>
              <a:off x="7880296" y="3636000"/>
              <a:ext cx="648000" cy="443296"/>
              <a:chOff x="5321417" y="3636944"/>
              <a:chExt cx="648000" cy="443296"/>
            </a:xfrm>
          </p:grpSpPr>
          <p:sp>
            <p:nvSpPr>
              <p:cNvPr id="160" name="TextBox 159">
                <a:extLst>
                  <a:ext uri="{FF2B5EF4-FFF2-40B4-BE49-F238E27FC236}">
                    <a16:creationId xmlns:a16="http://schemas.microsoft.com/office/drawing/2014/main" id="{5C68EB35-C341-D674-5D34-5ECDABB4CF44}"/>
                  </a:ext>
                </a:extLst>
              </p:cNvPr>
              <p:cNvSpPr txBox="1"/>
              <p:nvPr/>
            </p:nvSpPr>
            <p:spPr>
              <a:xfrm>
                <a:off x="5321417" y="3636944"/>
                <a:ext cx="648000" cy="180000"/>
              </a:xfrm>
              <a:prstGeom prst="rect">
                <a:avLst/>
              </a:prstGeom>
              <a:noFill/>
            </p:spPr>
            <p:txBody>
              <a:bodyPr wrap="square" lIns="0" tIns="0" rIns="0" bIns="0" rtlCol="0" anchor="ctr">
                <a:noAutofit/>
              </a:bodyPr>
              <a:lstStyle/>
              <a:p>
                <a:pPr algn="ctr"/>
                <a:r>
                  <a:rPr lang="en-GB" sz="750" b="1" dirty="0">
                    <a:solidFill>
                      <a:schemeClr val="bg1"/>
                    </a:solidFill>
                  </a:rPr>
                  <a:t>Tue 8 Dec</a:t>
                </a:r>
              </a:p>
            </p:txBody>
          </p:sp>
          <p:cxnSp>
            <p:nvCxnSpPr>
              <p:cNvPr id="161" name="Straight Connector 160">
                <a:extLst>
                  <a:ext uri="{FF2B5EF4-FFF2-40B4-BE49-F238E27FC236}">
                    <a16:creationId xmlns:a16="http://schemas.microsoft.com/office/drawing/2014/main" id="{12E754AB-F015-4EB6-0D09-274F8E7B9512}"/>
                  </a:ext>
                </a:extLst>
              </p:cNvPr>
              <p:cNvCxnSpPr>
                <a:cxnSpLocks/>
              </p:cNvCxnSpPr>
              <p:nvPr/>
            </p:nvCxnSpPr>
            <p:spPr>
              <a:xfrm flipV="1">
                <a:off x="5645417" y="3816944"/>
                <a:ext cx="0" cy="263296"/>
              </a:xfrm>
              <a:prstGeom prst="line">
                <a:avLst/>
              </a:prstGeom>
              <a:ln>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93EAE206-3378-A0EF-AA35-73E3E4963DBA}"/>
                  </a:ext>
                </a:extLst>
              </p:cNvPr>
              <p:cNvCxnSpPr>
                <a:cxnSpLocks/>
              </p:cNvCxnSpPr>
              <p:nvPr/>
            </p:nvCxnSpPr>
            <p:spPr>
              <a:xfrm>
                <a:off x="5447417" y="3816944"/>
                <a:ext cx="396000" cy="0"/>
              </a:xfrm>
              <a:prstGeom prst="line">
                <a:avLst/>
              </a:prstGeom>
              <a:ln>
                <a:solidFill>
                  <a:srgbClr val="F49EA4"/>
                </a:solidFill>
              </a:ln>
            </p:spPr>
            <p:style>
              <a:lnRef idx="1">
                <a:schemeClr val="accent1"/>
              </a:lnRef>
              <a:fillRef idx="0">
                <a:schemeClr val="accent1"/>
              </a:fillRef>
              <a:effectRef idx="0">
                <a:schemeClr val="accent1"/>
              </a:effectRef>
              <a:fontRef idx="minor">
                <a:schemeClr val="tx1"/>
              </a:fontRef>
            </p:style>
          </p:cxnSp>
        </p:grpSp>
        <p:sp>
          <p:nvSpPr>
            <p:cNvPr id="58" name="TextBox 57">
              <a:extLst>
                <a:ext uri="{FF2B5EF4-FFF2-40B4-BE49-F238E27FC236}">
                  <a16:creationId xmlns:a16="http://schemas.microsoft.com/office/drawing/2014/main" id="{BB915933-7A01-358F-10E8-C61DD2575E4A}"/>
                </a:ext>
              </a:extLst>
            </p:cNvPr>
            <p:cNvSpPr txBox="1"/>
            <p:nvPr/>
          </p:nvSpPr>
          <p:spPr>
            <a:xfrm>
              <a:off x="7970296" y="3317275"/>
              <a:ext cx="468000" cy="360000"/>
            </a:xfrm>
            <a:prstGeom prst="rect">
              <a:avLst/>
            </a:prstGeom>
          </p:spPr>
          <p:txBody>
            <a:bodyPr wrap="square" lIns="0" tIns="0" rIns="0" bIns="0" rtlCol="0">
              <a:noAutofit/>
            </a:bodyPr>
            <a:lstStyle/>
            <a:p>
              <a:pPr algn="ctr"/>
              <a:r>
                <a:rPr lang="en-GB" sz="825" b="1" dirty="0">
                  <a:solidFill>
                    <a:schemeClr val="accent5">
                      <a:lumMod val="20000"/>
                      <a:lumOff val="80000"/>
                    </a:schemeClr>
                  </a:solidFill>
                  <a:latin typeface="Vodafone Rg" pitchFamily="34" charset="0"/>
                </a:rPr>
                <a:t>SD</a:t>
              </a:r>
            </a:p>
            <a:p>
              <a:pPr algn="ctr"/>
              <a:r>
                <a:rPr lang="en-GB" sz="825" b="1" dirty="0">
                  <a:solidFill>
                    <a:schemeClr val="accent5">
                      <a:lumMod val="20000"/>
                      <a:lumOff val="80000"/>
                    </a:schemeClr>
                  </a:solidFill>
                  <a:latin typeface="Vodafone Rg" pitchFamily="34" charset="0"/>
                </a:rPr>
                <a:t>26.12</a:t>
              </a:r>
            </a:p>
          </p:txBody>
        </p:sp>
      </p:grpSp>
      <p:grpSp>
        <p:nvGrpSpPr>
          <p:cNvPr id="113" name="Group 112">
            <a:extLst>
              <a:ext uri="{FF2B5EF4-FFF2-40B4-BE49-F238E27FC236}">
                <a16:creationId xmlns:a16="http://schemas.microsoft.com/office/drawing/2014/main" id="{E002A2B0-D021-B90A-4633-8D64BAD8ECE4}"/>
              </a:ext>
            </a:extLst>
          </p:cNvPr>
          <p:cNvGrpSpPr/>
          <p:nvPr/>
        </p:nvGrpSpPr>
        <p:grpSpPr>
          <a:xfrm>
            <a:off x="8154659" y="2487957"/>
            <a:ext cx="486000" cy="571516"/>
            <a:chOff x="10872878" y="3317275"/>
            <a:chExt cx="648000" cy="762021"/>
          </a:xfrm>
        </p:grpSpPr>
        <p:grpSp>
          <p:nvGrpSpPr>
            <p:cNvPr id="171" name="Group 170">
              <a:extLst>
                <a:ext uri="{FF2B5EF4-FFF2-40B4-BE49-F238E27FC236}">
                  <a16:creationId xmlns:a16="http://schemas.microsoft.com/office/drawing/2014/main" id="{CF14E5ED-982E-7589-D855-77E968A0CC62}"/>
                </a:ext>
              </a:extLst>
            </p:cNvPr>
            <p:cNvGrpSpPr/>
            <p:nvPr/>
          </p:nvGrpSpPr>
          <p:grpSpPr>
            <a:xfrm>
              <a:off x="10872878" y="3636000"/>
              <a:ext cx="648000" cy="443296"/>
              <a:chOff x="5321417" y="3636944"/>
              <a:chExt cx="648000" cy="443296"/>
            </a:xfrm>
          </p:grpSpPr>
          <p:sp>
            <p:nvSpPr>
              <p:cNvPr id="173" name="TextBox 172">
                <a:extLst>
                  <a:ext uri="{FF2B5EF4-FFF2-40B4-BE49-F238E27FC236}">
                    <a16:creationId xmlns:a16="http://schemas.microsoft.com/office/drawing/2014/main" id="{5C9AAB4B-E98E-E784-D966-FF25AF3096C9}"/>
                  </a:ext>
                </a:extLst>
              </p:cNvPr>
              <p:cNvSpPr txBox="1"/>
              <p:nvPr/>
            </p:nvSpPr>
            <p:spPr>
              <a:xfrm>
                <a:off x="5321417" y="3636944"/>
                <a:ext cx="648000" cy="180000"/>
              </a:xfrm>
              <a:prstGeom prst="rect">
                <a:avLst/>
              </a:prstGeom>
              <a:noFill/>
            </p:spPr>
            <p:txBody>
              <a:bodyPr wrap="square" lIns="0" tIns="0" rIns="0" bIns="0" rtlCol="0" anchor="ctr">
                <a:noAutofit/>
              </a:bodyPr>
              <a:lstStyle/>
              <a:p>
                <a:pPr algn="ctr"/>
                <a:r>
                  <a:rPr lang="en-GB" sz="750" b="1" dirty="0">
                    <a:solidFill>
                      <a:schemeClr val="bg1"/>
                    </a:solidFill>
                  </a:rPr>
                  <a:t>Tue 16 Mar</a:t>
                </a:r>
              </a:p>
            </p:txBody>
          </p:sp>
          <p:cxnSp>
            <p:nvCxnSpPr>
              <p:cNvPr id="174" name="Straight Connector 173">
                <a:extLst>
                  <a:ext uri="{FF2B5EF4-FFF2-40B4-BE49-F238E27FC236}">
                    <a16:creationId xmlns:a16="http://schemas.microsoft.com/office/drawing/2014/main" id="{6455C2D9-EF16-BDE4-9787-8D2D47BBCD6B}"/>
                  </a:ext>
                </a:extLst>
              </p:cNvPr>
              <p:cNvCxnSpPr>
                <a:cxnSpLocks/>
              </p:cNvCxnSpPr>
              <p:nvPr/>
            </p:nvCxnSpPr>
            <p:spPr>
              <a:xfrm flipV="1">
                <a:off x="5645417" y="3816944"/>
                <a:ext cx="0" cy="263296"/>
              </a:xfrm>
              <a:prstGeom prst="line">
                <a:avLst/>
              </a:prstGeom>
              <a:ln>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EF173A15-771E-7E64-5AD3-B62686E04156}"/>
                  </a:ext>
                </a:extLst>
              </p:cNvPr>
              <p:cNvCxnSpPr>
                <a:cxnSpLocks/>
              </p:cNvCxnSpPr>
              <p:nvPr/>
            </p:nvCxnSpPr>
            <p:spPr>
              <a:xfrm>
                <a:off x="5447417" y="3816944"/>
                <a:ext cx="396000" cy="0"/>
              </a:xfrm>
              <a:prstGeom prst="line">
                <a:avLst/>
              </a:prstGeom>
              <a:ln>
                <a:solidFill>
                  <a:srgbClr val="F49EA4"/>
                </a:solidFill>
              </a:ln>
            </p:spPr>
            <p:style>
              <a:lnRef idx="1">
                <a:schemeClr val="accent1"/>
              </a:lnRef>
              <a:fillRef idx="0">
                <a:schemeClr val="accent1"/>
              </a:fillRef>
              <a:effectRef idx="0">
                <a:schemeClr val="accent1"/>
              </a:effectRef>
              <a:fontRef idx="minor">
                <a:schemeClr val="tx1"/>
              </a:fontRef>
            </p:style>
          </p:cxnSp>
        </p:grpSp>
        <p:sp>
          <p:nvSpPr>
            <p:cNvPr id="73" name="TextBox 72">
              <a:extLst>
                <a:ext uri="{FF2B5EF4-FFF2-40B4-BE49-F238E27FC236}">
                  <a16:creationId xmlns:a16="http://schemas.microsoft.com/office/drawing/2014/main" id="{5096C692-2155-C5F1-DFA7-13104167A9A5}"/>
                </a:ext>
              </a:extLst>
            </p:cNvPr>
            <p:cNvSpPr txBox="1"/>
            <p:nvPr/>
          </p:nvSpPr>
          <p:spPr>
            <a:xfrm>
              <a:off x="10962878" y="3317275"/>
              <a:ext cx="468000" cy="360000"/>
            </a:xfrm>
            <a:prstGeom prst="rect">
              <a:avLst/>
            </a:prstGeom>
          </p:spPr>
          <p:txBody>
            <a:bodyPr wrap="square" lIns="0" tIns="0" rIns="0" bIns="0" rtlCol="0">
              <a:noAutofit/>
            </a:bodyPr>
            <a:lstStyle/>
            <a:p>
              <a:pPr algn="ctr"/>
              <a:r>
                <a:rPr lang="en-GB" sz="825" b="1" dirty="0">
                  <a:solidFill>
                    <a:schemeClr val="accent5">
                      <a:lumMod val="20000"/>
                      <a:lumOff val="80000"/>
                    </a:schemeClr>
                  </a:solidFill>
                  <a:latin typeface="Vodafone Rg" pitchFamily="34" charset="0"/>
                </a:rPr>
                <a:t>SD</a:t>
              </a:r>
            </a:p>
            <a:p>
              <a:pPr algn="ctr"/>
              <a:r>
                <a:rPr lang="en-GB" sz="825" b="1" dirty="0">
                  <a:solidFill>
                    <a:schemeClr val="accent5">
                      <a:lumMod val="20000"/>
                      <a:lumOff val="80000"/>
                    </a:schemeClr>
                  </a:solidFill>
                  <a:latin typeface="Vodafone Rg" pitchFamily="34" charset="0"/>
                </a:rPr>
                <a:t>27.3</a:t>
              </a:r>
            </a:p>
          </p:txBody>
        </p:sp>
      </p:grpSp>
      <p:grpSp>
        <p:nvGrpSpPr>
          <p:cNvPr id="114" name="Group 113">
            <a:extLst>
              <a:ext uri="{FF2B5EF4-FFF2-40B4-BE49-F238E27FC236}">
                <a16:creationId xmlns:a16="http://schemas.microsoft.com/office/drawing/2014/main" id="{293A387D-D49A-3F31-2D0B-EC21B7B4F4B4}"/>
              </a:ext>
            </a:extLst>
          </p:cNvPr>
          <p:cNvGrpSpPr/>
          <p:nvPr/>
        </p:nvGrpSpPr>
        <p:grpSpPr>
          <a:xfrm>
            <a:off x="4126001" y="2487957"/>
            <a:ext cx="486000" cy="571516"/>
            <a:chOff x="5321417" y="3317275"/>
            <a:chExt cx="648000" cy="762021"/>
          </a:xfrm>
        </p:grpSpPr>
        <p:sp>
          <p:nvSpPr>
            <p:cNvPr id="20" name="TextBox 19">
              <a:extLst>
                <a:ext uri="{FF2B5EF4-FFF2-40B4-BE49-F238E27FC236}">
                  <a16:creationId xmlns:a16="http://schemas.microsoft.com/office/drawing/2014/main" id="{C717AF4B-F0CD-E380-B11E-4C357968852C}"/>
                </a:ext>
              </a:extLst>
            </p:cNvPr>
            <p:cNvSpPr txBox="1"/>
            <p:nvPr/>
          </p:nvSpPr>
          <p:spPr>
            <a:xfrm>
              <a:off x="5411417" y="3317275"/>
              <a:ext cx="468000" cy="360000"/>
            </a:xfrm>
            <a:prstGeom prst="rect">
              <a:avLst/>
            </a:prstGeom>
          </p:spPr>
          <p:txBody>
            <a:bodyPr wrap="square" lIns="0" tIns="0" rIns="0" bIns="0" rtlCol="0">
              <a:noAutofit/>
            </a:bodyPr>
            <a:lstStyle/>
            <a:p>
              <a:pPr algn="ctr"/>
              <a:r>
                <a:rPr lang="en-GB" sz="825" b="1" dirty="0">
                  <a:solidFill>
                    <a:schemeClr val="accent5">
                      <a:lumMod val="20000"/>
                      <a:lumOff val="80000"/>
                    </a:schemeClr>
                  </a:solidFill>
                  <a:latin typeface="Vodafone Rg" pitchFamily="34" charset="0"/>
                </a:rPr>
                <a:t>SD</a:t>
              </a:r>
              <a:endParaRPr lang="en-GB" sz="788" b="1" dirty="0">
                <a:solidFill>
                  <a:schemeClr val="accent5">
                    <a:lumMod val="20000"/>
                    <a:lumOff val="80000"/>
                  </a:schemeClr>
                </a:solidFill>
                <a:latin typeface="Vodafone Rg" pitchFamily="34" charset="0"/>
              </a:endParaRPr>
            </a:p>
            <a:p>
              <a:pPr algn="ctr"/>
              <a:r>
                <a:rPr lang="en-GB" sz="825" b="1" dirty="0">
                  <a:solidFill>
                    <a:schemeClr val="accent5">
                      <a:lumMod val="20000"/>
                      <a:lumOff val="80000"/>
                    </a:schemeClr>
                  </a:solidFill>
                  <a:latin typeface="Vodafone Rg" pitchFamily="34" charset="0"/>
                </a:rPr>
                <a:t>26.9</a:t>
              </a:r>
            </a:p>
          </p:txBody>
        </p:sp>
        <p:sp>
          <p:nvSpPr>
            <p:cNvPr id="128" name="TextBox 127">
              <a:extLst>
                <a:ext uri="{FF2B5EF4-FFF2-40B4-BE49-F238E27FC236}">
                  <a16:creationId xmlns:a16="http://schemas.microsoft.com/office/drawing/2014/main" id="{5B1A6114-45DF-40C5-D952-EE40B2557B00}"/>
                </a:ext>
              </a:extLst>
            </p:cNvPr>
            <p:cNvSpPr txBox="1"/>
            <p:nvPr/>
          </p:nvSpPr>
          <p:spPr>
            <a:xfrm>
              <a:off x="5321417" y="3636000"/>
              <a:ext cx="648000" cy="180000"/>
            </a:xfrm>
            <a:prstGeom prst="rect">
              <a:avLst/>
            </a:prstGeom>
            <a:noFill/>
          </p:spPr>
          <p:txBody>
            <a:bodyPr wrap="square" lIns="0" tIns="0" rIns="0" bIns="0" rtlCol="0" anchor="ctr">
              <a:noAutofit/>
            </a:bodyPr>
            <a:lstStyle/>
            <a:p>
              <a:pPr algn="ctr"/>
              <a:r>
                <a:rPr lang="en-GB" sz="750" b="1" dirty="0">
                  <a:solidFill>
                    <a:schemeClr val="accent1">
                      <a:lumMod val="40000"/>
                      <a:lumOff val="60000"/>
                    </a:schemeClr>
                  </a:solidFill>
                </a:rPr>
                <a:t>Tue 22 Sep</a:t>
              </a:r>
            </a:p>
          </p:txBody>
        </p:sp>
        <p:cxnSp>
          <p:nvCxnSpPr>
            <p:cNvPr id="129" name="Straight Connector 128">
              <a:extLst>
                <a:ext uri="{FF2B5EF4-FFF2-40B4-BE49-F238E27FC236}">
                  <a16:creationId xmlns:a16="http://schemas.microsoft.com/office/drawing/2014/main" id="{84F0F89D-4F40-17B4-B720-C687586C266A}"/>
                </a:ext>
              </a:extLst>
            </p:cNvPr>
            <p:cNvCxnSpPr>
              <a:cxnSpLocks/>
            </p:cNvCxnSpPr>
            <p:nvPr/>
          </p:nvCxnSpPr>
          <p:spPr>
            <a:xfrm flipV="1">
              <a:off x="5645417" y="3816000"/>
              <a:ext cx="0" cy="263296"/>
            </a:xfrm>
            <a:prstGeom prst="line">
              <a:avLst/>
            </a:prstGeom>
            <a:ln>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54BCF69F-E9B3-AB1A-EE0B-4C228871293B}"/>
                </a:ext>
              </a:extLst>
            </p:cNvPr>
            <p:cNvCxnSpPr>
              <a:cxnSpLocks/>
            </p:cNvCxnSpPr>
            <p:nvPr/>
          </p:nvCxnSpPr>
          <p:spPr>
            <a:xfrm>
              <a:off x="5447417" y="3816000"/>
              <a:ext cx="396000" cy="0"/>
            </a:xfrm>
            <a:prstGeom prst="line">
              <a:avLst/>
            </a:prstGeom>
            <a:ln>
              <a:solidFill>
                <a:srgbClr val="F49EA4"/>
              </a:solidFill>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9F272C64-0A07-775B-FCA7-B82D6C2BA9B5}"/>
              </a:ext>
            </a:extLst>
          </p:cNvPr>
          <p:cNvGrpSpPr/>
          <p:nvPr/>
        </p:nvGrpSpPr>
        <p:grpSpPr>
          <a:xfrm>
            <a:off x="2366293" y="2254500"/>
            <a:ext cx="486000" cy="782235"/>
            <a:chOff x="3155057" y="3006000"/>
            <a:chExt cx="648000" cy="1042980"/>
          </a:xfrm>
        </p:grpSpPr>
        <p:sp>
          <p:nvSpPr>
            <p:cNvPr id="102" name="Rounded Rectangle 243">
              <a:extLst>
                <a:ext uri="{FF2B5EF4-FFF2-40B4-BE49-F238E27FC236}">
                  <a16:creationId xmlns:a16="http://schemas.microsoft.com/office/drawing/2014/main" id="{4B1BA948-E64E-5C12-EE50-A12A60B48F09}"/>
                </a:ext>
              </a:extLst>
            </p:cNvPr>
            <p:cNvSpPr/>
            <p:nvPr/>
          </p:nvSpPr>
          <p:spPr>
            <a:xfrm>
              <a:off x="3218057" y="3006000"/>
              <a:ext cx="522000" cy="360000"/>
            </a:xfrm>
            <a:prstGeom prst="round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Helix</a:t>
              </a:r>
            </a:p>
            <a:p>
              <a:pPr algn="ctr">
                <a:lnSpc>
                  <a:spcPts val="900"/>
                </a:lnSpc>
              </a:pPr>
              <a:r>
                <a:rPr lang="en-GB" sz="900" b="1" dirty="0">
                  <a:solidFill>
                    <a:schemeClr val="tx1"/>
                  </a:solidFill>
                </a:rPr>
                <a:t>TRN 1</a:t>
              </a:r>
            </a:p>
          </p:txBody>
        </p:sp>
        <p:sp>
          <p:nvSpPr>
            <p:cNvPr id="103" name="TextBox 102">
              <a:extLst>
                <a:ext uri="{FF2B5EF4-FFF2-40B4-BE49-F238E27FC236}">
                  <a16:creationId xmlns:a16="http://schemas.microsoft.com/office/drawing/2014/main" id="{93A40EE4-EF8F-2667-F706-D13DEB3DD10E}"/>
                </a:ext>
              </a:extLst>
            </p:cNvPr>
            <p:cNvSpPr txBox="1"/>
            <p:nvPr/>
          </p:nvSpPr>
          <p:spPr>
            <a:xfrm>
              <a:off x="3155057" y="3384000"/>
              <a:ext cx="648000" cy="216000"/>
            </a:xfrm>
            <a:prstGeom prst="rect">
              <a:avLst/>
            </a:prstGeom>
            <a:noFill/>
          </p:spPr>
          <p:txBody>
            <a:bodyPr wrap="square" lIns="0" tIns="0" rIns="0" bIns="0" rtlCol="0" anchor="ctr">
              <a:noAutofit/>
            </a:bodyPr>
            <a:lstStyle/>
            <a:p>
              <a:pPr algn="just"/>
              <a:r>
                <a:rPr lang="en-GB" sz="750" b="1" dirty="0">
                  <a:solidFill>
                    <a:schemeClr val="bg1"/>
                  </a:solidFill>
                </a:rPr>
                <a:t>    Tue 7 Jul</a:t>
              </a:r>
            </a:p>
          </p:txBody>
        </p:sp>
        <p:grpSp>
          <p:nvGrpSpPr>
            <p:cNvPr id="104" name="Group 103">
              <a:extLst>
                <a:ext uri="{FF2B5EF4-FFF2-40B4-BE49-F238E27FC236}">
                  <a16:creationId xmlns:a16="http://schemas.microsoft.com/office/drawing/2014/main" id="{17C60CDC-676F-C761-9C03-5CD90EEF004E}"/>
                </a:ext>
              </a:extLst>
            </p:cNvPr>
            <p:cNvGrpSpPr/>
            <p:nvPr/>
          </p:nvGrpSpPr>
          <p:grpSpPr>
            <a:xfrm>
              <a:off x="3281057" y="3580980"/>
              <a:ext cx="396000" cy="468000"/>
              <a:chOff x="783635" y="1980000"/>
              <a:chExt cx="584667" cy="720000"/>
            </a:xfrm>
          </p:grpSpPr>
          <p:cxnSp>
            <p:nvCxnSpPr>
              <p:cNvPr id="105" name="Straight Connector 104">
                <a:extLst>
                  <a:ext uri="{FF2B5EF4-FFF2-40B4-BE49-F238E27FC236}">
                    <a16:creationId xmlns:a16="http://schemas.microsoft.com/office/drawing/2014/main" id="{B4A992BB-12F4-54DD-6259-4E990AA5F386}"/>
                  </a:ext>
                </a:extLst>
              </p:cNvPr>
              <p:cNvCxnSpPr>
                <a:cxnSpLocks/>
              </p:cNvCxnSpPr>
              <p:nvPr/>
            </p:nvCxnSpPr>
            <p:spPr>
              <a:xfrm flipV="1">
                <a:off x="1075969" y="1980000"/>
                <a:ext cx="0" cy="72000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779820E-A14A-6D29-C882-DDBDF0F446C5}"/>
                  </a:ext>
                </a:extLst>
              </p:cNvPr>
              <p:cNvCxnSpPr/>
              <p:nvPr/>
            </p:nvCxnSpPr>
            <p:spPr>
              <a:xfrm>
                <a:off x="783635" y="1980022"/>
                <a:ext cx="584667"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grpSp>
        <p:nvGrpSpPr>
          <p:cNvPr id="112" name="Group 111">
            <a:extLst>
              <a:ext uri="{FF2B5EF4-FFF2-40B4-BE49-F238E27FC236}">
                <a16:creationId xmlns:a16="http://schemas.microsoft.com/office/drawing/2014/main" id="{7C5CA4A2-3DF1-088F-1747-798F91EACBB5}"/>
              </a:ext>
            </a:extLst>
          </p:cNvPr>
          <p:cNvGrpSpPr/>
          <p:nvPr/>
        </p:nvGrpSpPr>
        <p:grpSpPr>
          <a:xfrm>
            <a:off x="7153667" y="2487957"/>
            <a:ext cx="486000" cy="571516"/>
            <a:chOff x="9538223" y="3317275"/>
            <a:chExt cx="648000" cy="762021"/>
          </a:xfrm>
        </p:grpSpPr>
        <p:sp>
          <p:nvSpPr>
            <p:cNvPr id="165" name="TextBox 164">
              <a:extLst>
                <a:ext uri="{FF2B5EF4-FFF2-40B4-BE49-F238E27FC236}">
                  <a16:creationId xmlns:a16="http://schemas.microsoft.com/office/drawing/2014/main" id="{B2E7751C-E5D4-5DC7-BA3C-7B74DDF1CBBE}"/>
                </a:ext>
              </a:extLst>
            </p:cNvPr>
            <p:cNvSpPr txBox="1"/>
            <p:nvPr/>
          </p:nvSpPr>
          <p:spPr>
            <a:xfrm>
              <a:off x="9538223" y="3636000"/>
              <a:ext cx="648000" cy="180000"/>
            </a:xfrm>
            <a:prstGeom prst="rect">
              <a:avLst/>
            </a:prstGeom>
            <a:noFill/>
          </p:spPr>
          <p:txBody>
            <a:bodyPr wrap="square" lIns="0" tIns="0" rIns="0" bIns="0" rtlCol="0" anchor="ctr">
              <a:noAutofit/>
            </a:bodyPr>
            <a:lstStyle/>
            <a:p>
              <a:pPr algn="ctr"/>
              <a:r>
                <a:rPr lang="en-GB" sz="750" b="1" dirty="0">
                  <a:solidFill>
                    <a:schemeClr val="bg1"/>
                  </a:solidFill>
                </a:rPr>
                <a:t>Tue 2 Feb</a:t>
              </a:r>
            </a:p>
          </p:txBody>
        </p:sp>
        <p:sp>
          <p:nvSpPr>
            <p:cNvPr id="70" name="TextBox 69">
              <a:extLst>
                <a:ext uri="{FF2B5EF4-FFF2-40B4-BE49-F238E27FC236}">
                  <a16:creationId xmlns:a16="http://schemas.microsoft.com/office/drawing/2014/main" id="{075E732A-186A-0F74-571C-BEFA3F4F533E}"/>
                </a:ext>
              </a:extLst>
            </p:cNvPr>
            <p:cNvSpPr txBox="1"/>
            <p:nvPr/>
          </p:nvSpPr>
          <p:spPr>
            <a:xfrm>
              <a:off x="9628232" y="3317275"/>
              <a:ext cx="468000" cy="360000"/>
            </a:xfrm>
            <a:prstGeom prst="rect">
              <a:avLst/>
            </a:prstGeom>
          </p:spPr>
          <p:txBody>
            <a:bodyPr wrap="square" lIns="0" tIns="0" rIns="0" bIns="0" rtlCol="0">
              <a:noAutofit/>
            </a:bodyPr>
            <a:lstStyle/>
            <a:p>
              <a:pPr algn="ctr"/>
              <a:r>
                <a:rPr lang="en-GB" sz="825" b="1" dirty="0">
                  <a:solidFill>
                    <a:schemeClr val="accent5">
                      <a:lumMod val="20000"/>
                      <a:lumOff val="80000"/>
                    </a:schemeClr>
                  </a:solidFill>
                  <a:latin typeface="Vodafone Rg" pitchFamily="34" charset="0"/>
                </a:rPr>
                <a:t>SD</a:t>
              </a:r>
            </a:p>
            <a:p>
              <a:pPr algn="ctr"/>
              <a:r>
                <a:rPr lang="en-GB" sz="825" b="1" dirty="0">
                  <a:solidFill>
                    <a:schemeClr val="accent5">
                      <a:lumMod val="20000"/>
                      <a:lumOff val="80000"/>
                    </a:schemeClr>
                  </a:solidFill>
                  <a:latin typeface="Vodafone Rg" pitchFamily="34" charset="0"/>
                </a:rPr>
                <a:t>27.2</a:t>
              </a:r>
            </a:p>
          </p:txBody>
        </p:sp>
        <p:cxnSp>
          <p:nvCxnSpPr>
            <p:cNvPr id="168" name="Straight Connector 167">
              <a:extLst>
                <a:ext uri="{FF2B5EF4-FFF2-40B4-BE49-F238E27FC236}">
                  <a16:creationId xmlns:a16="http://schemas.microsoft.com/office/drawing/2014/main" id="{7B854E0B-729C-872F-3331-2E86C1A7EA25}"/>
                </a:ext>
              </a:extLst>
            </p:cNvPr>
            <p:cNvCxnSpPr>
              <a:cxnSpLocks/>
            </p:cNvCxnSpPr>
            <p:nvPr/>
          </p:nvCxnSpPr>
          <p:spPr>
            <a:xfrm flipV="1">
              <a:off x="9862223" y="3816000"/>
              <a:ext cx="0" cy="263296"/>
            </a:xfrm>
            <a:prstGeom prst="line">
              <a:avLst/>
            </a:prstGeom>
            <a:ln>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E70183A-5D9C-A352-3EF6-220F71A35B30}"/>
                </a:ext>
              </a:extLst>
            </p:cNvPr>
            <p:cNvCxnSpPr>
              <a:cxnSpLocks/>
            </p:cNvCxnSpPr>
            <p:nvPr/>
          </p:nvCxnSpPr>
          <p:spPr>
            <a:xfrm>
              <a:off x="9664223" y="3816000"/>
              <a:ext cx="396000" cy="0"/>
            </a:xfrm>
            <a:prstGeom prst="line">
              <a:avLst/>
            </a:prstGeom>
            <a:ln>
              <a:solidFill>
                <a:srgbClr val="F49EA4"/>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FBF08E59-3ABE-17EE-301E-2596061A6F11}"/>
              </a:ext>
            </a:extLst>
          </p:cNvPr>
          <p:cNvGrpSpPr/>
          <p:nvPr/>
        </p:nvGrpSpPr>
        <p:grpSpPr>
          <a:xfrm>
            <a:off x="2925189" y="2255290"/>
            <a:ext cx="594000" cy="803743"/>
            <a:chOff x="3900252" y="3007053"/>
            <a:chExt cx="792000" cy="1071657"/>
          </a:xfrm>
        </p:grpSpPr>
        <p:sp>
          <p:nvSpPr>
            <p:cNvPr id="16" name="Rounded Rectangle 243">
              <a:extLst>
                <a:ext uri="{FF2B5EF4-FFF2-40B4-BE49-F238E27FC236}">
                  <a16:creationId xmlns:a16="http://schemas.microsoft.com/office/drawing/2014/main" id="{737CEC00-76A8-6FAF-BD16-802FE3D336C3}"/>
                </a:ext>
              </a:extLst>
            </p:cNvPr>
            <p:cNvSpPr/>
            <p:nvPr/>
          </p:nvSpPr>
          <p:spPr>
            <a:xfrm>
              <a:off x="4026252" y="3007053"/>
              <a:ext cx="522000" cy="360000"/>
            </a:xfrm>
            <a:prstGeom prst="round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54000" rIns="0" rtlCol="0" anchor="ctr">
              <a:noAutofit/>
            </a:bodyPr>
            <a:lstStyle/>
            <a:p>
              <a:pPr algn="ctr">
                <a:lnSpc>
                  <a:spcPts val="900"/>
                </a:lnSpc>
              </a:pPr>
              <a:r>
                <a:rPr lang="en-GB" sz="900" b="1" dirty="0">
                  <a:solidFill>
                    <a:schemeClr val="tx1"/>
                  </a:solidFill>
                </a:rPr>
                <a:t>Helix</a:t>
              </a:r>
            </a:p>
            <a:p>
              <a:pPr algn="ctr">
                <a:lnSpc>
                  <a:spcPts val="900"/>
                </a:lnSpc>
              </a:pPr>
              <a:r>
                <a:rPr lang="en-GB" sz="900" b="1" dirty="0">
                  <a:solidFill>
                    <a:schemeClr val="tx1"/>
                  </a:solidFill>
                </a:rPr>
                <a:t>TRN 2</a:t>
              </a:r>
            </a:p>
          </p:txBody>
        </p:sp>
        <p:sp>
          <p:nvSpPr>
            <p:cNvPr id="18" name="TextBox 17">
              <a:extLst>
                <a:ext uri="{FF2B5EF4-FFF2-40B4-BE49-F238E27FC236}">
                  <a16:creationId xmlns:a16="http://schemas.microsoft.com/office/drawing/2014/main" id="{03B3A14A-244D-63D2-AE28-36CCE228DAF5}"/>
                </a:ext>
              </a:extLst>
            </p:cNvPr>
            <p:cNvSpPr txBox="1"/>
            <p:nvPr/>
          </p:nvSpPr>
          <p:spPr>
            <a:xfrm>
              <a:off x="3900252" y="3385053"/>
              <a:ext cx="792000" cy="216000"/>
            </a:xfrm>
            <a:prstGeom prst="rect">
              <a:avLst/>
            </a:prstGeom>
            <a:noFill/>
          </p:spPr>
          <p:txBody>
            <a:bodyPr wrap="square" lIns="0" tIns="0" rIns="0" bIns="0" rtlCol="0" anchor="ctr">
              <a:noAutofit/>
            </a:bodyPr>
            <a:lstStyle/>
            <a:p>
              <a:pPr algn="just"/>
              <a:r>
                <a:rPr lang="en-GB" sz="750" b="1" dirty="0">
                  <a:solidFill>
                    <a:schemeClr val="bg1"/>
                  </a:solidFill>
                </a:rPr>
                <a:t>    Thur 13 Aug</a:t>
              </a:r>
            </a:p>
          </p:txBody>
        </p:sp>
        <p:cxnSp>
          <p:nvCxnSpPr>
            <p:cNvPr id="32" name="Straight Connector 31">
              <a:extLst>
                <a:ext uri="{FF2B5EF4-FFF2-40B4-BE49-F238E27FC236}">
                  <a16:creationId xmlns:a16="http://schemas.microsoft.com/office/drawing/2014/main" id="{121D3BBF-1F22-6788-B218-0109E3D55A05}"/>
                </a:ext>
              </a:extLst>
            </p:cNvPr>
            <p:cNvCxnSpPr>
              <a:cxnSpLocks/>
            </p:cNvCxnSpPr>
            <p:nvPr/>
          </p:nvCxnSpPr>
          <p:spPr>
            <a:xfrm flipH="1" flipV="1">
              <a:off x="4296252" y="3584117"/>
              <a:ext cx="349831" cy="494593"/>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D241978-1793-1392-31E0-8AAED3AA37C8}"/>
                </a:ext>
              </a:extLst>
            </p:cNvPr>
            <p:cNvCxnSpPr>
              <a:cxnSpLocks/>
            </p:cNvCxnSpPr>
            <p:nvPr/>
          </p:nvCxnSpPr>
          <p:spPr>
            <a:xfrm>
              <a:off x="4035945" y="3582046"/>
              <a:ext cx="502615" cy="0"/>
            </a:xfrm>
            <a:prstGeom prst="line">
              <a:avLst/>
            </a:prstGeom>
            <a:ln w="19050">
              <a:solidFill>
                <a:srgbClr val="F49EA4"/>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911F988B-AAB4-41EE-9A20-61EFC699733F}"/>
              </a:ext>
            </a:extLst>
          </p:cNvPr>
          <p:cNvGrpSpPr/>
          <p:nvPr/>
        </p:nvGrpSpPr>
        <p:grpSpPr>
          <a:xfrm>
            <a:off x="17758" y="2903225"/>
            <a:ext cx="9075566" cy="324000"/>
            <a:chOff x="23677" y="3870967"/>
            <a:chExt cx="12100755" cy="432000"/>
          </a:xfrm>
        </p:grpSpPr>
        <p:pic>
          <p:nvPicPr>
            <p:cNvPr id="119" name="Picture 4" descr="Image result for vodafone logo">
              <a:extLst>
                <a:ext uri="{FF2B5EF4-FFF2-40B4-BE49-F238E27FC236}">
                  <a16:creationId xmlns:a16="http://schemas.microsoft.com/office/drawing/2014/main" id="{3879F3F0-D0F1-401B-BBD5-2D887930A83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77" y="3933501"/>
              <a:ext cx="294114" cy="281453"/>
            </a:xfrm>
            <a:prstGeom prst="rect">
              <a:avLst/>
            </a:prstGeom>
            <a:noFill/>
            <a:extLst>
              <a:ext uri="{909E8E84-426E-40DD-AFC4-6F175D3DCCD1}">
                <a14:hiddenFill xmlns:a14="http://schemas.microsoft.com/office/drawing/2010/main">
                  <a:solidFill>
                    <a:srgbClr val="FFFFFF"/>
                  </a:solidFill>
                </a14:hiddenFill>
              </a:ext>
            </a:extLst>
          </p:spPr>
        </p:pic>
        <p:sp>
          <p:nvSpPr>
            <p:cNvPr id="117" name="TextBox 116">
              <a:extLst>
                <a:ext uri="{FF2B5EF4-FFF2-40B4-BE49-F238E27FC236}">
                  <a16:creationId xmlns:a16="http://schemas.microsoft.com/office/drawing/2014/main" id="{38E33126-1193-4076-8B2E-C33430734904}"/>
                </a:ext>
              </a:extLst>
            </p:cNvPr>
            <p:cNvSpPr txBox="1"/>
            <p:nvPr/>
          </p:nvSpPr>
          <p:spPr>
            <a:xfrm>
              <a:off x="227931" y="3870967"/>
              <a:ext cx="540000" cy="180000"/>
            </a:xfrm>
            <a:prstGeom prst="rect">
              <a:avLst/>
            </a:prstGeom>
            <a:noFill/>
          </p:spPr>
          <p:txBody>
            <a:bodyPr wrap="square" lIns="0" tIns="0" rIns="0" bIns="0" rtlCol="0" anchor="ctr">
              <a:noAutofit/>
            </a:bodyPr>
            <a:lstStyle/>
            <a:p>
              <a:pPr algn="ctr"/>
              <a:r>
                <a:rPr lang="en-GB" sz="825" b="1" dirty="0">
                  <a:solidFill>
                    <a:srgbClr val="FFFF00"/>
                  </a:solidFill>
                </a:rPr>
                <a:t>Apr 26</a:t>
              </a:r>
            </a:p>
          </p:txBody>
        </p:sp>
        <p:pic>
          <p:nvPicPr>
            <p:cNvPr id="120" name="Picture 4" descr="Image result for vodafone logo">
              <a:extLst>
                <a:ext uri="{FF2B5EF4-FFF2-40B4-BE49-F238E27FC236}">
                  <a16:creationId xmlns:a16="http://schemas.microsoft.com/office/drawing/2014/main" id="{11B70DE3-7B12-487A-B818-1B6B5C592E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30318" y="3933501"/>
              <a:ext cx="294114" cy="281453"/>
            </a:xfrm>
            <a:prstGeom prst="rect">
              <a:avLst/>
            </a:prstGeom>
            <a:noFill/>
            <a:extLst>
              <a:ext uri="{909E8E84-426E-40DD-AFC4-6F175D3DCCD1}">
                <a14:hiddenFill xmlns:a14="http://schemas.microsoft.com/office/drawing/2010/main">
                  <a:solidFill>
                    <a:srgbClr val="FFFFFF"/>
                  </a:solidFill>
                </a14:hiddenFill>
              </a:ext>
            </a:extLst>
          </p:spPr>
        </p:pic>
        <p:sp>
          <p:nvSpPr>
            <p:cNvPr id="121" name="TextBox 120">
              <a:extLst>
                <a:ext uri="{FF2B5EF4-FFF2-40B4-BE49-F238E27FC236}">
                  <a16:creationId xmlns:a16="http://schemas.microsoft.com/office/drawing/2014/main" id="{4F4B2ED0-0376-4B25-89BF-A2600DA91D79}"/>
                </a:ext>
              </a:extLst>
            </p:cNvPr>
            <p:cNvSpPr txBox="1"/>
            <p:nvPr/>
          </p:nvSpPr>
          <p:spPr>
            <a:xfrm>
              <a:off x="1153964" y="4122967"/>
              <a:ext cx="540000" cy="180000"/>
            </a:xfrm>
            <a:prstGeom prst="rect">
              <a:avLst/>
            </a:prstGeom>
            <a:noFill/>
          </p:spPr>
          <p:txBody>
            <a:bodyPr wrap="square" lIns="0" tIns="0" rIns="0" bIns="0" rtlCol="0" anchor="ctr">
              <a:noAutofit/>
            </a:bodyPr>
            <a:lstStyle/>
            <a:p>
              <a:pPr algn="ctr"/>
              <a:r>
                <a:rPr lang="en-GB" sz="825" b="1" dirty="0">
                  <a:solidFill>
                    <a:srgbClr val="FFFF00"/>
                  </a:solidFill>
                </a:rPr>
                <a:t>May 26</a:t>
              </a:r>
            </a:p>
          </p:txBody>
        </p:sp>
        <p:sp>
          <p:nvSpPr>
            <p:cNvPr id="122" name="TextBox 121">
              <a:extLst>
                <a:ext uri="{FF2B5EF4-FFF2-40B4-BE49-F238E27FC236}">
                  <a16:creationId xmlns:a16="http://schemas.microsoft.com/office/drawing/2014/main" id="{9CC1C778-A2A2-4022-AAFF-C7AB178F886A}"/>
                </a:ext>
              </a:extLst>
            </p:cNvPr>
            <p:cNvSpPr txBox="1"/>
            <p:nvPr/>
          </p:nvSpPr>
          <p:spPr>
            <a:xfrm>
              <a:off x="3016344" y="4122967"/>
              <a:ext cx="540000" cy="180000"/>
            </a:xfrm>
            <a:prstGeom prst="rect">
              <a:avLst/>
            </a:prstGeom>
            <a:noFill/>
          </p:spPr>
          <p:txBody>
            <a:bodyPr wrap="square" lIns="0" tIns="0" rIns="0" bIns="0" rtlCol="0" anchor="ctr">
              <a:noAutofit/>
            </a:bodyPr>
            <a:lstStyle/>
            <a:p>
              <a:pPr algn="ctr"/>
              <a:r>
                <a:rPr lang="en-GB" sz="825" b="1" dirty="0">
                  <a:solidFill>
                    <a:srgbClr val="FFFF00"/>
                  </a:solidFill>
                </a:rPr>
                <a:t>Jul 26</a:t>
              </a:r>
            </a:p>
          </p:txBody>
        </p:sp>
        <p:sp>
          <p:nvSpPr>
            <p:cNvPr id="123" name="TextBox 122">
              <a:extLst>
                <a:ext uri="{FF2B5EF4-FFF2-40B4-BE49-F238E27FC236}">
                  <a16:creationId xmlns:a16="http://schemas.microsoft.com/office/drawing/2014/main" id="{5F82645C-DF2F-46F1-980A-37C0B87345A7}"/>
                </a:ext>
              </a:extLst>
            </p:cNvPr>
            <p:cNvSpPr txBox="1"/>
            <p:nvPr/>
          </p:nvSpPr>
          <p:spPr>
            <a:xfrm>
              <a:off x="4875993" y="4122967"/>
              <a:ext cx="540000" cy="180000"/>
            </a:xfrm>
            <a:prstGeom prst="rect">
              <a:avLst/>
            </a:prstGeom>
            <a:noFill/>
          </p:spPr>
          <p:txBody>
            <a:bodyPr wrap="square" lIns="0" tIns="0" rIns="0" bIns="0" rtlCol="0" anchor="ctr">
              <a:noAutofit/>
            </a:bodyPr>
            <a:lstStyle/>
            <a:p>
              <a:pPr algn="ctr"/>
              <a:r>
                <a:rPr lang="en-GB" sz="825" b="1" dirty="0">
                  <a:solidFill>
                    <a:srgbClr val="FFFF00"/>
                  </a:solidFill>
                </a:rPr>
                <a:t>Sep 26</a:t>
              </a:r>
            </a:p>
          </p:txBody>
        </p:sp>
        <p:sp>
          <p:nvSpPr>
            <p:cNvPr id="124" name="TextBox 123">
              <a:extLst>
                <a:ext uri="{FF2B5EF4-FFF2-40B4-BE49-F238E27FC236}">
                  <a16:creationId xmlns:a16="http://schemas.microsoft.com/office/drawing/2014/main" id="{B28D8AD5-3582-491D-8F54-8AEC787CA851}"/>
                </a:ext>
              </a:extLst>
            </p:cNvPr>
            <p:cNvSpPr txBox="1"/>
            <p:nvPr/>
          </p:nvSpPr>
          <p:spPr>
            <a:xfrm>
              <a:off x="6735853" y="4122967"/>
              <a:ext cx="540000" cy="180000"/>
            </a:xfrm>
            <a:prstGeom prst="rect">
              <a:avLst/>
            </a:prstGeom>
            <a:noFill/>
          </p:spPr>
          <p:txBody>
            <a:bodyPr wrap="square" lIns="0" tIns="0" rIns="0" bIns="0" rtlCol="0" anchor="ctr">
              <a:noAutofit/>
            </a:bodyPr>
            <a:lstStyle/>
            <a:p>
              <a:pPr algn="ctr"/>
              <a:r>
                <a:rPr lang="en-GB" sz="825" b="1" dirty="0">
                  <a:solidFill>
                    <a:srgbClr val="FFFF00"/>
                  </a:solidFill>
                </a:rPr>
                <a:t>Nov 26</a:t>
              </a:r>
            </a:p>
          </p:txBody>
        </p:sp>
        <p:sp>
          <p:nvSpPr>
            <p:cNvPr id="125" name="TextBox 124">
              <a:extLst>
                <a:ext uri="{FF2B5EF4-FFF2-40B4-BE49-F238E27FC236}">
                  <a16:creationId xmlns:a16="http://schemas.microsoft.com/office/drawing/2014/main" id="{47CF85C7-93B2-4E6D-B3F9-F19A84F0041B}"/>
                </a:ext>
              </a:extLst>
            </p:cNvPr>
            <p:cNvSpPr txBox="1"/>
            <p:nvPr/>
          </p:nvSpPr>
          <p:spPr>
            <a:xfrm>
              <a:off x="8594564" y="4122967"/>
              <a:ext cx="540000" cy="180000"/>
            </a:xfrm>
            <a:prstGeom prst="rect">
              <a:avLst/>
            </a:prstGeom>
            <a:noFill/>
          </p:spPr>
          <p:txBody>
            <a:bodyPr wrap="square" lIns="0" tIns="0" rIns="0" bIns="0" rtlCol="0" anchor="ctr">
              <a:noAutofit/>
            </a:bodyPr>
            <a:lstStyle/>
            <a:p>
              <a:pPr algn="ctr"/>
              <a:r>
                <a:rPr lang="en-GB" sz="825" b="1" dirty="0">
                  <a:solidFill>
                    <a:srgbClr val="FFFF00"/>
                  </a:solidFill>
                </a:rPr>
                <a:t>Jan 27</a:t>
              </a:r>
            </a:p>
          </p:txBody>
        </p:sp>
        <p:sp>
          <p:nvSpPr>
            <p:cNvPr id="142" name="TextBox 141">
              <a:extLst>
                <a:ext uri="{FF2B5EF4-FFF2-40B4-BE49-F238E27FC236}">
                  <a16:creationId xmlns:a16="http://schemas.microsoft.com/office/drawing/2014/main" id="{7EE0D8D2-229F-4295-8D1C-218C96FA95A7}"/>
                </a:ext>
              </a:extLst>
            </p:cNvPr>
            <p:cNvSpPr txBox="1"/>
            <p:nvPr/>
          </p:nvSpPr>
          <p:spPr>
            <a:xfrm>
              <a:off x="7677033" y="3870967"/>
              <a:ext cx="540000" cy="180000"/>
            </a:xfrm>
            <a:prstGeom prst="rect">
              <a:avLst/>
            </a:prstGeom>
            <a:noFill/>
          </p:spPr>
          <p:txBody>
            <a:bodyPr wrap="square" lIns="0" tIns="0" rIns="0" bIns="0" rtlCol="0" anchor="ctr">
              <a:noAutofit/>
            </a:bodyPr>
            <a:lstStyle/>
            <a:p>
              <a:pPr algn="ctr"/>
              <a:r>
                <a:rPr lang="en-GB" sz="825" b="1" dirty="0">
                  <a:solidFill>
                    <a:srgbClr val="FFFF00"/>
                  </a:solidFill>
                </a:rPr>
                <a:t>Dec 26</a:t>
              </a:r>
            </a:p>
          </p:txBody>
        </p:sp>
        <p:sp>
          <p:nvSpPr>
            <p:cNvPr id="166" name="TextBox 165">
              <a:extLst>
                <a:ext uri="{FF2B5EF4-FFF2-40B4-BE49-F238E27FC236}">
                  <a16:creationId xmlns:a16="http://schemas.microsoft.com/office/drawing/2014/main" id="{72087187-C98A-4C01-AFAB-72281F6F2302}"/>
                </a:ext>
              </a:extLst>
            </p:cNvPr>
            <p:cNvSpPr txBox="1"/>
            <p:nvPr/>
          </p:nvSpPr>
          <p:spPr>
            <a:xfrm>
              <a:off x="10455269" y="4122967"/>
              <a:ext cx="540000" cy="180000"/>
            </a:xfrm>
            <a:prstGeom prst="rect">
              <a:avLst/>
            </a:prstGeom>
            <a:noFill/>
          </p:spPr>
          <p:txBody>
            <a:bodyPr wrap="square" lIns="0" tIns="0" rIns="0" bIns="0" rtlCol="0" anchor="ctr">
              <a:noAutofit/>
            </a:bodyPr>
            <a:lstStyle/>
            <a:p>
              <a:pPr algn="ctr"/>
              <a:r>
                <a:rPr lang="en-GB" sz="825" b="1" dirty="0">
                  <a:solidFill>
                    <a:srgbClr val="FFFF00"/>
                  </a:solidFill>
                </a:rPr>
                <a:t>Mar 27</a:t>
              </a:r>
            </a:p>
          </p:txBody>
        </p:sp>
        <p:sp>
          <p:nvSpPr>
            <p:cNvPr id="167" name="Rectangle 166">
              <a:extLst>
                <a:ext uri="{FF2B5EF4-FFF2-40B4-BE49-F238E27FC236}">
                  <a16:creationId xmlns:a16="http://schemas.microsoft.com/office/drawing/2014/main" id="{879A8291-D96D-49B7-BABB-7201805B474B}"/>
                </a:ext>
              </a:extLst>
            </p:cNvPr>
            <p:cNvSpPr/>
            <p:nvPr/>
          </p:nvSpPr>
          <p:spPr>
            <a:xfrm>
              <a:off x="252933" y="4050967"/>
              <a:ext cx="11630740" cy="73149"/>
            </a:xfrm>
            <a:prstGeom prst="rect">
              <a:avLst/>
            </a:prstGeom>
            <a:solidFill>
              <a:srgbClr val="E8303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450" tIns="23225" rIns="46450" bIns="23225" numCol="1" spcCol="0" rtlCol="0" fromWordArt="0" anchor="ctr" anchorCtr="0" forceAA="0" compatLnSpc="1">
              <a:prstTxWarp prst="textNoShape">
                <a:avLst/>
              </a:prstTxWarp>
              <a:noAutofit/>
            </a:bodyPr>
            <a:lstStyle/>
            <a:p>
              <a:pPr algn="ctr"/>
              <a:endParaRPr lang="en-GB" sz="825" u="sng" dirty="0">
                <a:solidFill>
                  <a:srgbClr val="FFFF00"/>
                </a:solidFill>
              </a:endParaRPr>
            </a:p>
          </p:txBody>
        </p:sp>
        <p:grpSp>
          <p:nvGrpSpPr>
            <p:cNvPr id="585" name="Group 584">
              <a:extLst>
                <a:ext uri="{FF2B5EF4-FFF2-40B4-BE49-F238E27FC236}">
                  <a16:creationId xmlns:a16="http://schemas.microsoft.com/office/drawing/2014/main" id="{76391D7B-ECE7-4D82-AACF-ED7A661DFDE4}"/>
                </a:ext>
              </a:extLst>
            </p:cNvPr>
            <p:cNvGrpSpPr/>
            <p:nvPr/>
          </p:nvGrpSpPr>
          <p:grpSpPr>
            <a:xfrm>
              <a:off x="495798" y="3906967"/>
              <a:ext cx="11160000" cy="360000"/>
              <a:chOff x="1468334" y="3600880"/>
              <a:chExt cx="11160000" cy="360000"/>
            </a:xfrm>
          </p:grpSpPr>
          <p:cxnSp>
            <p:nvCxnSpPr>
              <p:cNvPr id="586" name="Straight Connector 585">
                <a:extLst>
                  <a:ext uri="{FF2B5EF4-FFF2-40B4-BE49-F238E27FC236}">
                    <a16:creationId xmlns:a16="http://schemas.microsoft.com/office/drawing/2014/main" id="{4C4AC019-2757-4996-9B16-A7AB30367AAA}"/>
                  </a:ext>
                </a:extLst>
              </p:cNvPr>
              <p:cNvCxnSpPr/>
              <p:nvPr/>
            </p:nvCxnSpPr>
            <p:spPr>
              <a:xfrm flipV="1">
                <a:off x="2398335" y="3600880"/>
                <a:ext cx="0" cy="180000"/>
              </a:xfrm>
              <a:prstGeom prst="line">
                <a:avLst/>
              </a:prstGeom>
              <a:ln w="57150">
                <a:solidFill>
                  <a:srgbClr val="E8303F"/>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C1ACEC26-4424-47E3-9066-A8B8D7F8D11D}"/>
                  </a:ext>
                </a:extLst>
              </p:cNvPr>
              <p:cNvCxnSpPr/>
              <p:nvPr/>
            </p:nvCxnSpPr>
            <p:spPr>
              <a:xfrm flipV="1">
                <a:off x="6120536" y="3600880"/>
                <a:ext cx="0" cy="180000"/>
              </a:xfrm>
              <a:prstGeom prst="line">
                <a:avLst/>
              </a:prstGeom>
              <a:ln w="57150">
                <a:solidFill>
                  <a:srgbClr val="E8303F"/>
                </a:solidFill>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0E9688F5-11E2-4901-A7F1-082F72B32C16}"/>
                  </a:ext>
                </a:extLst>
              </p:cNvPr>
              <p:cNvCxnSpPr/>
              <p:nvPr/>
            </p:nvCxnSpPr>
            <p:spPr>
              <a:xfrm flipV="1">
                <a:off x="7978335" y="3600880"/>
                <a:ext cx="0" cy="180000"/>
              </a:xfrm>
              <a:prstGeom prst="line">
                <a:avLst/>
              </a:prstGeom>
              <a:ln w="57150">
                <a:solidFill>
                  <a:srgbClr val="E8303F"/>
                </a:solidFill>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A76BAF08-CDC2-4664-AF2A-DA1D1F16F19D}"/>
                  </a:ext>
                </a:extLst>
              </p:cNvPr>
              <p:cNvCxnSpPr/>
              <p:nvPr/>
            </p:nvCxnSpPr>
            <p:spPr>
              <a:xfrm flipV="1">
                <a:off x="9838334" y="3600880"/>
                <a:ext cx="0" cy="180000"/>
              </a:xfrm>
              <a:prstGeom prst="line">
                <a:avLst/>
              </a:prstGeom>
              <a:ln w="57150">
                <a:solidFill>
                  <a:srgbClr val="E8303F"/>
                </a:solidFill>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EDBA2870-C1B7-42EE-B932-1AB1B8453E5B}"/>
                  </a:ext>
                </a:extLst>
              </p:cNvPr>
              <p:cNvCxnSpPr/>
              <p:nvPr/>
            </p:nvCxnSpPr>
            <p:spPr>
              <a:xfrm flipV="1">
                <a:off x="4258335" y="3600880"/>
                <a:ext cx="0" cy="180000"/>
              </a:xfrm>
              <a:prstGeom prst="line">
                <a:avLst/>
              </a:prstGeom>
              <a:ln w="57150">
                <a:solidFill>
                  <a:srgbClr val="E8303F"/>
                </a:solidFill>
              </a:ln>
            </p:spPr>
            <p:style>
              <a:lnRef idx="1">
                <a:schemeClr val="accent1"/>
              </a:lnRef>
              <a:fillRef idx="0">
                <a:schemeClr val="accent1"/>
              </a:fillRef>
              <a:effectRef idx="0">
                <a:schemeClr val="accent1"/>
              </a:effectRef>
              <a:fontRef idx="minor">
                <a:schemeClr val="tx1"/>
              </a:fontRef>
            </p:style>
          </p:cxnSp>
          <p:cxnSp>
            <p:nvCxnSpPr>
              <p:cNvPr id="591" name="Straight Connector 590">
                <a:extLst>
                  <a:ext uri="{FF2B5EF4-FFF2-40B4-BE49-F238E27FC236}">
                    <a16:creationId xmlns:a16="http://schemas.microsoft.com/office/drawing/2014/main" id="{BCB03ED2-56E3-4A70-AF82-D8C91866E84E}"/>
                  </a:ext>
                </a:extLst>
              </p:cNvPr>
              <p:cNvCxnSpPr/>
              <p:nvPr/>
            </p:nvCxnSpPr>
            <p:spPr>
              <a:xfrm flipV="1">
                <a:off x="11700536" y="3600880"/>
                <a:ext cx="0" cy="180000"/>
              </a:xfrm>
              <a:prstGeom prst="line">
                <a:avLst/>
              </a:prstGeom>
              <a:ln w="57150">
                <a:solidFill>
                  <a:srgbClr val="E8303F"/>
                </a:solidFill>
              </a:ln>
            </p:spPr>
            <p:style>
              <a:lnRef idx="1">
                <a:schemeClr val="accent1"/>
              </a:lnRef>
              <a:fillRef idx="0">
                <a:schemeClr val="accent1"/>
              </a:fillRef>
              <a:effectRef idx="0">
                <a:schemeClr val="accent1"/>
              </a:effectRef>
              <a:fontRef idx="minor">
                <a:schemeClr val="tx1"/>
              </a:fontRef>
            </p:style>
          </p:cxnSp>
          <p:cxnSp>
            <p:nvCxnSpPr>
              <p:cNvPr id="592" name="Straight Connector 591">
                <a:extLst>
                  <a:ext uri="{FF2B5EF4-FFF2-40B4-BE49-F238E27FC236}">
                    <a16:creationId xmlns:a16="http://schemas.microsoft.com/office/drawing/2014/main" id="{53D474D8-3215-4FE8-BF5A-0FBA16F218E1}"/>
                  </a:ext>
                </a:extLst>
              </p:cNvPr>
              <p:cNvCxnSpPr/>
              <p:nvPr/>
            </p:nvCxnSpPr>
            <p:spPr>
              <a:xfrm flipV="1">
                <a:off x="3330536" y="3780880"/>
                <a:ext cx="0" cy="180000"/>
              </a:xfrm>
              <a:prstGeom prst="line">
                <a:avLst/>
              </a:prstGeom>
              <a:ln w="57150">
                <a:solidFill>
                  <a:srgbClr val="E8303F"/>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9EEE8A09-A887-4CC6-83BA-6A5DF28E4BE4}"/>
                  </a:ext>
                </a:extLst>
              </p:cNvPr>
              <p:cNvCxnSpPr/>
              <p:nvPr/>
            </p:nvCxnSpPr>
            <p:spPr>
              <a:xfrm flipV="1">
                <a:off x="7048334" y="3780880"/>
                <a:ext cx="0" cy="180000"/>
              </a:xfrm>
              <a:prstGeom prst="line">
                <a:avLst/>
              </a:prstGeom>
              <a:ln w="57150">
                <a:solidFill>
                  <a:srgbClr val="E8303F"/>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1D3C9CA0-EF34-43CC-ACCA-C9BB3FEE82DB}"/>
                  </a:ext>
                </a:extLst>
              </p:cNvPr>
              <p:cNvCxnSpPr/>
              <p:nvPr/>
            </p:nvCxnSpPr>
            <p:spPr>
              <a:xfrm flipV="1">
                <a:off x="10768334" y="3780880"/>
                <a:ext cx="0" cy="180000"/>
              </a:xfrm>
              <a:prstGeom prst="line">
                <a:avLst/>
              </a:prstGeom>
              <a:ln w="57150">
                <a:solidFill>
                  <a:srgbClr val="E8303F"/>
                </a:solidFill>
              </a:ln>
            </p:spPr>
            <p:style>
              <a:lnRef idx="1">
                <a:schemeClr val="accent1"/>
              </a:lnRef>
              <a:fillRef idx="0">
                <a:schemeClr val="accent1"/>
              </a:fillRef>
              <a:effectRef idx="0">
                <a:schemeClr val="accent1"/>
              </a:effectRef>
              <a:fontRef idx="minor">
                <a:schemeClr val="tx1"/>
              </a:fontRef>
            </p:style>
          </p:cxnSp>
          <p:cxnSp>
            <p:nvCxnSpPr>
              <p:cNvPr id="595" name="Straight Connector 594">
                <a:extLst>
                  <a:ext uri="{FF2B5EF4-FFF2-40B4-BE49-F238E27FC236}">
                    <a16:creationId xmlns:a16="http://schemas.microsoft.com/office/drawing/2014/main" id="{787F1951-EC34-4328-B15C-1A43127E5F14}"/>
                  </a:ext>
                </a:extLst>
              </p:cNvPr>
              <p:cNvCxnSpPr/>
              <p:nvPr/>
            </p:nvCxnSpPr>
            <p:spPr>
              <a:xfrm flipV="1">
                <a:off x="12628334" y="3780880"/>
                <a:ext cx="0" cy="180000"/>
              </a:xfrm>
              <a:prstGeom prst="line">
                <a:avLst/>
              </a:prstGeom>
              <a:ln w="57150">
                <a:solidFill>
                  <a:srgbClr val="E8303F"/>
                </a:solidFill>
              </a:ln>
            </p:spPr>
            <p:style>
              <a:lnRef idx="1">
                <a:schemeClr val="accent1"/>
              </a:lnRef>
              <a:fillRef idx="0">
                <a:schemeClr val="accent1"/>
              </a:fillRef>
              <a:effectRef idx="0">
                <a:schemeClr val="accent1"/>
              </a:effectRef>
              <a:fontRef idx="minor">
                <a:schemeClr val="tx1"/>
              </a:fontRef>
            </p:style>
          </p:cxnSp>
          <p:cxnSp>
            <p:nvCxnSpPr>
              <p:cNvPr id="596" name="Straight Connector 595">
                <a:extLst>
                  <a:ext uri="{FF2B5EF4-FFF2-40B4-BE49-F238E27FC236}">
                    <a16:creationId xmlns:a16="http://schemas.microsoft.com/office/drawing/2014/main" id="{0FF8973C-D163-43DF-BB9F-4656948975FC}"/>
                  </a:ext>
                </a:extLst>
              </p:cNvPr>
              <p:cNvCxnSpPr/>
              <p:nvPr/>
            </p:nvCxnSpPr>
            <p:spPr>
              <a:xfrm flipV="1">
                <a:off x="5188334" y="3780880"/>
                <a:ext cx="0" cy="180000"/>
              </a:xfrm>
              <a:prstGeom prst="line">
                <a:avLst/>
              </a:prstGeom>
              <a:ln w="57150">
                <a:solidFill>
                  <a:srgbClr val="E8303F"/>
                </a:solidFill>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C5A81F80-A17D-40B8-B4BB-A1EE2D9171FA}"/>
                  </a:ext>
                </a:extLst>
              </p:cNvPr>
              <p:cNvCxnSpPr/>
              <p:nvPr/>
            </p:nvCxnSpPr>
            <p:spPr>
              <a:xfrm flipV="1">
                <a:off x="1468334" y="3780880"/>
                <a:ext cx="0" cy="180000"/>
              </a:xfrm>
              <a:prstGeom prst="line">
                <a:avLst/>
              </a:prstGeom>
              <a:ln w="57150">
                <a:solidFill>
                  <a:srgbClr val="E8303F"/>
                </a:solidFill>
              </a:ln>
            </p:spPr>
            <p:style>
              <a:lnRef idx="1">
                <a:schemeClr val="accent1"/>
              </a:lnRef>
              <a:fillRef idx="0">
                <a:schemeClr val="accent1"/>
              </a:fillRef>
              <a:effectRef idx="0">
                <a:schemeClr val="accent1"/>
              </a:effectRef>
              <a:fontRef idx="minor">
                <a:schemeClr val="tx1"/>
              </a:fontRef>
            </p:style>
          </p:cxnSp>
          <p:cxnSp>
            <p:nvCxnSpPr>
              <p:cNvPr id="598" name="Straight Connector 597">
                <a:extLst>
                  <a:ext uri="{FF2B5EF4-FFF2-40B4-BE49-F238E27FC236}">
                    <a16:creationId xmlns:a16="http://schemas.microsoft.com/office/drawing/2014/main" id="{0E3CA94D-087B-4BE7-A162-49269CF271CF}"/>
                  </a:ext>
                </a:extLst>
              </p:cNvPr>
              <p:cNvCxnSpPr/>
              <p:nvPr/>
            </p:nvCxnSpPr>
            <p:spPr>
              <a:xfrm flipV="1">
                <a:off x="8910536" y="3780880"/>
                <a:ext cx="0" cy="180000"/>
              </a:xfrm>
              <a:prstGeom prst="line">
                <a:avLst/>
              </a:prstGeom>
              <a:ln w="57150">
                <a:solidFill>
                  <a:srgbClr val="E8303F"/>
                </a:solidFill>
              </a:ln>
            </p:spPr>
            <p:style>
              <a:lnRef idx="1">
                <a:schemeClr val="accent1"/>
              </a:lnRef>
              <a:fillRef idx="0">
                <a:schemeClr val="accent1"/>
              </a:fillRef>
              <a:effectRef idx="0">
                <a:schemeClr val="accent1"/>
              </a:effectRef>
              <a:fontRef idx="minor">
                <a:schemeClr val="tx1"/>
              </a:fontRef>
            </p:style>
          </p:cxnSp>
        </p:grpSp>
        <p:sp>
          <p:nvSpPr>
            <p:cNvPr id="340" name="TextBox 339">
              <a:extLst>
                <a:ext uri="{FF2B5EF4-FFF2-40B4-BE49-F238E27FC236}">
                  <a16:creationId xmlns:a16="http://schemas.microsoft.com/office/drawing/2014/main" id="{0BEC5F6B-2325-4F63-9FBC-33EC50DBD05E}"/>
                </a:ext>
              </a:extLst>
            </p:cNvPr>
            <p:cNvSpPr txBox="1"/>
            <p:nvPr/>
          </p:nvSpPr>
          <p:spPr>
            <a:xfrm>
              <a:off x="11382742" y="3870967"/>
              <a:ext cx="540000" cy="180000"/>
            </a:xfrm>
            <a:prstGeom prst="rect">
              <a:avLst/>
            </a:prstGeom>
            <a:noFill/>
          </p:spPr>
          <p:txBody>
            <a:bodyPr wrap="square" lIns="0" tIns="0" rIns="0" bIns="0" rtlCol="0" anchor="ctr">
              <a:noAutofit/>
            </a:bodyPr>
            <a:lstStyle/>
            <a:p>
              <a:pPr algn="ctr"/>
              <a:r>
                <a:rPr lang="en-GB" sz="825" b="1" dirty="0">
                  <a:solidFill>
                    <a:srgbClr val="FFFF00"/>
                  </a:solidFill>
                </a:rPr>
                <a:t>Apr 27</a:t>
              </a:r>
            </a:p>
          </p:txBody>
        </p:sp>
        <p:sp>
          <p:nvSpPr>
            <p:cNvPr id="298" name="TextBox 297">
              <a:extLst>
                <a:ext uri="{FF2B5EF4-FFF2-40B4-BE49-F238E27FC236}">
                  <a16:creationId xmlns:a16="http://schemas.microsoft.com/office/drawing/2014/main" id="{D0ACB21F-CF4D-430E-A97D-DE7AC1C80B87}"/>
                </a:ext>
              </a:extLst>
            </p:cNvPr>
            <p:cNvSpPr txBox="1"/>
            <p:nvPr/>
          </p:nvSpPr>
          <p:spPr>
            <a:xfrm>
              <a:off x="2082472" y="3870967"/>
              <a:ext cx="540000" cy="180000"/>
            </a:xfrm>
            <a:prstGeom prst="rect">
              <a:avLst/>
            </a:prstGeom>
            <a:noFill/>
          </p:spPr>
          <p:txBody>
            <a:bodyPr wrap="square" lIns="0" tIns="0" rIns="0" bIns="0" rtlCol="0" anchor="ctr">
              <a:noAutofit/>
            </a:bodyPr>
            <a:lstStyle/>
            <a:p>
              <a:pPr algn="ctr"/>
              <a:r>
                <a:rPr lang="en-GB" sz="825" b="1" dirty="0">
                  <a:solidFill>
                    <a:srgbClr val="FFFF00"/>
                  </a:solidFill>
                </a:rPr>
                <a:t>Jun 26</a:t>
              </a:r>
            </a:p>
          </p:txBody>
        </p:sp>
        <p:sp>
          <p:nvSpPr>
            <p:cNvPr id="339" name="TextBox 338">
              <a:extLst>
                <a:ext uri="{FF2B5EF4-FFF2-40B4-BE49-F238E27FC236}">
                  <a16:creationId xmlns:a16="http://schemas.microsoft.com/office/drawing/2014/main" id="{7F7E645B-DE0C-41FA-A898-5CAD6AF62080}"/>
                </a:ext>
              </a:extLst>
            </p:cNvPr>
            <p:cNvSpPr txBox="1"/>
            <p:nvPr/>
          </p:nvSpPr>
          <p:spPr>
            <a:xfrm>
              <a:off x="5804935" y="3870967"/>
              <a:ext cx="540000" cy="180000"/>
            </a:xfrm>
            <a:prstGeom prst="rect">
              <a:avLst/>
            </a:prstGeom>
            <a:noFill/>
          </p:spPr>
          <p:txBody>
            <a:bodyPr wrap="square" lIns="0" tIns="0" rIns="0" bIns="0" rtlCol="0" anchor="ctr">
              <a:noAutofit/>
            </a:bodyPr>
            <a:lstStyle/>
            <a:p>
              <a:pPr algn="ctr"/>
              <a:r>
                <a:rPr lang="en-GB" sz="825" b="1" dirty="0">
                  <a:solidFill>
                    <a:srgbClr val="FFFF00"/>
                  </a:solidFill>
                </a:rPr>
                <a:t>Oct 26</a:t>
              </a:r>
            </a:p>
          </p:txBody>
        </p:sp>
        <p:sp>
          <p:nvSpPr>
            <p:cNvPr id="141" name="TextBox 140">
              <a:extLst>
                <a:ext uri="{FF2B5EF4-FFF2-40B4-BE49-F238E27FC236}">
                  <a16:creationId xmlns:a16="http://schemas.microsoft.com/office/drawing/2014/main" id="{3C5891F0-25EC-4AF7-96F0-93EFEEDF722F}"/>
                </a:ext>
              </a:extLst>
            </p:cNvPr>
            <p:cNvSpPr txBox="1"/>
            <p:nvPr/>
          </p:nvSpPr>
          <p:spPr>
            <a:xfrm>
              <a:off x="3942700" y="3870967"/>
              <a:ext cx="540000" cy="180000"/>
            </a:xfrm>
            <a:prstGeom prst="rect">
              <a:avLst/>
            </a:prstGeom>
            <a:noFill/>
          </p:spPr>
          <p:txBody>
            <a:bodyPr wrap="square" lIns="0" tIns="0" rIns="0" bIns="0" rtlCol="0" anchor="ctr">
              <a:noAutofit/>
            </a:bodyPr>
            <a:lstStyle/>
            <a:p>
              <a:pPr algn="ctr"/>
              <a:r>
                <a:rPr lang="en-GB" sz="825" b="1" dirty="0">
                  <a:solidFill>
                    <a:srgbClr val="FFFF00"/>
                  </a:solidFill>
                </a:rPr>
                <a:t>Aug 26</a:t>
              </a:r>
            </a:p>
          </p:txBody>
        </p:sp>
        <p:sp>
          <p:nvSpPr>
            <p:cNvPr id="143" name="TextBox 142">
              <a:extLst>
                <a:ext uri="{FF2B5EF4-FFF2-40B4-BE49-F238E27FC236}">
                  <a16:creationId xmlns:a16="http://schemas.microsoft.com/office/drawing/2014/main" id="{536D9495-9954-4C24-BF2E-5B939DB50147}"/>
                </a:ext>
              </a:extLst>
            </p:cNvPr>
            <p:cNvSpPr txBox="1"/>
            <p:nvPr/>
          </p:nvSpPr>
          <p:spPr>
            <a:xfrm>
              <a:off x="9528394" y="3870967"/>
              <a:ext cx="540000" cy="180000"/>
            </a:xfrm>
            <a:prstGeom prst="rect">
              <a:avLst/>
            </a:prstGeom>
            <a:noFill/>
          </p:spPr>
          <p:txBody>
            <a:bodyPr wrap="square" lIns="0" tIns="0" rIns="0" bIns="0" rtlCol="0" anchor="ctr">
              <a:noAutofit/>
            </a:bodyPr>
            <a:lstStyle/>
            <a:p>
              <a:pPr algn="ctr"/>
              <a:r>
                <a:rPr lang="en-GB" sz="825" b="1" dirty="0">
                  <a:solidFill>
                    <a:srgbClr val="FFFF00"/>
                  </a:solidFill>
                </a:rPr>
                <a:t>Feb 27</a:t>
              </a:r>
            </a:p>
          </p:txBody>
        </p:sp>
      </p:grpSp>
    </p:spTree>
    <p:extLst>
      <p:ext uri="{BB962C8B-B14F-4D97-AF65-F5344CB8AC3E}">
        <p14:creationId xmlns:p14="http://schemas.microsoft.com/office/powerpoint/2010/main" val="1206689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AFA2-85F8-7994-87FD-2BD519356017}"/>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6D246875-ADDB-5165-B2EC-A965BAE9495F}"/>
              </a:ext>
            </a:extLst>
          </p:cNvPr>
          <p:cNvSpPr>
            <a:spLocks noGrp="1"/>
          </p:cNvSpPr>
          <p:nvPr>
            <p:ph type="title"/>
          </p:nvPr>
        </p:nvSpPr>
        <p:spPr>
          <a:xfrm>
            <a:off x="2411413" y="77502"/>
            <a:ext cx="4321175" cy="598337"/>
          </a:xfrm>
        </p:spPr>
        <p:txBody>
          <a:bodyPr vert="horz" lIns="0" tIns="0" rIns="0" bIns="0" rtlCol="0" anchor="t" anchorCtr="0">
            <a:noAutofit/>
          </a:bodyPr>
          <a:lstStyle/>
          <a:p>
            <a:pPr algn="ctr" defTabSz="914378"/>
            <a:r>
              <a:rPr lang="en-US" sz="2400" dirty="0">
                <a:solidFill>
                  <a:srgbClr val="FF0000"/>
                </a:solidFill>
              </a:rPr>
              <a:t>CCS Helix – Release Schedule</a:t>
            </a:r>
            <a:endParaRPr lang="en-GB" sz="2400" dirty="0">
              <a:solidFill>
                <a:srgbClr val="FF0000"/>
              </a:solidFill>
            </a:endParaRPr>
          </a:p>
        </p:txBody>
      </p:sp>
      <p:pic>
        <p:nvPicPr>
          <p:cNvPr id="4" name="Picture 3">
            <a:extLst>
              <a:ext uri="{FF2B5EF4-FFF2-40B4-BE49-F238E27FC236}">
                <a16:creationId xmlns:a16="http://schemas.microsoft.com/office/drawing/2014/main" id="{2CAC229A-7DF1-67E9-DB51-6F8ED834ED45}"/>
              </a:ext>
            </a:extLst>
          </p:cNvPr>
          <p:cNvPicPr>
            <a:picLocks noChangeAspect="1"/>
          </p:cNvPicPr>
          <p:nvPr/>
        </p:nvPicPr>
        <p:blipFill>
          <a:blip r:embed="rId2"/>
          <a:stretch>
            <a:fillRect/>
          </a:stretch>
        </p:blipFill>
        <p:spPr>
          <a:xfrm>
            <a:off x="361481" y="380223"/>
            <a:ext cx="8137588" cy="4618009"/>
          </a:xfrm>
          <a:prstGeom prst="rect">
            <a:avLst/>
          </a:prstGeom>
        </p:spPr>
      </p:pic>
    </p:spTree>
    <p:extLst>
      <p:ext uri="{BB962C8B-B14F-4D97-AF65-F5344CB8AC3E}">
        <p14:creationId xmlns:p14="http://schemas.microsoft.com/office/powerpoint/2010/main" val="4169477411"/>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65700" y="2267400"/>
            <a:ext cx="8712000" cy="285431"/>
          </a:xfrm>
        </p:spPr>
        <p:txBody>
          <a:bodyPr/>
          <a:lstStyle/>
          <a:p>
            <a:pPr marL="0" indent="0">
              <a:buNone/>
            </a:pPr>
            <a:r>
              <a:rPr lang="en-GB" sz="1600" dirty="0"/>
              <a:t>Detailed Schedule is </a:t>
            </a:r>
            <a:r>
              <a:rPr lang="en-GB" sz="1600" dirty="0">
                <a:hlinkClick r:id="rId3"/>
              </a:rPr>
              <a:t>CCS Helix - Schedule.xlsx</a:t>
            </a:r>
            <a:endParaRPr lang="en-GB" sz="1600" dirty="0"/>
          </a:p>
        </p:txBody>
      </p:sp>
      <p:sp>
        <p:nvSpPr>
          <p:cNvPr id="6" name="Title 5"/>
          <p:cNvSpPr>
            <a:spLocks noGrp="1"/>
          </p:cNvSpPr>
          <p:nvPr>
            <p:ph type="title"/>
          </p:nvPr>
        </p:nvSpPr>
        <p:spPr/>
        <p:txBody>
          <a:bodyPr/>
          <a:lstStyle/>
          <a:p>
            <a:r>
              <a:rPr lang="en-GB" altLang="en-US" dirty="0"/>
              <a:t>Schedule || </a:t>
            </a:r>
            <a:r>
              <a:rPr lang="en-GB" altLang="en-US" b="0" dirty="0"/>
              <a:t>Table Views</a:t>
            </a:r>
            <a:endParaRPr lang="en-GB" b="0" dirty="0"/>
          </a:p>
        </p:txBody>
      </p:sp>
      <p:sp>
        <p:nvSpPr>
          <p:cNvPr id="3" name="Date Placeholder 2"/>
          <p:cNvSpPr>
            <a:spLocks noGrp="1"/>
          </p:cNvSpPr>
          <p:nvPr>
            <p:ph type="dt" sz="half" idx="14"/>
          </p:nvPr>
        </p:nvSpPr>
        <p:spPr>
          <a:xfrm>
            <a:off x="4950691" y="4968000"/>
            <a:ext cx="3941309" cy="180000"/>
          </a:xfrm>
        </p:spPr>
        <p:txBody>
          <a:bodyPr/>
          <a:lstStyle/>
          <a:p>
            <a:r>
              <a:rPr lang="en-US"/>
              <a:t>Last Updated: 17 Oct 2024 | Owner: Vincent Stokell | SharePoint ID: TBD</a:t>
            </a:r>
          </a:p>
        </p:txBody>
      </p:sp>
      <p:sp>
        <p:nvSpPr>
          <p:cNvPr id="5" name="Slide Number Placeholder 4"/>
          <p:cNvSpPr>
            <a:spLocks noGrp="1"/>
          </p:cNvSpPr>
          <p:nvPr>
            <p:ph type="sldNum" sz="quarter" idx="15"/>
          </p:nvPr>
        </p:nvSpPr>
        <p:spPr>
          <a:xfrm>
            <a:off x="4365295" y="4968000"/>
            <a:ext cx="413410" cy="180000"/>
          </a:xfrm>
        </p:spPr>
        <p:txBody>
          <a:bodyPr/>
          <a:lstStyle/>
          <a:p>
            <a:fld id="{72A83A2B-3358-44F8-83A0-4598795D8FB5}" type="slidenum">
              <a:rPr lang="en-GB" smtClean="0"/>
              <a:pPr/>
              <a:t>8</a:t>
            </a:fld>
            <a:endParaRPr lang="en-GB" dirty="0"/>
          </a:p>
        </p:txBody>
      </p:sp>
      <p:pic>
        <p:nvPicPr>
          <p:cNvPr id="8" name="Picture 7">
            <a:extLst>
              <a:ext uri="{FF2B5EF4-FFF2-40B4-BE49-F238E27FC236}">
                <a16:creationId xmlns:a16="http://schemas.microsoft.com/office/drawing/2014/main" id="{11B656BA-8300-72B0-939A-AF347AE04292}"/>
              </a:ext>
            </a:extLst>
          </p:cNvPr>
          <p:cNvPicPr>
            <a:picLocks noChangeAspect="1"/>
          </p:cNvPicPr>
          <p:nvPr/>
        </p:nvPicPr>
        <p:blipFill>
          <a:blip r:embed="rId4"/>
          <a:stretch>
            <a:fillRect/>
          </a:stretch>
        </p:blipFill>
        <p:spPr>
          <a:xfrm>
            <a:off x="65700" y="432000"/>
            <a:ext cx="5072286" cy="1791143"/>
          </a:xfrm>
          <a:prstGeom prst="rect">
            <a:avLst/>
          </a:prstGeom>
        </p:spPr>
      </p:pic>
      <p:pic>
        <p:nvPicPr>
          <p:cNvPr id="10" name="Picture 9">
            <a:extLst>
              <a:ext uri="{FF2B5EF4-FFF2-40B4-BE49-F238E27FC236}">
                <a16:creationId xmlns:a16="http://schemas.microsoft.com/office/drawing/2014/main" id="{CF4DD3F4-004D-61FB-CDA3-EAD6A662B93E}"/>
              </a:ext>
            </a:extLst>
          </p:cNvPr>
          <p:cNvPicPr>
            <a:picLocks noChangeAspect="1"/>
          </p:cNvPicPr>
          <p:nvPr/>
        </p:nvPicPr>
        <p:blipFill>
          <a:blip r:embed="rId5"/>
          <a:stretch>
            <a:fillRect/>
          </a:stretch>
        </p:blipFill>
        <p:spPr>
          <a:xfrm>
            <a:off x="65700" y="2552831"/>
            <a:ext cx="5696243" cy="2552831"/>
          </a:xfrm>
          <a:prstGeom prst="rect">
            <a:avLst/>
          </a:prstGeom>
        </p:spPr>
      </p:pic>
    </p:spTree>
    <p:extLst>
      <p:ext uri="{BB962C8B-B14F-4D97-AF65-F5344CB8AC3E}">
        <p14:creationId xmlns:p14="http://schemas.microsoft.com/office/powerpoint/2010/main" val="2089080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EF2BB-AFF5-4C93-5397-8B385A3CF2C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CE902C6-D589-AC47-24AC-2F50AA866004}"/>
              </a:ext>
            </a:extLst>
          </p:cNvPr>
          <p:cNvSpPr>
            <a:spLocks noGrp="1"/>
          </p:cNvSpPr>
          <p:nvPr>
            <p:ph type="ctrTitle"/>
          </p:nvPr>
        </p:nvSpPr>
        <p:spPr/>
        <p:txBody>
          <a:bodyPr/>
          <a:lstStyle/>
          <a:p>
            <a:r>
              <a:rPr lang="en-US" dirty="0"/>
              <a:t>Release Governance</a:t>
            </a:r>
            <a:br>
              <a:rPr lang="en-GB" dirty="0"/>
            </a:br>
            <a:endParaRPr lang="en-GB" dirty="0"/>
          </a:p>
        </p:txBody>
      </p:sp>
      <p:sp>
        <p:nvSpPr>
          <p:cNvPr id="4" name="Slide Number Placeholder 3">
            <a:extLst>
              <a:ext uri="{FF2B5EF4-FFF2-40B4-BE49-F238E27FC236}">
                <a16:creationId xmlns:a16="http://schemas.microsoft.com/office/drawing/2014/main" id="{DD5733B0-38D3-77DE-8929-188DCB3FDA62}"/>
              </a:ext>
            </a:extLst>
          </p:cNvPr>
          <p:cNvSpPr>
            <a:spLocks noGrp="1"/>
          </p:cNvSpPr>
          <p:nvPr>
            <p:ph type="sldNum" sz="quarter" idx="11"/>
          </p:nvPr>
        </p:nvSpPr>
        <p:spPr/>
        <p:txBody>
          <a:bodyPr/>
          <a:lstStyle/>
          <a:p>
            <a:fld id="{72A83A2B-3358-44F8-83A0-4598795D8FB5}" type="slidenum">
              <a:rPr lang="en-GB" smtClean="0"/>
              <a:pPr/>
              <a:t>9</a:t>
            </a:fld>
            <a:endParaRPr lang="en-GB"/>
          </a:p>
        </p:txBody>
      </p:sp>
    </p:spTree>
    <p:extLst>
      <p:ext uri="{BB962C8B-B14F-4D97-AF65-F5344CB8AC3E}">
        <p14:creationId xmlns:p14="http://schemas.microsoft.com/office/powerpoint/2010/main" val="2574967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C1C0D-38C2-4942-589A-D943B29031FB}"/>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BCD66134-1A36-8434-175A-485F0491419E}"/>
              </a:ext>
            </a:extLst>
          </p:cNvPr>
          <p:cNvSpPr txBox="1">
            <a:spLocks/>
          </p:cNvSpPr>
          <p:nvPr/>
        </p:nvSpPr>
        <p:spPr>
          <a:xfrm>
            <a:off x="135001" y="162001"/>
            <a:ext cx="6538913" cy="409310"/>
          </a:xfrm>
          <a:prstGeom prst="rect">
            <a:avLst/>
          </a:prstGeom>
        </p:spPr>
        <p:txBody>
          <a:bodyPr/>
          <a:lstStyle>
            <a:lvl1pPr algn="l" defTabSz="1219170" rtl="0" eaLnBrk="1" latinLnBrk="0" hangingPunct="1">
              <a:lnSpc>
                <a:spcPct val="80000"/>
              </a:lnSpc>
              <a:spcBef>
                <a:spcPct val="0"/>
              </a:spcBef>
              <a:buNone/>
              <a:defRPr sz="3200" b="1" kern="1200">
                <a:solidFill>
                  <a:schemeClr val="accent1"/>
                </a:solidFill>
                <a:latin typeface="Vodafone Rg" pitchFamily="34" charset="0"/>
                <a:ea typeface="+mj-ea"/>
                <a:cs typeface="+mj-cs"/>
              </a:defRPr>
            </a:lvl1pPr>
          </a:lstStyle>
          <a:p>
            <a:pPr defTabSz="914378">
              <a:defRPr/>
            </a:pPr>
            <a:r>
              <a:rPr lang="en-GB" sz="2100" dirty="0">
                <a:solidFill>
                  <a:srgbClr val="FF0000"/>
                </a:solidFill>
                <a:latin typeface="Vodafone Rg (Body)"/>
              </a:rPr>
              <a:t>Governance and Demand Process</a:t>
            </a:r>
          </a:p>
        </p:txBody>
      </p:sp>
      <p:sp>
        <p:nvSpPr>
          <p:cNvPr id="33" name="TextBox 32">
            <a:extLst>
              <a:ext uri="{FF2B5EF4-FFF2-40B4-BE49-F238E27FC236}">
                <a16:creationId xmlns:a16="http://schemas.microsoft.com/office/drawing/2014/main" id="{5A21F5D0-390D-31FC-21EC-2E8F0EE44CFE}"/>
              </a:ext>
            </a:extLst>
          </p:cNvPr>
          <p:cNvSpPr txBox="1"/>
          <p:nvPr/>
        </p:nvSpPr>
        <p:spPr>
          <a:xfrm>
            <a:off x="132821" y="585999"/>
            <a:ext cx="3510000" cy="1070556"/>
          </a:xfrm>
          <a:prstGeom prst="rect">
            <a:avLst/>
          </a:prstGeom>
        </p:spPr>
        <p:txBody>
          <a:bodyPr wrap="square" lIns="0" tIns="0" rIns="0" bIns="0" rtlCol="0">
            <a:noAutofit/>
          </a:bodyPr>
          <a:lstStyle/>
          <a:p>
            <a:pPr algn="ctr" defTabSz="685800">
              <a:defRPr/>
            </a:pPr>
            <a:r>
              <a:rPr lang="en-GB" sz="1050" b="1" u="sng" dirty="0">
                <a:solidFill>
                  <a:srgbClr val="000000"/>
                </a:solidFill>
                <a:latin typeface="Vodafone Rg (Body)"/>
              </a:rPr>
              <a:t>Start of Release Readiness</a:t>
            </a:r>
          </a:p>
          <a:p>
            <a:pPr defTabSz="685800">
              <a:spcAft>
                <a:spcPts val="450"/>
              </a:spcAft>
              <a:defRPr/>
            </a:pPr>
            <a:r>
              <a:rPr lang="en-GB" sz="900" b="1" dirty="0">
                <a:solidFill>
                  <a:srgbClr val="000000"/>
                </a:solidFill>
                <a:latin typeface="Vodafone Rg (Body)"/>
              </a:rPr>
              <a:t>Objective: </a:t>
            </a:r>
            <a:r>
              <a:rPr lang="en-GB" sz="900" dirty="0">
                <a:solidFill>
                  <a:srgbClr val="000000"/>
                </a:solidFill>
                <a:latin typeface="Vodafone Rg (Body)"/>
              </a:rPr>
              <a:t>Alignment of an ADO </a:t>
            </a:r>
            <a:r>
              <a:rPr lang="en-GB" sz="900" u="sng" dirty="0">
                <a:solidFill>
                  <a:srgbClr val="000000"/>
                </a:solidFill>
                <a:latin typeface="Vodafone Rg (Body)"/>
              </a:rPr>
              <a:t>Delivery</a:t>
            </a:r>
            <a:r>
              <a:rPr lang="en-GB" sz="900" dirty="0">
                <a:solidFill>
                  <a:srgbClr val="000000"/>
                </a:solidFill>
                <a:latin typeface="Vodafone Rg (Body)"/>
              </a:rPr>
              <a:t> to the Release the project is targeting for support</a:t>
            </a:r>
          </a:p>
          <a:p>
            <a:pPr>
              <a:spcAft>
                <a:spcPts val="450"/>
              </a:spcAft>
              <a:defRPr/>
            </a:pPr>
            <a:r>
              <a:rPr lang="en-GB" sz="900" b="1" dirty="0">
                <a:latin typeface="Vodafone Rg (Body)"/>
              </a:rPr>
              <a:t>Entry criteria: </a:t>
            </a:r>
            <a:r>
              <a:rPr lang="en-GB" sz="900" u="sng" dirty="0">
                <a:latin typeface="Vodafone Rg (Body)"/>
              </a:rPr>
              <a:t>Epic</a:t>
            </a:r>
            <a:r>
              <a:rPr lang="en-GB" sz="900" dirty="0">
                <a:latin typeface="Vodafone Rg (Body)"/>
              </a:rPr>
              <a:t> in P2D ADO, </a:t>
            </a:r>
            <a:r>
              <a:rPr lang="en-GB" sz="900" u="sng" dirty="0">
                <a:latin typeface="Vodafone Rg (Body)"/>
              </a:rPr>
              <a:t>Feature</a:t>
            </a:r>
            <a:r>
              <a:rPr lang="en-GB" sz="900" dirty="0">
                <a:latin typeface="Vodafone Rg (Body)"/>
              </a:rPr>
              <a:t> &amp; </a:t>
            </a:r>
            <a:r>
              <a:rPr lang="en-GB" sz="900" u="sng" dirty="0">
                <a:latin typeface="Vodafone Rg (Body)"/>
              </a:rPr>
              <a:t>Delivery</a:t>
            </a:r>
            <a:r>
              <a:rPr lang="en-GB" sz="900" dirty="0">
                <a:latin typeface="Vodafone Rg (Body)"/>
              </a:rPr>
              <a:t> in RM ADO, </a:t>
            </a:r>
            <a:r>
              <a:rPr lang="en-GB" sz="900" u="sng" dirty="0">
                <a:latin typeface="Vodafone Rg (Body)"/>
              </a:rPr>
              <a:t>Functions</a:t>
            </a:r>
            <a:r>
              <a:rPr lang="en-GB" sz="900" dirty="0">
                <a:latin typeface="Vodafone Rg (Body)"/>
              </a:rPr>
              <a:t> aligned to the correct impacted applications</a:t>
            </a:r>
          </a:p>
          <a:p>
            <a:pPr defTabSz="685800">
              <a:spcAft>
                <a:spcPts val="450"/>
              </a:spcAft>
              <a:defRPr/>
            </a:pPr>
            <a:r>
              <a:rPr lang="en-GB" sz="900" b="1" dirty="0">
                <a:solidFill>
                  <a:srgbClr val="000000"/>
                </a:solidFill>
                <a:latin typeface="Vodafone Rg (Body)"/>
              </a:rPr>
              <a:t>Audience:</a:t>
            </a:r>
            <a:r>
              <a:rPr lang="en-GB" sz="900" dirty="0">
                <a:solidFill>
                  <a:srgbClr val="000000"/>
                </a:solidFill>
                <a:latin typeface="Vodafone Rg (Body)"/>
              </a:rPr>
              <a:t> VF3 E2E RM, Domain RM, Factory RM, Delivery Managers, Test</a:t>
            </a:r>
          </a:p>
        </p:txBody>
      </p:sp>
      <p:sp>
        <p:nvSpPr>
          <p:cNvPr id="40" name="TextBox 39">
            <a:extLst>
              <a:ext uri="{FF2B5EF4-FFF2-40B4-BE49-F238E27FC236}">
                <a16:creationId xmlns:a16="http://schemas.microsoft.com/office/drawing/2014/main" id="{A0346988-D422-03F2-CEC8-11173D8A0FB0}"/>
              </a:ext>
            </a:extLst>
          </p:cNvPr>
          <p:cNvSpPr txBox="1"/>
          <p:nvPr/>
        </p:nvSpPr>
        <p:spPr>
          <a:xfrm>
            <a:off x="4185000" y="2042959"/>
            <a:ext cx="4914000" cy="1121420"/>
          </a:xfrm>
          <a:prstGeom prst="rect">
            <a:avLst/>
          </a:prstGeom>
        </p:spPr>
        <p:txBody>
          <a:bodyPr wrap="square" lIns="0" tIns="0" rIns="0" bIns="0" rtlCol="0">
            <a:noAutofit/>
          </a:bodyPr>
          <a:lstStyle/>
          <a:p>
            <a:pPr algn="ctr" defTabSz="685800">
              <a:defRPr/>
            </a:pPr>
            <a:r>
              <a:rPr lang="en-GB" sz="1050" b="1" u="sng" dirty="0">
                <a:solidFill>
                  <a:srgbClr val="000000"/>
                </a:solidFill>
                <a:latin typeface="Vodafone Rg (Body)"/>
              </a:rPr>
              <a:t>Check Point 1 (CP1) – Build Scope Freeze</a:t>
            </a:r>
          </a:p>
          <a:p>
            <a:pPr defTabSz="685800">
              <a:spcAft>
                <a:spcPts val="450"/>
              </a:spcAft>
              <a:defRPr/>
            </a:pPr>
            <a:r>
              <a:rPr lang="en-GB" sz="900" b="1" dirty="0">
                <a:solidFill>
                  <a:srgbClr val="000000"/>
                </a:solidFill>
                <a:latin typeface="Vodafone Rg (Body)"/>
              </a:rPr>
              <a:t>Objective: </a:t>
            </a:r>
            <a:r>
              <a:rPr lang="en-GB" sz="900" dirty="0">
                <a:solidFill>
                  <a:srgbClr val="000000"/>
                </a:solidFill>
                <a:latin typeface="Vodafone Rg (Body)"/>
              </a:rPr>
              <a:t>Release scope freeze for build</a:t>
            </a:r>
          </a:p>
          <a:p>
            <a:pPr defTabSz="685800">
              <a:spcAft>
                <a:spcPts val="450"/>
              </a:spcAft>
              <a:defRPr/>
            </a:pPr>
            <a:r>
              <a:rPr lang="en-GB" sz="900" b="1" dirty="0">
                <a:solidFill>
                  <a:srgbClr val="000000"/>
                </a:solidFill>
                <a:latin typeface="Vodafone Rg (Body)"/>
              </a:rPr>
              <a:t>Entry criteria</a:t>
            </a:r>
            <a:r>
              <a:rPr lang="en-GB" sz="900" dirty="0">
                <a:solidFill>
                  <a:srgbClr val="000000"/>
                </a:solidFill>
                <a:latin typeface="Vodafone Rg (Body)"/>
              </a:rPr>
              <a:t>: </a:t>
            </a:r>
            <a:r>
              <a:rPr lang="en-GB" sz="900" u="sng" dirty="0">
                <a:solidFill>
                  <a:srgbClr val="000000"/>
                </a:solidFill>
                <a:latin typeface="Vodafone Rg (Body)"/>
              </a:rPr>
              <a:t>Deliveries</a:t>
            </a:r>
            <a:r>
              <a:rPr lang="en-GB" sz="900" dirty="0">
                <a:solidFill>
                  <a:srgbClr val="000000"/>
                </a:solidFill>
                <a:latin typeface="Vodafone Rg (Body)"/>
              </a:rPr>
              <a:t> (including any component subtasks) &amp; In-Life scope prioritised by Business value; correct L1 &amp; L2 analysis complete, component delivery dates and test plan complete</a:t>
            </a:r>
          </a:p>
          <a:p>
            <a:pPr defTabSz="685800">
              <a:spcAft>
                <a:spcPts val="450"/>
              </a:spcAft>
              <a:defRPr/>
            </a:pPr>
            <a:r>
              <a:rPr lang="en-GB" sz="900" b="1" dirty="0">
                <a:solidFill>
                  <a:srgbClr val="000000"/>
                </a:solidFill>
                <a:latin typeface="Vodafone Rg (Body)"/>
              </a:rPr>
              <a:t>Output: </a:t>
            </a:r>
            <a:r>
              <a:rPr lang="en-GB" sz="900" dirty="0">
                <a:solidFill>
                  <a:srgbClr val="000000"/>
                </a:solidFill>
                <a:latin typeface="Vodafone Rg (Body)"/>
              </a:rPr>
              <a:t>Confirmation that further build requests are being considered for the Release</a:t>
            </a:r>
          </a:p>
          <a:p>
            <a:pPr>
              <a:spcAft>
                <a:spcPts val="450"/>
              </a:spcAft>
              <a:defRPr/>
            </a:pPr>
            <a:r>
              <a:rPr lang="en-GB" sz="900" b="1" dirty="0">
                <a:solidFill>
                  <a:srgbClr val="000000"/>
                </a:solidFill>
                <a:latin typeface="Vodafone Rg (Body)"/>
              </a:rPr>
              <a:t>Audience: </a:t>
            </a:r>
            <a:r>
              <a:rPr lang="en-GB" sz="900" dirty="0">
                <a:solidFill>
                  <a:srgbClr val="000000"/>
                </a:solidFill>
                <a:latin typeface="Vodafone Rg (Body)"/>
              </a:rPr>
              <a:t>VF3 E2E RM, Domain RM, Factory RM, Delivery Managers, Test</a:t>
            </a:r>
          </a:p>
        </p:txBody>
      </p:sp>
      <p:sp>
        <p:nvSpPr>
          <p:cNvPr id="41" name="TextBox 40">
            <a:extLst>
              <a:ext uri="{FF2B5EF4-FFF2-40B4-BE49-F238E27FC236}">
                <a16:creationId xmlns:a16="http://schemas.microsoft.com/office/drawing/2014/main" id="{01C95F3D-D2EB-9336-E671-240905B88D34}"/>
              </a:ext>
            </a:extLst>
          </p:cNvPr>
          <p:cNvSpPr txBox="1"/>
          <p:nvPr/>
        </p:nvSpPr>
        <p:spPr>
          <a:xfrm>
            <a:off x="4185000" y="3171769"/>
            <a:ext cx="4914000" cy="1096448"/>
          </a:xfrm>
          <a:prstGeom prst="rect">
            <a:avLst/>
          </a:prstGeom>
        </p:spPr>
        <p:txBody>
          <a:bodyPr wrap="square" lIns="0" tIns="0" rIns="0" bIns="0" rtlCol="0" anchor="t">
            <a:noAutofit/>
          </a:bodyPr>
          <a:lstStyle/>
          <a:p>
            <a:pPr algn="ctr" defTabSz="685800">
              <a:defRPr/>
            </a:pPr>
            <a:r>
              <a:rPr lang="en-GB" sz="1050" b="1" u="sng" dirty="0">
                <a:solidFill>
                  <a:srgbClr val="000000"/>
                </a:solidFill>
                <a:latin typeface="Vodafone Rg (Body)"/>
              </a:rPr>
              <a:t>Check Point 2 (CP2) – Final Scope Freeze</a:t>
            </a:r>
            <a:endParaRPr lang="en-GB" sz="900" b="1" u="sng" dirty="0">
              <a:solidFill>
                <a:srgbClr val="000000"/>
              </a:solidFill>
              <a:latin typeface="Vodafone Rg (Body)"/>
            </a:endParaRPr>
          </a:p>
          <a:p>
            <a:pPr defTabSz="685800">
              <a:spcAft>
                <a:spcPts val="450"/>
              </a:spcAft>
              <a:defRPr/>
            </a:pPr>
            <a:r>
              <a:rPr lang="en-GB" sz="900" b="1" dirty="0">
                <a:solidFill>
                  <a:srgbClr val="000000"/>
                </a:solidFill>
                <a:latin typeface="Vodafone Rg (Body)"/>
              </a:rPr>
              <a:t>Objective: </a:t>
            </a:r>
            <a:r>
              <a:rPr lang="en-GB" sz="900" dirty="0">
                <a:solidFill>
                  <a:srgbClr val="000000"/>
                </a:solidFill>
                <a:latin typeface="Vodafone Rg (Body)"/>
              </a:rPr>
              <a:t>F</a:t>
            </a:r>
            <a:r>
              <a:rPr lang="en-GB" sz="900" dirty="0">
                <a:latin typeface="Vodafone Rg (Body)"/>
              </a:rPr>
              <a:t>inal scope freeze for Release</a:t>
            </a:r>
          </a:p>
          <a:p>
            <a:pPr>
              <a:spcAft>
                <a:spcPts val="450"/>
              </a:spcAft>
              <a:defRPr/>
            </a:pPr>
            <a:r>
              <a:rPr lang="en-GB" sz="900" b="1" dirty="0">
                <a:solidFill>
                  <a:srgbClr val="000000"/>
                </a:solidFill>
                <a:latin typeface="Vodafone Rg (Body)"/>
              </a:rPr>
              <a:t>Entry criteria: </a:t>
            </a:r>
            <a:r>
              <a:rPr lang="en-GB" sz="900" dirty="0">
                <a:solidFill>
                  <a:srgbClr val="000000"/>
                </a:solidFill>
                <a:latin typeface="Vodafone Rg (Body)"/>
              </a:rPr>
              <a:t>No entry criteria, but this is the final checkpoint where no further </a:t>
            </a:r>
            <a:r>
              <a:rPr lang="en-GB" sz="900" dirty="0">
                <a:latin typeface="Vodafone Rg (Body)"/>
              </a:rPr>
              <a:t>candidates</a:t>
            </a:r>
            <a:r>
              <a:rPr lang="en-GB" sz="900" dirty="0">
                <a:solidFill>
                  <a:srgbClr val="000000"/>
                </a:solidFill>
                <a:latin typeface="Vodafone Rg (Body)"/>
              </a:rPr>
              <a:t> will be considered.</a:t>
            </a:r>
          </a:p>
          <a:p>
            <a:pPr defTabSz="685800">
              <a:spcAft>
                <a:spcPts val="450"/>
              </a:spcAft>
              <a:defRPr/>
            </a:pPr>
            <a:r>
              <a:rPr lang="en-GB" sz="900" b="1" dirty="0">
                <a:solidFill>
                  <a:srgbClr val="000000"/>
                </a:solidFill>
                <a:latin typeface="Vodafone Rg (Body)"/>
              </a:rPr>
              <a:t>Output: </a:t>
            </a:r>
            <a:r>
              <a:rPr lang="en-GB" sz="900" dirty="0">
                <a:solidFill>
                  <a:srgbClr val="000000"/>
                </a:solidFill>
                <a:latin typeface="Vodafone Rg (Body)"/>
              </a:rPr>
              <a:t>Scope closed for the Release</a:t>
            </a:r>
          </a:p>
          <a:p>
            <a:pPr>
              <a:spcAft>
                <a:spcPts val="450"/>
              </a:spcAft>
              <a:defRPr/>
            </a:pPr>
            <a:r>
              <a:rPr lang="en-GB" sz="900" b="1" dirty="0">
                <a:solidFill>
                  <a:srgbClr val="000000"/>
                </a:solidFill>
                <a:latin typeface="Vodafone Rg (Body)"/>
              </a:rPr>
              <a:t>Audience: </a:t>
            </a:r>
            <a:r>
              <a:rPr lang="en-GB" sz="900" dirty="0">
                <a:solidFill>
                  <a:srgbClr val="000000"/>
                </a:solidFill>
                <a:latin typeface="Vodafone Rg (Body)"/>
              </a:rPr>
              <a:t>VF3 E2E RM, Domain RM, Factory RM, Delivery Managers, Test</a:t>
            </a:r>
          </a:p>
        </p:txBody>
      </p:sp>
      <p:sp>
        <p:nvSpPr>
          <p:cNvPr id="38" name="TextBox 37">
            <a:extLst>
              <a:ext uri="{FF2B5EF4-FFF2-40B4-BE49-F238E27FC236}">
                <a16:creationId xmlns:a16="http://schemas.microsoft.com/office/drawing/2014/main" id="{8491D680-404F-1002-064B-BC8DBB71B409}"/>
              </a:ext>
            </a:extLst>
          </p:cNvPr>
          <p:cNvSpPr txBox="1"/>
          <p:nvPr/>
        </p:nvSpPr>
        <p:spPr>
          <a:xfrm>
            <a:off x="4185000" y="4180371"/>
            <a:ext cx="4914000" cy="910765"/>
          </a:xfrm>
          <a:prstGeom prst="rect">
            <a:avLst/>
          </a:prstGeom>
          <a:solidFill>
            <a:schemeClr val="bg1"/>
          </a:solidFill>
        </p:spPr>
        <p:txBody>
          <a:bodyPr wrap="square" lIns="0" tIns="0" rIns="0" bIns="0" rtlCol="0" anchor="t">
            <a:noAutofit/>
          </a:bodyPr>
          <a:lstStyle/>
          <a:p>
            <a:pPr algn="ctr" defTabSz="685800">
              <a:defRPr/>
            </a:pPr>
            <a:r>
              <a:rPr lang="en-GB" sz="1050" b="1" u="sng" dirty="0">
                <a:latin typeface="Vodafone Rg (Body)"/>
              </a:rPr>
              <a:t>Change Requests (CRs)</a:t>
            </a:r>
          </a:p>
          <a:p>
            <a:pPr marL="0" lvl="1" defTabSz="685800">
              <a:spcAft>
                <a:spcPts val="450"/>
              </a:spcAft>
              <a:defRPr/>
            </a:pPr>
            <a:r>
              <a:rPr lang="en-GB" sz="900" b="1" dirty="0">
                <a:latin typeface="Vodafone Rg (Body)"/>
              </a:rPr>
              <a:t>Objective: </a:t>
            </a:r>
            <a:r>
              <a:rPr lang="en-GB" sz="900" dirty="0">
                <a:latin typeface="Vodafone Rg (Body)"/>
              </a:rPr>
              <a:t>Review late changes into the release post-RPM</a:t>
            </a:r>
          </a:p>
          <a:p>
            <a:pPr marL="0" lvl="1" defTabSz="685800">
              <a:spcAft>
                <a:spcPts val="450"/>
              </a:spcAft>
              <a:defRPr/>
            </a:pPr>
            <a:r>
              <a:rPr lang="en-GB" sz="900" b="1" dirty="0">
                <a:latin typeface="Vodafone Rg (Body)"/>
              </a:rPr>
              <a:t>Entry criteria: </a:t>
            </a:r>
            <a:r>
              <a:rPr lang="en-GB" sz="900" dirty="0">
                <a:latin typeface="Vodafone Rg (Body)"/>
              </a:rPr>
              <a:t>Completion of the ADO Change Request</a:t>
            </a:r>
            <a:endParaRPr lang="en-GB" sz="900" b="1" dirty="0">
              <a:latin typeface="Vodafone Rg (Body)"/>
            </a:endParaRPr>
          </a:p>
          <a:p>
            <a:pPr marL="0" lvl="1" defTabSz="685800">
              <a:spcAft>
                <a:spcPts val="450"/>
              </a:spcAft>
              <a:defRPr/>
            </a:pPr>
            <a:r>
              <a:rPr lang="en-GB" sz="900" b="1" dirty="0">
                <a:latin typeface="Vodafone Rg (Body)"/>
              </a:rPr>
              <a:t>Output: </a:t>
            </a:r>
            <a:r>
              <a:rPr lang="en-GB" sz="900" dirty="0">
                <a:latin typeface="Vodafone Rg (Body)"/>
              </a:rPr>
              <a:t>Accepted or rejected based on reasons given, business urgency, risk and impact</a:t>
            </a:r>
          </a:p>
          <a:p>
            <a:pPr marL="0" lvl="1">
              <a:spcAft>
                <a:spcPts val="450"/>
              </a:spcAft>
              <a:defRPr/>
            </a:pPr>
            <a:r>
              <a:rPr lang="en-GB" sz="900" b="1" dirty="0">
                <a:latin typeface="Vodafone Rg (Body)"/>
              </a:rPr>
              <a:t>Audience: </a:t>
            </a:r>
            <a:r>
              <a:rPr lang="en-GB" sz="900" dirty="0">
                <a:latin typeface="Vodafone Rg (Body)"/>
              </a:rPr>
              <a:t>VF3 E2E RM, Domain RM, Factory RM, Delivery Managers, Test</a:t>
            </a:r>
          </a:p>
        </p:txBody>
      </p:sp>
      <p:sp>
        <p:nvSpPr>
          <p:cNvPr id="30" name="TextBox 29">
            <a:extLst>
              <a:ext uri="{FF2B5EF4-FFF2-40B4-BE49-F238E27FC236}">
                <a16:creationId xmlns:a16="http://schemas.microsoft.com/office/drawing/2014/main" id="{97E84248-B083-6ADE-DF8E-3E8C26B0FC4B}"/>
              </a:ext>
            </a:extLst>
          </p:cNvPr>
          <p:cNvSpPr txBox="1"/>
          <p:nvPr/>
        </p:nvSpPr>
        <p:spPr>
          <a:xfrm>
            <a:off x="132821" y="3209849"/>
            <a:ext cx="3510000" cy="1644422"/>
          </a:xfrm>
          <a:prstGeom prst="rect">
            <a:avLst/>
          </a:prstGeom>
        </p:spPr>
        <p:txBody>
          <a:bodyPr wrap="square" lIns="0" tIns="0" rIns="0" bIns="0" rtlCol="0">
            <a:noAutofit/>
          </a:bodyPr>
          <a:lstStyle/>
          <a:p>
            <a:pPr algn="ctr" defTabSz="685800">
              <a:defRPr/>
            </a:pPr>
            <a:r>
              <a:rPr lang="en-GB" sz="1050" b="1" u="sng" dirty="0">
                <a:solidFill>
                  <a:srgbClr val="000000"/>
                </a:solidFill>
                <a:latin typeface="Vodafone Rg (Body)"/>
              </a:rPr>
              <a:t>Release Planning Meeting (RPM)</a:t>
            </a:r>
          </a:p>
          <a:p>
            <a:pPr>
              <a:spcAft>
                <a:spcPts val="450"/>
              </a:spcAft>
              <a:defRPr/>
            </a:pPr>
            <a:r>
              <a:rPr lang="en-GB" sz="900" b="1" dirty="0">
                <a:solidFill>
                  <a:srgbClr val="000000"/>
                </a:solidFill>
                <a:latin typeface="Vodafone Rg (Body)"/>
              </a:rPr>
              <a:t>Objective: </a:t>
            </a:r>
            <a:r>
              <a:rPr lang="en-GB" sz="900" dirty="0">
                <a:solidFill>
                  <a:srgbClr val="000000"/>
                </a:solidFill>
                <a:latin typeface="Vodafone Rg (Body)"/>
              </a:rPr>
              <a:t>Commit </a:t>
            </a:r>
            <a:r>
              <a:rPr lang="en-GB" sz="900" dirty="0">
                <a:latin typeface="Vodafone Rg (Body)"/>
              </a:rPr>
              <a:t>candidates</a:t>
            </a:r>
            <a:r>
              <a:rPr lang="en-GB" sz="900" dirty="0">
                <a:solidFill>
                  <a:srgbClr val="000000"/>
                </a:solidFill>
                <a:latin typeface="Vodafone Rg (Body)"/>
              </a:rPr>
              <a:t> that has fulfilled the complete readiness criteria, where capacity permits, with capacity allocated accordingly</a:t>
            </a:r>
          </a:p>
          <a:p>
            <a:pPr>
              <a:spcAft>
                <a:spcPts val="450"/>
              </a:spcAft>
              <a:defRPr/>
            </a:pPr>
            <a:r>
              <a:rPr lang="en-GB" sz="900" b="1" dirty="0">
                <a:latin typeface="Vodafone Rg (Body)"/>
              </a:rPr>
              <a:t>Entry criteria: </a:t>
            </a:r>
            <a:r>
              <a:rPr lang="en-GB" sz="900" dirty="0">
                <a:solidFill>
                  <a:srgbClr val="000000"/>
                </a:solidFill>
                <a:latin typeface="Vodafone Rg (Body)"/>
              </a:rPr>
              <a:t>Low-level designs (LLDs) must be completed by RPM, Third party dependencies are aligned &amp; prior to SIT start date</a:t>
            </a:r>
          </a:p>
          <a:p>
            <a:pPr>
              <a:spcAft>
                <a:spcPts val="450"/>
              </a:spcAft>
              <a:defRPr/>
            </a:pPr>
            <a:r>
              <a:rPr lang="en-GB" sz="900" b="1" dirty="0">
                <a:latin typeface="Vodafone Rg (Body)"/>
              </a:rPr>
              <a:t>Output: </a:t>
            </a:r>
            <a:r>
              <a:rPr lang="en-GB" sz="900" dirty="0">
                <a:latin typeface="Vodafone Rg (Body)"/>
              </a:rPr>
              <a:t>Commit ready candidates to the release, moving out those not ready (Red)</a:t>
            </a:r>
          </a:p>
          <a:p>
            <a:pPr>
              <a:spcAft>
                <a:spcPts val="450"/>
              </a:spcAft>
              <a:defRPr/>
            </a:pPr>
            <a:r>
              <a:rPr lang="en-GB" sz="900" b="1" dirty="0">
                <a:solidFill>
                  <a:srgbClr val="000000"/>
                </a:solidFill>
                <a:latin typeface="Vodafone Rg (Body)"/>
              </a:rPr>
              <a:t>Audience: </a:t>
            </a:r>
            <a:r>
              <a:rPr lang="en-GB" sz="900" dirty="0">
                <a:solidFill>
                  <a:srgbClr val="000000"/>
                </a:solidFill>
                <a:latin typeface="Vodafone Rg (Body)"/>
              </a:rPr>
              <a:t>VF3 E2E RM, Domain RM, Factory RM, Delivery Managers, Test</a:t>
            </a:r>
          </a:p>
          <a:p>
            <a:pPr lvl="0">
              <a:defRPr/>
            </a:pPr>
            <a:endParaRPr lang="en-GB" sz="900" dirty="0">
              <a:solidFill>
                <a:srgbClr val="000000"/>
              </a:solidFill>
              <a:latin typeface="Vodafone Rg (Body)"/>
            </a:endParaRPr>
          </a:p>
          <a:p>
            <a:pPr>
              <a:spcAft>
                <a:spcPts val="450"/>
              </a:spcAft>
              <a:defRPr/>
            </a:pPr>
            <a:r>
              <a:rPr lang="en-GB" sz="900" dirty="0">
                <a:solidFill>
                  <a:srgbClr val="000000"/>
                </a:solidFill>
                <a:latin typeface="Vodafone Rg (Body)"/>
              </a:rPr>
              <a:t> </a:t>
            </a:r>
            <a:endParaRPr lang="en-GB" sz="900" dirty="0">
              <a:solidFill>
                <a:srgbClr val="FF0000"/>
              </a:solidFill>
              <a:latin typeface="Vodafone Rg (Body)"/>
            </a:endParaRPr>
          </a:p>
        </p:txBody>
      </p:sp>
      <p:sp>
        <p:nvSpPr>
          <p:cNvPr id="36" name="TextBox 35">
            <a:extLst>
              <a:ext uri="{FF2B5EF4-FFF2-40B4-BE49-F238E27FC236}">
                <a16:creationId xmlns:a16="http://schemas.microsoft.com/office/drawing/2014/main" id="{D428F8B3-DAE6-CD91-389D-65BA51FA4D6D}"/>
              </a:ext>
            </a:extLst>
          </p:cNvPr>
          <p:cNvSpPr txBox="1"/>
          <p:nvPr/>
        </p:nvSpPr>
        <p:spPr>
          <a:xfrm>
            <a:off x="132820" y="1744508"/>
            <a:ext cx="3510000" cy="1353519"/>
          </a:xfrm>
          <a:prstGeom prst="rect">
            <a:avLst/>
          </a:prstGeom>
        </p:spPr>
        <p:txBody>
          <a:bodyPr wrap="square" lIns="0" tIns="0" rIns="0" bIns="0" rtlCol="0">
            <a:noAutofit/>
          </a:bodyPr>
          <a:lstStyle/>
          <a:p>
            <a:pPr algn="ctr" defTabSz="685800">
              <a:defRPr/>
            </a:pPr>
            <a:r>
              <a:rPr lang="en-GB" sz="1050" b="1" u="sng" dirty="0">
                <a:solidFill>
                  <a:srgbClr val="000000"/>
                </a:solidFill>
                <a:latin typeface="Vodafone Rg (Body)"/>
              </a:rPr>
              <a:t>Check Point 0 (CP0) – Release Ready</a:t>
            </a:r>
          </a:p>
          <a:p>
            <a:pPr>
              <a:spcAft>
                <a:spcPts val="450"/>
              </a:spcAft>
              <a:defRPr/>
            </a:pPr>
            <a:r>
              <a:rPr lang="en-GB" sz="900" b="1" dirty="0">
                <a:solidFill>
                  <a:srgbClr val="000000"/>
                </a:solidFill>
                <a:latin typeface="Vodafone Rg (Body)"/>
              </a:rPr>
              <a:t>Objective: </a:t>
            </a:r>
            <a:r>
              <a:rPr lang="en-GB" sz="900" dirty="0">
                <a:solidFill>
                  <a:srgbClr val="000000"/>
                </a:solidFill>
                <a:latin typeface="Vodafone Rg (Body)"/>
              </a:rPr>
              <a:t>Assess </a:t>
            </a:r>
            <a:r>
              <a:rPr lang="en-GB" sz="900" dirty="0">
                <a:latin typeface="Vodafone Rg (Body)"/>
              </a:rPr>
              <a:t>candidates</a:t>
            </a:r>
            <a:r>
              <a:rPr lang="en-GB" sz="900" dirty="0">
                <a:solidFill>
                  <a:srgbClr val="000000"/>
                </a:solidFill>
                <a:latin typeface="Vodafone Rg (Body)"/>
              </a:rPr>
              <a:t> targeting the Release for their readiness</a:t>
            </a:r>
          </a:p>
          <a:p>
            <a:pPr>
              <a:spcAft>
                <a:spcPts val="450"/>
              </a:spcAft>
              <a:defRPr/>
            </a:pPr>
            <a:r>
              <a:rPr lang="en-GB" sz="900" b="1" dirty="0">
                <a:latin typeface="Vodafone Rg (Body)"/>
              </a:rPr>
              <a:t>Entry criteria: </a:t>
            </a:r>
            <a:r>
              <a:rPr lang="en-GB" sz="900" dirty="0">
                <a:latin typeface="Vodafone Rg (Body)"/>
              </a:rPr>
              <a:t>All Major Approvals done (E2E HLD &amp; VROMs), Delivery plans provided, LLDs will complete by RPM, with mandatory release readiness criteria filled – See the </a:t>
            </a:r>
            <a:r>
              <a:rPr lang="en-GB" sz="900" dirty="0">
                <a:latin typeface="Vodafone Rg (Body)"/>
                <a:hlinkClick r:id="rId3"/>
              </a:rPr>
              <a:t>Release Readiness - ADO Checklist</a:t>
            </a:r>
            <a:endParaRPr lang="en-GB" sz="900" dirty="0">
              <a:latin typeface="Vodafone Rg (Body)"/>
            </a:endParaRPr>
          </a:p>
          <a:p>
            <a:pPr>
              <a:spcAft>
                <a:spcPts val="450"/>
              </a:spcAft>
              <a:defRPr/>
            </a:pPr>
            <a:r>
              <a:rPr lang="en-GB" sz="900" b="1" dirty="0">
                <a:latin typeface="Vodafone Rg (Body)"/>
              </a:rPr>
              <a:t>Output: </a:t>
            </a:r>
            <a:r>
              <a:rPr lang="en-GB" sz="900" dirty="0">
                <a:latin typeface="Vodafone Rg (Body)"/>
              </a:rPr>
              <a:t>for ready candidates, moving out those not ready (Red)</a:t>
            </a:r>
          </a:p>
          <a:p>
            <a:pPr>
              <a:spcAft>
                <a:spcPts val="450"/>
              </a:spcAft>
              <a:defRPr/>
            </a:pPr>
            <a:r>
              <a:rPr lang="en-GB" sz="900" b="1" dirty="0">
                <a:solidFill>
                  <a:srgbClr val="000000"/>
                </a:solidFill>
                <a:latin typeface="Vodafone Rg (Body)"/>
              </a:rPr>
              <a:t>Audience: </a:t>
            </a:r>
            <a:r>
              <a:rPr lang="en-GB" sz="900" dirty="0">
                <a:solidFill>
                  <a:srgbClr val="000000"/>
                </a:solidFill>
                <a:latin typeface="Vodafone Rg (Body)"/>
              </a:rPr>
              <a:t>VF3 E2E RM, Domain RM, Factory RM, Delivery Managers, Test</a:t>
            </a:r>
          </a:p>
        </p:txBody>
      </p:sp>
      <p:pic>
        <p:nvPicPr>
          <p:cNvPr id="3" name="Picture 2">
            <a:extLst>
              <a:ext uri="{FF2B5EF4-FFF2-40B4-BE49-F238E27FC236}">
                <a16:creationId xmlns:a16="http://schemas.microsoft.com/office/drawing/2014/main" id="{4BAEAE56-1F02-512B-312C-9CB8EF1DFB88}"/>
              </a:ext>
            </a:extLst>
          </p:cNvPr>
          <p:cNvPicPr>
            <a:picLocks noChangeAspect="1"/>
          </p:cNvPicPr>
          <p:nvPr/>
        </p:nvPicPr>
        <p:blipFill>
          <a:blip r:embed="rId4"/>
          <a:stretch>
            <a:fillRect/>
          </a:stretch>
        </p:blipFill>
        <p:spPr>
          <a:xfrm>
            <a:off x="4185000" y="571311"/>
            <a:ext cx="4757612" cy="1433093"/>
          </a:xfrm>
          <a:prstGeom prst="rect">
            <a:avLst/>
          </a:prstGeom>
        </p:spPr>
      </p:pic>
    </p:spTree>
    <p:extLst>
      <p:ext uri="{BB962C8B-B14F-4D97-AF65-F5344CB8AC3E}">
        <p14:creationId xmlns:p14="http://schemas.microsoft.com/office/powerpoint/2010/main" val="529462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888C0-90D1-7A2D-11E2-486777EC7B4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1A3207D-3ABD-C9BA-551F-6E90927D41CE}"/>
              </a:ext>
            </a:extLst>
          </p:cNvPr>
          <p:cNvSpPr/>
          <p:nvPr/>
        </p:nvSpPr>
        <p:spPr>
          <a:xfrm>
            <a:off x="243344" y="614359"/>
            <a:ext cx="3321000" cy="621000"/>
          </a:xfrm>
          <a:prstGeom prst="rect">
            <a:avLst/>
          </a:prstGeom>
          <a:ln/>
        </p:spPr>
        <p:style>
          <a:lnRef idx="2">
            <a:schemeClr val="accent1"/>
          </a:lnRef>
          <a:fillRef idx="1">
            <a:schemeClr val="lt1"/>
          </a:fillRef>
          <a:effectRef idx="0">
            <a:schemeClr val="accent1"/>
          </a:effectRef>
          <a:fontRef idx="minor">
            <a:schemeClr val="dk1"/>
          </a:fontRef>
        </p:style>
        <p:txBody>
          <a:bodyPr spcFirstLastPara="0" vert="horz" wrap="square" lIns="27000" tIns="27000" rIns="27000" bIns="0" numCol="1" spcCol="1270" rtlCol="0" anchor="t" anchorCtr="0">
            <a:noAutofit/>
          </a:bodyPr>
          <a:lstStyle/>
          <a:p>
            <a:pPr lvl="0">
              <a:defRPr/>
            </a:pPr>
            <a:r>
              <a:rPr lang="en-GB" sz="1050" b="1" dirty="0">
                <a:solidFill>
                  <a:srgbClr val="FF0000"/>
                </a:solidFill>
                <a:latin typeface="Vodafone Rg (Body)"/>
              </a:rPr>
              <a:t>Objective</a:t>
            </a:r>
            <a:r>
              <a:rPr lang="en-GB" sz="1050" dirty="0">
                <a:solidFill>
                  <a:srgbClr val="FF0000"/>
                </a:solidFill>
                <a:latin typeface="Vodafone Rg (Body)"/>
              </a:rPr>
              <a:t>: Assess whether candidates targeting this Release are ready to move forward, or should target a later release or move to the backlog</a:t>
            </a:r>
          </a:p>
        </p:txBody>
      </p:sp>
      <p:sp>
        <p:nvSpPr>
          <p:cNvPr id="11" name="Title 1">
            <a:extLst>
              <a:ext uri="{FF2B5EF4-FFF2-40B4-BE49-F238E27FC236}">
                <a16:creationId xmlns:a16="http://schemas.microsoft.com/office/drawing/2014/main" id="{81210B3A-05F0-F5A9-C23F-8AEDA4EABD98}"/>
              </a:ext>
            </a:extLst>
          </p:cNvPr>
          <p:cNvSpPr txBox="1">
            <a:spLocks/>
          </p:cNvSpPr>
          <p:nvPr/>
        </p:nvSpPr>
        <p:spPr>
          <a:xfrm>
            <a:off x="135000" y="162000"/>
            <a:ext cx="8451000" cy="378000"/>
          </a:xfrm>
          <a:prstGeom prst="rect">
            <a:avLst/>
          </a:prstGeom>
        </p:spPr>
        <p:txBody>
          <a:bodyPr/>
          <a:lstStyle>
            <a:lvl1pPr algn="l" defTabSz="1219170" rtl="0" eaLnBrk="1" latinLnBrk="0" hangingPunct="1">
              <a:lnSpc>
                <a:spcPct val="80000"/>
              </a:lnSpc>
              <a:spcBef>
                <a:spcPct val="0"/>
              </a:spcBef>
              <a:buNone/>
              <a:defRPr sz="3200" b="1" kern="1200">
                <a:solidFill>
                  <a:schemeClr val="accent1"/>
                </a:solidFill>
                <a:latin typeface="Vodafone Rg" pitchFamily="34" charset="0"/>
                <a:ea typeface="+mj-ea"/>
                <a:cs typeface="+mj-cs"/>
              </a:defRPr>
            </a:lvl1pPr>
          </a:lstStyle>
          <a:p>
            <a:pPr lvl="0">
              <a:defRPr/>
            </a:pPr>
            <a:r>
              <a:rPr lang="en-GB" sz="2100" dirty="0">
                <a:solidFill>
                  <a:srgbClr val="FF0000"/>
                </a:solidFill>
                <a:latin typeface="Vodafone Rg (Body)"/>
              </a:rPr>
              <a:t>Check Point Zero – Release Ready</a:t>
            </a:r>
            <a:endParaRPr lang="en-GB" sz="2100" b="0" dirty="0">
              <a:solidFill>
                <a:srgbClr val="FF0000"/>
              </a:solidFill>
              <a:latin typeface="Vodafone Rg (Body)"/>
            </a:endParaRPr>
          </a:p>
        </p:txBody>
      </p:sp>
      <p:sp>
        <p:nvSpPr>
          <p:cNvPr id="4" name="TextBox 3">
            <a:extLst>
              <a:ext uri="{FF2B5EF4-FFF2-40B4-BE49-F238E27FC236}">
                <a16:creationId xmlns:a16="http://schemas.microsoft.com/office/drawing/2014/main" id="{15993ECE-D7EA-5A50-4DBA-E24C4AE63A4F}"/>
              </a:ext>
            </a:extLst>
          </p:cNvPr>
          <p:cNvSpPr txBox="1">
            <a:spLocks/>
          </p:cNvSpPr>
          <p:nvPr/>
        </p:nvSpPr>
        <p:spPr>
          <a:xfrm>
            <a:off x="243000" y="1350000"/>
            <a:ext cx="3267000" cy="3780000"/>
          </a:xfrm>
          <a:prstGeom prst="rect">
            <a:avLst/>
          </a:prstGeom>
        </p:spPr>
        <p:txBody>
          <a:bodyPr wrap="square" lIns="27000" tIns="27000" rIns="27000" bIns="27000" rtlCol="0">
            <a:noAutofit/>
          </a:bodyPr>
          <a:lstStyle/>
          <a:p>
            <a:pPr defTabSz="685800">
              <a:defRPr/>
            </a:pPr>
            <a:r>
              <a:rPr lang="en-GB" sz="1050" b="1" dirty="0">
                <a:solidFill>
                  <a:srgbClr val="000000"/>
                </a:solidFill>
                <a:latin typeface="Vodafone Rg (Body)"/>
              </a:rPr>
              <a:t>Entry criteria: </a:t>
            </a:r>
          </a:p>
          <a:p>
            <a:pPr marL="214313" indent="-214313" defTabSz="685800">
              <a:buFont typeface="Arial" panose="020B0604020202020204" pitchFamily="34" charset="0"/>
              <a:buChar char="•"/>
              <a:defRPr/>
            </a:pPr>
            <a:r>
              <a:rPr lang="en-GB" sz="1050" dirty="0">
                <a:solidFill>
                  <a:srgbClr val="000000"/>
                </a:solidFill>
                <a:latin typeface="Vodafone Rg (Body)"/>
              </a:rPr>
              <a:t>Project ITDA, E2E HLD &amp; VROMs signed off</a:t>
            </a:r>
          </a:p>
          <a:p>
            <a:pPr marL="214313" indent="-214313">
              <a:buFont typeface="Arial" panose="020B0604020202020204" pitchFamily="34" charset="0"/>
              <a:buChar char="•"/>
              <a:defRPr/>
            </a:pPr>
            <a:r>
              <a:rPr lang="en-GB" sz="1050" dirty="0">
                <a:solidFill>
                  <a:srgbClr val="000000"/>
                </a:solidFill>
                <a:latin typeface="Vodafone Rg (Body)"/>
              </a:rPr>
              <a:t>ADO 100% complete – </a:t>
            </a:r>
            <a:r>
              <a:rPr lang="en-GB" sz="1050" u="sng" dirty="0">
                <a:solidFill>
                  <a:srgbClr val="000000"/>
                </a:solidFill>
                <a:latin typeface="Vodafone Rg (Body)"/>
              </a:rPr>
              <a:t>EPIC</a:t>
            </a:r>
            <a:r>
              <a:rPr lang="en-GB" sz="1050" dirty="0">
                <a:solidFill>
                  <a:srgbClr val="000000"/>
                </a:solidFill>
                <a:latin typeface="Vodafone Rg (Body)"/>
              </a:rPr>
              <a:t>, </a:t>
            </a:r>
            <a:r>
              <a:rPr lang="en-GB" sz="1050" u="sng" dirty="0">
                <a:solidFill>
                  <a:srgbClr val="000000"/>
                </a:solidFill>
                <a:latin typeface="Vodafone Rg (Body)"/>
              </a:rPr>
              <a:t>Feature</a:t>
            </a:r>
            <a:r>
              <a:rPr lang="en-GB" sz="1050" dirty="0">
                <a:solidFill>
                  <a:srgbClr val="000000"/>
                </a:solidFill>
                <a:latin typeface="Vodafone Rg (Body)"/>
              </a:rPr>
              <a:t>, </a:t>
            </a:r>
            <a:r>
              <a:rPr lang="en-GB" sz="1050" u="sng" dirty="0">
                <a:solidFill>
                  <a:srgbClr val="000000"/>
                </a:solidFill>
                <a:latin typeface="Vodafone Rg (Body)"/>
              </a:rPr>
              <a:t>Delivery</a:t>
            </a:r>
            <a:r>
              <a:rPr lang="en-GB" sz="1050" dirty="0">
                <a:solidFill>
                  <a:srgbClr val="000000"/>
                </a:solidFill>
                <a:latin typeface="Vodafone Rg (Body)"/>
              </a:rPr>
              <a:t> &amp; </a:t>
            </a:r>
            <a:r>
              <a:rPr lang="en-GB" sz="1050" u="sng" dirty="0">
                <a:solidFill>
                  <a:srgbClr val="000000"/>
                </a:solidFill>
                <a:latin typeface="Vodafone Rg (Body)"/>
              </a:rPr>
              <a:t>Functions</a:t>
            </a:r>
            <a:r>
              <a:rPr lang="en-GB" sz="1050" dirty="0">
                <a:solidFill>
                  <a:srgbClr val="000000"/>
                </a:solidFill>
                <a:latin typeface="Vodafone Rg (Body)"/>
              </a:rPr>
              <a:t>. See the </a:t>
            </a:r>
            <a:r>
              <a:rPr lang="en-GB" sz="1050" dirty="0">
                <a:latin typeface="Vodafone Rg (Body)"/>
                <a:hlinkClick r:id="rId3"/>
              </a:rPr>
              <a:t>Release Readiness - ADO Checklist</a:t>
            </a:r>
            <a:endParaRPr lang="en-GB" sz="1050" dirty="0">
              <a:solidFill>
                <a:srgbClr val="000000"/>
              </a:solidFill>
              <a:latin typeface="Vodafone Rg (Body)"/>
            </a:endParaRPr>
          </a:p>
          <a:p>
            <a:pPr marL="214313" indent="-214313">
              <a:buFont typeface="Arial" panose="020B0604020202020204" pitchFamily="34" charset="0"/>
              <a:buChar char="•"/>
              <a:defRPr/>
            </a:pPr>
            <a:r>
              <a:rPr lang="en-GB" sz="1050" dirty="0">
                <a:latin typeface="Vodafone Rg (Body)"/>
              </a:rPr>
              <a:t>Delivery plans provided</a:t>
            </a:r>
          </a:p>
          <a:p>
            <a:pPr marL="214313" indent="-214313">
              <a:buFont typeface="Arial" panose="020B0604020202020204" pitchFamily="34" charset="0"/>
              <a:buChar char="•"/>
              <a:defRPr/>
            </a:pPr>
            <a:r>
              <a:rPr lang="en-GB" sz="1050" dirty="0">
                <a:latin typeface="Vodafone Rg (Body)"/>
              </a:rPr>
              <a:t>LLDs will complete by RPM</a:t>
            </a:r>
          </a:p>
          <a:p>
            <a:pPr marL="214313" indent="-214313">
              <a:buFont typeface="Arial" panose="020B0604020202020204" pitchFamily="34" charset="0"/>
              <a:buChar char="•"/>
              <a:defRPr/>
            </a:pPr>
            <a:r>
              <a:rPr lang="en-GB" sz="1050" dirty="0">
                <a:latin typeface="Vodafone Rg (Body)"/>
              </a:rPr>
              <a:t>VATS and VES engaged</a:t>
            </a:r>
          </a:p>
          <a:p>
            <a:pPr marL="214313" indent="-214313">
              <a:buFont typeface="Arial" panose="020B0604020202020204" pitchFamily="34" charset="0"/>
              <a:buChar char="•"/>
              <a:defRPr/>
            </a:pPr>
            <a:r>
              <a:rPr lang="en-GB" sz="1050" dirty="0">
                <a:solidFill>
                  <a:srgbClr val="000000"/>
                </a:solidFill>
                <a:latin typeface="Vodafone Rg (Body)"/>
              </a:rPr>
              <a:t>Dependencies are confirmed and final</a:t>
            </a:r>
            <a:endParaRPr lang="en-GB" sz="1050" dirty="0">
              <a:latin typeface="Vodafone Rg (Body)"/>
            </a:endParaRPr>
          </a:p>
          <a:p>
            <a:pPr defTabSz="685800">
              <a:spcBef>
                <a:spcPts val="900"/>
              </a:spcBef>
              <a:defRPr/>
            </a:pPr>
            <a:r>
              <a:rPr lang="en-GB" sz="1050" b="1" dirty="0">
                <a:latin typeface="Vodafone Rg (Body)"/>
              </a:rPr>
              <a:t>Output: </a:t>
            </a:r>
            <a:endParaRPr lang="en-GB" sz="1050" dirty="0">
              <a:latin typeface="Vodafone Rg (Body)"/>
            </a:endParaRPr>
          </a:p>
          <a:p>
            <a:pPr marL="214313" indent="-214313" defTabSz="685800">
              <a:buFont typeface="Arial" panose="020B0604020202020204" pitchFamily="34" charset="0"/>
              <a:buChar char="•"/>
              <a:defRPr/>
            </a:pPr>
            <a:r>
              <a:rPr lang="en-GB" sz="1050" dirty="0">
                <a:latin typeface="Vodafone Rg (Body)"/>
              </a:rPr>
              <a:t>Continue with Green and Amber candidates</a:t>
            </a:r>
          </a:p>
          <a:p>
            <a:pPr marL="214313" indent="-214313" defTabSz="685800">
              <a:buFont typeface="Arial" panose="020B0604020202020204" pitchFamily="34" charset="0"/>
              <a:buChar char="•"/>
              <a:defRPr/>
            </a:pPr>
            <a:r>
              <a:rPr lang="en-GB" sz="1050" dirty="0">
                <a:latin typeface="Vodafone Rg (Body)"/>
              </a:rPr>
              <a:t>Move Red candidates to Backlog</a:t>
            </a:r>
          </a:p>
          <a:p>
            <a:pPr marL="214313" indent="-214313" defTabSz="685800">
              <a:buFont typeface="Arial" panose="020B0604020202020204" pitchFamily="34" charset="0"/>
              <a:buChar char="•"/>
              <a:defRPr/>
            </a:pPr>
            <a:r>
              <a:rPr lang="en-GB" sz="1050" dirty="0">
                <a:latin typeface="Vodafone Rg (Body)"/>
              </a:rPr>
              <a:t>Publish CP0 outcomes</a:t>
            </a:r>
          </a:p>
          <a:p>
            <a:pPr marL="214313" indent="-214313" defTabSz="685800">
              <a:buFont typeface="Arial" panose="020B0604020202020204" pitchFamily="34" charset="0"/>
              <a:buChar char="•"/>
              <a:defRPr/>
            </a:pPr>
            <a:r>
              <a:rPr lang="en-GB" sz="1050" dirty="0">
                <a:latin typeface="Vodafone Rg (Body)"/>
              </a:rPr>
              <a:t>Test assessment kick off for Green &amp; Amber candidates</a:t>
            </a:r>
          </a:p>
          <a:p>
            <a:pPr marL="214313" indent="-214313" defTabSz="685800">
              <a:buFont typeface="Arial" panose="020B0604020202020204" pitchFamily="34" charset="0"/>
              <a:buChar char="•"/>
              <a:defRPr/>
            </a:pPr>
            <a:endParaRPr lang="en-GB" sz="1050" b="1" dirty="0">
              <a:latin typeface="Vodafone Rg (Body)"/>
            </a:endParaRPr>
          </a:p>
          <a:p>
            <a:pPr lvl="0">
              <a:defRPr/>
            </a:pPr>
            <a:r>
              <a:rPr lang="en-GB" sz="1050" b="1" dirty="0">
                <a:latin typeface="Vodafone Rg (Body)"/>
              </a:rPr>
              <a:t>Mandatory Audience: </a:t>
            </a:r>
            <a:r>
              <a:rPr lang="en-GB" sz="1050" dirty="0">
                <a:solidFill>
                  <a:srgbClr val="000000"/>
                </a:solidFill>
                <a:latin typeface="Vodafone Rg (Body)"/>
              </a:rPr>
              <a:t>VF3 E2E RM, Domain RM, Factory RM, Delivery Managers, Test (SIT &amp; PAT) &amp; Environments (VES)</a:t>
            </a:r>
          </a:p>
          <a:p>
            <a:pPr defTabSz="685800">
              <a:defRPr/>
            </a:pPr>
            <a:r>
              <a:rPr lang="en-GB" sz="1050" dirty="0">
                <a:solidFill>
                  <a:srgbClr val="000000"/>
                </a:solidFill>
                <a:latin typeface="Vodafone Rg (Body)"/>
              </a:rPr>
              <a:t> </a:t>
            </a:r>
          </a:p>
          <a:p>
            <a:pPr defTabSz="685800">
              <a:defRPr/>
            </a:pPr>
            <a:endParaRPr lang="en-GB" sz="1050" dirty="0">
              <a:solidFill>
                <a:srgbClr val="000000"/>
              </a:solidFill>
              <a:latin typeface="Vodafone Rg (Body)"/>
            </a:endParaRPr>
          </a:p>
        </p:txBody>
      </p:sp>
      <p:graphicFrame>
        <p:nvGraphicFramePr>
          <p:cNvPr id="5" name="Table 4">
            <a:extLst>
              <a:ext uri="{FF2B5EF4-FFF2-40B4-BE49-F238E27FC236}">
                <a16:creationId xmlns:a16="http://schemas.microsoft.com/office/drawing/2014/main" id="{E383661B-C0D3-CEB0-32DF-7631F69CF672}"/>
              </a:ext>
            </a:extLst>
          </p:cNvPr>
          <p:cNvGraphicFramePr>
            <a:graphicFrameLocks noGrp="1"/>
          </p:cNvGraphicFramePr>
          <p:nvPr/>
        </p:nvGraphicFramePr>
        <p:xfrm>
          <a:off x="3726000" y="594000"/>
          <a:ext cx="5265000" cy="3070572"/>
        </p:xfrm>
        <a:graphic>
          <a:graphicData uri="http://schemas.openxmlformats.org/drawingml/2006/table">
            <a:tbl>
              <a:tblPr firstRow="1" bandRow="1">
                <a:tableStyleId>{5C22544A-7EE6-4342-B048-85BDC9FD1C3A}</a:tableStyleId>
              </a:tblPr>
              <a:tblGrid>
                <a:gridCol w="1049529">
                  <a:extLst>
                    <a:ext uri="{9D8B030D-6E8A-4147-A177-3AD203B41FA5}">
                      <a16:colId xmlns:a16="http://schemas.microsoft.com/office/drawing/2014/main" val="3665792996"/>
                    </a:ext>
                  </a:extLst>
                </a:gridCol>
                <a:gridCol w="2087481">
                  <a:extLst>
                    <a:ext uri="{9D8B030D-6E8A-4147-A177-3AD203B41FA5}">
                      <a16:colId xmlns:a16="http://schemas.microsoft.com/office/drawing/2014/main" val="196500768"/>
                    </a:ext>
                  </a:extLst>
                </a:gridCol>
                <a:gridCol w="2127990">
                  <a:extLst>
                    <a:ext uri="{9D8B030D-6E8A-4147-A177-3AD203B41FA5}">
                      <a16:colId xmlns:a16="http://schemas.microsoft.com/office/drawing/2014/main" val="3242177481"/>
                    </a:ext>
                  </a:extLst>
                </a:gridCol>
              </a:tblGrid>
              <a:tr h="258792">
                <a:tc>
                  <a:txBody>
                    <a:bodyPr/>
                    <a:lstStyle/>
                    <a:p>
                      <a:r>
                        <a:rPr lang="en-GB" sz="1200" dirty="0">
                          <a:latin typeface="+mn-lt"/>
                        </a:rPr>
                        <a:t>Participant</a:t>
                      </a:r>
                    </a:p>
                  </a:txBody>
                  <a:tcPr marL="68580" marR="68580" marT="34290" marB="34290"/>
                </a:tc>
                <a:tc>
                  <a:txBody>
                    <a:bodyPr/>
                    <a:lstStyle/>
                    <a:p>
                      <a:r>
                        <a:rPr lang="en-GB" sz="1200" dirty="0">
                          <a:latin typeface="+mn-lt"/>
                        </a:rPr>
                        <a:t>Input (Actions Done)</a:t>
                      </a:r>
                    </a:p>
                  </a:txBody>
                  <a:tcPr marL="68580" marR="68580" marT="34290" marB="34290"/>
                </a:tc>
                <a:tc>
                  <a:txBody>
                    <a:bodyPr/>
                    <a:lstStyle/>
                    <a:p>
                      <a:r>
                        <a:rPr lang="en-GB" sz="1200" dirty="0">
                          <a:latin typeface="+mn-lt"/>
                        </a:rPr>
                        <a:t>Output (Actions to do)</a:t>
                      </a:r>
                    </a:p>
                  </a:txBody>
                  <a:tcPr marL="68580" marR="68580" marT="34290" marB="34290"/>
                </a:tc>
                <a:extLst>
                  <a:ext uri="{0D108BD9-81ED-4DB2-BD59-A6C34878D82A}">
                    <a16:rowId xmlns:a16="http://schemas.microsoft.com/office/drawing/2014/main" val="1495469843"/>
                  </a:ext>
                </a:extLst>
              </a:tr>
              <a:tr h="617220">
                <a:tc>
                  <a:txBody>
                    <a:bodyPr/>
                    <a:lstStyle/>
                    <a:p>
                      <a:r>
                        <a:rPr lang="en-GB" sz="900" b="1" dirty="0">
                          <a:solidFill>
                            <a:srgbClr val="000000"/>
                          </a:solidFill>
                        </a:rPr>
                        <a:t>VF3 E2E RM</a:t>
                      </a:r>
                      <a:endParaRPr lang="en-GB" sz="900" b="1" dirty="0">
                        <a:latin typeface="+mn-lt"/>
                      </a:endParaRPr>
                    </a:p>
                  </a:txBody>
                  <a:tcPr marL="68580" marR="68580" marT="34290" marB="34290"/>
                </a:tc>
                <a:tc>
                  <a:txBody>
                    <a:bodyPr/>
                    <a:lstStyle/>
                    <a:p>
                      <a:pPr marL="171450" indent="-171450">
                        <a:buFont typeface="Arial" panose="020B0604020202020204" pitchFamily="34" charset="0"/>
                        <a:buChar char="•"/>
                      </a:pPr>
                      <a:r>
                        <a:rPr lang="en-GB" sz="900" b="0" dirty="0">
                          <a:latin typeface="+mn-lt"/>
                        </a:rPr>
                        <a:t>Assessed and RAG’d candidates for their readiness</a:t>
                      </a:r>
                    </a:p>
                    <a:p>
                      <a:pPr marL="171450" indent="-171450">
                        <a:buFont typeface="Arial" panose="020B0604020202020204" pitchFamily="34" charset="0"/>
                        <a:buChar char="•"/>
                      </a:pPr>
                      <a:r>
                        <a:rPr lang="en-GB" sz="900" b="0" dirty="0">
                          <a:latin typeface="+mn-lt"/>
                        </a:rPr>
                        <a:t>Reports and dashboard to convey status</a:t>
                      </a:r>
                      <a:endParaRPr lang="en-GB" sz="900" b="0" dirty="0">
                        <a:solidFill>
                          <a:schemeClr val="tx1"/>
                        </a:solidFill>
                        <a:latin typeface="+mn-lt"/>
                      </a:endParaRPr>
                    </a:p>
                  </a:txBody>
                  <a:tcPr marL="68580" marR="68580" marT="34290" marB="34290"/>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t>Continue with Green and Amber candidates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t>Move Red candidates to Backlog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t>Publish CP0 comms</a:t>
                      </a:r>
                      <a:endParaRPr lang="en-GB" sz="900" b="0" dirty="0">
                        <a:latin typeface="+mn-lt"/>
                      </a:endParaRPr>
                    </a:p>
                  </a:txBody>
                  <a:tcPr marL="68580" marR="68580" marT="34290" marB="34290"/>
                </a:tc>
                <a:extLst>
                  <a:ext uri="{0D108BD9-81ED-4DB2-BD59-A6C34878D82A}">
                    <a16:rowId xmlns:a16="http://schemas.microsoft.com/office/drawing/2014/main" val="3746480440"/>
                  </a:ext>
                </a:extLst>
              </a:tr>
              <a:tr h="480060">
                <a:tc>
                  <a:txBody>
                    <a:bodyPr/>
                    <a:lstStyle/>
                    <a:p>
                      <a:r>
                        <a:rPr lang="en-GB" sz="900" b="1" dirty="0">
                          <a:solidFill>
                            <a:schemeClr val="tx1"/>
                          </a:solidFill>
                          <a:latin typeface="+mn-lt"/>
                        </a:rPr>
                        <a:t>Domain RM &amp; Factory RM</a:t>
                      </a:r>
                    </a:p>
                  </a:txBody>
                  <a:tcPr marL="68580" marR="68580" marT="34290" marB="34290"/>
                </a:tc>
                <a:tc>
                  <a:txBody>
                    <a:bodyPr/>
                    <a:lstStyle/>
                    <a:p>
                      <a:pPr marL="171450" indent="-171450">
                        <a:buFont typeface="Arial" panose="020B0604020202020204" pitchFamily="34" charset="0"/>
                        <a:buChar char="•"/>
                      </a:pPr>
                      <a:r>
                        <a:rPr lang="en-GB" sz="900" b="0" dirty="0">
                          <a:latin typeface="+mn-lt"/>
                        </a:rPr>
                        <a:t>VROMS approved</a:t>
                      </a:r>
                    </a:p>
                    <a:p>
                      <a:pPr marL="171450" indent="-171450">
                        <a:buFont typeface="Arial" panose="020B0604020202020204" pitchFamily="34" charset="0"/>
                        <a:buChar char="•"/>
                      </a:pPr>
                      <a:r>
                        <a:rPr lang="en-GB" sz="900" b="0" dirty="0">
                          <a:latin typeface="+mn-lt"/>
                        </a:rPr>
                        <a:t>Delivery plans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b="0" dirty="0">
                          <a:latin typeface="+mn-lt"/>
                        </a:rPr>
                        <a:t>Dependencies confirmed</a:t>
                      </a:r>
                    </a:p>
                  </a:txBody>
                  <a:tcPr marL="68580" marR="68580" marT="34290" marB="34290"/>
                </a:tc>
                <a:tc>
                  <a:txBody>
                    <a:bodyPr/>
                    <a:lstStyle/>
                    <a:p>
                      <a:pPr marL="171450" indent="-171450">
                        <a:buFont typeface="Arial" panose="020B0604020202020204" pitchFamily="34" charset="0"/>
                        <a:buChar char="•"/>
                      </a:pPr>
                      <a:r>
                        <a:rPr lang="en-GB" sz="900" b="0" dirty="0">
                          <a:latin typeface="+mn-lt"/>
                        </a:rPr>
                        <a:t>N/A</a:t>
                      </a:r>
                    </a:p>
                  </a:txBody>
                  <a:tcPr marL="68580" marR="68580" marT="34290" marB="34290" anchor="ctr"/>
                </a:tc>
                <a:extLst>
                  <a:ext uri="{0D108BD9-81ED-4DB2-BD59-A6C34878D82A}">
                    <a16:rowId xmlns:a16="http://schemas.microsoft.com/office/drawing/2014/main" val="1245821284"/>
                  </a:ext>
                </a:extLst>
              </a:tr>
              <a:tr h="891540">
                <a:tc>
                  <a:txBody>
                    <a:bodyPr/>
                    <a:lstStyle/>
                    <a:p>
                      <a:r>
                        <a:rPr kumimoji="0" lang="en-GB" sz="900" b="1" i="0" u="none" strike="noStrike" kern="1200" cap="none" spc="0" normalizeH="0" baseline="0" noProof="0" dirty="0">
                          <a:ln>
                            <a:noFill/>
                          </a:ln>
                          <a:solidFill>
                            <a:srgbClr val="000000"/>
                          </a:solidFill>
                          <a:effectLst/>
                          <a:uLnTx/>
                          <a:uFillTx/>
                          <a:ea typeface="+mn-ea"/>
                          <a:cs typeface="+mn-cs"/>
                        </a:rPr>
                        <a:t>Delivery Managers</a:t>
                      </a:r>
                      <a:endParaRPr lang="en-GB" sz="900" b="1" dirty="0">
                        <a:latin typeface="+mn-lt"/>
                      </a:endParaRPr>
                    </a:p>
                  </a:txBody>
                  <a:tcPr marL="68580" marR="68580" marT="34290" marB="34290"/>
                </a:tc>
                <a:tc>
                  <a:txBody>
                    <a:bodyPr/>
                    <a:lstStyle/>
                    <a:p>
                      <a:pPr marL="171450" indent="-171450">
                        <a:buFont typeface="Arial" panose="020B0604020202020204" pitchFamily="34" charset="0"/>
                        <a:buChar char="•"/>
                      </a:pPr>
                      <a:r>
                        <a:rPr lang="en-GB" sz="900" b="0" dirty="0">
                          <a:latin typeface="+mn-lt"/>
                        </a:rPr>
                        <a:t>ITDA</a:t>
                      </a:r>
                      <a:r>
                        <a:rPr lang="en-GB" sz="900" b="0" baseline="0" dirty="0">
                          <a:latin typeface="+mn-lt"/>
                        </a:rPr>
                        <a:t>, E2E HLD &amp; VROMs approved</a:t>
                      </a:r>
                    </a:p>
                    <a:p>
                      <a:pPr marL="171450" indent="-171450">
                        <a:buFont typeface="Arial" panose="020B0604020202020204" pitchFamily="34" charset="0"/>
                        <a:buChar char="•"/>
                      </a:pPr>
                      <a:r>
                        <a:rPr lang="en-GB" sz="900" b="0" baseline="0" dirty="0">
                          <a:latin typeface="+mn-lt"/>
                        </a:rPr>
                        <a:t>ADO Epic, Feature, Delivery &amp; Functions – Mandatory fields completed</a:t>
                      </a:r>
                    </a:p>
                    <a:p>
                      <a:pPr marL="171450" indent="-171450">
                        <a:buFont typeface="Arial" panose="020B0604020202020204" pitchFamily="34" charset="0"/>
                        <a:buChar char="•"/>
                      </a:pPr>
                      <a:r>
                        <a:rPr lang="en-GB" sz="900" b="0" baseline="0" dirty="0">
                          <a:latin typeface="+mn-lt"/>
                        </a:rPr>
                        <a:t>Test &amp; VES teams engaged – SR / EQF forms raised</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b="0" dirty="0">
                          <a:latin typeface="+mn-lt"/>
                        </a:rPr>
                        <a:t>Engaged all impacted domains</a:t>
                      </a:r>
                    </a:p>
                  </a:txBody>
                  <a:tcPr marL="68580" marR="68580" marT="34290" marB="34290"/>
                </a:tc>
                <a:tc>
                  <a:txBody>
                    <a:bodyPr/>
                    <a:lstStyle/>
                    <a:p>
                      <a:pPr marL="171450" indent="-171450">
                        <a:buFont typeface="Arial" panose="020B0604020202020204" pitchFamily="34" charset="0"/>
                        <a:buChar char="•"/>
                      </a:pPr>
                      <a:r>
                        <a:rPr lang="en-GB" sz="900" b="0" baseline="0" dirty="0">
                          <a:latin typeface="+mn-lt"/>
                        </a:rPr>
                        <a:t>Green candidates move forward</a:t>
                      </a:r>
                    </a:p>
                    <a:p>
                      <a:pPr marL="171450" indent="-171450">
                        <a:buFont typeface="Arial" panose="020B0604020202020204" pitchFamily="34" charset="0"/>
                        <a:buChar char="•"/>
                      </a:pPr>
                      <a:r>
                        <a:rPr lang="en-GB" sz="900" b="0" baseline="0" dirty="0">
                          <a:latin typeface="+mn-lt"/>
                        </a:rPr>
                        <a:t>For Amber, action any outstanding points</a:t>
                      </a:r>
                    </a:p>
                    <a:p>
                      <a:pPr marL="171450" indent="-171450">
                        <a:buFont typeface="Arial" panose="020B0604020202020204" pitchFamily="34" charset="0"/>
                        <a:buChar char="•"/>
                      </a:pPr>
                      <a:r>
                        <a:rPr lang="en-GB" sz="900" b="0" baseline="0" dirty="0">
                          <a:latin typeface="+mn-lt"/>
                        </a:rPr>
                        <a:t>Replan any Red items moved to backlog</a:t>
                      </a:r>
                    </a:p>
                  </a:txBody>
                  <a:tcPr marL="68580" marR="68580" marT="34290" marB="34290"/>
                </a:tc>
                <a:extLst>
                  <a:ext uri="{0D108BD9-81ED-4DB2-BD59-A6C34878D82A}">
                    <a16:rowId xmlns:a16="http://schemas.microsoft.com/office/drawing/2014/main" val="1894371694"/>
                  </a:ext>
                </a:extLst>
              </a:tr>
              <a:tr h="480060">
                <a:tc>
                  <a:txBody>
                    <a:bodyPr/>
                    <a:lstStyle/>
                    <a:p>
                      <a:r>
                        <a:rPr lang="en-GB" sz="900" b="1" dirty="0">
                          <a:latin typeface="+mn-lt"/>
                        </a:rPr>
                        <a:t>Test (SIT &amp; PAT)</a:t>
                      </a:r>
                    </a:p>
                  </a:txBody>
                  <a:tcPr marL="68580" marR="68580" marT="34290" marB="34290"/>
                </a:tc>
                <a:tc>
                  <a:txBody>
                    <a:bodyPr/>
                    <a:lstStyle/>
                    <a:p>
                      <a:pPr marL="171450" indent="-171450">
                        <a:buFont typeface="Arial" panose="020B0604020202020204" pitchFamily="34" charset="0"/>
                        <a:buChar char="•"/>
                      </a:pPr>
                      <a:r>
                        <a:rPr lang="en-GB" sz="900" dirty="0">
                          <a:latin typeface="+mn-lt"/>
                        </a:rPr>
                        <a:t>SIT Test Manager assigned</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latin typeface="+mn-lt"/>
                        </a:rPr>
                        <a:t>SIT planned dates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latin typeface="+mn-lt"/>
                        </a:rPr>
                        <a:t>Update ADO’s Test, Environment fields</a:t>
                      </a: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For Green &amp; Amber candidates, k</a:t>
                      </a:r>
                      <a:r>
                        <a:rPr lang="en-GB" sz="900" dirty="0">
                          <a:latin typeface="+mn-lt"/>
                        </a:rPr>
                        <a:t>ick-off test assessments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latin typeface="+mn-lt"/>
                        </a:rPr>
                        <a:t>Finalise ADO’s Test, Environment fields</a:t>
                      </a:r>
                    </a:p>
                  </a:txBody>
                  <a:tcPr marL="68580" marR="68580" marT="34290" marB="34290"/>
                </a:tc>
                <a:extLst>
                  <a:ext uri="{0D108BD9-81ED-4DB2-BD59-A6C34878D82A}">
                    <a16:rowId xmlns:a16="http://schemas.microsoft.com/office/drawing/2014/main" val="2153192500"/>
                  </a:ext>
                </a:extLst>
              </a:tr>
              <a:tr h="342900">
                <a:tc>
                  <a:txBody>
                    <a:bodyPr/>
                    <a:lstStyle/>
                    <a:p>
                      <a:r>
                        <a:rPr lang="en-GB" sz="900" b="1" dirty="0">
                          <a:solidFill>
                            <a:schemeClr val="tx1"/>
                          </a:solidFill>
                          <a:latin typeface="+mn-lt"/>
                        </a:rPr>
                        <a:t>Environments</a:t>
                      </a:r>
                    </a:p>
                  </a:txBody>
                  <a:tcPr marL="68580" marR="68580" marT="34290" marB="34290"/>
                </a:tc>
                <a:tc>
                  <a:txBody>
                    <a:bodyPr/>
                    <a:lstStyle/>
                    <a:p>
                      <a:pPr marL="171450" indent="-171450">
                        <a:buFont typeface="Arial" panose="020B0604020202020204" pitchFamily="34" charset="0"/>
                        <a:buChar char="•"/>
                      </a:pPr>
                      <a:r>
                        <a:rPr lang="en-GB" sz="900" dirty="0">
                          <a:solidFill>
                            <a:schemeClr val="tx1"/>
                          </a:solidFill>
                          <a:latin typeface="+mn-lt"/>
                        </a:rPr>
                        <a:t>Confirm Environments to be used for this release</a:t>
                      </a:r>
                    </a:p>
                  </a:txBody>
                  <a:tcPr marL="68580" marR="68580" marT="34290" marB="34290"/>
                </a:tc>
                <a:tc>
                  <a:txBody>
                    <a:bodyPr/>
                    <a:lstStyle/>
                    <a:p>
                      <a:pPr marL="171450" indent="-171450">
                        <a:buFont typeface="Arial" panose="020B0604020202020204" pitchFamily="34" charset="0"/>
                        <a:buChar char="•"/>
                      </a:pPr>
                      <a:r>
                        <a:rPr lang="en-GB" sz="900" dirty="0">
                          <a:solidFill>
                            <a:schemeClr val="tx1"/>
                          </a:solidFill>
                          <a:latin typeface="+mn-lt"/>
                        </a:rPr>
                        <a:t>Highlight risks, challenges &amp; dependencies, impacting env. readiness</a:t>
                      </a:r>
                    </a:p>
                  </a:txBody>
                  <a:tcPr marL="68580" marR="68580" marT="34290" marB="34290"/>
                </a:tc>
                <a:extLst>
                  <a:ext uri="{0D108BD9-81ED-4DB2-BD59-A6C34878D82A}">
                    <a16:rowId xmlns:a16="http://schemas.microsoft.com/office/drawing/2014/main" val="3449329229"/>
                  </a:ext>
                </a:extLst>
              </a:tr>
            </a:tbl>
          </a:graphicData>
        </a:graphic>
      </p:graphicFrame>
      <p:sp>
        <p:nvSpPr>
          <p:cNvPr id="2" name="Date Placeholder 1">
            <a:extLst>
              <a:ext uri="{FF2B5EF4-FFF2-40B4-BE49-F238E27FC236}">
                <a16:creationId xmlns:a16="http://schemas.microsoft.com/office/drawing/2014/main" id="{18D253DA-DE5D-74C1-428A-815C3F62311A}"/>
              </a:ext>
            </a:extLst>
          </p:cNvPr>
          <p:cNvSpPr>
            <a:spLocks noGrp="1"/>
          </p:cNvSpPr>
          <p:nvPr>
            <p:ph type="dt" sz="half" idx="2"/>
          </p:nvPr>
        </p:nvSpPr>
        <p:spPr>
          <a:xfrm>
            <a:off x="8280000" y="6624000"/>
            <a:ext cx="3240000" cy="180000"/>
          </a:xfrm>
          <a:prstGeom prst="rect">
            <a:avLst/>
          </a:prstGeom>
        </p:spPr>
        <p:txBody>
          <a:bodyPr vert="horz" lIns="0" tIns="0" rIns="0" bIns="0" rtlCol="0" anchor="ctr" anchorCtr="0"/>
          <a:lstStyle>
            <a:defPPr>
              <a:defRPr lang="en-US"/>
            </a:defPPr>
            <a:lvl1pPr marL="0" algn="l" defTabSz="914400" rtl="0" eaLnBrk="1" latinLnBrk="0" hangingPunct="1">
              <a:defRPr lang="en-GB" sz="1067"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Last Updated: 18 May 2026 | Owner: Vincent Stokell</a:t>
            </a:r>
            <a:endParaRPr lang="en-US" dirty="0"/>
          </a:p>
        </p:txBody>
      </p:sp>
    </p:spTree>
    <p:extLst>
      <p:ext uri="{BB962C8B-B14F-4D97-AF65-F5344CB8AC3E}">
        <p14:creationId xmlns:p14="http://schemas.microsoft.com/office/powerpoint/2010/main" val="3710050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BE614-55D8-BB1B-C899-C84E0F5A30A5}"/>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D7E65B25-17F2-5537-FB77-46BD9D750502}"/>
              </a:ext>
            </a:extLst>
          </p:cNvPr>
          <p:cNvSpPr txBox="1">
            <a:spLocks/>
          </p:cNvSpPr>
          <p:nvPr/>
        </p:nvSpPr>
        <p:spPr>
          <a:xfrm>
            <a:off x="135001" y="162001"/>
            <a:ext cx="6538913" cy="409310"/>
          </a:xfrm>
          <a:prstGeom prst="rect">
            <a:avLst/>
          </a:prstGeom>
        </p:spPr>
        <p:txBody>
          <a:bodyPr/>
          <a:lstStyle>
            <a:lvl1pPr algn="l" defTabSz="1219170" rtl="0" eaLnBrk="1" latinLnBrk="0" hangingPunct="1">
              <a:lnSpc>
                <a:spcPct val="80000"/>
              </a:lnSpc>
              <a:spcBef>
                <a:spcPct val="0"/>
              </a:spcBef>
              <a:buNone/>
              <a:defRPr sz="3200" b="1" kern="1200">
                <a:solidFill>
                  <a:schemeClr val="accent1"/>
                </a:solidFill>
                <a:latin typeface="Vodafone Rg" pitchFamily="34" charset="0"/>
                <a:ea typeface="+mj-ea"/>
                <a:cs typeface="+mj-cs"/>
              </a:defRPr>
            </a:lvl1pPr>
          </a:lstStyle>
          <a:p>
            <a:pPr defTabSz="914378">
              <a:defRPr/>
            </a:pPr>
            <a:r>
              <a:rPr lang="en-GB" sz="2100" dirty="0">
                <a:solidFill>
                  <a:srgbClr val="FF0000"/>
                </a:solidFill>
                <a:latin typeface="Vodafone Rg (Body)"/>
              </a:rPr>
              <a:t>Release Planning Meeting (RPM)</a:t>
            </a:r>
          </a:p>
        </p:txBody>
      </p:sp>
      <p:sp>
        <p:nvSpPr>
          <p:cNvPr id="4" name="TextBox 3">
            <a:extLst>
              <a:ext uri="{FF2B5EF4-FFF2-40B4-BE49-F238E27FC236}">
                <a16:creationId xmlns:a16="http://schemas.microsoft.com/office/drawing/2014/main" id="{295AB247-F8D7-22E2-5EC6-B0DE66AF90AD}"/>
              </a:ext>
            </a:extLst>
          </p:cNvPr>
          <p:cNvSpPr txBox="1"/>
          <p:nvPr/>
        </p:nvSpPr>
        <p:spPr>
          <a:xfrm>
            <a:off x="243000" y="1350000"/>
            <a:ext cx="3267000" cy="3780000"/>
          </a:xfrm>
          <a:prstGeom prst="rect">
            <a:avLst/>
          </a:prstGeom>
        </p:spPr>
        <p:txBody>
          <a:bodyPr wrap="square" lIns="27000" tIns="27000" rIns="27000" bIns="27000" rtlCol="0" anchor="t">
            <a:noAutofit/>
          </a:bodyPr>
          <a:lstStyle/>
          <a:p>
            <a:pPr>
              <a:defRPr/>
            </a:pPr>
            <a:r>
              <a:rPr lang="en-GB" sz="1050" b="1" dirty="0">
                <a:solidFill>
                  <a:srgbClr val="000000"/>
                </a:solidFill>
                <a:latin typeface="Vodafone Rg (Body)"/>
              </a:rPr>
              <a:t>Entry criteria: </a:t>
            </a:r>
          </a:p>
          <a:p>
            <a:pPr marL="214313" indent="-214313" defTabSz="685800">
              <a:buFont typeface="Arial" panose="020B0604020202020204" pitchFamily="34" charset="0"/>
              <a:buChar char="•"/>
              <a:defRPr/>
            </a:pPr>
            <a:r>
              <a:rPr lang="en-GB" sz="1050" dirty="0">
                <a:solidFill>
                  <a:srgbClr val="000000"/>
                </a:solidFill>
                <a:latin typeface="Vodafone Rg (Body)"/>
              </a:rPr>
              <a:t>Delivery plans are available a</a:t>
            </a:r>
            <a:r>
              <a:rPr lang="en-GB" sz="1050" dirty="0">
                <a:latin typeface="Vodafone Rg (Body)"/>
              </a:rPr>
              <a:t>t least 4 working days before RPM, for VF3 E2E RM &amp; Test Assessment</a:t>
            </a:r>
          </a:p>
          <a:p>
            <a:pPr marL="214313" indent="-214313">
              <a:buFont typeface="Arial" panose="020B0604020202020204" pitchFamily="34" charset="0"/>
              <a:buChar char="•"/>
              <a:defRPr/>
            </a:pPr>
            <a:r>
              <a:rPr lang="en-GB" sz="1050" dirty="0">
                <a:solidFill>
                  <a:srgbClr val="000000"/>
                </a:solidFill>
                <a:latin typeface="Vodafone Rg (Body)"/>
              </a:rPr>
              <a:t>Dependencies managed – 3</a:t>
            </a:r>
            <a:r>
              <a:rPr lang="en-GB" sz="1050" baseline="30000" dirty="0">
                <a:solidFill>
                  <a:srgbClr val="000000"/>
                </a:solidFill>
                <a:latin typeface="Vodafone Rg (Body)"/>
              </a:rPr>
              <a:t>rd</a:t>
            </a:r>
            <a:r>
              <a:rPr lang="en-GB" sz="1050" dirty="0">
                <a:solidFill>
                  <a:srgbClr val="000000"/>
                </a:solidFill>
                <a:latin typeface="Vodafone Rg (Body)"/>
              </a:rPr>
              <a:t> Party apps, Projects, Connectivity, etc.</a:t>
            </a:r>
          </a:p>
          <a:p>
            <a:pPr marL="214313" indent="-214313" defTabSz="685800">
              <a:buFont typeface="Arial" panose="020B0604020202020204" pitchFamily="34" charset="0"/>
              <a:buChar char="•"/>
              <a:defRPr/>
            </a:pPr>
            <a:r>
              <a:rPr lang="en-GB" sz="1050" dirty="0">
                <a:solidFill>
                  <a:srgbClr val="000000"/>
                </a:solidFill>
                <a:latin typeface="Vodafone Rg (Body)"/>
              </a:rPr>
              <a:t>Consumption plans</a:t>
            </a:r>
          </a:p>
          <a:p>
            <a:pPr marL="214313" indent="-214313" defTabSz="685800">
              <a:buFont typeface="Arial" panose="020B0604020202020204" pitchFamily="34" charset="0"/>
              <a:buChar char="•"/>
              <a:defRPr/>
            </a:pPr>
            <a:r>
              <a:rPr lang="en-GB" sz="1050" dirty="0">
                <a:solidFill>
                  <a:srgbClr val="000000"/>
                </a:solidFill>
                <a:latin typeface="Vodafone Rg (Body)"/>
              </a:rPr>
              <a:t>SIT planed dates</a:t>
            </a:r>
          </a:p>
          <a:p>
            <a:pPr marL="214313" indent="-214313">
              <a:buFont typeface="Arial" panose="020B0604020202020204" pitchFamily="34" charset="0"/>
              <a:buChar char="•"/>
              <a:defRPr/>
            </a:pPr>
            <a:r>
              <a:rPr lang="en-GB" sz="1050" dirty="0">
                <a:latin typeface="Vodafone Rg (Body)"/>
              </a:rPr>
              <a:t>Test assessments concluded, with capacity available</a:t>
            </a:r>
          </a:p>
          <a:p>
            <a:pPr marL="214313" indent="-214313" defTabSz="685800">
              <a:buFont typeface="Arial" panose="020B0604020202020204" pitchFamily="34" charset="0"/>
              <a:buChar char="•"/>
              <a:defRPr/>
            </a:pPr>
            <a:endParaRPr lang="en-GB" sz="1050" b="1" dirty="0">
              <a:solidFill>
                <a:srgbClr val="000000"/>
              </a:solidFill>
              <a:latin typeface="Vodafone Rg (Body)"/>
            </a:endParaRPr>
          </a:p>
          <a:p>
            <a:pPr defTabSz="685800">
              <a:defRPr/>
            </a:pPr>
            <a:r>
              <a:rPr lang="en-GB" sz="1050" b="1" dirty="0">
                <a:solidFill>
                  <a:srgbClr val="000000"/>
                </a:solidFill>
                <a:latin typeface="Vodafone Rg (Body)"/>
              </a:rPr>
              <a:t>Output:</a:t>
            </a:r>
          </a:p>
          <a:p>
            <a:pPr marL="214313" indent="-214313">
              <a:buFont typeface="Arial" panose="020B0604020202020204" pitchFamily="34" charset="0"/>
              <a:buChar char="•"/>
              <a:defRPr/>
            </a:pPr>
            <a:r>
              <a:rPr lang="en-GB" sz="1050" dirty="0">
                <a:latin typeface="Vodafone Rg (Body)"/>
              </a:rPr>
              <a:t>Commit Green candidates</a:t>
            </a:r>
          </a:p>
          <a:p>
            <a:pPr marL="214313" indent="-214313">
              <a:buFont typeface="Arial" panose="020B0604020202020204" pitchFamily="34" charset="0"/>
              <a:buChar char="•"/>
              <a:defRPr/>
            </a:pPr>
            <a:r>
              <a:rPr lang="en-GB" sz="1050" dirty="0">
                <a:latin typeface="Vodafone Rg (Body)"/>
              </a:rPr>
              <a:t>Amber candidates remain for 1 working week</a:t>
            </a:r>
          </a:p>
          <a:p>
            <a:pPr marL="214313" indent="-214313">
              <a:buFont typeface="Arial" panose="020B0604020202020204" pitchFamily="34" charset="0"/>
              <a:buChar char="•"/>
              <a:defRPr/>
            </a:pPr>
            <a:r>
              <a:rPr lang="en-GB" sz="1050" dirty="0">
                <a:latin typeface="Vodafone Rg (Body)"/>
              </a:rPr>
              <a:t>Red candidates are moved to the Backlog</a:t>
            </a:r>
          </a:p>
          <a:p>
            <a:pPr marL="214313" indent="-214313">
              <a:buFont typeface="Arial" panose="020B0604020202020204" pitchFamily="34" charset="0"/>
              <a:buChar char="•"/>
              <a:defRPr/>
            </a:pPr>
            <a:r>
              <a:rPr lang="en-GB" sz="1050" dirty="0">
                <a:latin typeface="Vodafone Rg (Body)"/>
              </a:rPr>
              <a:t>Publish RPM outcomes</a:t>
            </a:r>
          </a:p>
          <a:p>
            <a:pPr>
              <a:defRPr/>
            </a:pPr>
            <a:endParaRPr lang="en-GB" sz="1050" dirty="0">
              <a:solidFill>
                <a:srgbClr val="000000"/>
              </a:solidFill>
              <a:latin typeface="Vodafone Rg (Body)"/>
            </a:endParaRPr>
          </a:p>
          <a:p>
            <a:pPr>
              <a:spcAft>
                <a:spcPts val="450"/>
              </a:spcAft>
              <a:defRPr/>
            </a:pPr>
            <a:r>
              <a:rPr lang="en-GB" sz="1050" b="1" dirty="0">
                <a:solidFill>
                  <a:srgbClr val="000000"/>
                </a:solidFill>
                <a:latin typeface="Vodafone Rg (Body)"/>
              </a:rPr>
              <a:t>Mandatory </a:t>
            </a:r>
            <a:r>
              <a:rPr lang="en-GB" sz="1050" b="1" dirty="0">
                <a:latin typeface="Vodafone Rg (Body)"/>
              </a:rPr>
              <a:t>Audience</a:t>
            </a:r>
            <a:r>
              <a:rPr lang="en-GB" sz="1050" dirty="0">
                <a:latin typeface="Vodafone Rg (Body)"/>
              </a:rPr>
              <a:t>: </a:t>
            </a:r>
            <a:r>
              <a:rPr lang="en-GB" sz="1050" dirty="0">
                <a:solidFill>
                  <a:srgbClr val="000000"/>
                </a:solidFill>
                <a:latin typeface="Vodafone Rg (Body)"/>
              </a:rPr>
              <a:t>VF3 E2E RM, Domain RM, Factory RM, Delivery Managers, Test (SIT &amp; PAT) &amp; Environments (VES)</a:t>
            </a:r>
            <a:endParaRPr lang="en-GB" sz="1050" dirty="0">
              <a:latin typeface="Vodafone Rg (Body)"/>
            </a:endParaRPr>
          </a:p>
        </p:txBody>
      </p:sp>
      <p:graphicFrame>
        <p:nvGraphicFramePr>
          <p:cNvPr id="5" name="Table 4">
            <a:extLst>
              <a:ext uri="{FF2B5EF4-FFF2-40B4-BE49-F238E27FC236}">
                <a16:creationId xmlns:a16="http://schemas.microsoft.com/office/drawing/2014/main" id="{96E844F6-E1B6-0B95-6825-F99754290EF3}"/>
              </a:ext>
            </a:extLst>
          </p:cNvPr>
          <p:cNvGraphicFramePr>
            <a:graphicFrameLocks noGrp="1"/>
          </p:cNvGraphicFramePr>
          <p:nvPr/>
        </p:nvGraphicFramePr>
        <p:xfrm>
          <a:off x="3726000" y="594000"/>
          <a:ext cx="5265000" cy="3921065"/>
        </p:xfrm>
        <a:graphic>
          <a:graphicData uri="http://schemas.openxmlformats.org/drawingml/2006/table">
            <a:tbl>
              <a:tblPr firstRow="1" bandRow="1">
                <a:tableStyleId>{5C22544A-7EE6-4342-B048-85BDC9FD1C3A}</a:tableStyleId>
              </a:tblPr>
              <a:tblGrid>
                <a:gridCol w="1350000">
                  <a:extLst>
                    <a:ext uri="{9D8B030D-6E8A-4147-A177-3AD203B41FA5}">
                      <a16:colId xmlns:a16="http://schemas.microsoft.com/office/drawing/2014/main" val="3665792996"/>
                    </a:ext>
                  </a:extLst>
                </a:gridCol>
                <a:gridCol w="1971000">
                  <a:extLst>
                    <a:ext uri="{9D8B030D-6E8A-4147-A177-3AD203B41FA5}">
                      <a16:colId xmlns:a16="http://schemas.microsoft.com/office/drawing/2014/main" val="196500768"/>
                    </a:ext>
                  </a:extLst>
                </a:gridCol>
                <a:gridCol w="1944000">
                  <a:extLst>
                    <a:ext uri="{9D8B030D-6E8A-4147-A177-3AD203B41FA5}">
                      <a16:colId xmlns:a16="http://schemas.microsoft.com/office/drawing/2014/main" val="3242177481"/>
                    </a:ext>
                  </a:extLst>
                </a:gridCol>
              </a:tblGrid>
              <a:tr h="278130">
                <a:tc>
                  <a:txBody>
                    <a:bodyPr/>
                    <a:lstStyle/>
                    <a:p>
                      <a:r>
                        <a:rPr lang="en-GB" sz="1200" dirty="0">
                          <a:latin typeface="+mn-lt"/>
                        </a:rPr>
                        <a:t>Participant</a:t>
                      </a:r>
                    </a:p>
                  </a:txBody>
                  <a:tcPr marL="68580" marR="68580" marT="34290" marB="34290"/>
                </a:tc>
                <a:tc>
                  <a:txBody>
                    <a:bodyPr/>
                    <a:lstStyle/>
                    <a:p>
                      <a:r>
                        <a:rPr lang="en-GB" sz="1200" dirty="0">
                          <a:latin typeface="+mn-lt"/>
                        </a:rPr>
                        <a:t>Input (Actions Done)</a:t>
                      </a:r>
                    </a:p>
                  </a:txBody>
                  <a:tcPr marL="68580" marR="68580" marT="34290" marB="34290"/>
                </a:tc>
                <a:tc>
                  <a:txBody>
                    <a:bodyPr/>
                    <a:lstStyle/>
                    <a:p>
                      <a:r>
                        <a:rPr lang="en-GB" sz="1200" dirty="0">
                          <a:latin typeface="+mn-lt"/>
                        </a:rPr>
                        <a:t>Output (Actions to do)</a:t>
                      </a:r>
                    </a:p>
                  </a:txBody>
                  <a:tcPr marL="68580" marR="68580" marT="34290" marB="34290"/>
                </a:tc>
                <a:extLst>
                  <a:ext uri="{0D108BD9-81ED-4DB2-BD59-A6C34878D82A}">
                    <a16:rowId xmlns:a16="http://schemas.microsoft.com/office/drawing/2014/main" val="1495469843"/>
                  </a:ext>
                </a:extLst>
              </a:tr>
              <a:tr h="891540">
                <a:tc>
                  <a:txBody>
                    <a:bodyPr/>
                    <a:lstStyle/>
                    <a:p>
                      <a:r>
                        <a:rPr lang="en-GB" sz="900" b="1" dirty="0">
                          <a:solidFill>
                            <a:srgbClr val="000000"/>
                          </a:solidFill>
                        </a:rPr>
                        <a:t>VF3 E2E RM</a:t>
                      </a:r>
                      <a:endParaRPr lang="en-GB" sz="900" b="1" dirty="0">
                        <a:latin typeface="+mn-lt"/>
                      </a:endParaRP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b="0" dirty="0">
                          <a:latin typeface="+mn-lt"/>
                        </a:rPr>
                        <a:t>Assessed and RAG’d candidates for their readiness</a:t>
                      </a:r>
                    </a:p>
                  </a:txBody>
                  <a:tcPr marL="68580" marR="68580" marT="34290" marB="34290"/>
                </a:tc>
                <a:tc>
                  <a:txBody>
                    <a:bodyPr/>
                    <a:lstStyle/>
                    <a:p>
                      <a:pPr marL="285750" lvl="0" indent="-285750">
                        <a:buFont typeface="Arial" panose="020B0604020202020204" pitchFamily="34" charset="0"/>
                        <a:buChar char="•"/>
                        <a:defRPr/>
                      </a:pPr>
                      <a:r>
                        <a:rPr lang="en-GB" sz="900" dirty="0"/>
                        <a:t>Commit Green candidates</a:t>
                      </a:r>
                    </a:p>
                    <a:p>
                      <a:pPr marL="285750" lvl="0" indent="-285750">
                        <a:buFont typeface="Arial" panose="020B0604020202020204" pitchFamily="34" charset="0"/>
                        <a:buChar char="•"/>
                        <a:defRPr/>
                      </a:pPr>
                      <a:r>
                        <a:rPr lang="en-GB" sz="900" dirty="0"/>
                        <a:t>Amber candidates remain for 1 working week</a:t>
                      </a:r>
                    </a:p>
                    <a:p>
                      <a:pPr marL="285750" lvl="0" indent="-285750">
                        <a:buFont typeface="Arial" panose="020B0604020202020204" pitchFamily="34" charset="0"/>
                        <a:buChar char="•"/>
                        <a:defRPr/>
                      </a:pPr>
                      <a:r>
                        <a:rPr lang="en-GB" sz="900" dirty="0"/>
                        <a:t>Red candidates are moved to the Backlog</a:t>
                      </a:r>
                    </a:p>
                    <a:p>
                      <a:pPr marL="285750" lvl="0" indent="-285750">
                        <a:buFont typeface="Arial" panose="020B0604020202020204" pitchFamily="34" charset="0"/>
                        <a:buChar char="•"/>
                        <a:defRPr/>
                      </a:pPr>
                      <a:r>
                        <a:rPr lang="en-GB" sz="900" dirty="0"/>
                        <a:t>Publish RPM outcomes</a:t>
                      </a:r>
                      <a:endParaRPr lang="en-GB" sz="900" dirty="0">
                        <a:latin typeface="+mn-lt"/>
                      </a:endParaRPr>
                    </a:p>
                  </a:txBody>
                  <a:tcPr marL="68580" marR="68580" marT="34290" marB="34290"/>
                </a:tc>
                <a:extLst>
                  <a:ext uri="{0D108BD9-81ED-4DB2-BD59-A6C34878D82A}">
                    <a16:rowId xmlns:a16="http://schemas.microsoft.com/office/drawing/2014/main" val="3746480440"/>
                  </a:ext>
                </a:extLst>
              </a:tr>
              <a:tr h="625415">
                <a:tc>
                  <a:txBody>
                    <a:bodyPr/>
                    <a:lstStyle/>
                    <a:p>
                      <a:r>
                        <a:rPr lang="en-GB" sz="900" b="1" dirty="0">
                          <a:latin typeface="+mn-lt"/>
                        </a:rPr>
                        <a:t>Domain </a:t>
                      </a:r>
                      <a:r>
                        <a:rPr lang="en-GB" sz="900" b="1" dirty="0">
                          <a:solidFill>
                            <a:schemeClr val="tx1"/>
                          </a:solidFill>
                          <a:latin typeface="+mn-lt"/>
                        </a:rPr>
                        <a:t>RM &amp; Factory RM</a:t>
                      </a:r>
                    </a:p>
                  </a:txBody>
                  <a:tcPr marL="68580" marR="68580" marT="34290" marB="34290"/>
                </a:tc>
                <a:tc>
                  <a:txBody>
                    <a:bodyPr/>
                    <a:lstStyle/>
                    <a:p>
                      <a:pPr marL="171450" indent="-171450">
                        <a:buFont typeface="Arial" panose="020B0604020202020204" pitchFamily="34" charset="0"/>
                        <a:buChar char="•"/>
                      </a:pPr>
                      <a:r>
                        <a:rPr lang="en-GB" sz="900" b="0" dirty="0">
                          <a:solidFill>
                            <a:schemeClr val="tx1"/>
                          </a:solidFill>
                          <a:latin typeface="+mn-lt"/>
                        </a:rPr>
                        <a:t>VROMS approved</a:t>
                      </a:r>
                    </a:p>
                    <a:p>
                      <a:pPr marL="171450" indent="-171450">
                        <a:buFont typeface="Arial" panose="020B0604020202020204" pitchFamily="34" charset="0"/>
                        <a:buChar char="•"/>
                      </a:pPr>
                      <a:r>
                        <a:rPr lang="en-GB" sz="900" b="0" dirty="0">
                          <a:solidFill>
                            <a:schemeClr val="tx1"/>
                          </a:solidFill>
                          <a:latin typeface="+mn-lt"/>
                        </a:rPr>
                        <a:t>Delivery plans</a:t>
                      </a:r>
                    </a:p>
                    <a:p>
                      <a:pPr marL="171450" indent="-171450">
                        <a:buFont typeface="Arial" panose="020B0604020202020204" pitchFamily="34" charset="0"/>
                        <a:buChar char="•"/>
                      </a:pPr>
                      <a:r>
                        <a:rPr lang="en-GB" sz="900" b="0" dirty="0">
                          <a:latin typeface="+mn-lt"/>
                        </a:rPr>
                        <a:t>Technical dependencies highlighted</a:t>
                      </a:r>
                    </a:p>
                    <a:p>
                      <a:pPr marL="171450" indent="-171450">
                        <a:buFont typeface="Arial" panose="020B0604020202020204" pitchFamily="34" charset="0"/>
                        <a:buChar char="•"/>
                      </a:pPr>
                      <a:r>
                        <a:rPr lang="en-GB" sz="900" dirty="0">
                          <a:solidFill>
                            <a:schemeClr val="tx1"/>
                          </a:solidFill>
                          <a:latin typeface="+mn-lt"/>
                        </a:rPr>
                        <a:t>Low level design complete</a:t>
                      </a:r>
                    </a:p>
                  </a:txBody>
                  <a:tcPr marL="68580" marR="68580" marT="34290" marB="34290"/>
                </a:tc>
                <a:tc>
                  <a:txBody>
                    <a:bodyPr/>
                    <a:lstStyle/>
                    <a:p>
                      <a:pPr marL="171450" indent="-171450">
                        <a:buFont typeface="Arial" panose="020B0604020202020204" pitchFamily="34" charset="0"/>
                        <a:buChar char="•"/>
                      </a:pPr>
                      <a:r>
                        <a:rPr lang="en-GB" sz="900" dirty="0">
                          <a:latin typeface="+mn-lt"/>
                        </a:rPr>
                        <a:t>Ensure Domain and Development teams proceed with the scope committed</a:t>
                      </a:r>
                    </a:p>
                  </a:txBody>
                  <a:tcPr marL="68580" marR="68580" marT="34290" marB="34290"/>
                </a:tc>
                <a:extLst>
                  <a:ext uri="{0D108BD9-81ED-4DB2-BD59-A6C34878D82A}">
                    <a16:rowId xmlns:a16="http://schemas.microsoft.com/office/drawing/2014/main" val="318135666"/>
                  </a:ext>
                </a:extLst>
              </a:tr>
              <a:tr h="75438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0000"/>
                          </a:solidFill>
                          <a:effectLst/>
                          <a:uLnTx/>
                          <a:uFillTx/>
                          <a:ea typeface="+mn-ea"/>
                          <a:cs typeface="+mn-cs"/>
                        </a:rPr>
                        <a:t>Delivery Managers</a:t>
                      </a:r>
                      <a:endParaRPr lang="en-GB" sz="900" b="1" dirty="0">
                        <a:latin typeface="+mn-lt"/>
                      </a:endParaRPr>
                    </a:p>
                  </a:txBody>
                  <a:tcPr marL="68580" marR="68580" marT="34290" marB="34290"/>
                </a:tc>
                <a:tc>
                  <a:txBody>
                    <a:bodyPr/>
                    <a:lstStyle/>
                    <a:p>
                      <a:pPr marL="171450" indent="-171450">
                        <a:buFont typeface="Arial" panose="020B0604020202020204" pitchFamily="34" charset="0"/>
                        <a:buChar char="•"/>
                      </a:pPr>
                      <a:r>
                        <a:rPr lang="en-GB" sz="900" b="0" dirty="0">
                          <a:latin typeface="+mn-lt"/>
                        </a:rPr>
                        <a:t>All release readiness requirements are met</a:t>
                      </a:r>
                    </a:p>
                  </a:txBody>
                  <a:tcPr marL="68580" marR="68580" marT="34290" marB="34290"/>
                </a:tc>
                <a:tc>
                  <a:txBody>
                    <a:bodyPr/>
                    <a:lstStyle/>
                    <a:p>
                      <a:pPr marL="285750" lvl="0" indent="-285750">
                        <a:buFont typeface="Arial" panose="020B0604020202020204" pitchFamily="34" charset="0"/>
                        <a:buChar char="•"/>
                        <a:defRPr/>
                      </a:pPr>
                      <a:r>
                        <a:rPr lang="en-GB" sz="900" dirty="0"/>
                        <a:t>Close outstanding actions with Amber candidates within 1 working week</a:t>
                      </a:r>
                    </a:p>
                    <a:p>
                      <a:pPr marL="285750" lvl="0" indent="-285750">
                        <a:buFont typeface="Arial" panose="020B0604020202020204" pitchFamily="34" charset="0"/>
                        <a:buChar char="•"/>
                        <a:defRPr/>
                      </a:pPr>
                      <a:r>
                        <a:rPr lang="en-GB" sz="900" dirty="0"/>
                        <a:t>Address issues with Red candidates, and target a future release</a:t>
                      </a:r>
                      <a:endParaRPr lang="en-GB" sz="900" dirty="0">
                        <a:latin typeface="+mn-lt"/>
                      </a:endParaRPr>
                    </a:p>
                  </a:txBody>
                  <a:tcPr marL="68580" marR="68580" marT="34290" marB="34290"/>
                </a:tc>
                <a:extLst>
                  <a:ext uri="{0D108BD9-81ED-4DB2-BD59-A6C34878D82A}">
                    <a16:rowId xmlns:a16="http://schemas.microsoft.com/office/drawing/2014/main" val="1660452922"/>
                  </a:ext>
                </a:extLst>
              </a:tr>
              <a:tr h="3429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900" b="1" dirty="0">
                          <a:latin typeface="+mn-lt"/>
                        </a:rPr>
                        <a:t>Test (SIT &amp; PAT)</a:t>
                      </a: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Test assessments completed</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latin typeface="+mn-lt"/>
                        </a:rPr>
                        <a:t>Finalise ADO’s Test, Environment fields</a:t>
                      </a: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Commence test preparation</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Test quotes Issued</a:t>
                      </a:r>
                    </a:p>
                  </a:txBody>
                  <a:tcPr marL="68580" marR="68580" marT="34290" marB="34290"/>
                </a:tc>
                <a:extLst>
                  <a:ext uri="{0D108BD9-81ED-4DB2-BD59-A6C34878D82A}">
                    <a16:rowId xmlns:a16="http://schemas.microsoft.com/office/drawing/2014/main" val="2153192500"/>
                  </a:ext>
                </a:extLst>
              </a:tr>
              <a:tr h="754380">
                <a:tc>
                  <a:txBody>
                    <a:bodyPr/>
                    <a:lstStyle/>
                    <a:p>
                      <a:r>
                        <a:rPr lang="en-GB" sz="900" b="1" dirty="0">
                          <a:solidFill>
                            <a:schemeClr val="tx1"/>
                          </a:solidFill>
                          <a:latin typeface="+mn-lt"/>
                        </a:rPr>
                        <a:t>Environments</a:t>
                      </a: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Review EQF</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Highlight risks, challenges &amp; dependencies impacting environment readiness</a:t>
                      </a: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900" dirty="0">
                        <a:solidFill>
                          <a:schemeClr val="tx1"/>
                        </a:solidFill>
                        <a:latin typeface="+mn-lt"/>
                      </a:endParaRP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Proposed plans &amp; uplift timelines for VES owned apps</a:t>
                      </a:r>
                    </a:p>
                    <a:p>
                      <a:pPr marL="0" indent="0">
                        <a:buFont typeface="Arial" panose="020B0604020202020204" pitchFamily="34" charset="0"/>
                        <a:buNone/>
                      </a:pPr>
                      <a:endParaRPr lang="en-GB" sz="900" dirty="0">
                        <a:solidFill>
                          <a:schemeClr val="tx1"/>
                        </a:solidFill>
                        <a:latin typeface="+mn-lt"/>
                      </a:endParaRPr>
                    </a:p>
                  </a:txBody>
                  <a:tcPr marL="68580" marR="68580" marT="34290" marB="34290"/>
                </a:tc>
                <a:extLst>
                  <a:ext uri="{0D108BD9-81ED-4DB2-BD59-A6C34878D82A}">
                    <a16:rowId xmlns:a16="http://schemas.microsoft.com/office/drawing/2014/main" val="3492830826"/>
                  </a:ext>
                </a:extLst>
              </a:tr>
            </a:tbl>
          </a:graphicData>
        </a:graphic>
      </p:graphicFrame>
      <p:sp>
        <p:nvSpPr>
          <p:cNvPr id="7" name="Rectangle 6">
            <a:extLst>
              <a:ext uri="{FF2B5EF4-FFF2-40B4-BE49-F238E27FC236}">
                <a16:creationId xmlns:a16="http://schemas.microsoft.com/office/drawing/2014/main" id="{0E0AD2CC-8D76-1755-F411-88745DC66764}"/>
              </a:ext>
            </a:extLst>
          </p:cNvPr>
          <p:cNvSpPr/>
          <p:nvPr/>
        </p:nvSpPr>
        <p:spPr>
          <a:xfrm>
            <a:off x="243344" y="614358"/>
            <a:ext cx="3321000" cy="621000"/>
          </a:xfrm>
          <a:prstGeom prst="rect">
            <a:avLst/>
          </a:prstGeom>
          <a:ln/>
        </p:spPr>
        <p:style>
          <a:lnRef idx="2">
            <a:schemeClr val="accent1"/>
          </a:lnRef>
          <a:fillRef idx="1">
            <a:schemeClr val="lt1"/>
          </a:fillRef>
          <a:effectRef idx="0">
            <a:schemeClr val="accent1"/>
          </a:effectRef>
          <a:fontRef idx="minor">
            <a:schemeClr val="dk1"/>
          </a:fontRef>
        </p:style>
        <p:txBody>
          <a:bodyPr spcFirstLastPara="0" vert="horz" wrap="square" lIns="27000" tIns="27000" rIns="27000" bIns="0" numCol="1" spcCol="1270" rtlCol="0" anchor="t" anchorCtr="0">
            <a:noAutofit/>
          </a:bodyPr>
          <a:lstStyle/>
          <a:p>
            <a:pPr lvl="0">
              <a:defRPr/>
            </a:pPr>
            <a:r>
              <a:rPr lang="en-GB" sz="1050" b="1" dirty="0">
                <a:solidFill>
                  <a:srgbClr val="FF0000"/>
                </a:solidFill>
                <a:latin typeface="Vodafone Rg (Body)"/>
              </a:rPr>
              <a:t>Objective: </a:t>
            </a:r>
            <a:r>
              <a:rPr lang="en-GB" sz="1050" dirty="0">
                <a:solidFill>
                  <a:srgbClr val="FF0000"/>
                </a:solidFill>
                <a:latin typeface="Vodafone Rg (Body)"/>
              </a:rPr>
              <a:t>Commit candidates into the Release, where all readiness requirements are met, including Test assessments</a:t>
            </a:r>
          </a:p>
        </p:txBody>
      </p:sp>
      <p:sp>
        <p:nvSpPr>
          <p:cNvPr id="2" name="Date Placeholder 1">
            <a:extLst>
              <a:ext uri="{FF2B5EF4-FFF2-40B4-BE49-F238E27FC236}">
                <a16:creationId xmlns:a16="http://schemas.microsoft.com/office/drawing/2014/main" id="{E39E9584-E491-16C2-5A17-16AFFEC6E424}"/>
              </a:ext>
            </a:extLst>
          </p:cNvPr>
          <p:cNvSpPr>
            <a:spLocks noGrp="1"/>
          </p:cNvSpPr>
          <p:nvPr>
            <p:ph type="dt" sz="half" idx="2"/>
          </p:nvPr>
        </p:nvSpPr>
        <p:spPr>
          <a:xfrm>
            <a:off x="8280000" y="6624000"/>
            <a:ext cx="3240000" cy="180000"/>
          </a:xfrm>
          <a:prstGeom prst="rect">
            <a:avLst/>
          </a:prstGeom>
        </p:spPr>
        <p:txBody>
          <a:bodyPr vert="horz" lIns="0" tIns="0" rIns="0" bIns="0" rtlCol="0" anchor="ctr" anchorCtr="0"/>
          <a:lstStyle>
            <a:defPPr>
              <a:defRPr lang="en-US"/>
            </a:defPPr>
            <a:lvl1pPr marL="0" algn="l" defTabSz="914400" rtl="0" eaLnBrk="1" latinLnBrk="0" hangingPunct="1">
              <a:defRPr lang="en-GB" sz="1067"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Last Updated: 18 May 2026 | Owner: Vincent Stokell</a:t>
            </a:r>
            <a:endParaRPr lang="en-US" dirty="0"/>
          </a:p>
        </p:txBody>
      </p:sp>
    </p:spTree>
    <p:extLst>
      <p:ext uri="{BB962C8B-B14F-4D97-AF65-F5344CB8AC3E}">
        <p14:creationId xmlns:p14="http://schemas.microsoft.com/office/powerpoint/2010/main" val="800053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49D9F-B60D-44AE-E86D-B84BCD9FB037}"/>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6783D350-8F59-D486-5834-2389C1D4CC20}"/>
              </a:ext>
            </a:extLst>
          </p:cNvPr>
          <p:cNvSpPr txBox="1">
            <a:spLocks/>
          </p:cNvSpPr>
          <p:nvPr/>
        </p:nvSpPr>
        <p:spPr>
          <a:xfrm>
            <a:off x="135001" y="162001"/>
            <a:ext cx="6538913" cy="409310"/>
          </a:xfrm>
          <a:prstGeom prst="rect">
            <a:avLst/>
          </a:prstGeom>
        </p:spPr>
        <p:txBody>
          <a:bodyPr anchor="t"/>
          <a:lstStyle>
            <a:lvl1pPr algn="l" defTabSz="1219170" rtl="0" eaLnBrk="1" latinLnBrk="0" hangingPunct="1">
              <a:lnSpc>
                <a:spcPct val="80000"/>
              </a:lnSpc>
              <a:spcBef>
                <a:spcPct val="0"/>
              </a:spcBef>
              <a:buNone/>
              <a:defRPr sz="3200" b="1" kern="1200">
                <a:solidFill>
                  <a:schemeClr val="accent1"/>
                </a:solidFill>
                <a:latin typeface="Vodafone Rg" pitchFamily="34" charset="0"/>
                <a:ea typeface="+mj-ea"/>
                <a:cs typeface="+mj-cs"/>
              </a:defRPr>
            </a:lvl1pPr>
          </a:lstStyle>
          <a:p>
            <a:pPr>
              <a:defRPr/>
            </a:pPr>
            <a:r>
              <a:rPr lang="en-GB" sz="2400" dirty="0">
                <a:solidFill>
                  <a:srgbClr val="FF0000"/>
                </a:solidFill>
                <a:latin typeface="Vodafone Rg (Body)"/>
              </a:rPr>
              <a:t>Check Point 1 – </a:t>
            </a:r>
            <a:r>
              <a:rPr lang="en-GB" sz="2100" dirty="0">
                <a:solidFill>
                  <a:srgbClr val="FF0000"/>
                </a:solidFill>
                <a:latin typeface="Vodafone Rg (Body)"/>
              </a:rPr>
              <a:t>Build Scope Freeze</a:t>
            </a:r>
            <a:endParaRPr lang="en-GB" sz="2400" b="0" dirty="0">
              <a:solidFill>
                <a:srgbClr val="FF0000"/>
              </a:solidFill>
              <a:latin typeface="Vodafone Rg (Body)"/>
            </a:endParaRPr>
          </a:p>
        </p:txBody>
      </p:sp>
      <p:sp>
        <p:nvSpPr>
          <p:cNvPr id="4" name="TextBox 3">
            <a:extLst>
              <a:ext uri="{FF2B5EF4-FFF2-40B4-BE49-F238E27FC236}">
                <a16:creationId xmlns:a16="http://schemas.microsoft.com/office/drawing/2014/main" id="{86750457-46CA-1FF3-F8E8-8648E10AEDE7}"/>
              </a:ext>
            </a:extLst>
          </p:cNvPr>
          <p:cNvSpPr txBox="1"/>
          <p:nvPr/>
        </p:nvSpPr>
        <p:spPr>
          <a:xfrm>
            <a:off x="243000" y="1350000"/>
            <a:ext cx="3267000" cy="3780000"/>
          </a:xfrm>
          <a:prstGeom prst="rect">
            <a:avLst/>
          </a:prstGeom>
        </p:spPr>
        <p:txBody>
          <a:bodyPr wrap="square" lIns="27000" tIns="27000" rIns="27000" bIns="27000" rtlCol="0">
            <a:noAutofit/>
          </a:bodyPr>
          <a:lstStyle/>
          <a:p>
            <a:pPr defTabSz="685800">
              <a:defRPr/>
            </a:pPr>
            <a:r>
              <a:rPr lang="en-GB" sz="1050" b="1" dirty="0">
                <a:solidFill>
                  <a:srgbClr val="000000"/>
                </a:solidFill>
                <a:latin typeface="Vodafone Rg (Body)"/>
              </a:rPr>
              <a:t>Entry criteria: </a:t>
            </a:r>
          </a:p>
          <a:p>
            <a:pPr marL="203597" indent="-203597" defTabSz="685800">
              <a:buFont typeface="Arial" panose="020B0604020202020204" pitchFamily="34" charset="0"/>
              <a:buChar char="•"/>
              <a:defRPr/>
            </a:pPr>
            <a:r>
              <a:rPr lang="en-GB" sz="1050" dirty="0">
                <a:solidFill>
                  <a:srgbClr val="000000"/>
                </a:solidFill>
                <a:latin typeface="Vodafone Rg (Body)"/>
              </a:rPr>
              <a:t>Development is complete or already in progress</a:t>
            </a:r>
          </a:p>
          <a:p>
            <a:pPr defTabSz="685800">
              <a:defRPr/>
            </a:pPr>
            <a:endParaRPr lang="en-GB" sz="1050" dirty="0">
              <a:solidFill>
                <a:srgbClr val="000000"/>
              </a:solidFill>
              <a:latin typeface="Vodafone Rg (Body)"/>
            </a:endParaRPr>
          </a:p>
          <a:p>
            <a:pPr defTabSz="685800">
              <a:defRPr/>
            </a:pPr>
            <a:r>
              <a:rPr lang="en-GB" sz="1050" b="1" dirty="0">
                <a:solidFill>
                  <a:srgbClr val="000000"/>
                </a:solidFill>
                <a:latin typeface="Vodafone Rg (Body)"/>
              </a:rPr>
              <a:t>Output</a:t>
            </a:r>
            <a:r>
              <a:rPr lang="en-GB" sz="1050" dirty="0">
                <a:solidFill>
                  <a:srgbClr val="000000"/>
                </a:solidFill>
                <a:latin typeface="Vodafone Rg (Body)"/>
              </a:rPr>
              <a:t>:</a:t>
            </a:r>
          </a:p>
          <a:p>
            <a:pPr marL="214313" indent="-214313" defTabSz="685800">
              <a:buFont typeface="Arial" pitchFamily="34" charset="0"/>
              <a:buChar char="•"/>
              <a:defRPr/>
            </a:pPr>
            <a:r>
              <a:rPr lang="en-GB" sz="1050" dirty="0">
                <a:solidFill>
                  <a:srgbClr val="000000"/>
                </a:solidFill>
                <a:latin typeface="Vodafone Rg (Body)"/>
              </a:rPr>
              <a:t>Final build scope for CCS Stack, Domains, Digital &amp; Third Parties = </a:t>
            </a:r>
            <a:r>
              <a:rPr lang="en-GB" sz="1050" b="1" dirty="0">
                <a:solidFill>
                  <a:srgbClr val="000000"/>
                </a:solidFill>
                <a:latin typeface="Vodafone Rg (Body)"/>
              </a:rPr>
              <a:t>Everything</a:t>
            </a:r>
            <a:endParaRPr lang="en-GB" sz="1050" b="1" dirty="0">
              <a:latin typeface="Vodafone Rg (Body)"/>
            </a:endParaRPr>
          </a:p>
          <a:p>
            <a:pPr marL="214313" indent="-214313">
              <a:buFont typeface="Arial" pitchFamily="34" charset="0"/>
              <a:buChar char="•"/>
              <a:defRPr/>
            </a:pPr>
            <a:r>
              <a:rPr lang="en-GB" sz="1050" dirty="0">
                <a:latin typeface="Vodafone Rg (Body)"/>
              </a:rPr>
              <a:t>Review any scope changes</a:t>
            </a:r>
            <a:endParaRPr lang="en-GB" sz="1050" b="1" dirty="0">
              <a:latin typeface="Vodafone Rg (Body)"/>
            </a:endParaRPr>
          </a:p>
          <a:p>
            <a:pPr defTabSz="685800">
              <a:defRPr/>
            </a:pPr>
            <a:endParaRPr lang="en-GB" sz="1050" dirty="0">
              <a:solidFill>
                <a:srgbClr val="000000"/>
              </a:solidFill>
              <a:latin typeface="Vodafone Rg (Body)"/>
            </a:endParaRPr>
          </a:p>
          <a:p>
            <a:pPr>
              <a:spcAft>
                <a:spcPts val="450"/>
              </a:spcAft>
              <a:defRPr/>
            </a:pPr>
            <a:r>
              <a:rPr lang="en-GB" sz="1050" b="1" dirty="0">
                <a:solidFill>
                  <a:srgbClr val="000000"/>
                </a:solidFill>
                <a:latin typeface="Vodafone Rg (Body)"/>
              </a:rPr>
              <a:t>Mandatory Audience</a:t>
            </a:r>
            <a:r>
              <a:rPr lang="en-GB" sz="1050" dirty="0">
                <a:solidFill>
                  <a:srgbClr val="000000"/>
                </a:solidFill>
                <a:latin typeface="Vodafone Rg (Body)"/>
              </a:rPr>
              <a:t>: VF3 E2E RM, Domain RM, Factory RM, Delivery Managers, Test (SIT &amp; PAT) &amp; Environments (VES)</a:t>
            </a:r>
          </a:p>
          <a:p>
            <a:pPr>
              <a:spcAft>
                <a:spcPts val="450"/>
              </a:spcAft>
              <a:defRPr/>
            </a:pPr>
            <a:r>
              <a:rPr lang="en-GB" sz="1050" b="1" dirty="0">
                <a:latin typeface="Vodafone Rg (Body)"/>
              </a:rPr>
              <a:t>Optional</a:t>
            </a:r>
            <a:r>
              <a:rPr lang="en-GB" sz="1050" b="1" dirty="0">
                <a:solidFill>
                  <a:srgbClr val="000000"/>
                </a:solidFill>
                <a:latin typeface="Vodafone Rg (Body)"/>
              </a:rPr>
              <a:t> Audience</a:t>
            </a:r>
            <a:r>
              <a:rPr lang="en-GB" sz="1050" b="1" dirty="0">
                <a:latin typeface="Vodafone Rg (Body)"/>
              </a:rPr>
              <a:t>: </a:t>
            </a:r>
            <a:r>
              <a:rPr lang="en-GB" sz="1050" dirty="0">
                <a:latin typeface="Vodafone Rg (Body)"/>
              </a:rPr>
              <a:t>Domains</a:t>
            </a:r>
            <a:endParaRPr lang="en-GB" sz="1050" dirty="0">
              <a:solidFill>
                <a:srgbClr val="000000"/>
              </a:solidFill>
              <a:latin typeface="Vodafone Rg (Body)"/>
            </a:endParaRPr>
          </a:p>
          <a:p>
            <a:pPr defTabSz="685800">
              <a:defRPr/>
            </a:pPr>
            <a:endParaRPr lang="en-GB" sz="1050" dirty="0">
              <a:solidFill>
                <a:srgbClr val="000000"/>
              </a:solidFill>
              <a:latin typeface="Vodafone Rg (Body)"/>
            </a:endParaRPr>
          </a:p>
          <a:p>
            <a:pPr lvl="0">
              <a:defRPr/>
            </a:pPr>
            <a:r>
              <a:rPr lang="en-GB" sz="1050" dirty="0">
                <a:solidFill>
                  <a:srgbClr val="000000"/>
                </a:solidFill>
                <a:latin typeface="Vodafone Rg (Body)"/>
              </a:rPr>
              <a:t> </a:t>
            </a:r>
          </a:p>
          <a:p>
            <a:pPr defTabSz="685800">
              <a:defRPr/>
            </a:pPr>
            <a:endParaRPr lang="en-GB" sz="1050" dirty="0">
              <a:solidFill>
                <a:srgbClr val="000000"/>
              </a:solidFill>
              <a:latin typeface="Vodafone Rg (Body)"/>
            </a:endParaRPr>
          </a:p>
          <a:p>
            <a:pPr defTabSz="685800">
              <a:defRPr/>
            </a:pPr>
            <a:r>
              <a:rPr lang="en-GB" sz="1050" dirty="0">
                <a:solidFill>
                  <a:srgbClr val="000000"/>
                </a:solidFill>
                <a:latin typeface="Vodafone Rg (Body)"/>
              </a:rPr>
              <a:t> </a:t>
            </a:r>
          </a:p>
        </p:txBody>
      </p:sp>
      <p:graphicFrame>
        <p:nvGraphicFramePr>
          <p:cNvPr id="3" name="Table 4">
            <a:extLst>
              <a:ext uri="{FF2B5EF4-FFF2-40B4-BE49-F238E27FC236}">
                <a16:creationId xmlns:a16="http://schemas.microsoft.com/office/drawing/2014/main" id="{E718F18A-4B1E-C457-954E-013863B82BF9}"/>
              </a:ext>
            </a:extLst>
          </p:cNvPr>
          <p:cNvGraphicFramePr>
            <a:graphicFrameLocks noGrp="1"/>
          </p:cNvGraphicFramePr>
          <p:nvPr/>
        </p:nvGraphicFramePr>
        <p:xfrm>
          <a:off x="3726000" y="594000"/>
          <a:ext cx="4969847" cy="1992630"/>
        </p:xfrm>
        <a:graphic>
          <a:graphicData uri="http://schemas.openxmlformats.org/drawingml/2006/table">
            <a:tbl>
              <a:tblPr firstRow="1" bandRow="1">
                <a:tableStyleId>{5C22544A-7EE6-4342-B048-85BDC9FD1C3A}</a:tableStyleId>
              </a:tblPr>
              <a:tblGrid>
                <a:gridCol w="1054847">
                  <a:extLst>
                    <a:ext uri="{9D8B030D-6E8A-4147-A177-3AD203B41FA5}">
                      <a16:colId xmlns:a16="http://schemas.microsoft.com/office/drawing/2014/main" val="3665792996"/>
                    </a:ext>
                  </a:extLst>
                </a:gridCol>
                <a:gridCol w="1971000">
                  <a:extLst>
                    <a:ext uri="{9D8B030D-6E8A-4147-A177-3AD203B41FA5}">
                      <a16:colId xmlns:a16="http://schemas.microsoft.com/office/drawing/2014/main" val="196500768"/>
                    </a:ext>
                  </a:extLst>
                </a:gridCol>
                <a:gridCol w="1944000">
                  <a:extLst>
                    <a:ext uri="{9D8B030D-6E8A-4147-A177-3AD203B41FA5}">
                      <a16:colId xmlns:a16="http://schemas.microsoft.com/office/drawing/2014/main" val="3242177481"/>
                    </a:ext>
                  </a:extLst>
                </a:gridCol>
              </a:tblGrid>
              <a:tr h="278130">
                <a:tc>
                  <a:txBody>
                    <a:bodyPr/>
                    <a:lstStyle/>
                    <a:p>
                      <a:r>
                        <a:rPr lang="en-GB" sz="1200" dirty="0">
                          <a:latin typeface="+mn-lt"/>
                        </a:rPr>
                        <a:t>Participant</a:t>
                      </a:r>
                    </a:p>
                  </a:txBody>
                  <a:tcPr marL="68580" marR="68580" marT="34290" marB="34290"/>
                </a:tc>
                <a:tc>
                  <a:txBody>
                    <a:bodyPr/>
                    <a:lstStyle/>
                    <a:p>
                      <a:r>
                        <a:rPr lang="en-GB" sz="1200" dirty="0">
                          <a:latin typeface="+mn-lt"/>
                        </a:rPr>
                        <a:t>Input (Actions Done)</a:t>
                      </a:r>
                    </a:p>
                  </a:txBody>
                  <a:tcPr marL="68580" marR="68580" marT="34290" marB="34290"/>
                </a:tc>
                <a:tc>
                  <a:txBody>
                    <a:bodyPr/>
                    <a:lstStyle/>
                    <a:p>
                      <a:r>
                        <a:rPr lang="en-GB" sz="1200" dirty="0">
                          <a:latin typeface="+mn-lt"/>
                        </a:rPr>
                        <a:t>Output (Actions to do)</a:t>
                      </a:r>
                    </a:p>
                  </a:txBody>
                  <a:tcPr marL="68580" marR="68580" marT="34290" marB="34290"/>
                </a:tc>
                <a:extLst>
                  <a:ext uri="{0D108BD9-81ED-4DB2-BD59-A6C34878D82A}">
                    <a16:rowId xmlns:a16="http://schemas.microsoft.com/office/drawing/2014/main" val="1495469843"/>
                  </a:ext>
                </a:extLst>
              </a:tr>
              <a:tr h="342900">
                <a:tc>
                  <a:txBody>
                    <a:bodyPr/>
                    <a:lstStyle/>
                    <a:p>
                      <a:r>
                        <a:rPr lang="en-GB" sz="900" b="1" dirty="0">
                          <a:solidFill>
                            <a:srgbClr val="000000"/>
                          </a:solidFill>
                        </a:rPr>
                        <a:t>VF3 E2E RM</a:t>
                      </a:r>
                      <a:endParaRPr lang="en-GB" sz="900" b="1" dirty="0">
                        <a:latin typeface="+mn-lt"/>
                      </a:endParaRPr>
                    </a:p>
                  </a:txBody>
                  <a:tcPr marL="68580" marR="68580" marT="34290" marB="34290"/>
                </a:tc>
                <a:tc>
                  <a:txBody>
                    <a:bodyPr/>
                    <a:lstStyle/>
                    <a:p>
                      <a:pPr marL="171450" indent="-171450">
                        <a:buFont typeface="Arial" panose="020B0604020202020204" pitchFamily="34" charset="0"/>
                        <a:buChar char="•"/>
                      </a:pPr>
                      <a:r>
                        <a:rPr lang="en-GB" sz="900" dirty="0">
                          <a:latin typeface="+mn-lt"/>
                        </a:rPr>
                        <a:t>Review execution progress</a:t>
                      </a:r>
                    </a:p>
                  </a:txBody>
                  <a:tcPr marL="68580" marR="68580" marT="34290" marB="34290"/>
                </a:tc>
                <a:tc>
                  <a:txBody>
                    <a:bodyPr/>
                    <a:lstStyle/>
                    <a:p>
                      <a:pPr marL="171450" indent="-171450">
                        <a:buFont typeface="Arial" panose="020B0604020202020204" pitchFamily="34" charset="0"/>
                        <a:buChar char="•"/>
                      </a:pPr>
                      <a:r>
                        <a:rPr lang="en-GB" sz="900" dirty="0">
                          <a:latin typeface="+mn-lt"/>
                        </a:rPr>
                        <a:t>Confirm there are no further build requirements</a:t>
                      </a:r>
                    </a:p>
                  </a:txBody>
                  <a:tcPr marL="68580" marR="68580" marT="34290" marB="34290"/>
                </a:tc>
                <a:extLst>
                  <a:ext uri="{0D108BD9-81ED-4DB2-BD59-A6C34878D82A}">
                    <a16:rowId xmlns:a16="http://schemas.microsoft.com/office/drawing/2014/main" val="3746480440"/>
                  </a:ext>
                </a:extLst>
              </a:tr>
              <a:tr h="342900">
                <a:tc>
                  <a:txBody>
                    <a:bodyPr/>
                    <a:lstStyle/>
                    <a:p>
                      <a:r>
                        <a:rPr lang="en-GB" sz="900" b="1" dirty="0">
                          <a:solidFill>
                            <a:schemeClr val="tx1"/>
                          </a:solidFill>
                          <a:latin typeface="+mn-lt"/>
                        </a:rPr>
                        <a:t>Domain RM &amp; Factory RM</a:t>
                      </a: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rgbClr val="000000"/>
                          </a:solidFill>
                          <a:latin typeface="+mn-lt"/>
                        </a:rPr>
                        <a:t>Confirm final release build scope</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1200" cap="none" spc="0" normalizeH="0" baseline="0" noProof="0" dirty="0">
                          <a:ln>
                            <a:noFill/>
                          </a:ln>
                          <a:solidFill>
                            <a:srgbClr val="000000"/>
                          </a:solidFill>
                          <a:effectLst/>
                          <a:uLnTx/>
                          <a:uFillTx/>
                          <a:latin typeface="+mn-lt"/>
                        </a:rPr>
                        <a:t>Highlight risks via RAID</a:t>
                      </a:r>
                    </a:p>
                  </a:txBody>
                  <a:tcPr marL="68580" marR="68580" marT="34290" marB="34290"/>
                </a:tc>
                <a:tc>
                  <a:txBody>
                    <a:bodyPr/>
                    <a:lstStyle/>
                    <a:p>
                      <a:pPr marL="171450" indent="-171450">
                        <a:buFont typeface="Arial" panose="020B0604020202020204" pitchFamily="34" charset="0"/>
                        <a:buChar char="•"/>
                      </a:pPr>
                      <a:r>
                        <a:rPr lang="en-GB" sz="900" dirty="0">
                          <a:latin typeface="+mn-lt"/>
                        </a:rPr>
                        <a:t>Align build scope as required</a:t>
                      </a:r>
                    </a:p>
                    <a:p>
                      <a:pPr marL="171450" indent="-171450">
                        <a:buFont typeface="Arial" panose="020B0604020202020204" pitchFamily="34" charset="0"/>
                        <a:buChar char="•"/>
                      </a:pPr>
                      <a:r>
                        <a:rPr lang="en-GB" sz="900" dirty="0">
                          <a:latin typeface="+mn-lt"/>
                        </a:rPr>
                        <a:t>Action any RAID items</a:t>
                      </a:r>
                    </a:p>
                  </a:txBody>
                  <a:tcPr marL="68580" marR="68580" marT="34290" marB="34290"/>
                </a:tc>
                <a:extLst>
                  <a:ext uri="{0D108BD9-81ED-4DB2-BD59-A6C34878D82A}">
                    <a16:rowId xmlns:a16="http://schemas.microsoft.com/office/drawing/2014/main" val="318135666"/>
                  </a:ext>
                </a:extLst>
              </a:tr>
              <a:tr h="342900">
                <a:tc>
                  <a:txBody>
                    <a:bodyPr/>
                    <a:lstStyle/>
                    <a:p>
                      <a:r>
                        <a:rPr lang="en-GB" sz="900" b="1" dirty="0">
                          <a:latin typeface="+mn-lt"/>
                        </a:rPr>
                        <a:t>Delivery Managers</a:t>
                      </a:r>
                    </a:p>
                  </a:txBody>
                  <a:tcPr marL="68580" marR="68580" marT="34290" marB="34290"/>
                </a:tc>
                <a:tc>
                  <a:txBody>
                    <a:bodyPr/>
                    <a:lstStyle/>
                    <a:p>
                      <a:pPr marL="171450" indent="-171450">
                        <a:buFont typeface="Arial" panose="020B0604020202020204" pitchFamily="34" charset="0"/>
                        <a:buChar char="•"/>
                      </a:pPr>
                      <a:r>
                        <a:rPr lang="en-GB" sz="900" dirty="0">
                          <a:latin typeface="+mn-lt"/>
                        </a:rPr>
                        <a:t>Raise any scope changes or dependency issues</a:t>
                      </a:r>
                    </a:p>
                  </a:txBody>
                  <a:tcPr marL="68580" marR="68580" marT="34290" marB="34290"/>
                </a:tc>
                <a:tc>
                  <a:txBody>
                    <a:bodyPr/>
                    <a:lstStyle/>
                    <a:p>
                      <a:pPr marL="171450" indent="-171450">
                        <a:buFont typeface="Arial" panose="020B0604020202020204" pitchFamily="34" charset="0"/>
                        <a:buChar char="•"/>
                      </a:pPr>
                      <a:r>
                        <a:rPr lang="en-GB" sz="900" dirty="0">
                          <a:latin typeface="+mn-lt"/>
                        </a:rPr>
                        <a:t>Communicate scope changes</a:t>
                      </a:r>
                    </a:p>
                  </a:txBody>
                  <a:tcPr marL="68580" marR="68580" marT="34290" marB="34290"/>
                </a:tc>
                <a:extLst>
                  <a:ext uri="{0D108BD9-81ED-4DB2-BD59-A6C34878D82A}">
                    <a16:rowId xmlns:a16="http://schemas.microsoft.com/office/drawing/2014/main" val="1894371694"/>
                  </a:ext>
                </a:extLst>
              </a:tr>
              <a:tr h="3429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900" b="1" dirty="0">
                          <a:latin typeface="+mn-lt"/>
                        </a:rPr>
                        <a:t>Test (SIT &amp; PAT)</a:t>
                      </a:r>
                    </a:p>
                  </a:txBody>
                  <a:tcPr marL="68580" marR="68580" marT="34290" marB="34290"/>
                </a:tc>
                <a:tc>
                  <a:txBody>
                    <a:bodyPr/>
                    <a:lstStyle/>
                    <a:p>
                      <a:pPr marL="171450" indent="-171450">
                        <a:buFont typeface="Arial" panose="020B0604020202020204" pitchFamily="34" charset="0"/>
                        <a:buChar char="•"/>
                      </a:pPr>
                      <a:r>
                        <a:rPr lang="en-GB" sz="900" dirty="0">
                          <a:latin typeface="+mn-lt"/>
                        </a:rPr>
                        <a:t>Raise any challenges to the start of testing</a:t>
                      </a:r>
                    </a:p>
                  </a:txBody>
                  <a:tcPr marL="68580" marR="68580" marT="34290" marB="34290"/>
                </a:tc>
                <a:tc>
                  <a:txBody>
                    <a:bodyPr/>
                    <a:lstStyle/>
                    <a:p>
                      <a:pPr marL="171450" indent="-171450">
                        <a:buFont typeface="Arial" panose="020B0604020202020204" pitchFamily="34" charset="0"/>
                        <a:buChar char="•"/>
                      </a:pPr>
                      <a:r>
                        <a:rPr lang="en-GB" sz="900" dirty="0">
                          <a:latin typeface="+mn-lt"/>
                        </a:rPr>
                        <a:t>Align execution resources</a:t>
                      </a:r>
                    </a:p>
                  </a:txBody>
                  <a:tcPr marL="68580" marR="68580" marT="34290" marB="34290"/>
                </a:tc>
                <a:extLst>
                  <a:ext uri="{0D108BD9-81ED-4DB2-BD59-A6C34878D82A}">
                    <a16:rowId xmlns:a16="http://schemas.microsoft.com/office/drawing/2014/main" val="2153192500"/>
                  </a:ext>
                </a:extLst>
              </a:tr>
              <a:tr h="3429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900" b="1" dirty="0">
                          <a:solidFill>
                            <a:schemeClr val="tx1"/>
                          </a:solidFill>
                          <a:latin typeface="+mn-lt"/>
                        </a:rPr>
                        <a:t>Environments</a:t>
                      </a:r>
                      <a:endParaRPr lang="en-GB" sz="900" b="1" dirty="0">
                        <a:latin typeface="+mn-lt"/>
                      </a:endParaRP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Raise any issues regarding plans for new interfaces</a:t>
                      </a:r>
                    </a:p>
                  </a:txBody>
                  <a:tcPr marL="68580" marR="68580" marT="34290" marB="34290"/>
                </a:tc>
                <a:tc>
                  <a:txBody>
                    <a:bodyPr/>
                    <a:lstStyle/>
                    <a:p>
                      <a:pPr marL="171450" indent="-171450">
                        <a:buFont typeface="Arial" panose="020B0604020202020204" pitchFamily="34" charset="0"/>
                        <a:buChar char="•"/>
                      </a:pPr>
                      <a:r>
                        <a:rPr lang="en-GB" sz="900" dirty="0">
                          <a:solidFill>
                            <a:schemeClr val="tx1"/>
                          </a:solidFill>
                          <a:latin typeface="+mn-lt"/>
                        </a:rPr>
                        <a:t>Review environment plans following any scope changes</a:t>
                      </a:r>
                    </a:p>
                  </a:txBody>
                  <a:tcPr marL="68580" marR="68580" marT="34290" marB="34290"/>
                </a:tc>
                <a:extLst>
                  <a:ext uri="{0D108BD9-81ED-4DB2-BD59-A6C34878D82A}">
                    <a16:rowId xmlns:a16="http://schemas.microsoft.com/office/drawing/2014/main" val="671926117"/>
                  </a:ext>
                </a:extLst>
              </a:tr>
            </a:tbl>
          </a:graphicData>
        </a:graphic>
      </p:graphicFrame>
      <p:sp>
        <p:nvSpPr>
          <p:cNvPr id="7" name="Rectangle 6">
            <a:extLst>
              <a:ext uri="{FF2B5EF4-FFF2-40B4-BE49-F238E27FC236}">
                <a16:creationId xmlns:a16="http://schemas.microsoft.com/office/drawing/2014/main" id="{AC37CE2B-BDBC-3E6E-A182-5470E616256D}"/>
              </a:ext>
            </a:extLst>
          </p:cNvPr>
          <p:cNvSpPr/>
          <p:nvPr/>
        </p:nvSpPr>
        <p:spPr>
          <a:xfrm>
            <a:off x="243344" y="614359"/>
            <a:ext cx="3321000" cy="621000"/>
          </a:xfrm>
          <a:prstGeom prst="rect">
            <a:avLst/>
          </a:prstGeom>
          <a:ln/>
        </p:spPr>
        <p:style>
          <a:lnRef idx="2">
            <a:schemeClr val="accent1"/>
          </a:lnRef>
          <a:fillRef idx="1">
            <a:schemeClr val="lt1"/>
          </a:fillRef>
          <a:effectRef idx="0">
            <a:schemeClr val="accent1"/>
          </a:effectRef>
          <a:fontRef idx="minor">
            <a:schemeClr val="dk1"/>
          </a:fontRef>
        </p:style>
        <p:txBody>
          <a:bodyPr spcFirstLastPara="0" vert="horz" wrap="square" lIns="27000" tIns="27000" rIns="27000" bIns="0" numCol="1" spcCol="1270" rtlCol="0" anchor="t" anchorCtr="0">
            <a:noAutofit/>
          </a:bodyPr>
          <a:lstStyle/>
          <a:p>
            <a:pPr lvl="0">
              <a:defRPr/>
            </a:pPr>
            <a:r>
              <a:rPr lang="en-GB" sz="1050" b="1" dirty="0">
                <a:solidFill>
                  <a:srgbClr val="FF0000"/>
                </a:solidFill>
                <a:latin typeface="Vodafone Rg (Body)"/>
              </a:rPr>
              <a:t>Objective</a:t>
            </a:r>
            <a:r>
              <a:rPr lang="en-GB" sz="1050" dirty="0">
                <a:solidFill>
                  <a:srgbClr val="FF0000"/>
                </a:solidFill>
                <a:latin typeface="Vodafone Rg (Body)"/>
              </a:rPr>
              <a:t>: Freeze build scope for new business demand, no new build requirements considered</a:t>
            </a:r>
          </a:p>
        </p:txBody>
      </p:sp>
      <p:sp>
        <p:nvSpPr>
          <p:cNvPr id="2" name="Date Placeholder 1">
            <a:extLst>
              <a:ext uri="{FF2B5EF4-FFF2-40B4-BE49-F238E27FC236}">
                <a16:creationId xmlns:a16="http://schemas.microsoft.com/office/drawing/2014/main" id="{10146301-3C13-AC8E-21B8-A0D24C5E7E3E}"/>
              </a:ext>
            </a:extLst>
          </p:cNvPr>
          <p:cNvSpPr>
            <a:spLocks noGrp="1"/>
          </p:cNvSpPr>
          <p:nvPr>
            <p:ph type="dt" sz="half" idx="2"/>
          </p:nvPr>
        </p:nvSpPr>
        <p:spPr>
          <a:xfrm>
            <a:off x="8280000" y="6624000"/>
            <a:ext cx="3240000" cy="180000"/>
          </a:xfrm>
          <a:prstGeom prst="rect">
            <a:avLst/>
          </a:prstGeom>
        </p:spPr>
        <p:txBody>
          <a:bodyPr vert="horz" lIns="0" tIns="0" rIns="0" bIns="0" rtlCol="0" anchor="ctr" anchorCtr="0"/>
          <a:lstStyle>
            <a:defPPr>
              <a:defRPr lang="en-US"/>
            </a:defPPr>
            <a:lvl1pPr marL="0" algn="l" defTabSz="914400" rtl="0" eaLnBrk="1" latinLnBrk="0" hangingPunct="1">
              <a:defRPr lang="en-GB" sz="1067"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Last Updated: 18 May 2026 | Owner: Vincent Stokell</a:t>
            </a:r>
            <a:endParaRPr lang="en-US" dirty="0"/>
          </a:p>
        </p:txBody>
      </p:sp>
    </p:spTree>
    <p:extLst>
      <p:ext uri="{BB962C8B-B14F-4D97-AF65-F5344CB8AC3E}">
        <p14:creationId xmlns:p14="http://schemas.microsoft.com/office/powerpoint/2010/main" val="2933224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6EC72-BAB8-B838-928A-FEE0B10E2057}"/>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284D50D8-2F2E-8842-1821-C62936957AE3}"/>
              </a:ext>
            </a:extLst>
          </p:cNvPr>
          <p:cNvSpPr txBox="1">
            <a:spLocks/>
          </p:cNvSpPr>
          <p:nvPr/>
        </p:nvSpPr>
        <p:spPr>
          <a:xfrm>
            <a:off x="135001" y="162001"/>
            <a:ext cx="6538913" cy="409310"/>
          </a:xfrm>
          <a:prstGeom prst="rect">
            <a:avLst/>
          </a:prstGeom>
        </p:spPr>
        <p:txBody>
          <a:bodyPr anchor="t"/>
          <a:lstStyle>
            <a:lvl1pPr algn="l" defTabSz="1219170" rtl="0" eaLnBrk="1" latinLnBrk="0" hangingPunct="1">
              <a:lnSpc>
                <a:spcPct val="80000"/>
              </a:lnSpc>
              <a:spcBef>
                <a:spcPct val="0"/>
              </a:spcBef>
              <a:buNone/>
              <a:defRPr sz="3200" b="1" kern="1200">
                <a:solidFill>
                  <a:schemeClr val="accent1"/>
                </a:solidFill>
                <a:latin typeface="Vodafone Rg" pitchFamily="34" charset="0"/>
                <a:ea typeface="+mj-ea"/>
                <a:cs typeface="+mj-cs"/>
              </a:defRPr>
            </a:lvl1pPr>
          </a:lstStyle>
          <a:p>
            <a:pPr>
              <a:defRPr/>
            </a:pPr>
            <a:r>
              <a:rPr lang="en-GB" sz="2400" dirty="0">
                <a:solidFill>
                  <a:srgbClr val="FF0000"/>
                </a:solidFill>
                <a:latin typeface="Vodafone Rg (Body)"/>
              </a:rPr>
              <a:t>Check Point 2 – </a:t>
            </a:r>
            <a:r>
              <a:rPr lang="en-GB" sz="2100" dirty="0">
                <a:solidFill>
                  <a:srgbClr val="FF0000"/>
                </a:solidFill>
                <a:latin typeface="Vodafone Rg (Body)"/>
              </a:rPr>
              <a:t>Final Scope Freeze</a:t>
            </a:r>
            <a:endParaRPr lang="en-GB" sz="2400" b="0" dirty="0">
              <a:solidFill>
                <a:srgbClr val="FF0000"/>
              </a:solidFill>
              <a:latin typeface="Vodafone Rg (Body)"/>
            </a:endParaRPr>
          </a:p>
        </p:txBody>
      </p:sp>
      <p:sp>
        <p:nvSpPr>
          <p:cNvPr id="4" name="TextBox 3">
            <a:extLst>
              <a:ext uri="{FF2B5EF4-FFF2-40B4-BE49-F238E27FC236}">
                <a16:creationId xmlns:a16="http://schemas.microsoft.com/office/drawing/2014/main" id="{94991F8F-207A-3040-F90B-970F573E7EFA}"/>
              </a:ext>
            </a:extLst>
          </p:cNvPr>
          <p:cNvSpPr txBox="1"/>
          <p:nvPr/>
        </p:nvSpPr>
        <p:spPr>
          <a:xfrm>
            <a:off x="243000" y="1350000"/>
            <a:ext cx="3354917" cy="3780000"/>
          </a:xfrm>
          <a:prstGeom prst="rect">
            <a:avLst/>
          </a:prstGeom>
        </p:spPr>
        <p:txBody>
          <a:bodyPr wrap="square" lIns="27000" tIns="27000" rIns="27000" bIns="27000" rtlCol="0">
            <a:noAutofit/>
          </a:bodyPr>
          <a:lstStyle/>
          <a:p>
            <a:pPr defTabSz="685800">
              <a:spcBef>
                <a:spcPts val="900"/>
              </a:spcBef>
              <a:defRPr/>
            </a:pPr>
            <a:r>
              <a:rPr lang="en-GB" sz="1050" b="1" dirty="0">
                <a:solidFill>
                  <a:srgbClr val="000000"/>
                </a:solidFill>
                <a:latin typeface="Vodafone Rg (Body)"/>
              </a:rPr>
              <a:t>Entry criteria: </a:t>
            </a:r>
          </a:p>
          <a:p>
            <a:pPr marL="128588" indent="-128588" defTabSz="685800">
              <a:buFont typeface="Arial" panose="020B0604020202020204" pitchFamily="34" charset="0"/>
              <a:buChar char="•"/>
              <a:defRPr/>
            </a:pPr>
            <a:r>
              <a:rPr lang="en-GB" sz="1050" dirty="0">
                <a:solidFill>
                  <a:srgbClr val="000000"/>
                </a:solidFill>
                <a:latin typeface="Vodafone Rg (Body)"/>
              </a:rPr>
              <a:t>Identify candidates at risk</a:t>
            </a:r>
          </a:p>
          <a:p>
            <a:pPr marL="128588" indent="-128588" defTabSz="685800">
              <a:buFont typeface="Arial" panose="020B0604020202020204" pitchFamily="34" charset="0"/>
              <a:buChar char="•"/>
              <a:defRPr/>
            </a:pPr>
            <a:r>
              <a:rPr lang="en-GB" sz="1050" dirty="0">
                <a:solidFill>
                  <a:srgbClr val="000000"/>
                </a:solidFill>
                <a:latin typeface="Vodafone Rg (Body)"/>
              </a:rPr>
              <a:t>CJT &amp; DVT Packs to be requested from projects</a:t>
            </a:r>
          </a:p>
          <a:p>
            <a:pPr defTabSz="685800">
              <a:spcBef>
                <a:spcPts val="900"/>
              </a:spcBef>
              <a:defRPr/>
            </a:pPr>
            <a:r>
              <a:rPr lang="en-GB" sz="1050" b="1" dirty="0">
                <a:solidFill>
                  <a:srgbClr val="000000"/>
                </a:solidFill>
                <a:latin typeface="Vodafone Rg (Body)"/>
              </a:rPr>
              <a:t>Output</a:t>
            </a:r>
            <a:r>
              <a:rPr lang="en-GB" sz="1050" dirty="0">
                <a:solidFill>
                  <a:srgbClr val="000000"/>
                </a:solidFill>
                <a:latin typeface="Vodafone Rg (Body)"/>
              </a:rPr>
              <a:t>: </a:t>
            </a:r>
          </a:p>
          <a:p>
            <a:pPr marL="214313" indent="-214313">
              <a:buFont typeface="Arial" panose="020B0604020202020204" pitchFamily="34" charset="0"/>
              <a:buChar char="•"/>
              <a:defRPr/>
            </a:pPr>
            <a:r>
              <a:rPr lang="en-GB" sz="1050" dirty="0">
                <a:latin typeface="Vodafone Rg (Body)"/>
              </a:rPr>
              <a:t>Switch off plans/rollback efforts to</a:t>
            </a:r>
            <a:r>
              <a:rPr lang="en-GB" sz="1050" dirty="0">
                <a:solidFill>
                  <a:srgbClr val="000000"/>
                </a:solidFill>
                <a:latin typeface="Vodafone Rg (Body)"/>
              </a:rPr>
              <a:t> be confirmed</a:t>
            </a:r>
          </a:p>
          <a:p>
            <a:pPr marL="214313" indent="-214313" defTabSz="685800">
              <a:buFont typeface="Arial" panose="020B0604020202020204" pitchFamily="34" charset="0"/>
              <a:buChar char="•"/>
              <a:defRPr/>
            </a:pPr>
            <a:r>
              <a:rPr lang="en-GB" sz="1050" dirty="0">
                <a:solidFill>
                  <a:srgbClr val="000000"/>
                </a:solidFill>
                <a:latin typeface="Vodafone Rg (Body)"/>
              </a:rPr>
              <a:t>Publish final scope for the release</a:t>
            </a:r>
          </a:p>
          <a:p>
            <a:pPr marL="214313" indent="-214313" defTabSz="685800">
              <a:buFont typeface="Arial" panose="020B0604020202020204" pitchFamily="34" charset="0"/>
              <a:buChar char="•"/>
              <a:defRPr/>
            </a:pPr>
            <a:r>
              <a:rPr lang="en-GB" sz="1050" dirty="0">
                <a:solidFill>
                  <a:srgbClr val="000000"/>
                </a:solidFill>
                <a:latin typeface="Vodafone Rg (Body)"/>
              </a:rPr>
              <a:t>Revise project plans for spill-over scope</a:t>
            </a:r>
          </a:p>
          <a:p>
            <a:pPr marL="214313" indent="-214313">
              <a:buFont typeface="Arial" panose="020B0604020202020204" pitchFamily="34" charset="0"/>
              <a:buChar char="•"/>
              <a:defRPr/>
            </a:pPr>
            <a:r>
              <a:rPr lang="en-GB" sz="1050" dirty="0">
                <a:solidFill>
                  <a:srgbClr val="000000"/>
                </a:solidFill>
                <a:latin typeface="Vodafone Rg (Body)"/>
              </a:rPr>
              <a:t>Final consumption plan aligned based on testing outcomes </a:t>
            </a:r>
          </a:p>
          <a:p>
            <a:pPr lvl="0">
              <a:defRPr/>
            </a:pPr>
            <a:endParaRPr lang="en-GB" sz="1050" dirty="0">
              <a:solidFill>
                <a:srgbClr val="000000"/>
              </a:solidFill>
              <a:latin typeface="Vodafone Rg (Body)"/>
            </a:endParaRPr>
          </a:p>
          <a:p>
            <a:pPr>
              <a:spcAft>
                <a:spcPts val="450"/>
              </a:spcAft>
              <a:defRPr/>
            </a:pPr>
            <a:r>
              <a:rPr lang="en-GB" sz="1050" b="1" dirty="0">
                <a:solidFill>
                  <a:srgbClr val="000000"/>
                </a:solidFill>
                <a:latin typeface="Vodafone Rg (Body)"/>
              </a:rPr>
              <a:t>Mandatory Audience</a:t>
            </a:r>
            <a:r>
              <a:rPr lang="en-GB" sz="1050" dirty="0">
                <a:solidFill>
                  <a:srgbClr val="000000"/>
                </a:solidFill>
                <a:latin typeface="Vodafone Rg (Body)"/>
              </a:rPr>
              <a:t>: VF3 E2E RM, Domain RM, Factory RM, Delivery Managers, Test (SIT &amp; PAT) &amp; Environments (VES)</a:t>
            </a:r>
          </a:p>
          <a:p>
            <a:pPr>
              <a:spcAft>
                <a:spcPts val="450"/>
              </a:spcAft>
              <a:defRPr/>
            </a:pPr>
            <a:r>
              <a:rPr lang="en-GB" sz="1050" b="1" dirty="0">
                <a:solidFill>
                  <a:srgbClr val="000000"/>
                </a:solidFill>
                <a:latin typeface="Vodafone Rg (Body)"/>
              </a:rPr>
              <a:t>Optional Audience</a:t>
            </a:r>
            <a:r>
              <a:rPr lang="en-GB" sz="1050" b="1" dirty="0">
                <a:latin typeface="Vodafone Rg (Body)"/>
              </a:rPr>
              <a:t>: </a:t>
            </a:r>
            <a:r>
              <a:rPr lang="en-GB" sz="1050" dirty="0">
                <a:latin typeface="Vodafone Rg (Body)"/>
              </a:rPr>
              <a:t>Domains</a:t>
            </a:r>
            <a:endParaRPr lang="en-GB" sz="1050" dirty="0">
              <a:solidFill>
                <a:srgbClr val="000000"/>
              </a:solidFill>
              <a:latin typeface="Vodafone Rg (Body)"/>
            </a:endParaRPr>
          </a:p>
          <a:p>
            <a:pPr defTabSz="685800">
              <a:defRPr/>
            </a:pPr>
            <a:r>
              <a:rPr lang="en-GB" sz="1050" dirty="0">
                <a:solidFill>
                  <a:srgbClr val="000000"/>
                </a:solidFill>
                <a:latin typeface="Vodafone Rg (Body)"/>
              </a:rPr>
              <a:t> </a:t>
            </a:r>
          </a:p>
        </p:txBody>
      </p:sp>
      <p:graphicFrame>
        <p:nvGraphicFramePr>
          <p:cNvPr id="3" name="Table 4">
            <a:extLst>
              <a:ext uri="{FF2B5EF4-FFF2-40B4-BE49-F238E27FC236}">
                <a16:creationId xmlns:a16="http://schemas.microsoft.com/office/drawing/2014/main" id="{C5C3494E-89F1-A3C9-2651-46EC05C34309}"/>
              </a:ext>
            </a:extLst>
          </p:cNvPr>
          <p:cNvGraphicFramePr>
            <a:graphicFrameLocks noGrp="1"/>
          </p:cNvGraphicFramePr>
          <p:nvPr/>
        </p:nvGraphicFramePr>
        <p:xfrm>
          <a:off x="3726000" y="594000"/>
          <a:ext cx="5265000" cy="2613660"/>
        </p:xfrm>
        <a:graphic>
          <a:graphicData uri="http://schemas.openxmlformats.org/drawingml/2006/table">
            <a:tbl>
              <a:tblPr firstRow="1" bandRow="1">
                <a:tableStyleId>{5C22544A-7EE6-4342-B048-85BDC9FD1C3A}</a:tableStyleId>
              </a:tblPr>
              <a:tblGrid>
                <a:gridCol w="1350000">
                  <a:extLst>
                    <a:ext uri="{9D8B030D-6E8A-4147-A177-3AD203B41FA5}">
                      <a16:colId xmlns:a16="http://schemas.microsoft.com/office/drawing/2014/main" val="3665792996"/>
                    </a:ext>
                  </a:extLst>
                </a:gridCol>
                <a:gridCol w="1971000">
                  <a:extLst>
                    <a:ext uri="{9D8B030D-6E8A-4147-A177-3AD203B41FA5}">
                      <a16:colId xmlns:a16="http://schemas.microsoft.com/office/drawing/2014/main" val="196500768"/>
                    </a:ext>
                  </a:extLst>
                </a:gridCol>
                <a:gridCol w="1944000">
                  <a:extLst>
                    <a:ext uri="{9D8B030D-6E8A-4147-A177-3AD203B41FA5}">
                      <a16:colId xmlns:a16="http://schemas.microsoft.com/office/drawing/2014/main" val="3242177481"/>
                    </a:ext>
                  </a:extLst>
                </a:gridCol>
              </a:tblGrid>
              <a:tr h="278130">
                <a:tc>
                  <a:txBody>
                    <a:bodyPr/>
                    <a:lstStyle/>
                    <a:p>
                      <a:r>
                        <a:rPr lang="en-GB" sz="1200" dirty="0">
                          <a:latin typeface="+mn-lt"/>
                        </a:rPr>
                        <a:t>Participant</a:t>
                      </a:r>
                    </a:p>
                  </a:txBody>
                  <a:tcPr marL="68580" marR="68580" marT="34290" marB="34290"/>
                </a:tc>
                <a:tc>
                  <a:txBody>
                    <a:bodyPr/>
                    <a:lstStyle/>
                    <a:p>
                      <a:r>
                        <a:rPr lang="en-GB" sz="1200" dirty="0">
                          <a:latin typeface="+mn-lt"/>
                        </a:rPr>
                        <a:t>Input (Actions Done)</a:t>
                      </a:r>
                    </a:p>
                  </a:txBody>
                  <a:tcPr marL="68580" marR="68580" marT="34290" marB="34290"/>
                </a:tc>
                <a:tc>
                  <a:txBody>
                    <a:bodyPr/>
                    <a:lstStyle/>
                    <a:p>
                      <a:r>
                        <a:rPr lang="en-GB" sz="1200" dirty="0">
                          <a:latin typeface="+mn-lt"/>
                        </a:rPr>
                        <a:t>Output (Actions to do)</a:t>
                      </a:r>
                    </a:p>
                  </a:txBody>
                  <a:tcPr marL="68580" marR="68580" marT="34290" marB="34290"/>
                </a:tc>
                <a:extLst>
                  <a:ext uri="{0D108BD9-81ED-4DB2-BD59-A6C34878D82A}">
                    <a16:rowId xmlns:a16="http://schemas.microsoft.com/office/drawing/2014/main" val="1495469843"/>
                  </a:ext>
                </a:extLst>
              </a:tr>
              <a:tr h="891540">
                <a:tc>
                  <a:txBody>
                    <a:bodyPr/>
                    <a:lstStyle/>
                    <a:p>
                      <a:r>
                        <a:rPr lang="en-GB" sz="900" b="1" dirty="0">
                          <a:solidFill>
                            <a:srgbClr val="000000"/>
                          </a:solidFill>
                        </a:rPr>
                        <a:t>VF3 E2E RM</a:t>
                      </a:r>
                      <a:endParaRPr lang="en-GB" sz="900" b="1" dirty="0">
                        <a:latin typeface="+mn-lt"/>
                      </a:endParaRPr>
                    </a:p>
                  </a:txBody>
                  <a:tcPr marL="68580" marR="68580" marT="34290" marB="34290"/>
                </a:tc>
                <a:tc>
                  <a:txBody>
                    <a:bodyPr/>
                    <a:lstStyle/>
                    <a:p>
                      <a:pPr marL="171450" indent="-171450">
                        <a:buFont typeface="Arial" panose="020B0604020202020204" pitchFamily="34" charset="0"/>
                        <a:buChar char="•"/>
                      </a:pPr>
                      <a:r>
                        <a:rPr lang="en-GB" sz="900" dirty="0">
                          <a:latin typeface="+mn-lt"/>
                        </a:rPr>
                        <a:t>Review candidates at risk of not completing testing in time for release</a:t>
                      </a:r>
                    </a:p>
                  </a:txBody>
                  <a:tcPr marL="68580" marR="68580" marT="34290" marB="34290"/>
                </a:tc>
                <a:tc>
                  <a:txBody>
                    <a:bodyPr/>
                    <a:lstStyle/>
                    <a:p>
                      <a:pPr marL="171450" indent="-171450">
                        <a:buFont typeface="Arial" panose="020B0604020202020204" pitchFamily="34" charset="0"/>
                        <a:buChar char="•"/>
                      </a:pPr>
                      <a:r>
                        <a:rPr lang="en-GB" sz="900" dirty="0">
                          <a:latin typeface="+mn-lt"/>
                        </a:rPr>
                        <a:t>Final scope list for release, including consumption plans</a:t>
                      </a:r>
                    </a:p>
                    <a:p>
                      <a:pPr marL="171450" indent="-171450">
                        <a:buFont typeface="Arial" panose="020B0604020202020204" pitchFamily="34" charset="0"/>
                        <a:buChar char="•"/>
                      </a:pPr>
                      <a:r>
                        <a:rPr lang="en-GB" sz="900" dirty="0">
                          <a:latin typeface="+mn-lt"/>
                        </a:rPr>
                        <a:t>Agree mitigation plans with projects where applicable</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latin typeface="+mn-lt"/>
                        </a:rPr>
                        <a:t>For spill-over scope, propose future releases</a:t>
                      </a:r>
                    </a:p>
                  </a:txBody>
                  <a:tcPr marL="68580" marR="68580" marT="34290" marB="34290"/>
                </a:tc>
                <a:extLst>
                  <a:ext uri="{0D108BD9-81ED-4DB2-BD59-A6C34878D82A}">
                    <a16:rowId xmlns:a16="http://schemas.microsoft.com/office/drawing/2014/main" val="3746480440"/>
                  </a:ext>
                </a:extLst>
              </a:tr>
              <a:tr h="342900">
                <a:tc>
                  <a:txBody>
                    <a:bodyPr/>
                    <a:lstStyle/>
                    <a:p>
                      <a:r>
                        <a:rPr lang="en-GB" sz="900" b="1" dirty="0">
                          <a:solidFill>
                            <a:schemeClr val="tx1"/>
                          </a:solidFill>
                          <a:latin typeface="+mn-lt"/>
                        </a:rPr>
                        <a:t>Domain RM &amp; Factory RM</a:t>
                      </a:r>
                    </a:p>
                  </a:txBody>
                  <a:tcPr marL="68580" marR="68580" marT="34290" marB="34290"/>
                </a:tc>
                <a:tc>
                  <a:txBody>
                    <a:bodyPr/>
                    <a:lstStyle/>
                    <a:p>
                      <a:pPr marL="171450" indent="-171450">
                        <a:buFont typeface="Arial" panose="020B0604020202020204" pitchFamily="34" charset="0"/>
                        <a:buChar char="•"/>
                      </a:pPr>
                      <a:r>
                        <a:rPr lang="en-GB" sz="900" dirty="0">
                          <a:solidFill>
                            <a:schemeClr val="tx1"/>
                          </a:solidFill>
                          <a:latin typeface="+mn-lt"/>
                        </a:rPr>
                        <a:t>N/A</a:t>
                      </a: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Switch off plans/rollback efforts and regression impacts</a:t>
                      </a:r>
                    </a:p>
                  </a:txBody>
                  <a:tcPr marL="68580" marR="68580" marT="34290" marB="34290"/>
                </a:tc>
                <a:extLst>
                  <a:ext uri="{0D108BD9-81ED-4DB2-BD59-A6C34878D82A}">
                    <a16:rowId xmlns:a16="http://schemas.microsoft.com/office/drawing/2014/main" val="318135666"/>
                  </a:ext>
                </a:extLst>
              </a:tr>
              <a:tr h="480060">
                <a:tc>
                  <a:txBody>
                    <a:bodyPr/>
                    <a:lstStyle/>
                    <a:p>
                      <a:r>
                        <a:rPr lang="en-GB" sz="900" b="1" dirty="0">
                          <a:latin typeface="+mn-lt"/>
                        </a:rPr>
                        <a:t>Delivery Managers</a:t>
                      </a:r>
                    </a:p>
                  </a:txBody>
                  <a:tcPr marL="68580" marR="68580" marT="34290" marB="34290"/>
                </a:tc>
                <a:tc>
                  <a:txBody>
                    <a:bodyPr/>
                    <a:lstStyle/>
                    <a:p>
                      <a:pPr marL="171450" indent="-171450">
                        <a:buFont typeface="Arial" panose="020B0604020202020204" pitchFamily="34" charset="0"/>
                        <a:buChar char="•"/>
                      </a:pPr>
                      <a:r>
                        <a:rPr lang="en-GB" sz="900" dirty="0">
                          <a:latin typeface="+mn-lt"/>
                        </a:rPr>
                        <a:t>CJT &amp; DVT Packs</a:t>
                      </a:r>
                    </a:p>
                  </a:txBody>
                  <a:tcPr marL="68580" marR="68580" marT="34290" marB="34290"/>
                </a:tc>
                <a:tc>
                  <a:txBody>
                    <a:bodyPr/>
                    <a:lstStyle/>
                    <a:p>
                      <a:pPr marL="171450" indent="-171450">
                        <a:buFont typeface="Arial" panose="020B0604020202020204" pitchFamily="34" charset="0"/>
                        <a:buChar char="•"/>
                      </a:pPr>
                      <a:r>
                        <a:rPr lang="en-GB" sz="900" dirty="0">
                          <a:latin typeface="+mn-lt"/>
                        </a:rPr>
                        <a:t>Confirm project status to business </a:t>
                      </a:r>
                    </a:p>
                    <a:p>
                      <a:pPr marL="171450" indent="-171450">
                        <a:buFont typeface="Arial" panose="020B0604020202020204" pitchFamily="34" charset="0"/>
                        <a:buChar char="•"/>
                      </a:pPr>
                      <a:r>
                        <a:rPr lang="en-GB" sz="900" dirty="0">
                          <a:latin typeface="+mn-lt"/>
                        </a:rPr>
                        <a:t>Where scope moved out, revise project plans</a:t>
                      </a:r>
                    </a:p>
                  </a:txBody>
                  <a:tcPr marL="68580" marR="68580" marT="34290" marB="34290"/>
                </a:tc>
                <a:extLst>
                  <a:ext uri="{0D108BD9-81ED-4DB2-BD59-A6C34878D82A}">
                    <a16:rowId xmlns:a16="http://schemas.microsoft.com/office/drawing/2014/main" val="1894371694"/>
                  </a:ext>
                </a:extLst>
              </a:tr>
              <a:tr h="3429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900" b="1" dirty="0">
                          <a:latin typeface="+mn-lt"/>
                        </a:rPr>
                        <a:t>Test (SIT &amp; PAT)</a:t>
                      </a:r>
                    </a:p>
                    <a:p>
                      <a:endParaRPr lang="en-GB" sz="900" b="1" dirty="0">
                        <a:latin typeface="+mn-lt"/>
                      </a:endParaRPr>
                    </a:p>
                  </a:txBody>
                  <a:tcPr marL="68580" marR="68580" marT="34290" marB="34290"/>
                </a:tc>
                <a:tc>
                  <a:txBody>
                    <a:bodyPr/>
                    <a:lstStyle/>
                    <a:p>
                      <a:pPr marL="171450" indent="-171450">
                        <a:buFont typeface="Arial" panose="020B0604020202020204" pitchFamily="34" charset="0"/>
                        <a:buChar char="•"/>
                      </a:pPr>
                      <a:r>
                        <a:rPr lang="en-GB" sz="900" dirty="0">
                          <a:latin typeface="+mn-lt"/>
                        </a:rPr>
                        <a:t>List of candidates at risk</a:t>
                      </a:r>
                    </a:p>
                  </a:txBody>
                  <a:tcPr marL="68580" marR="68580" marT="34290" marB="34290"/>
                </a:tc>
                <a:tc>
                  <a:txBody>
                    <a:bodyPr/>
                    <a:lstStyle/>
                    <a:p>
                      <a:pPr marL="171450" indent="-171450">
                        <a:buFont typeface="Arial" panose="020B0604020202020204" pitchFamily="34" charset="0"/>
                        <a:buChar char="•"/>
                      </a:pPr>
                      <a:r>
                        <a:rPr lang="en-GB" sz="900" dirty="0">
                          <a:latin typeface="+mn-lt"/>
                        </a:rPr>
                        <a:t>Confirm potential deferrals from release</a:t>
                      </a:r>
                    </a:p>
                  </a:txBody>
                  <a:tcPr marL="68580" marR="68580" marT="34290" marB="34290"/>
                </a:tc>
                <a:extLst>
                  <a:ext uri="{0D108BD9-81ED-4DB2-BD59-A6C34878D82A}">
                    <a16:rowId xmlns:a16="http://schemas.microsoft.com/office/drawing/2014/main" val="2153192500"/>
                  </a:ext>
                </a:extLst>
              </a:tr>
              <a:tr h="278130">
                <a:tc>
                  <a:txBody>
                    <a:bodyPr/>
                    <a:lstStyle/>
                    <a:p>
                      <a:r>
                        <a:rPr lang="en-GB" sz="900" b="1" dirty="0">
                          <a:solidFill>
                            <a:schemeClr val="tx1"/>
                          </a:solidFill>
                          <a:latin typeface="+mn-lt"/>
                        </a:rPr>
                        <a:t>Environments</a:t>
                      </a:r>
                      <a:endParaRPr lang="en-GB" sz="900" b="1" dirty="0">
                        <a:latin typeface="+mn-lt"/>
                      </a:endParaRPr>
                    </a:p>
                  </a:txBody>
                  <a:tcPr marL="68580" marR="68580" marT="34290" marB="34290"/>
                </a:tc>
                <a:tc>
                  <a:txBody>
                    <a:bodyPr/>
                    <a:lstStyle/>
                    <a:p>
                      <a:pPr marL="171450" indent="-171450">
                        <a:buFont typeface="Arial" panose="020B0604020202020204" pitchFamily="34" charset="0"/>
                        <a:buChar char="•"/>
                      </a:pPr>
                      <a:r>
                        <a:rPr lang="en-GB" sz="900" dirty="0">
                          <a:solidFill>
                            <a:schemeClr val="tx1"/>
                          </a:solidFill>
                          <a:latin typeface="+mn-lt"/>
                        </a:rPr>
                        <a:t>N/A</a:t>
                      </a: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N/A</a:t>
                      </a:r>
                    </a:p>
                  </a:txBody>
                  <a:tcPr marL="68580" marR="68580" marT="34290" marB="34290"/>
                </a:tc>
                <a:extLst>
                  <a:ext uri="{0D108BD9-81ED-4DB2-BD59-A6C34878D82A}">
                    <a16:rowId xmlns:a16="http://schemas.microsoft.com/office/drawing/2014/main" val="1886219527"/>
                  </a:ext>
                </a:extLst>
              </a:tr>
            </a:tbl>
          </a:graphicData>
        </a:graphic>
      </p:graphicFrame>
      <p:sp>
        <p:nvSpPr>
          <p:cNvPr id="6" name="Rectangle 5">
            <a:extLst>
              <a:ext uri="{FF2B5EF4-FFF2-40B4-BE49-F238E27FC236}">
                <a16:creationId xmlns:a16="http://schemas.microsoft.com/office/drawing/2014/main" id="{AF73E48C-26A4-DAE2-2DF7-F0344476B47C}"/>
              </a:ext>
            </a:extLst>
          </p:cNvPr>
          <p:cNvSpPr/>
          <p:nvPr/>
        </p:nvSpPr>
        <p:spPr>
          <a:xfrm>
            <a:off x="243344" y="614359"/>
            <a:ext cx="3321000" cy="621000"/>
          </a:xfrm>
          <a:prstGeom prst="rect">
            <a:avLst/>
          </a:prstGeom>
          <a:ln/>
        </p:spPr>
        <p:style>
          <a:lnRef idx="2">
            <a:schemeClr val="accent1"/>
          </a:lnRef>
          <a:fillRef idx="1">
            <a:schemeClr val="lt1"/>
          </a:fillRef>
          <a:effectRef idx="0">
            <a:schemeClr val="accent1"/>
          </a:effectRef>
          <a:fontRef idx="minor">
            <a:schemeClr val="dk1"/>
          </a:fontRef>
        </p:style>
        <p:txBody>
          <a:bodyPr spcFirstLastPara="0" vert="horz" wrap="square" lIns="27000" tIns="27000" rIns="27000" bIns="0" numCol="1" spcCol="1270" rtlCol="0" anchor="t" anchorCtr="0">
            <a:noAutofit/>
          </a:bodyPr>
          <a:lstStyle/>
          <a:p>
            <a:pPr>
              <a:defRPr/>
            </a:pPr>
            <a:r>
              <a:rPr lang="en-GB" sz="1050" b="1" dirty="0">
                <a:solidFill>
                  <a:srgbClr val="FF0000"/>
                </a:solidFill>
                <a:latin typeface="Vodafone Rg (Body)"/>
              </a:rPr>
              <a:t>Objective</a:t>
            </a:r>
            <a:r>
              <a:rPr lang="en-GB" sz="1050" dirty="0">
                <a:solidFill>
                  <a:srgbClr val="FF0000"/>
                </a:solidFill>
                <a:latin typeface="Vodafone Rg (Body)"/>
              </a:rPr>
              <a:t>: Final release scope freeze</a:t>
            </a:r>
          </a:p>
        </p:txBody>
      </p:sp>
      <p:sp>
        <p:nvSpPr>
          <p:cNvPr id="2" name="Date Placeholder 1">
            <a:extLst>
              <a:ext uri="{FF2B5EF4-FFF2-40B4-BE49-F238E27FC236}">
                <a16:creationId xmlns:a16="http://schemas.microsoft.com/office/drawing/2014/main" id="{A0C7083C-BE94-793D-BC37-BC57124484F3}"/>
              </a:ext>
            </a:extLst>
          </p:cNvPr>
          <p:cNvSpPr>
            <a:spLocks noGrp="1"/>
          </p:cNvSpPr>
          <p:nvPr>
            <p:ph type="dt" sz="half" idx="2"/>
          </p:nvPr>
        </p:nvSpPr>
        <p:spPr>
          <a:xfrm>
            <a:off x="8280000" y="6624000"/>
            <a:ext cx="3240000" cy="180000"/>
          </a:xfrm>
          <a:prstGeom prst="rect">
            <a:avLst/>
          </a:prstGeom>
        </p:spPr>
        <p:txBody>
          <a:bodyPr vert="horz" lIns="0" tIns="0" rIns="0" bIns="0" rtlCol="0" anchor="ctr" anchorCtr="0"/>
          <a:lstStyle>
            <a:defPPr>
              <a:defRPr lang="en-US"/>
            </a:defPPr>
            <a:lvl1pPr marL="0" algn="l" defTabSz="914400" rtl="0" eaLnBrk="1" latinLnBrk="0" hangingPunct="1">
              <a:defRPr lang="en-GB" sz="1067"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Last Updated: 18 May 2026 | Owner: Vincent Stokell</a:t>
            </a:r>
            <a:endParaRPr lang="en-US" dirty="0"/>
          </a:p>
        </p:txBody>
      </p:sp>
    </p:spTree>
    <p:extLst>
      <p:ext uri="{BB962C8B-B14F-4D97-AF65-F5344CB8AC3E}">
        <p14:creationId xmlns:p14="http://schemas.microsoft.com/office/powerpoint/2010/main" val="1175107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6EC72-BAB8-B838-928A-FEE0B10E2057}"/>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284D50D8-2F2E-8842-1821-C62936957AE3}"/>
              </a:ext>
            </a:extLst>
          </p:cNvPr>
          <p:cNvSpPr txBox="1">
            <a:spLocks/>
          </p:cNvSpPr>
          <p:nvPr/>
        </p:nvSpPr>
        <p:spPr>
          <a:xfrm>
            <a:off x="135001" y="162001"/>
            <a:ext cx="6538913" cy="409310"/>
          </a:xfrm>
          <a:prstGeom prst="rect">
            <a:avLst/>
          </a:prstGeom>
        </p:spPr>
        <p:txBody>
          <a:bodyPr anchor="t"/>
          <a:lstStyle>
            <a:lvl1pPr algn="l" defTabSz="1219170" rtl="0" eaLnBrk="1" latinLnBrk="0" hangingPunct="1">
              <a:lnSpc>
                <a:spcPct val="80000"/>
              </a:lnSpc>
              <a:spcBef>
                <a:spcPct val="0"/>
              </a:spcBef>
              <a:buNone/>
              <a:defRPr sz="3200" b="1" kern="1200">
                <a:solidFill>
                  <a:schemeClr val="accent1"/>
                </a:solidFill>
                <a:latin typeface="Vodafone Rg" pitchFamily="34" charset="0"/>
                <a:ea typeface="+mj-ea"/>
                <a:cs typeface="+mj-cs"/>
              </a:defRPr>
            </a:lvl1pPr>
          </a:lstStyle>
          <a:p>
            <a:pPr>
              <a:defRPr/>
            </a:pPr>
            <a:r>
              <a:rPr lang="en-GB" sz="2400" dirty="0">
                <a:solidFill>
                  <a:srgbClr val="FF0000"/>
                </a:solidFill>
                <a:latin typeface="+mn-lt"/>
              </a:rPr>
              <a:t> </a:t>
            </a:r>
            <a:r>
              <a:rPr lang="en-GB" sz="2100" dirty="0">
                <a:solidFill>
                  <a:srgbClr val="FF0000"/>
                </a:solidFill>
                <a:latin typeface="+mn-lt"/>
              </a:rPr>
              <a:t>Change Requests</a:t>
            </a:r>
            <a:endParaRPr lang="en-GB" sz="2400" b="0" dirty="0">
              <a:solidFill>
                <a:srgbClr val="FF0000"/>
              </a:solidFill>
              <a:latin typeface="+mn-lt"/>
            </a:endParaRPr>
          </a:p>
        </p:txBody>
      </p:sp>
      <p:sp>
        <p:nvSpPr>
          <p:cNvPr id="4" name="TextBox 3">
            <a:extLst>
              <a:ext uri="{FF2B5EF4-FFF2-40B4-BE49-F238E27FC236}">
                <a16:creationId xmlns:a16="http://schemas.microsoft.com/office/drawing/2014/main" id="{94991F8F-207A-3040-F90B-970F573E7EFA}"/>
              </a:ext>
            </a:extLst>
          </p:cNvPr>
          <p:cNvSpPr txBox="1"/>
          <p:nvPr/>
        </p:nvSpPr>
        <p:spPr>
          <a:xfrm>
            <a:off x="243000" y="1350000"/>
            <a:ext cx="3354917" cy="2173593"/>
          </a:xfrm>
          <a:prstGeom prst="rect">
            <a:avLst/>
          </a:prstGeom>
        </p:spPr>
        <p:txBody>
          <a:bodyPr wrap="square" lIns="27000" tIns="27000" rIns="27000" bIns="27000" rtlCol="0">
            <a:noAutofit/>
          </a:bodyPr>
          <a:lstStyle/>
          <a:p>
            <a:pPr lvl="0">
              <a:defRPr/>
            </a:pPr>
            <a:r>
              <a:rPr lang="en-GB" sz="1050" b="1" dirty="0">
                <a:solidFill>
                  <a:srgbClr val="000000"/>
                </a:solidFill>
              </a:rPr>
              <a:t>Entry criteria: </a:t>
            </a:r>
          </a:p>
          <a:p>
            <a:pPr marL="214313" indent="-214313">
              <a:buFont typeface="Arial" panose="020B0604020202020204" pitchFamily="34" charset="0"/>
              <a:buChar char="•"/>
              <a:defRPr/>
            </a:pPr>
            <a:r>
              <a:rPr lang="en-GB" sz="1050" dirty="0"/>
              <a:t>Completion of the ADO Change Request including – Reason for being late, Business justification, Impact from not proceeding, Value change brings</a:t>
            </a:r>
          </a:p>
          <a:p>
            <a:pPr marL="214313" indent="-214313">
              <a:buFont typeface="Arial" panose="020B0604020202020204" pitchFamily="34" charset="0"/>
              <a:buChar char="•"/>
              <a:defRPr/>
            </a:pPr>
            <a:r>
              <a:rPr lang="en-GB" sz="1050" dirty="0">
                <a:solidFill>
                  <a:srgbClr val="000000"/>
                </a:solidFill>
              </a:rPr>
              <a:t>Approved VROMs and delivery plans </a:t>
            </a:r>
          </a:p>
          <a:p>
            <a:pPr marL="214313" indent="-214313">
              <a:buFont typeface="Arial" panose="020B0604020202020204" pitchFamily="34" charset="0"/>
              <a:buChar char="•"/>
              <a:defRPr/>
            </a:pPr>
            <a:r>
              <a:rPr lang="en-GB" sz="1050" dirty="0">
                <a:solidFill>
                  <a:srgbClr val="000000"/>
                </a:solidFill>
              </a:rPr>
              <a:t>Test Assessment</a:t>
            </a:r>
          </a:p>
          <a:p>
            <a:pPr>
              <a:spcBef>
                <a:spcPts val="900"/>
              </a:spcBef>
              <a:defRPr/>
            </a:pPr>
            <a:r>
              <a:rPr lang="en-GB" sz="1050" b="1" dirty="0">
                <a:solidFill>
                  <a:srgbClr val="000000"/>
                </a:solidFill>
              </a:rPr>
              <a:t>Output</a:t>
            </a:r>
            <a:r>
              <a:rPr lang="en-GB" sz="1050" dirty="0">
                <a:solidFill>
                  <a:srgbClr val="000000"/>
                </a:solidFill>
              </a:rPr>
              <a:t>: </a:t>
            </a:r>
            <a:r>
              <a:rPr lang="en-GB" sz="1050" dirty="0"/>
              <a:t>Accept or Reject the CR</a:t>
            </a:r>
            <a:endParaRPr lang="en-GB" sz="1050" dirty="0">
              <a:solidFill>
                <a:srgbClr val="000000"/>
              </a:solidFill>
            </a:endParaRPr>
          </a:p>
          <a:p>
            <a:pPr lvl="0">
              <a:defRPr/>
            </a:pPr>
            <a:endParaRPr lang="en-GB" sz="1050" dirty="0">
              <a:solidFill>
                <a:srgbClr val="000000"/>
              </a:solidFill>
            </a:endParaRPr>
          </a:p>
          <a:p>
            <a:pPr>
              <a:spcAft>
                <a:spcPts val="450"/>
              </a:spcAft>
              <a:defRPr/>
            </a:pPr>
            <a:r>
              <a:rPr lang="en-GB" sz="1050" b="1" dirty="0">
                <a:solidFill>
                  <a:srgbClr val="000000"/>
                </a:solidFill>
              </a:rPr>
              <a:t>Mandatory Audience</a:t>
            </a:r>
            <a:r>
              <a:rPr lang="en-GB" sz="1050" dirty="0">
                <a:solidFill>
                  <a:srgbClr val="000000"/>
                </a:solidFill>
              </a:rPr>
              <a:t>: VF3 E2E RM, Domain RM, Factory RM, Delivery Managers, Test (SIT &amp; PAT) &amp; Environments (VES)</a:t>
            </a:r>
          </a:p>
          <a:p>
            <a:pPr>
              <a:spcAft>
                <a:spcPts val="450"/>
              </a:spcAft>
              <a:defRPr/>
            </a:pPr>
            <a:r>
              <a:rPr lang="en-GB" sz="1050" b="1" dirty="0">
                <a:solidFill>
                  <a:srgbClr val="000000"/>
                </a:solidFill>
              </a:rPr>
              <a:t>Optional Audience</a:t>
            </a:r>
            <a:r>
              <a:rPr lang="en-GB" sz="1050" b="1" dirty="0"/>
              <a:t>: </a:t>
            </a:r>
            <a:r>
              <a:rPr lang="en-GB" sz="1050" dirty="0"/>
              <a:t>Domains</a:t>
            </a:r>
            <a:endParaRPr lang="en-GB" sz="1050" dirty="0">
              <a:solidFill>
                <a:srgbClr val="000000"/>
              </a:solidFill>
            </a:endParaRPr>
          </a:p>
          <a:p>
            <a:pPr defTabSz="685800">
              <a:defRPr/>
            </a:pPr>
            <a:r>
              <a:rPr lang="en-GB" sz="1050" dirty="0">
                <a:solidFill>
                  <a:srgbClr val="000000"/>
                </a:solidFill>
              </a:rPr>
              <a:t> </a:t>
            </a:r>
          </a:p>
        </p:txBody>
      </p:sp>
      <p:graphicFrame>
        <p:nvGraphicFramePr>
          <p:cNvPr id="3" name="Table 4">
            <a:extLst>
              <a:ext uri="{FF2B5EF4-FFF2-40B4-BE49-F238E27FC236}">
                <a16:creationId xmlns:a16="http://schemas.microsoft.com/office/drawing/2014/main" id="{C5C3494E-89F1-A3C9-2651-46EC05C34309}"/>
              </a:ext>
            </a:extLst>
          </p:cNvPr>
          <p:cNvGraphicFramePr>
            <a:graphicFrameLocks noGrp="1"/>
          </p:cNvGraphicFramePr>
          <p:nvPr/>
        </p:nvGraphicFramePr>
        <p:xfrm>
          <a:off x="3726000" y="594000"/>
          <a:ext cx="5265000" cy="2202180"/>
        </p:xfrm>
        <a:graphic>
          <a:graphicData uri="http://schemas.openxmlformats.org/drawingml/2006/table">
            <a:tbl>
              <a:tblPr firstRow="1" bandRow="1">
                <a:tableStyleId>{5C22544A-7EE6-4342-B048-85BDC9FD1C3A}</a:tableStyleId>
              </a:tblPr>
              <a:tblGrid>
                <a:gridCol w="1350000">
                  <a:extLst>
                    <a:ext uri="{9D8B030D-6E8A-4147-A177-3AD203B41FA5}">
                      <a16:colId xmlns:a16="http://schemas.microsoft.com/office/drawing/2014/main" val="3665792996"/>
                    </a:ext>
                  </a:extLst>
                </a:gridCol>
                <a:gridCol w="1971000">
                  <a:extLst>
                    <a:ext uri="{9D8B030D-6E8A-4147-A177-3AD203B41FA5}">
                      <a16:colId xmlns:a16="http://schemas.microsoft.com/office/drawing/2014/main" val="196500768"/>
                    </a:ext>
                  </a:extLst>
                </a:gridCol>
                <a:gridCol w="1944000">
                  <a:extLst>
                    <a:ext uri="{9D8B030D-6E8A-4147-A177-3AD203B41FA5}">
                      <a16:colId xmlns:a16="http://schemas.microsoft.com/office/drawing/2014/main" val="3242177481"/>
                    </a:ext>
                  </a:extLst>
                </a:gridCol>
              </a:tblGrid>
              <a:tr h="278130">
                <a:tc>
                  <a:txBody>
                    <a:bodyPr/>
                    <a:lstStyle/>
                    <a:p>
                      <a:r>
                        <a:rPr lang="en-GB" sz="1200" dirty="0">
                          <a:latin typeface="+mn-lt"/>
                        </a:rPr>
                        <a:t>Participant</a:t>
                      </a:r>
                    </a:p>
                  </a:txBody>
                  <a:tcPr marL="68580" marR="68580" marT="34290" marB="34290"/>
                </a:tc>
                <a:tc>
                  <a:txBody>
                    <a:bodyPr/>
                    <a:lstStyle/>
                    <a:p>
                      <a:r>
                        <a:rPr lang="en-GB" sz="1200" dirty="0">
                          <a:latin typeface="+mn-lt"/>
                        </a:rPr>
                        <a:t>Input (Actions Done)</a:t>
                      </a:r>
                    </a:p>
                  </a:txBody>
                  <a:tcPr marL="68580" marR="68580" marT="34290" marB="34290"/>
                </a:tc>
                <a:tc>
                  <a:txBody>
                    <a:bodyPr/>
                    <a:lstStyle/>
                    <a:p>
                      <a:r>
                        <a:rPr lang="en-GB" sz="1200" dirty="0">
                          <a:latin typeface="+mn-lt"/>
                        </a:rPr>
                        <a:t>Output (Actions to do)</a:t>
                      </a:r>
                    </a:p>
                  </a:txBody>
                  <a:tcPr marL="68580" marR="68580" marT="34290" marB="34290"/>
                </a:tc>
                <a:extLst>
                  <a:ext uri="{0D108BD9-81ED-4DB2-BD59-A6C34878D82A}">
                    <a16:rowId xmlns:a16="http://schemas.microsoft.com/office/drawing/2014/main" val="1495469843"/>
                  </a:ext>
                </a:extLst>
              </a:tr>
              <a:tr h="278130">
                <a:tc>
                  <a:txBody>
                    <a:bodyPr/>
                    <a:lstStyle/>
                    <a:p>
                      <a:r>
                        <a:rPr lang="en-GB" sz="900" b="1" dirty="0">
                          <a:solidFill>
                            <a:srgbClr val="000000"/>
                          </a:solidFill>
                        </a:rPr>
                        <a:t>VF3 E2E RM</a:t>
                      </a:r>
                      <a:endParaRPr lang="en-GB" sz="900" b="1" dirty="0">
                        <a:latin typeface="+mn-lt"/>
                      </a:endParaRPr>
                    </a:p>
                  </a:txBody>
                  <a:tcPr marL="68580" marR="68580" marT="34290" marB="34290"/>
                </a:tc>
                <a:tc>
                  <a:txBody>
                    <a:bodyPr/>
                    <a:lstStyle/>
                    <a:p>
                      <a:pPr marL="171450" indent="-171450">
                        <a:buFont typeface="Arial" panose="020B0604020202020204" pitchFamily="34" charset="0"/>
                        <a:buChar char="•"/>
                      </a:pPr>
                      <a:r>
                        <a:rPr lang="en-GB" sz="900" dirty="0">
                          <a:latin typeface="+mn-lt"/>
                        </a:rPr>
                        <a:t>N/A</a:t>
                      </a:r>
                    </a:p>
                  </a:txBody>
                  <a:tcPr marL="68580" marR="68580" marT="34290" marB="34290"/>
                </a:tc>
                <a:tc>
                  <a:txBody>
                    <a:bodyPr/>
                    <a:lstStyle/>
                    <a:p>
                      <a:pPr marL="171450" indent="-171450">
                        <a:buFont typeface="Arial" panose="020B0604020202020204" pitchFamily="34" charset="0"/>
                        <a:buChar char="•"/>
                      </a:pPr>
                      <a:r>
                        <a:rPr lang="en-GB" sz="900" dirty="0">
                          <a:solidFill>
                            <a:schemeClr val="tx1"/>
                          </a:solidFill>
                          <a:latin typeface="+mn-lt"/>
                        </a:rPr>
                        <a:t>Accept or Reject the CR</a:t>
                      </a:r>
                    </a:p>
                  </a:txBody>
                  <a:tcPr marL="68580" marR="68580" marT="34290" marB="34290"/>
                </a:tc>
                <a:extLst>
                  <a:ext uri="{0D108BD9-81ED-4DB2-BD59-A6C34878D82A}">
                    <a16:rowId xmlns:a16="http://schemas.microsoft.com/office/drawing/2014/main" val="3746480440"/>
                  </a:ext>
                </a:extLst>
              </a:tr>
              <a:tr h="342900">
                <a:tc>
                  <a:txBody>
                    <a:bodyPr/>
                    <a:lstStyle/>
                    <a:p>
                      <a:r>
                        <a:rPr lang="en-GB" sz="900" b="1" dirty="0">
                          <a:solidFill>
                            <a:schemeClr val="tx1"/>
                          </a:solidFill>
                          <a:latin typeface="+mn-lt"/>
                        </a:rPr>
                        <a:t>Domain RM &amp; Factory RM</a:t>
                      </a:r>
                    </a:p>
                  </a:txBody>
                  <a:tcPr marL="68580" marR="68580" marT="34290" marB="34290"/>
                </a:tc>
                <a:tc>
                  <a:txBody>
                    <a:bodyPr/>
                    <a:lstStyle/>
                    <a:p>
                      <a:pPr marL="171450" indent="-171450">
                        <a:buFont typeface="Arial" panose="020B0604020202020204" pitchFamily="34" charset="0"/>
                        <a:buChar char="•"/>
                      </a:pPr>
                      <a:r>
                        <a:rPr lang="en-GB" sz="900" dirty="0">
                          <a:solidFill>
                            <a:schemeClr val="tx1"/>
                          </a:solidFill>
                          <a:latin typeface="+mn-lt"/>
                        </a:rPr>
                        <a:t>Approve VROMs</a:t>
                      </a:r>
                    </a:p>
                    <a:p>
                      <a:pPr marL="171450" indent="-171450">
                        <a:buFont typeface="Arial" panose="020B0604020202020204" pitchFamily="34" charset="0"/>
                        <a:buChar char="•"/>
                      </a:pPr>
                      <a:r>
                        <a:rPr lang="en-GB" sz="900" dirty="0">
                          <a:solidFill>
                            <a:schemeClr val="tx1"/>
                          </a:solidFill>
                          <a:latin typeface="+mn-lt"/>
                        </a:rPr>
                        <a:t>Provide delivery plans</a:t>
                      </a: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N/A</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900" dirty="0">
                        <a:solidFill>
                          <a:schemeClr val="tx1"/>
                        </a:solidFill>
                        <a:latin typeface="+mn-lt"/>
                      </a:endParaRPr>
                    </a:p>
                  </a:txBody>
                  <a:tcPr marL="68580" marR="68580" marT="34290" marB="34290"/>
                </a:tc>
                <a:extLst>
                  <a:ext uri="{0D108BD9-81ED-4DB2-BD59-A6C34878D82A}">
                    <a16:rowId xmlns:a16="http://schemas.microsoft.com/office/drawing/2014/main" val="318135666"/>
                  </a:ext>
                </a:extLst>
              </a:tr>
              <a:tr h="617220">
                <a:tc>
                  <a:txBody>
                    <a:bodyPr/>
                    <a:lstStyle/>
                    <a:p>
                      <a:r>
                        <a:rPr lang="en-GB" sz="900" b="1" dirty="0">
                          <a:latin typeface="+mn-lt"/>
                        </a:rPr>
                        <a:t>Delivery Managers</a:t>
                      </a:r>
                    </a:p>
                  </a:txBody>
                  <a:tcPr marL="68580" marR="68580" marT="34290" marB="34290"/>
                </a:tc>
                <a:tc>
                  <a:txBody>
                    <a:bodyPr/>
                    <a:lstStyle/>
                    <a:p>
                      <a:pPr marL="171450" indent="-171450">
                        <a:buFont typeface="Arial" panose="020B0604020202020204" pitchFamily="34" charset="0"/>
                        <a:buChar char="•"/>
                      </a:pPr>
                      <a:r>
                        <a:rPr lang="en-GB" sz="900" dirty="0">
                          <a:latin typeface="+mn-lt"/>
                        </a:rPr>
                        <a:t>Complete ADO CR work item will all key information correctly completed</a:t>
                      </a:r>
                    </a:p>
                    <a:p>
                      <a:pPr marL="171450" indent="-171450">
                        <a:buFont typeface="Arial" panose="020B0604020202020204" pitchFamily="34" charset="0"/>
                        <a:buChar char="•"/>
                      </a:pPr>
                      <a:r>
                        <a:rPr lang="en-GB" sz="900" dirty="0">
                          <a:latin typeface="+mn-lt"/>
                        </a:rPr>
                        <a:t>Provide delivery plans in linked ADO work items</a:t>
                      </a: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N/A</a:t>
                      </a:r>
                    </a:p>
                    <a:p>
                      <a:pPr marL="171450" indent="-171450">
                        <a:buFont typeface="Arial" panose="020B0604020202020204" pitchFamily="34" charset="0"/>
                        <a:buChar char="•"/>
                      </a:pPr>
                      <a:endParaRPr lang="en-GB" sz="900" dirty="0">
                        <a:latin typeface="+mn-lt"/>
                      </a:endParaRPr>
                    </a:p>
                  </a:txBody>
                  <a:tcPr marL="68580" marR="68580" marT="34290" marB="34290"/>
                </a:tc>
                <a:extLst>
                  <a:ext uri="{0D108BD9-81ED-4DB2-BD59-A6C34878D82A}">
                    <a16:rowId xmlns:a16="http://schemas.microsoft.com/office/drawing/2014/main" val="1894371694"/>
                  </a:ext>
                </a:extLst>
              </a:tr>
              <a:tr h="3429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GB" sz="900" b="1" dirty="0">
                          <a:latin typeface="+mn-lt"/>
                        </a:rPr>
                        <a:t>Test (SIT &amp; PAT)</a:t>
                      </a:r>
                    </a:p>
                    <a:p>
                      <a:endParaRPr lang="en-GB" sz="900" b="1" dirty="0">
                        <a:latin typeface="+mn-lt"/>
                      </a:endParaRP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Test assessment completed</a:t>
                      </a:r>
                    </a:p>
                    <a:p>
                      <a:pPr marL="171450" indent="-171450">
                        <a:buFont typeface="Arial" panose="020B0604020202020204" pitchFamily="34" charset="0"/>
                        <a:buChar char="•"/>
                      </a:pPr>
                      <a:endParaRPr lang="en-GB" sz="900" dirty="0">
                        <a:latin typeface="+mn-lt"/>
                      </a:endParaRP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N/A</a:t>
                      </a:r>
                    </a:p>
                    <a:p>
                      <a:pPr marL="171450" indent="-171450">
                        <a:buFont typeface="Arial" panose="020B0604020202020204" pitchFamily="34" charset="0"/>
                        <a:buChar char="•"/>
                      </a:pPr>
                      <a:endParaRPr lang="en-GB" sz="900" dirty="0">
                        <a:latin typeface="+mn-lt"/>
                      </a:endParaRPr>
                    </a:p>
                  </a:txBody>
                  <a:tcPr marL="68580" marR="68580" marT="34290" marB="34290"/>
                </a:tc>
                <a:extLst>
                  <a:ext uri="{0D108BD9-81ED-4DB2-BD59-A6C34878D82A}">
                    <a16:rowId xmlns:a16="http://schemas.microsoft.com/office/drawing/2014/main" val="2153192500"/>
                  </a:ext>
                </a:extLst>
              </a:tr>
              <a:tr h="342900">
                <a:tc>
                  <a:txBody>
                    <a:bodyPr/>
                    <a:lstStyle/>
                    <a:p>
                      <a:r>
                        <a:rPr lang="en-GB" sz="900" b="1" dirty="0">
                          <a:solidFill>
                            <a:schemeClr val="tx1"/>
                          </a:solidFill>
                          <a:latin typeface="+mn-lt"/>
                        </a:rPr>
                        <a:t>Environments</a:t>
                      </a:r>
                      <a:endParaRPr lang="en-GB" sz="900" b="1" dirty="0">
                        <a:latin typeface="+mn-lt"/>
                      </a:endParaRP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N/A</a:t>
                      </a:r>
                    </a:p>
                    <a:p>
                      <a:pPr marL="171450" indent="-171450">
                        <a:buFont typeface="Arial" panose="020B0604020202020204" pitchFamily="34" charset="0"/>
                        <a:buChar char="•"/>
                      </a:pPr>
                      <a:endParaRPr lang="en-GB" sz="900" dirty="0">
                        <a:solidFill>
                          <a:srgbClr val="FF0000"/>
                        </a:solidFill>
                        <a:latin typeface="+mn-lt"/>
                      </a:endParaRPr>
                    </a:p>
                  </a:txBody>
                  <a:tcPr marL="68580" marR="68580" marT="34290" marB="34290"/>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dirty="0">
                          <a:solidFill>
                            <a:schemeClr val="tx1"/>
                          </a:solidFill>
                          <a:latin typeface="+mn-lt"/>
                        </a:rPr>
                        <a:t>N/A</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900" dirty="0">
                        <a:solidFill>
                          <a:srgbClr val="FF0000"/>
                        </a:solidFill>
                        <a:latin typeface="+mn-lt"/>
                      </a:endParaRPr>
                    </a:p>
                  </a:txBody>
                  <a:tcPr marL="68580" marR="68580" marT="34290" marB="34290"/>
                </a:tc>
                <a:extLst>
                  <a:ext uri="{0D108BD9-81ED-4DB2-BD59-A6C34878D82A}">
                    <a16:rowId xmlns:a16="http://schemas.microsoft.com/office/drawing/2014/main" val="1886219527"/>
                  </a:ext>
                </a:extLst>
              </a:tr>
            </a:tbl>
          </a:graphicData>
        </a:graphic>
      </p:graphicFrame>
      <p:sp>
        <p:nvSpPr>
          <p:cNvPr id="6" name="Rectangle 5">
            <a:extLst>
              <a:ext uri="{FF2B5EF4-FFF2-40B4-BE49-F238E27FC236}">
                <a16:creationId xmlns:a16="http://schemas.microsoft.com/office/drawing/2014/main" id="{AF73E48C-26A4-DAE2-2DF7-F0344476B47C}"/>
              </a:ext>
            </a:extLst>
          </p:cNvPr>
          <p:cNvSpPr/>
          <p:nvPr/>
        </p:nvSpPr>
        <p:spPr>
          <a:xfrm>
            <a:off x="243344" y="614359"/>
            <a:ext cx="3321000" cy="621000"/>
          </a:xfrm>
          <a:prstGeom prst="rect">
            <a:avLst/>
          </a:prstGeom>
          <a:ln/>
        </p:spPr>
        <p:style>
          <a:lnRef idx="2">
            <a:schemeClr val="accent1"/>
          </a:lnRef>
          <a:fillRef idx="1">
            <a:schemeClr val="lt1"/>
          </a:fillRef>
          <a:effectRef idx="0">
            <a:schemeClr val="accent1"/>
          </a:effectRef>
          <a:fontRef idx="minor">
            <a:schemeClr val="dk1"/>
          </a:fontRef>
        </p:style>
        <p:txBody>
          <a:bodyPr spcFirstLastPara="0" vert="horz" wrap="square" lIns="27000" tIns="27000" rIns="27000" bIns="0" numCol="1" spcCol="1270" rtlCol="0" anchor="t" anchorCtr="0">
            <a:noAutofit/>
          </a:bodyPr>
          <a:lstStyle/>
          <a:p>
            <a:pPr>
              <a:defRPr/>
            </a:pPr>
            <a:r>
              <a:rPr lang="en-GB" sz="1050" b="1" dirty="0">
                <a:solidFill>
                  <a:srgbClr val="FF0000"/>
                </a:solidFill>
              </a:rPr>
              <a:t>Objective</a:t>
            </a:r>
            <a:r>
              <a:rPr lang="en-GB" sz="1050" dirty="0">
                <a:solidFill>
                  <a:srgbClr val="FF0000"/>
                </a:solidFill>
              </a:rPr>
              <a:t>: Review late changes into the release post-RPM</a:t>
            </a:r>
          </a:p>
        </p:txBody>
      </p:sp>
      <p:sp>
        <p:nvSpPr>
          <p:cNvPr id="10" name="TextBox 9">
            <a:extLst>
              <a:ext uri="{FF2B5EF4-FFF2-40B4-BE49-F238E27FC236}">
                <a16:creationId xmlns:a16="http://schemas.microsoft.com/office/drawing/2014/main" id="{3C513452-B690-C37A-06A7-0A7CCB21FA49}"/>
              </a:ext>
            </a:extLst>
          </p:cNvPr>
          <p:cNvSpPr txBox="1"/>
          <p:nvPr/>
        </p:nvSpPr>
        <p:spPr>
          <a:xfrm>
            <a:off x="297000" y="3608069"/>
            <a:ext cx="3780000" cy="1215000"/>
          </a:xfrm>
          <a:prstGeom prst="rect">
            <a:avLst/>
          </a:prstGeom>
        </p:spPr>
        <p:txBody>
          <a:bodyPr wrap="square" lIns="0" tIns="0" rIns="0" bIns="0" rtlCol="0">
            <a:noAutofit/>
          </a:bodyPr>
          <a:lstStyle/>
          <a:p>
            <a:r>
              <a:rPr lang="en-GB" sz="1350" b="1" dirty="0">
                <a:solidFill>
                  <a:srgbClr val="00B050"/>
                </a:solidFill>
              </a:rPr>
              <a:t>The following types of CRs will be considered:</a:t>
            </a:r>
          </a:p>
          <a:p>
            <a:pPr marL="214313" indent="-214313">
              <a:buFont typeface="Arial" panose="020B0604020202020204" pitchFamily="34" charset="0"/>
              <a:buChar char="•"/>
            </a:pPr>
            <a:r>
              <a:rPr lang="en-GB" sz="1350" dirty="0"/>
              <a:t>Technical CRs such as defect fixes that need a change in Low Level Design</a:t>
            </a:r>
          </a:p>
          <a:p>
            <a:pPr marL="214313" indent="-214313">
              <a:buFont typeface="Arial" panose="020B0604020202020204" pitchFamily="34" charset="0"/>
              <a:buChar char="•"/>
            </a:pPr>
            <a:r>
              <a:rPr lang="en-GB" sz="1350" dirty="0"/>
              <a:t>Fall-outs from previous release due to open defects despite realistic project planning</a:t>
            </a:r>
          </a:p>
        </p:txBody>
      </p:sp>
      <p:sp>
        <p:nvSpPr>
          <p:cNvPr id="5" name="TextBox 4">
            <a:extLst>
              <a:ext uri="{FF2B5EF4-FFF2-40B4-BE49-F238E27FC236}">
                <a16:creationId xmlns:a16="http://schemas.microsoft.com/office/drawing/2014/main" id="{FB156CD9-CBDD-C31E-0385-C1ED045D6C96}"/>
              </a:ext>
            </a:extLst>
          </p:cNvPr>
          <p:cNvSpPr txBox="1"/>
          <p:nvPr/>
        </p:nvSpPr>
        <p:spPr>
          <a:xfrm>
            <a:off x="4590000" y="3608069"/>
            <a:ext cx="3780000" cy="1215000"/>
          </a:xfrm>
          <a:prstGeom prst="rect">
            <a:avLst/>
          </a:prstGeom>
        </p:spPr>
        <p:txBody>
          <a:bodyPr wrap="square" lIns="0" tIns="0" rIns="0" bIns="0" rtlCol="0">
            <a:noAutofit/>
          </a:bodyPr>
          <a:lstStyle/>
          <a:p>
            <a:r>
              <a:rPr lang="en-GB" sz="1350" b="1" dirty="0">
                <a:solidFill>
                  <a:srgbClr val="FF0000"/>
                </a:solidFill>
              </a:rPr>
              <a:t>The following types of CRs will not be considered:</a:t>
            </a:r>
          </a:p>
          <a:p>
            <a:pPr marL="214313" indent="-214313">
              <a:buFont typeface="Arial" panose="020B0604020202020204" pitchFamily="34" charset="0"/>
              <a:buChar char="•"/>
            </a:pPr>
            <a:r>
              <a:rPr lang="en-GB" sz="1350" dirty="0"/>
              <a:t>Due to project missing readiness timelines</a:t>
            </a:r>
          </a:p>
          <a:p>
            <a:pPr marL="214313" indent="-214313">
              <a:buFont typeface="Arial" panose="020B0604020202020204" pitchFamily="34" charset="0"/>
              <a:buChar char="•"/>
            </a:pPr>
            <a:r>
              <a:rPr lang="en-GB" sz="1350" dirty="0"/>
              <a:t>Due to late business requirements or requests</a:t>
            </a:r>
          </a:p>
          <a:p>
            <a:pPr marL="214313" indent="-214313">
              <a:buFont typeface="Arial" panose="020B0604020202020204" pitchFamily="34" charset="0"/>
              <a:buChar char="•"/>
            </a:pPr>
            <a:endParaRPr lang="en-GB" sz="1350" dirty="0"/>
          </a:p>
        </p:txBody>
      </p:sp>
      <p:sp>
        <p:nvSpPr>
          <p:cNvPr id="2" name="Date Placeholder 1">
            <a:extLst>
              <a:ext uri="{FF2B5EF4-FFF2-40B4-BE49-F238E27FC236}">
                <a16:creationId xmlns:a16="http://schemas.microsoft.com/office/drawing/2014/main" id="{D8BD7633-573A-7092-356B-1094D57A91E4}"/>
              </a:ext>
            </a:extLst>
          </p:cNvPr>
          <p:cNvSpPr>
            <a:spLocks noGrp="1"/>
          </p:cNvSpPr>
          <p:nvPr>
            <p:ph type="dt" sz="half" idx="2"/>
          </p:nvPr>
        </p:nvSpPr>
        <p:spPr>
          <a:xfrm>
            <a:off x="8280000" y="6624000"/>
            <a:ext cx="3240000" cy="180000"/>
          </a:xfrm>
          <a:prstGeom prst="rect">
            <a:avLst/>
          </a:prstGeom>
        </p:spPr>
        <p:txBody>
          <a:bodyPr vert="horz" lIns="0" tIns="0" rIns="0" bIns="0" rtlCol="0" anchor="ctr" anchorCtr="0"/>
          <a:lstStyle>
            <a:defPPr>
              <a:defRPr lang="en-US"/>
            </a:defPPr>
            <a:lvl1pPr marL="0" algn="l" defTabSz="914400" rtl="0" eaLnBrk="1" latinLnBrk="0" hangingPunct="1">
              <a:defRPr lang="en-GB" sz="1067"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Last Updated: 18 May 2026 | Owner: Vincent Stokell</a:t>
            </a:r>
            <a:endParaRPr lang="en-US" dirty="0"/>
          </a:p>
        </p:txBody>
      </p:sp>
    </p:spTree>
    <p:extLst>
      <p:ext uri="{BB962C8B-B14F-4D97-AF65-F5344CB8AC3E}">
        <p14:creationId xmlns:p14="http://schemas.microsoft.com/office/powerpoint/2010/main" val="3295967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a:xfrm>
            <a:off x="179999" y="539999"/>
            <a:ext cx="8800891" cy="4471901"/>
          </a:xfrm>
        </p:spPr>
        <p:txBody>
          <a:bodyPr/>
          <a:lstStyle/>
          <a:p>
            <a:pPr marL="342900" indent="-342900">
              <a:spcBef>
                <a:spcPts val="600"/>
              </a:spcBef>
              <a:spcAft>
                <a:spcPts val="0"/>
              </a:spcAft>
              <a:buFont typeface="+mj-lt"/>
              <a:buAutoNum type="arabicPeriod"/>
            </a:pPr>
            <a:r>
              <a:rPr lang="en-GB" sz="1200" dirty="0"/>
              <a:t>Approx. 2 weeks before Readiness starts, </a:t>
            </a:r>
            <a:r>
              <a:rPr lang="en-GB" sz="1200" b="1" dirty="0"/>
              <a:t>Features</a:t>
            </a:r>
            <a:r>
              <a:rPr lang="en-GB" sz="1200" dirty="0"/>
              <a:t> must move to the RM ADO, with child </a:t>
            </a:r>
            <a:r>
              <a:rPr lang="en-GB" sz="1200" b="1" dirty="0"/>
              <a:t>Deliveries</a:t>
            </a:r>
            <a:r>
              <a:rPr lang="en-GB" sz="1200" dirty="0"/>
              <a:t> created &amp; populated:</a:t>
            </a:r>
          </a:p>
          <a:p>
            <a:pPr marL="381000" lvl="1" indent="-171450"/>
            <a:r>
              <a:rPr lang="en-GB" sz="1100" dirty="0"/>
              <a:t>The </a:t>
            </a:r>
            <a:r>
              <a:rPr lang="en-GB" sz="1100" b="1" dirty="0"/>
              <a:t>Feature</a:t>
            </a:r>
            <a:r>
              <a:rPr lang="en-GB" sz="1100" dirty="0"/>
              <a:t> should have its E2E HLD at least in Draft state, with impacted applications known, with </a:t>
            </a:r>
            <a:r>
              <a:rPr lang="en-GB" sz="1100" b="1" dirty="0"/>
              <a:t>Functions</a:t>
            </a:r>
            <a:r>
              <a:rPr lang="en-GB" sz="1100" dirty="0"/>
              <a:t> created and assigned to Domains</a:t>
            </a:r>
          </a:p>
          <a:p>
            <a:pPr marL="381000" lvl="1" indent="-171450">
              <a:spcAft>
                <a:spcPts val="0"/>
              </a:spcAft>
            </a:pPr>
            <a:r>
              <a:rPr lang="en-GB" sz="1100" dirty="0"/>
              <a:t>Early key fields of interest are:</a:t>
            </a:r>
          </a:p>
          <a:p>
            <a:pPr marL="419100" lvl="2" indent="-171450">
              <a:spcAft>
                <a:spcPts val="0"/>
              </a:spcAft>
              <a:buFont typeface="Courier New" panose="02070309020205020404" pitchFamily="49" charset="0"/>
              <a:buChar char="o"/>
            </a:pPr>
            <a:r>
              <a:rPr lang="en-GB" sz="900" b="1" dirty="0"/>
              <a:t>Features</a:t>
            </a:r>
            <a:r>
              <a:rPr lang="en-GB" sz="900" dirty="0"/>
              <a:t>: Stakeholders, E2E HLD status</a:t>
            </a:r>
          </a:p>
          <a:p>
            <a:pPr marL="419100" lvl="2" indent="-171450">
              <a:spcAft>
                <a:spcPts val="0"/>
              </a:spcAft>
              <a:buFont typeface="Courier New" panose="02070309020205020404" pitchFamily="49" charset="0"/>
              <a:buChar char="o"/>
            </a:pPr>
            <a:r>
              <a:rPr lang="en-GB" sz="900" b="1" dirty="0"/>
              <a:t>Deliveries</a:t>
            </a:r>
            <a:r>
              <a:rPr lang="en-GB" sz="900" dirty="0"/>
              <a:t>: Target Release, Consumption Plans, Business/Legal dependencies</a:t>
            </a:r>
          </a:p>
          <a:p>
            <a:pPr marL="419100" lvl="2" indent="-171450">
              <a:spcAft>
                <a:spcPts val="0"/>
              </a:spcAft>
              <a:buFont typeface="Courier New" panose="02070309020205020404" pitchFamily="49" charset="0"/>
              <a:buChar char="o"/>
            </a:pPr>
            <a:r>
              <a:rPr lang="en-GB" sz="900" b="1" dirty="0"/>
              <a:t>Functions</a:t>
            </a:r>
            <a:r>
              <a:rPr lang="en-GB" sz="900" dirty="0"/>
              <a:t>: T-Shirt sizes, VROM State, any delivery plans</a:t>
            </a:r>
          </a:p>
          <a:p>
            <a:pPr marL="342900" indent="-342900">
              <a:spcBef>
                <a:spcPts val="600"/>
              </a:spcBef>
              <a:spcAft>
                <a:spcPts val="0"/>
              </a:spcAft>
              <a:buFont typeface="+mj-lt"/>
              <a:buAutoNum type="arabicPeriod"/>
            </a:pPr>
            <a:r>
              <a:rPr lang="en-GB" sz="1200" dirty="0"/>
              <a:t>Readiness is announced via email to Demand &amp; Delivery DLs, plus TDMs named in those Features/Epics</a:t>
            </a:r>
          </a:p>
          <a:p>
            <a:pPr lvl="1"/>
            <a:r>
              <a:rPr lang="en-GB" sz="1100" dirty="0"/>
              <a:t>The list of potential candidates is gathered purely from ADO, where Feature’s </a:t>
            </a:r>
            <a:r>
              <a:rPr lang="en-GB" sz="1100" b="1" dirty="0"/>
              <a:t>Deliveries</a:t>
            </a:r>
            <a:r>
              <a:rPr lang="en-GB" sz="1100" dirty="0"/>
              <a:t> are targeting that release</a:t>
            </a:r>
          </a:p>
          <a:p>
            <a:pPr lvl="1"/>
            <a:r>
              <a:rPr lang="en-GB" sz="1100" dirty="0"/>
              <a:t>The readiness email will contain links to resources such as Dashboards, the schedule and key actions to complete before CP0 &amp; RPM</a:t>
            </a:r>
          </a:p>
          <a:p>
            <a:pPr marL="342900" indent="-342900">
              <a:spcBef>
                <a:spcPts val="600"/>
              </a:spcBef>
              <a:spcAft>
                <a:spcPts val="0"/>
              </a:spcAft>
              <a:buFont typeface="+mj-lt"/>
              <a:buAutoNum type="arabicPeriod"/>
            </a:pPr>
            <a:r>
              <a:rPr lang="en-GB" sz="1200" dirty="0"/>
              <a:t>Invites are then sent to all Delivery Managers to attend regular calls, at least weekly</a:t>
            </a:r>
          </a:p>
          <a:p>
            <a:pPr lvl="1"/>
            <a:r>
              <a:rPr lang="en-GB" sz="1100" dirty="0"/>
              <a:t>If TDMs are unable to attend those calls, or projects are large/complex, or they are unsure of the process, they should schedule calls with Release Management.  Either Vincent Stokell for training &amp; process support or the release manager for that release for review &amp; management</a:t>
            </a:r>
          </a:p>
          <a:p>
            <a:pPr lvl="1"/>
            <a:r>
              <a:rPr lang="en-GB" sz="1100" dirty="0"/>
              <a:t>TDMs are asked to enter their ADO Feature </a:t>
            </a:r>
            <a:r>
              <a:rPr lang="en-GB" sz="1100" u="sng" dirty="0"/>
              <a:t>link/</a:t>
            </a:r>
            <a:r>
              <a:rPr lang="en-GB" sz="1100" u="sng" dirty="0" err="1"/>
              <a:t>url</a:t>
            </a:r>
            <a:r>
              <a:rPr lang="en-GB" sz="1100" u="sng" dirty="0"/>
              <a:t> </a:t>
            </a:r>
            <a:r>
              <a:rPr lang="en-GB" sz="1100" dirty="0"/>
              <a:t>in the Teams chat window so Release team can discuss in order of who joined</a:t>
            </a:r>
          </a:p>
          <a:p>
            <a:pPr marL="342900" indent="-342900">
              <a:spcBef>
                <a:spcPts val="600"/>
              </a:spcBef>
              <a:spcAft>
                <a:spcPts val="0"/>
              </a:spcAft>
              <a:buFont typeface="+mj-lt"/>
              <a:buAutoNum type="arabicPeriod"/>
            </a:pPr>
            <a:r>
              <a:rPr lang="en-GB" sz="1200" dirty="0"/>
              <a:t>Check Point 0 (CPO) :</a:t>
            </a:r>
          </a:p>
          <a:p>
            <a:pPr lvl="1"/>
            <a:r>
              <a:rPr lang="en-GB" sz="1100" dirty="0"/>
              <a:t>Candidates </a:t>
            </a:r>
            <a:r>
              <a:rPr lang="en-GB" sz="1100" dirty="0" err="1"/>
              <a:t>RAG’d</a:t>
            </a:r>
            <a:r>
              <a:rPr lang="en-GB" sz="1100" dirty="0"/>
              <a:t> as Red are often moved to the backlog, for the TDM to move to a later release or come back if prompt &amp; significant progress</a:t>
            </a:r>
          </a:p>
          <a:p>
            <a:pPr lvl="1"/>
            <a:r>
              <a:rPr lang="en-GB" sz="1100" dirty="0"/>
              <a:t>After CP0, new candidates targeting this release, or major changes of scope for existing candidates, require a Change Request</a:t>
            </a:r>
          </a:p>
          <a:p>
            <a:pPr marL="342900" indent="-342900">
              <a:spcBef>
                <a:spcPts val="600"/>
              </a:spcBef>
              <a:spcAft>
                <a:spcPts val="0"/>
              </a:spcAft>
              <a:buFont typeface="+mj-lt"/>
              <a:buAutoNum type="arabicPeriod"/>
            </a:pPr>
            <a:r>
              <a:rPr lang="en-GB" sz="1200" dirty="0"/>
              <a:t>The Release Planning meeting (RPM) :</a:t>
            </a:r>
          </a:p>
          <a:p>
            <a:pPr lvl="1"/>
            <a:r>
              <a:rPr lang="en-GB" sz="1100" dirty="0"/>
              <a:t>Green (Release Ready) items will be committed (subject to capacity) for Build, Test, Deployment etc., as appropriate to its consumption plan</a:t>
            </a:r>
          </a:p>
          <a:p>
            <a:pPr lvl="1"/>
            <a:r>
              <a:rPr lang="en-GB" sz="1100" dirty="0"/>
              <a:t>Amber items may remain for a few more days if designs and other actions will be completed in time</a:t>
            </a:r>
          </a:p>
          <a:p>
            <a:pPr lvl="1"/>
            <a:r>
              <a:rPr lang="en-GB" sz="1100" dirty="0"/>
              <a:t>Red items will be moved out to the backlog, except in exceptional circumstances such as a late regulatory item which must go in this release</a:t>
            </a:r>
          </a:p>
          <a:p>
            <a:pPr marL="342900" indent="-342900">
              <a:spcBef>
                <a:spcPts val="600"/>
              </a:spcBef>
              <a:spcAft>
                <a:spcPts val="0"/>
              </a:spcAft>
              <a:buFont typeface="+mj-lt"/>
              <a:buAutoNum type="arabicPeriod"/>
            </a:pPr>
            <a:r>
              <a:rPr lang="en-GB" sz="1200" dirty="0"/>
              <a:t>The Release Readiness calls end after RPM, when the Daily Build and Test status calls start.</a:t>
            </a:r>
          </a:p>
          <a:p>
            <a:pPr lvl="1"/>
            <a:r>
              <a:rPr lang="en-GB" sz="1100" dirty="0"/>
              <a:t>While Delivery Managers are not specifically invited, they are welcome to attend those daily status calls</a:t>
            </a:r>
          </a:p>
        </p:txBody>
      </p:sp>
      <p:sp>
        <p:nvSpPr>
          <p:cNvPr id="6" name="Title 5"/>
          <p:cNvSpPr>
            <a:spLocks noGrp="1"/>
          </p:cNvSpPr>
          <p:nvPr>
            <p:ph type="title"/>
          </p:nvPr>
        </p:nvSpPr>
        <p:spPr/>
        <p:txBody>
          <a:bodyPr/>
          <a:lstStyle/>
          <a:p>
            <a:r>
              <a:rPr lang="en-GB" dirty="0"/>
              <a:t>Engaging with Release Management</a:t>
            </a:r>
            <a:endParaRPr lang="en-GB" b="0" dirty="0"/>
          </a:p>
        </p:txBody>
      </p:sp>
      <p:sp>
        <p:nvSpPr>
          <p:cNvPr id="5" name="Slide Number Placeholder 4"/>
          <p:cNvSpPr>
            <a:spLocks noGrp="1"/>
          </p:cNvSpPr>
          <p:nvPr>
            <p:ph type="sldNum" sz="quarter" idx="15"/>
          </p:nvPr>
        </p:nvSpPr>
        <p:spPr>
          <a:xfrm>
            <a:off x="4365295" y="4968000"/>
            <a:ext cx="413410" cy="180000"/>
          </a:xfrm>
        </p:spPr>
        <p:txBody>
          <a:bodyPr/>
          <a:lstStyle/>
          <a:p>
            <a:fld id="{72A83A2B-3358-44F8-83A0-4598795D8FB5}" type="slidenum">
              <a:rPr lang="en-GB" smtClean="0"/>
              <a:pPr/>
              <a:t>16</a:t>
            </a:fld>
            <a:endParaRPr lang="en-GB" dirty="0"/>
          </a:p>
        </p:txBody>
      </p:sp>
    </p:spTree>
    <p:extLst>
      <p:ext uri="{BB962C8B-B14F-4D97-AF65-F5344CB8AC3E}">
        <p14:creationId xmlns:p14="http://schemas.microsoft.com/office/powerpoint/2010/main" val="4154032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384EC8-037E-446D-9742-23A5D4D3E9AC}"/>
              </a:ext>
            </a:extLst>
          </p:cNvPr>
          <p:cNvSpPr>
            <a:spLocks noGrp="1"/>
          </p:cNvSpPr>
          <p:nvPr>
            <p:ph sz="quarter" idx="13"/>
          </p:nvPr>
        </p:nvSpPr>
        <p:spPr/>
        <p:txBody>
          <a:bodyPr>
            <a:normAutofit fontScale="92500" lnSpcReduction="20000"/>
          </a:bodyPr>
          <a:lstStyle/>
          <a:p>
            <a:pPr>
              <a:spcBef>
                <a:spcPts val="600"/>
              </a:spcBef>
              <a:spcAft>
                <a:spcPts val="0"/>
              </a:spcAft>
            </a:pPr>
            <a:r>
              <a:rPr lang="en-GB" dirty="0"/>
              <a:t>The Check Point 0 &amp; RPM calls are usually repurposed readiness calls</a:t>
            </a:r>
          </a:p>
          <a:p>
            <a:pPr>
              <a:spcBef>
                <a:spcPts val="600"/>
              </a:spcBef>
              <a:spcAft>
                <a:spcPts val="0"/>
              </a:spcAft>
            </a:pPr>
            <a:r>
              <a:rPr lang="en-GB" dirty="0"/>
              <a:t>They key purpose is to convey the release RAG, with minor clarifications from the TDMs.</a:t>
            </a:r>
          </a:p>
          <a:p>
            <a:pPr>
              <a:spcBef>
                <a:spcPts val="600"/>
              </a:spcBef>
              <a:spcAft>
                <a:spcPts val="0"/>
              </a:spcAft>
            </a:pPr>
            <a:r>
              <a:rPr lang="en-GB" dirty="0"/>
              <a:t>Due to the number of epics, time constrains and the large number of people in these calls, RM will not discuss new epics or deep review/update existing epics</a:t>
            </a:r>
          </a:p>
          <a:p>
            <a:pPr lvl="1"/>
            <a:r>
              <a:rPr lang="en-GB" dirty="0"/>
              <a:t>Where Amber or Red; refer to this guide, the </a:t>
            </a:r>
            <a:r>
              <a:rPr lang="en-GB" b="1" dirty="0"/>
              <a:t>demand and governance guide</a:t>
            </a:r>
            <a:r>
              <a:rPr lang="en-GB" dirty="0"/>
              <a:t>, the kick-off email and our release status updates</a:t>
            </a:r>
          </a:p>
          <a:p>
            <a:pPr>
              <a:spcBef>
                <a:spcPts val="600"/>
              </a:spcBef>
              <a:spcAft>
                <a:spcPts val="0"/>
              </a:spcAft>
            </a:pPr>
            <a:r>
              <a:rPr lang="en-GB" dirty="0"/>
              <a:t>At Check Point 0:</a:t>
            </a:r>
          </a:p>
          <a:p>
            <a:pPr lvl="1"/>
            <a:r>
              <a:rPr lang="en-GB" dirty="0"/>
              <a:t>Before CP0 RM Release RAG candidates, with Red Candidates typically moved to the backlog after the call</a:t>
            </a:r>
          </a:p>
          <a:p>
            <a:pPr lvl="1"/>
            <a:r>
              <a:rPr lang="en-GB" dirty="0"/>
              <a:t>TDMs are expected to attend, especially where not on track, for input into the Release RAG decision</a:t>
            </a:r>
          </a:p>
          <a:p>
            <a:pPr lvl="1"/>
            <a:r>
              <a:rPr lang="en-GB" dirty="0"/>
              <a:t>From CP0, all new candidates or candidates previously moved out will only be considered when:</a:t>
            </a:r>
          </a:p>
          <a:p>
            <a:pPr lvl="2"/>
            <a:r>
              <a:rPr lang="en-GB" dirty="0"/>
              <a:t>They are fully release ready (approved designs, etc.) with ADO accurate and up to date so Release team can make an assessment</a:t>
            </a:r>
          </a:p>
          <a:p>
            <a:pPr lvl="2"/>
            <a:r>
              <a:rPr lang="en-GB" u="sng" dirty="0"/>
              <a:t>Then</a:t>
            </a:r>
            <a:r>
              <a:rPr lang="en-GB" dirty="0"/>
              <a:t> they submit a correctly completed Change Request with all the info requested</a:t>
            </a:r>
          </a:p>
          <a:p>
            <a:pPr lvl="2"/>
            <a:r>
              <a:rPr lang="en-GB" dirty="0"/>
              <a:t>The TDM (or a nominated representative) attends the Change Control Meeting</a:t>
            </a:r>
          </a:p>
          <a:p>
            <a:pPr lvl="2"/>
            <a:r>
              <a:rPr lang="en-GB" dirty="0"/>
              <a:t>Candidates which are not accepted will be moved to the backlog for the TDM to target a later release</a:t>
            </a:r>
          </a:p>
          <a:p>
            <a:pPr>
              <a:spcBef>
                <a:spcPts val="600"/>
              </a:spcBef>
              <a:spcAft>
                <a:spcPts val="0"/>
              </a:spcAft>
            </a:pPr>
            <a:r>
              <a:rPr lang="en-GB" dirty="0"/>
              <a:t>At RPM:</a:t>
            </a:r>
          </a:p>
          <a:p>
            <a:pPr lvl="1"/>
            <a:r>
              <a:rPr lang="en-GB" b="1" dirty="0"/>
              <a:t>Attendance by TDMs at the RPM is not optional if their candidates are to be committed into this release</a:t>
            </a:r>
          </a:p>
          <a:p>
            <a:pPr lvl="1"/>
            <a:r>
              <a:rPr lang="en-GB" dirty="0"/>
              <a:t>TDMs (or a nominated representative) are required to confirm no changes or risks, and answer any clarifying questions</a:t>
            </a:r>
          </a:p>
          <a:p>
            <a:pPr lvl="1"/>
            <a:r>
              <a:rPr lang="en-GB" dirty="0"/>
              <a:t>Release team typically move out any Red candidates and may give Amber candidates an extra week or so be ready</a:t>
            </a:r>
          </a:p>
          <a:p>
            <a:pPr lvl="1"/>
            <a:r>
              <a:rPr lang="en-GB" dirty="0"/>
              <a:t>Items not committed at RPM are at an increased risk of not being committed as resources may be allocated to other projects</a:t>
            </a:r>
          </a:p>
          <a:p>
            <a:pPr lvl="1"/>
            <a:r>
              <a:rPr lang="en-GB" dirty="0"/>
              <a:t>See the </a:t>
            </a:r>
            <a:r>
              <a:rPr lang="en-GB" b="1" dirty="0">
                <a:hlinkClick r:id="rId2" action="ppaction://hlinksldjump"/>
              </a:rPr>
              <a:t>Key Deliverables </a:t>
            </a:r>
            <a:r>
              <a:rPr lang="en-GB" dirty="0"/>
              <a:t>sheet in this guide and </a:t>
            </a:r>
            <a:r>
              <a:rPr lang="en-GB" b="1" dirty="0"/>
              <a:t>Release Readiness ‘Cheat Sheet’</a:t>
            </a:r>
            <a:r>
              <a:rPr lang="en-GB" dirty="0"/>
              <a:t> on our  </a:t>
            </a:r>
            <a:r>
              <a:rPr lang="en-GB" dirty="0">
                <a:hlinkClick r:id="rId3"/>
              </a:rPr>
              <a:t>SharePoint</a:t>
            </a:r>
            <a:r>
              <a:rPr lang="en-GB" dirty="0"/>
              <a:t> for details</a:t>
            </a:r>
          </a:p>
          <a:p>
            <a:pPr lvl="1"/>
            <a:r>
              <a:rPr lang="en-GB" dirty="0"/>
              <a:t>For the purposes of Flux, all candidates committed after RPM+4 working days are considered ‘late’, with the reason recorded.</a:t>
            </a:r>
          </a:p>
        </p:txBody>
      </p:sp>
      <p:sp>
        <p:nvSpPr>
          <p:cNvPr id="3" name="Title 2">
            <a:extLst>
              <a:ext uri="{FF2B5EF4-FFF2-40B4-BE49-F238E27FC236}">
                <a16:creationId xmlns:a16="http://schemas.microsoft.com/office/drawing/2014/main" id="{82FD419F-7C44-47E1-8397-8D8D7935BDE8}"/>
              </a:ext>
            </a:extLst>
          </p:cNvPr>
          <p:cNvSpPr>
            <a:spLocks noGrp="1"/>
          </p:cNvSpPr>
          <p:nvPr>
            <p:ph type="title"/>
          </p:nvPr>
        </p:nvSpPr>
        <p:spPr/>
        <p:txBody>
          <a:bodyPr/>
          <a:lstStyle/>
          <a:p>
            <a:r>
              <a:rPr lang="en-GB" dirty="0"/>
              <a:t>Check Point 0 &amp; Release Planning Meetings (RPM)</a:t>
            </a:r>
          </a:p>
        </p:txBody>
      </p:sp>
      <p:sp>
        <p:nvSpPr>
          <p:cNvPr id="5" name="Slide Number Placeholder 4">
            <a:extLst>
              <a:ext uri="{FF2B5EF4-FFF2-40B4-BE49-F238E27FC236}">
                <a16:creationId xmlns:a16="http://schemas.microsoft.com/office/drawing/2014/main" id="{FFEBF6A5-B61A-4EBB-88EE-2AEA87B2FE7B}"/>
              </a:ext>
            </a:extLst>
          </p:cNvPr>
          <p:cNvSpPr>
            <a:spLocks noGrp="1"/>
          </p:cNvSpPr>
          <p:nvPr>
            <p:ph type="sldNum" sz="quarter" idx="15"/>
          </p:nvPr>
        </p:nvSpPr>
        <p:spPr/>
        <p:txBody>
          <a:bodyPr/>
          <a:lstStyle/>
          <a:p>
            <a:fld id="{72A83A2B-3358-44F8-83A0-4598795D8FB5}" type="slidenum">
              <a:rPr lang="en-GB" smtClean="0"/>
              <a:pPr/>
              <a:t>17</a:t>
            </a:fld>
            <a:endParaRPr lang="en-GB" dirty="0"/>
          </a:p>
        </p:txBody>
      </p:sp>
    </p:spTree>
    <p:extLst>
      <p:ext uri="{BB962C8B-B14F-4D97-AF65-F5344CB8AC3E}">
        <p14:creationId xmlns:p14="http://schemas.microsoft.com/office/powerpoint/2010/main" val="1932586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04D1542-70BE-1388-70E1-ED756419F2DE}"/>
              </a:ext>
            </a:extLst>
          </p:cNvPr>
          <p:cNvSpPr>
            <a:spLocks noGrp="1"/>
          </p:cNvSpPr>
          <p:nvPr>
            <p:ph type="ctrTitle"/>
          </p:nvPr>
        </p:nvSpPr>
        <p:spPr/>
        <p:txBody>
          <a:bodyPr/>
          <a:lstStyle/>
          <a:p>
            <a:r>
              <a:rPr lang="en-US" dirty="0"/>
              <a:t>Release RAGs</a:t>
            </a:r>
            <a:br>
              <a:rPr lang="en-GB" dirty="0"/>
            </a:br>
            <a:endParaRPr lang="en-GB" dirty="0"/>
          </a:p>
        </p:txBody>
      </p:sp>
      <p:sp>
        <p:nvSpPr>
          <p:cNvPr id="4" name="Slide Number Placeholder 3">
            <a:extLst>
              <a:ext uri="{FF2B5EF4-FFF2-40B4-BE49-F238E27FC236}">
                <a16:creationId xmlns:a16="http://schemas.microsoft.com/office/drawing/2014/main" id="{574ED55A-3206-A6AB-16EF-80DBD05EDA14}"/>
              </a:ext>
            </a:extLst>
          </p:cNvPr>
          <p:cNvSpPr>
            <a:spLocks noGrp="1"/>
          </p:cNvSpPr>
          <p:nvPr>
            <p:ph type="sldNum" sz="quarter" idx="11"/>
          </p:nvPr>
        </p:nvSpPr>
        <p:spPr/>
        <p:txBody>
          <a:bodyPr/>
          <a:lstStyle/>
          <a:p>
            <a:fld id="{72A83A2B-3358-44F8-83A0-4598795D8FB5}" type="slidenum">
              <a:rPr lang="en-GB" smtClean="0"/>
              <a:pPr/>
              <a:t>18</a:t>
            </a:fld>
            <a:endParaRPr lang="en-GB"/>
          </a:p>
        </p:txBody>
      </p:sp>
    </p:spTree>
    <p:extLst>
      <p:ext uri="{BB962C8B-B14F-4D97-AF65-F5344CB8AC3E}">
        <p14:creationId xmlns:p14="http://schemas.microsoft.com/office/powerpoint/2010/main" val="2299761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dirty="0"/>
              <a:t>Release Rags || </a:t>
            </a:r>
            <a:r>
              <a:rPr lang="en-GB" b="0" dirty="0"/>
              <a:t>Definitions</a:t>
            </a:r>
            <a:endParaRPr lang="en-GB" b="0" dirty="0">
              <a:highlight>
                <a:srgbClr val="FFFF00"/>
              </a:highlight>
            </a:endParaRPr>
          </a:p>
        </p:txBody>
      </p:sp>
      <p:sp>
        <p:nvSpPr>
          <p:cNvPr id="5" name="Slide Number Placeholder 4"/>
          <p:cNvSpPr>
            <a:spLocks noGrp="1"/>
          </p:cNvSpPr>
          <p:nvPr>
            <p:ph type="sldNum" sz="quarter" idx="15"/>
          </p:nvPr>
        </p:nvSpPr>
        <p:spPr>
          <a:xfrm>
            <a:off x="4365295" y="4968000"/>
            <a:ext cx="413410" cy="180000"/>
          </a:xfrm>
        </p:spPr>
        <p:txBody>
          <a:bodyPr/>
          <a:lstStyle/>
          <a:p>
            <a:fld id="{72A83A2B-3358-44F8-83A0-4598795D8FB5}" type="slidenum">
              <a:rPr lang="en-GB" smtClean="0"/>
              <a:pPr/>
              <a:t>19</a:t>
            </a:fld>
            <a:endParaRPr lang="en-GB" dirty="0"/>
          </a:p>
        </p:txBody>
      </p:sp>
      <p:sp>
        <p:nvSpPr>
          <p:cNvPr id="14" name="Content Placeholder 1"/>
          <p:cNvSpPr>
            <a:spLocks noGrp="1"/>
          </p:cNvSpPr>
          <p:nvPr>
            <p:ph idx="4294967295"/>
          </p:nvPr>
        </p:nvSpPr>
        <p:spPr>
          <a:xfrm>
            <a:off x="180000" y="540000"/>
            <a:ext cx="8712000" cy="4531500"/>
          </a:xfrm>
          <a:prstGeom prst="rect">
            <a:avLst/>
          </a:prstGeom>
        </p:spPr>
        <p:txBody>
          <a:bodyPr>
            <a:normAutofit fontScale="62500" lnSpcReduction="20000"/>
          </a:bodyPr>
          <a:lstStyle/>
          <a:p>
            <a:pPr marL="0" indent="0">
              <a:spcAft>
                <a:spcPts val="0"/>
              </a:spcAft>
              <a:buNone/>
            </a:pPr>
            <a:r>
              <a:rPr lang="en-GB" sz="2600" dirty="0"/>
              <a:t>These are the criteria Release team use to typically use to determine the RAG for projects targeting a release</a:t>
            </a:r>
            <a:endParaRPr lang="en-GB" sz="2200" dirty="0"/>
          </a:p>
          <a:p>
            <a:pPr marL="0" indent="0">
              <a:spcBef>
                <a:spcPts val="1200"/>
              </a:spcBef>
              <a:spcAft>
                <a:spcPts val="0"/>
              </a:spcAft>
              <a:buNone/>
            </a:pPr>
            <a:r>
              <a:rPr lang="en-GB" b="1" u="sng" dirty="0">
                <a:latin typeface="+mj-lt"/>
              </a:rPr>
              <a:t>Early Readiness / Check Point 0</a:t>
            </a:r>
            <a:endParaRPr lang="en-GB" dirty="0">
              <a:latin typeface="+mj-lt"/>
            </a:endParaRPr>
          </a:p>
          <a:p>
            <a:pPr marL="342900" fontAlgn="ctr">
              <a:spcAft>
                <a:spcPts val="0"/>
              </a:spcAft>
            </a:pPr>
            <a:r>
              <a:rPr lang="en-GB" b="1" dirty="0">
                <a:solidFill>
                  <a:srgbClr val="FF0000"/>
                </a:solidFill>
                <a:latin typeface="+mj-lt"/>
              </a:rPr>
              <a:t>Red – Likely to miss the release</a:t>
            </a:r>
            <a:br>
              <a:rPr lang="en-GB" b="1" dirty="0">
                <a:latin typeface="+mj-lt"/>
              </a:rPr>
            </a:br>
            <a:r>
              <a:rPr lang="en-GB" dirty="0">
                <a:latin typeface="+mj-lt"/>
              </a:rPr>
              <a:t>Not confirmed as targeting the release; the business requirements or the E2E HLD are not final; Application VROMs have not started; Low-Level designs will not start before RPM.  These candidates will moved out of this release to backlog, for the Delivery Manager to target a later release.</a:t>
            </a:r>
          </a:p>
          <a:p>
            <a:pPr marL="342900" fontAlgn="ctr">
              <a:spcBef>
                <a:spcPts val="600"/>
              </a:spcBef>
              <a:spcAft>
                <a:spcPts val="0"/>
              </a:spcAft>
            </a:pPr>
            <a:r>
              <a:rPr lang="en-GB" b="1" dirty="0">
                <a:solidFill>
                  <a:schemeClr val="accent4"/>
                </a:solidFill>
                <a:latin typeface="+mj-lt"/>
              </a:rPr>
              <a:t>Amber – May make the release if there is capacity and deliverables can be brought forward</a:t>
            </a:r>
            <a:br>
              <a:rPr lang="en-GB" b="1" dirty="0">
                <a:latin typeface="+mj-lt"/>
              </a:rPr>
            </a:br>
            <a:r>
              <a:rPr lang="en-GB" dirty="0"/>
              <a:t>Funding issues; </a:t>
            </a:r>
            <a:r>
              <a:rPr lang="en-GB" dirty="0">
                <a:latin typeface="+mj-lt"/>
              </a:rPr>
              <a:t>The E2E HLD is approved, VROMs to be approved imminently with Low Level design due to finish before the Build phase</a:t>
            </a:r>
          </a:p>
          <a:p>
            <a:pPr marL="342900" fontAlgn="ctr">
              <a:spcBef>
                <a:spcPts val="600"/>
              </a:spcBef>
              <a:spcAft>
                <a:spcPts val="0"/>
              </a:spcAft>
            </a:pPr>
            <a:r>
              <a:rPr lang="en-GB" b="1" dirty="0">
                <a:solidFill>
                  <a:srgbClr val="00B050"/>
                </a:solidFill>
                <a:latin typeface="+mj-lt"/>
              </a:rPr>
              <a:t>Green – Expected to make the release if there is capacity</a:t>
            </a:r>
            <a:br>
              <a:rPr lang="en-GB" b="1" dirty="0">
                <a:solidFill>
                  <a:srgbClr val="00B050"/>
                </a:solidFill>
                <a:latin typeface="+mj-lt"/>
              </a:rPr>
            </a:br>
            <a:r>
              <a:rPr lang="en-GB" dirty="0">
                <a:latin typeface="+mj-lt"/>
              </a:rPr>
              <a:t>The E2E HLD &amp; VROMs are approved, with low-level designs complete or due to complete before RPM</a:t>
            </a:r>
          </a:p>
          <a:p>
            <a:pPr marL="0" indent="0">
              <a:spcBef>
                <a:spcPts val="1200"/>
              </a:spcBef>
              <a:spcAft>
                <a:spcPts val="0"/>
              </a:spcAft>
              <a:buNone/>
            </a:pPr>
            <a:r>
              <a:rPr lang="en-GB" b="1" u="sng" dirty="0">
                <a:latin typeface="+mj-lt"/>
              </a:rPr>
              <a:t>During Release Planning Week &amp; Release Planning Meeting</a:t>
            </a:r>
            <a:endParaRPr lang="en-GB" dirty="0">
              <a:latin typeface="+mj-lt"/>
            </a:endParaRPr>
          </a:p>
          <a:p>
            <a:pPr marL="342900" fontAlgn="ctr">
              <a:spcAft>
                <a:spcPts val="0"/>
              </a:spcAft>
            </a:pPr>
            <a:r>
              <a:rPr lang="en-GB" b="1" dirty="0">
                <a:solidFill>
                  <a:srgbClr val="FF0000"/>
                </a:solidFill>
                <a:latin typeface="+mj-lt"/>
              </a:rPr>
              <a:t>Red – Not Ready for the Release</a:t>
            </a:r>
            <a:br>
              <a:rPr lang="en-GB" b="1" dirty="0">
                <a:solidFill>
                  <a:srgbClr val="FF0000"/>
                </a:solidFill>
                <a:latin typeface="+mj-lt"/>
              </a:rPr>
            </a:br>
            <a:r>
              <a:rPr lang="en-GB" dirty="0"/>
              <a:t>Funding issues; </a:t>
            </a:r>
            <a:r>
              <a:rPr lang="en-GB" dirty="0">
                <a:latin typeface="+mj-lt"/>
              </a:rPr>
              <a:t>E2E HLD and/or VROMs not approved; Low-Level designs not started; Too large to fit and needs further breakdown</a:t>
            </a:r>
          </a:p>
          <a:p>
            <a:pPr marL="342900" fontAlgn="ctr">
              <a:spcBef>
                <a:spcPts val="600"/>
              </a:spcBef>
              <a:spcAft>
                <a:spcPts val="0"/>
              </a:spcAft>
            </a:pPr>
            <a:r>
              <a:rPr lang="en-GB" b="1" dirty="0">
                <a:solidFill>
                  <a:schemeClr val="accent4"/>
                </a:solidFill>
                <a:latin typeface="+mj-lt"/>
              </a:rPr>
              <a:t>Amber – May make the release if there is capacity and does not slip further</a:t>
            </a:r>
            <a:br>
              <a:rPr lang="en-GB" b="1" dirty="0">
                <a:latin typeface="+mj-lt"/>
              </a:rPr>
            </a:br>
            <a:r>
              <a:rPr lang="en-GB" dirty="0">
                <a:latin typeface="+mj-lt"/>
              </a:rPr>
              <a:t>E2E HLD &amp; VROMs approved; Funding approved; Delivery plans final; Low-Level designs are progress; There are SIT, Environment or other open questions</a:t>
            </a:r>
          </a:p>
          <a:p>
            <a:pPr marL="342900" fontAlgn="ctr">
              <a:spcBef>
                <a:spcPts val="600"/>
              </a:spcBef>
              <a:spcAft>
                <a:spcPts val="0"/>
              </a:spcAft>
            </a:pPr>
            <a:r>
              <a:rPr lang="en-GB" b="1" dirty="0">
                <a:solidFill>
                  <a:srgbClr val="00B050"/>
                </a:solidFill>
                <a:latin typeface="+mj-lt"/>
              </a:rPr>
              <a:t>Green – Committed into the Release or expected to commit within 7 days</a:t>
            </a:r>
            <a:br>
              <a:rPr lang="en-GB" b="1" dirty="0">
                <a:solidFill>
                  <a:srgbClr val="00B050"/>
                </a:solidFill>
                <a:latin typeface="+mj-lt"/>
              </a:rPr>
            </a:br>
            <a:r>
              <a:rPr lang="en-GB" dirty="0"/>
              <a:t>All designs &amp; funding approved, Delivery plans final, Low-Level designs complete or expected to complete before build, no open issues</a:t>
            </a:r>
            <a:endParaRPr lang="en-GB" u="sng" dirty="0">
              <a:latin typeface="+mj-lt"/>
            </a:endParaRPr>
          </a:p>
          <a:p>
            <a:pPr marL="0" indent="0">
              <a:spcBef>
                <a:spcPts val="1200"/>
              </a:spcBef>
              <a:spcAft>
                <a:spcPts val="0"/>
              </a:spcAft>
              <a:buNone/>
            </a:pPr>
            <a:r>
              <a:rPr lang="en-GB" b="1" u="sng" dirty="0">
                <a:latin typeface="+mj-lt"/>
              </a:rPr>
              <a:t>After Release Planning and Until Go-Live – Late Candidates or Committed Candidates with Scope Changes, Risks &amp; Issues</a:t>
            </a:r>
            <a:endParaRPr lang="en-GB" dirty="0">
              <a:latin typeface="+mj-lt"/>
            </a:endParaRPr>
          </a:p>
          <a:p>
            <a:pPr marL="342900" fontAlgn="ctr">
              <a:spcAft>
                <a:spcPts val="0"/>
              </a:spcAft>
            </a:pPr>
            <a:r>
              <a:rPr lang="en-GB" b="1" dirty="0">
                <a:solidFill>
                  <a:srgbClr val="FF0000"/>
                </a:solidFill>
                <a:latin typeface="+mj-lt"/>
              </a:rPr>
              <a:t>Red – If new unlikely to be committed, if existing due to be removed</a:t>
            </a:r>
            <a:br>
              <a:rPr lang="en-GB" b="1" dirty="0">
                <a:latin typeface="+mj-lt"/>
              </a:rPr>
            </a:br>
            <a:r>
              <a:rPr lang="en-GB" dirty="0">
                <a:latin typeface="+mj-lt"/>
              </a:rPr>
              <a:t>There are blocking issues such as not enough time, capacity or resources; or too high a risk to the project or the release</a:t>
            </a:r>
          </a:p>
          <a:p>
            <a:pPr marL="342900" fontAlgn="ctr">
              <a:spcBef>
                <a:spcPts val="600"/>
              </a:spcBef>
              <a:spcAft>
                <a:spcPts val="0"/>
              </a:spcAft>
            </a:pPr>
            <a:r>
              <a:rPr lang="en-GB" b="1" dirty="0">
                <a:solidFill>
                  <a:srgbClr val="FFC000"/>
                </a:solidFill>
                <a:latin typeface="+mj-lt"/>
              </a:rPr>
              <a:t>Amber – At Risk of being declined or removed</a:t>
            </a:r>
            <a:br>
              <a:rPr lang="en-GB" b="1" dirty="0">
                <a:latin typeface="+mj-lt"/>
              </a:rPr>
            </a:br>
            <a:r>
              <a:rPr lang="en-GB" dirty="0">
                <a:latin typeface="+mj-lt"/>
              </a:rPr>
              <a:t>There are open issues, with the outcome unknown</a:t>
            </a:r>
          </a:p>
          <a:p>
            <a:pPr marL="342900" fontAlgn="ctr">
              <a:spcBef>
                <a:spcPts val="600"/>
              </a:spcBef>
              <a:spcAft>
                <a:spcPts val="0"/>
              </a:spcAft>
            </a:pPr>
            <a:r>
              <a:rPr lang="en-GB" b="1" dirty="0">
                <a:solidFill>
                  <a:srgbClr val="00B050"/>
                </a:solidFill>
                <a:latin typeface="+mj-lt"/>
              </a:rPr>
              <a:t>Green – Committed with no known blocking issues</a:t>
            </a:r>
            <a:br>
              <a:rPr lang="en-GB" b="1" dirty="0">
                <a:solidFill>
                  <a:srgbClr val="00B050"/>
                </a:solidFill>
                <a:latin typeface="+mj-lt"/>
              </a:rPr>
            </a:br>
            <a:r>
              <a:rPr lang="en-GB" dirty="0">
                <a:latin typeface="+mj-lt"/>
              </a:rPr>
              <a:t>There are no open issues or risks, or any open issues or risks are expected to be resolved in time</a:t>
            </a:r>
          </a:p>
        </p:txBody>
      </p:sp>
    </p:spTree>
    <p:extLst>
      <p:ext uri="{BB962C8B-B14F-4D97-AF65-F5344CB8AC3E}">
        <p14:creationId xmlns:p14="http://schemas.microsoft.com/office/powerpoint/2010/main" val="134652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04D1542-70BE-1388-70E1-ED756419F2DE}"/>
              </a:ext>
            </a:extLst>
          </p:cNvPr>
          <p:cNvSpPr>
            <a:spLocks noGrp="1"/>
          </p:cNvSpPr>
          <p:nvPr>
            <p:ph type="ctrTitle"/>
          </p:nvPr>
        </p:nvSpPr>
        <p:spPr/>
        <p:txBody>
          <a:bodyPr/>
          <a:lstStyle/>
          <a:p>
            <a:r>
              <a:rPr lang="en-GB" dirty="0"/>
              <a:t>Journey / Process Work-Flow</a:t>
            </a:r>
          </a:p>
        </p:txBody>
      </p:sp>
      <p:sp>
        <p:nvSpPr>
          <p:cNvPr id="4" name="Slide Number Placeholder 3">
            <a:extLst>
              <a:ext uri="{FF2B5EF4-FFF2-40B4-BE49-F238E27FC236}">
                <a16:creationId xmlns:a16="http://schemas.microsoft.com/office/drawing/2014/main" id="{574ED55A-3206-A6AB-16EF-80DBD05EDA14}"/>
              </a:ext>
            </a:extLst>
          </p:cNvPr>
          <p:cNvSpPr>
            <a:spLocks noGrp="1"/>
          </p:cNvSpPr>
          <p:nvPr>
            <p:ph type="sldNum" sz="quarter" idx="11"/>
          </p:nvPr>
        </p:nvSpPr>
        <p:spPr/>
        <p:txBody>
          <a:bodyPr/>
          <a:lstStyle/>
          <a:p>
            <a:fld id="{72A83A2B-3358-44F8-83A0-4598795D8FB5}" type="slidenum">
              <a:rPr lang="en-GB" smtClean="0"/>
              <a:pPr/>
              <a:t>20</a:t>
            </a:fld>
            <a:endParaRPr lang="en-GB"/>
          </a:p>
        </p:txBody>
      </p:sp>
    </p:spTree>
    <p:extLst>
      <p:ext uri="{BB962C8B-B14F-4D97-AF65-F5344CB8AC3E}">
        <p14:creationId xmlns:p14="http://schemas.microsoft.com/office/powerpoint/2010/main" val="2322918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FDE1F-98D1-496D-87FF-B6037D35A5E3}"/>
              </a:ext>
            </a:extLst>
          </p:cNvPr>
          <p:cNvSpPr>
            <a:spLocks noGrp="1"/>
          </p:cNvSpPr>
          <p:nvPr>
            <p:ph type="title"/>
          </p:nvPr>
        </p:nvSpPr>
        <p:spPr/>
        <p:txBody>
          <a:bodyPr/>
          <a:lstStyle/>
          <a:p>
            <a:r>
              <a:rPr lang="en-GB" dirty="0"/>
              <a:t>High level journey – Visual</a:t>
            </a:r>
          </a:p>
        </p:txBody>
      </p:sp>
      <p:sp>
        <p:nvSpPr>
          <p:cNvPr id="96" name="Rectangle 95">
            <a:extLst>
              <a:ext uri="{FF2B5EF4-FFF2-40B4-BE49-F238E27FC236}">
                <a16:creationId xmlns:a16="http://schemas.microsoft.com/office/drawing/2014/main" id="{519BE470-B8BE-1D3D-2F6F-4CD728E6F9EF}"/>
              </a:ext>
            </a:extLst>
          </p:cNvPr>
          <p:cNvSpPr/>
          <p:nvPr/>
        </p:nvSpPr>
        <p:spPr>
          <a:xfrm>
            <a:off x="732437" y="2105203"/>
            <a:ext cx="2118533" cy="1776574"/>
          </a:xfrm>
          <a:prstGeom prst="rect">
            <a:avLst/>
          </a:prstGeom>
          <a:solidFill>
            <a:schemeClr val="bg1"/>
          </a:solidFill>
          <a:ln w="25400" cap="flat" cmpd="sng" algn="ctr">
            <a:solidFill>
              <a:schemeClr val="tx1"/>
            </a:solidFill>
            <a:prstDash val="dash"/>
          </a:ln>
          <a:effectLst/>
        </p:spPr>
        <p:style>
          <a:lnRef idx="2">
            <a:scrgbClr r="0" g="0" b="0"/>
          </a:lnRef>
          <a:fillRef idx="1">
            <a:scrgbClr r="0" g="0" b="0"/>
          </a:fillRef>
          <a:effectRef idx="0">
            <a:scrgbClr r="0" g="0" b="0"/>
          </a:effectRef>
          <a:fontRef idx="minor">
            <a:schemeClr val="lt1"/>
          </a:fontRef>
        </p:style>
        <p:txBody>
          <a:bodyPr spcFirstLastPara="0" vert="horz" wrap="square" lIns="36000" tIns="36000" rIns="36000" bIns="36000" numCol="1" spcCol="127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333367">
              <a:lnSpc>
                <a:spcPct val="90000"/>
              </a:lnSpc>
              <a:spcBef>
                <a:spcPct val="0"/>
              </a:spcBef>
              <a:spcAft>
                <a:spcPct val="35000"/>
              </a:spcAft>
            </a:pPr>
            <a:endParaRPr lang="en-GB" sz="750">
              <a:solidFill>
                <a:srgbClr val="34342B"/>
              </a:solidFill>
              <a:latin typeface="Vodafone Rg" pitchFamily="34" charset="0"/>
            </a:endParaRPr>
          </a:p>
        </p:txBody>
      </p:sp>
      <p:pic>
        <p:nvPicPr>
          <p:cNvPr id="8" name="Picture 7">
            <a:extLst>
              <a:ext uri="{FF2B5EF4-FFF2-40B4-BE49-F238E27FC236}">
                <a16:creationId xmlns:a16="http://schemas.microsoft.com/office/drawing/2014/main" id="{6F1842F0-DACE-4DF4-834E-81ED7A20595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951927" y="2759497"/>
            <a:ext cx="369959" cy="326435"/>
          </a:xfrm>
          <a:prstGeom prst="rect">
            <a:avLst/>
          </a:prstGeom>
        </p:spPr>
      </p:pic>
      <p:sp>
        <p:nvSpPr>
          <p:cNvPr id="9" name="TextBox 8">
            <a:extLst>
              <a:ext uri="{FF2B5EF4-FFF2-40B4-BE49-F238E27FC236}">
                <a16:creationId xmlns:a16="http://schemas.microsoft.com/office/drawing/2014/main" id="{A300D820-8DAD-4C02-A952-8F4934B360DD}"/>
              </a:ext>
            </a:extLst>
          </p:cNvPr>
          <p:cNvSpPr txBox="1"/>
          <p:nvPr/>
        </p:nvSpPr>
        <p:spPr>
          <a:xfrm>
            <a:off x="1288184" y="2814714"/>
            <a:ext cx="1375730" cy="216000"/>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1100" b="1" dirty="0">
                <a:solidFill>
                  <a:srgbClr val="000000"/>
                </a:solidFill>
                <a:latin typeface="Vodafone Rg"/>
              </a:rPr>
              <a:t>Epic</a:t>
            </a:r>
            <a:r>
              <a:rPr lang="en-GB" sz="1100" dirty="0">
                <a:solidFill>
                  <a:srgbClr val="000000"/>
                </a:solidFill>
                <a:latin typeface="Vodafone Rg"/>
              </a:rPr>
              <a:t> </a:t>
            </a:r>
            <a:r>
              <a:rPr lang="en-GB" sz="1000" dirty="0">
                <a:solidFill>
                  <a:srgbClr val="000000"/>
                </a:solidFill>
                <a:latin typeface="Vodafone Rg"/>
              </a:rPr>
              <a:t>(Commercial Date)</a:t>
            </a:r>
          </a:p>
        </p:txBody>
      </p:sp>
      <p:pic>
        <p:nvPicPr>
          <p:cNvPr id="11" name="Picture 10">
            <a:extLst>
              <a:ext uri="{FF2B5EF4-FFF2-40B4-BE49-F238E27FC236}">
                <a16:creationId xmlns:a16="http://schemas.microsoft.com/office/drawing/2014/main" id="{B204A78E-7C49-43A3-88AD-AC0F8F4DD41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933266" y="3343785"/>
            <a:ext cx="407280" cy="338998"/>
          </a:xfrm>
          <a:prstGeom prst="rect">
            <a:avLst/>
          </a:prstGeom>
        </p:spPr>
      </p:pic>
      <p:sp>
        <p:nvSpPr>
          <p:cNvPr id="12" name="TextBox 11">
            <a:extLst>
              <a:ext uri="{FF2B5EF4-FFF2-40B4-BE49-F238E27FC236}">
                <a16:creationId xmlns:a16="http://schemas.microsoft.com/office/drawing/2014/main" id="{A1CA78C9-7416-46ED-9506-BFEB7A1CF979}"/>
              </a:ext>
            </a:extLst>
          </p:cNvPr>
          <p:cNvSpPr txBox="1"/>
          <p:nvPr/>
        </p:nvSpPr>
        <p:spPr>
          <a:xfrm>
            <a:off x="1366522" y="3551937"/>
            <a:ext cx="719999" cy="180000"/>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800" i="1" dirty="0">
                <a:solidFill>
                  <a:srgbClr val="000000"/>
                </a:solidFill>
                <a:latin typeface="Vodafone Rg"/>
              </a:rPr>
              <a:t>Created here</a:t>
            </a:r>
          </a:p>
        </p:txBody>
      </p:sp>
      <p:sp>
        <p:nvSpPr>
          <p:cNvPr id="14" name="TextBox 13">
            <a:extLst>
              <a:ext uri="{FF2B5EF4-FFF2-40B4-BE49-F238E27FC236}">
                <a16:creationId xmlns:a16="http://schemas.microsoft.com/office/drawing/2014/main" id="{553D2B0E-EEA8-4FF3-9C18-C653C8515393}"/>
              </a:ext>
            </a:extLst>
          </p:cNvPr>
          <p:cNvSpPr txBox="1"/>
          <p:nvPr/>
        </p:nvSpPr>
        <p:spPr>
          <a:xfrm>
            <a:off x="1288184" y="2248360"/>
            <a:ext cx="1375729" cy="216000"/>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1000" b="1" dirty="0">
                <a:solidFill>
                  <a:srgbClr val="000000"/>
                </a:solidFill>
                <a:latin typeface="Vodafone Rg"/>
              </a:rPr>
              <a:t>Programme</a:t>
            </a:r>
          </a:p>
        </p:txBody>
      </p:sp>
      <p:sp>
        <p:nvSpPr>
          <p:cNvPr id="45" name="Arrow: Down 44">
            <a:extLst>
              <a:ext uri="{FF2B5EF4-FFF2-40B4-BE49-F238E27FC236}">
                <a16:creationId xmlns:a16="http://schemas.microsoft.com/office/drawing/2014/main" id="{70670FC7-7AB4-4201-82DC-47F4ACE1A8D2}"/>
              </a:ext>
            </a:extLst>
          </p:cNvPr>
          <p:cNvSpPr/>
          <p:nvPr/>
        </p:nvSpPr>
        <p:spPr>
          <a:xfrm>
            <a:off x="795211" y="2216298"/>
            <a:ext cx="108000" cy="1579926"/>
          </a:xfrm>
          <a:prstGeom prst="downArrow">
            <a:avLst/>
          </a:prstGeom>
          <a:solidFill>
            <a:schemeClr val="bg1">
              <a:lumMod val="75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6000" tIns="36000" rIns="36000" bIns="36000" numCol="1" spcCol="127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444478">
              <a:lnSpc>
                <a:spcPct val="90000"/>
              </a:lnSpc>
              <a:spcBef>
                <a:spcPct val="0"/>
              </a:spcBef>
              <a:spcAft>
                <a:spcPct val="35000"/>
              </a:spcAft>
              <a:defRPr/>
            </a:pPr>
            <a:endParaRPr lang="en-GB" sz="1000">
              <a:solidFill>
                <a:srgbClr val="34342B"/>
              </a:solidFill>
              <a:latin typeface="Vodafone Rg" pitchFamily="34" charset="0"/>
            </a:endParaRPr>
          </a:p>
        </p:txBody>
      </p:sp>
      <p:sp>
        <p:nvSpPr>
          <p:cNvPr id="48" name="TextBox 47">
            <a:extLst>
              <a:ext uri="{FF2B5EF4-FFF2-40B4-BE49-F238E27FC236}">
                <a16:creationId xmlns:a16="http://schemas.microsoft.com/office/drawing/2014/main" id="{672BC2E0-7E27-447E-8965-8201893609D3}"/>
              </a:ext>
            </a:extLst>
          </p:cNvPr>
          <p:cNvSpPr txBox="1"/>
          <p:nvPr/>
        </p:nvSpPr>
        <p:spPr>
          <a:xfrm>
            <a:off x="1321327" y="3405284"/>
            <a:ext cx="1379861" cy="216000"/>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1000" b="1" dirty="0">
                <a:solidFill>
                  <a:srgbClr val="000000"/>
                </a:solidFill>
                <a:latin typeface="Vodafone Rg"/>
              </a:rPr>
              <a:t>Feature</a:t>
            </a:r>
            <a:r>
              <a:rPr lang="en-GB" sz="1000" dirty="0">
                <a:solidFill>
                  <a:srgbClr val="000000"/>
                </a:solidFill>
                <a:latin typeface="Vodafone Rg"/>
              </a:rPr>
              <a:t> (Spans Releases)</a:t>
            </a:r>
          </a:p>
        </p:txBody>
      </p:sp>
      <p:sp>
        <p:nvSpPr>
          <p:cNvPr id="52" name="TextBox 51">
            <a:extLst>
              <a:ext uri="{FF2B5EF4-FFF2-40B4-BE49-F238E27FC236}">
                <a16:creationId xmlns:a16="http://schemas.microsoft.com/office/drawing/2014/main" id="{0A2B69A3-B676-4F82-9007-85426D01F581}"/>
              </a:ext>
            </a:extLst>
          </p:cNvPr>
          <p:cNvSpPr txBox="1"/>
          <p:nvPr/>
        </p:nvSpPr>
        <p:spPr>
          <a:xfrm>
            <a:off x="933266" y="1608507"/>
            <a:ext cx="1800000" cy="205629"/>
          </a:xfrm>
          <a:prstGeom prst="rect">
            <a:avLst/>
          </a:prstGeom>
          <a:solidFill>
            <a:schemeClr val="bg1">
              <a:lumMod val="95000"/>
            </a:schemeClr>
          </a:solidFill>
          <a:ln>
            <a:solidFill>
              <a:schemeClr val="bg1">
                <a:lumMod val="95000"/>
              </a:schemeClr>
            </a:solidFill>
          </a:ln>
        </p:spPr>
        <p:txBody>
          <a:bodyPr wrap="square" lIns="72000" tIns="0" rIns="72000" bIns="36000" rtlCol="0">
            <a:spAutoFit/>
          </a:bodyPr>
          <a:lstStyle>
            <a:defPPr>
              <a:defRPr lang="en-US"/>
            </a:defPPr>
            <a:lvl1pPr defTabSz="914355">
              <a:defRPr sz="1100">
                <a:solidFill>
                  <a:srgbClr val="000000"/>
                </a:solidFill>
                <a:latin typeface="Vodafone Rg"/>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pPr algn="ctr"/>
            <a:r>
              <a:rPr lang="en-GB" dirty="0">
                <a:sym typeface="Wingdings" panose="05000000000000000000" pitchFamily="2" charset="2"/>
                <a:hlinkClick r:id="rId6"/>
              </a:rPr>
              <a:t>Plan 2 Deliver ADO</a:t>
            </a:r>
            <a:endParaRPr lang="en-GB" dirty="0"/>
          </a:p>
        </p:txBody>
      </p:sp>
      <p:sp>
        <p:nvSpPr>
          <p:cNvPr id="56" name="TextBox 55">
            <a:extLst>
              <a:ext uri="{FF2B5EF4-FFF2-40B4-BE49-F238E27FC236}">
                <a16:creationId xmlns:a16="http://schemas.microsoft.com/office/drawing/2014/main" id="{5CE6E0C6-0EB8-47C1-A90E-0F8C0A56C711}"/>
              </a:ext>
            </a:extLst>
          </p:cNvPr>
          <p:cNvSpPr txBox="1"/>
          <p:nvPr/>
        </p:nvSpPr>
        <p:spPr>
          <a:xfrm>
            <a:off x="6159127" y="1324840"/>
            <a:ext cx="1800000" cy="205629"/>
          </a:xfrm>
          <a:prstGeom prst="rect">
            <a:avLst/>
          </a:prstGeom>
          <a:solidFill>
            <a:schemeClr val="bg1">
              <a:lumMod val="95000"/>
            </a:schemeClr>
          </a:solidFill>
          <a:ln>
            <a:solidFill>
              <a:schemeClr val="bg1">
                <a:lumMod val="95000"/>
              </a:schemeClr>
            </a:solidFill>
          </a:ln>
        </p:spPr>
        <p:txBody>
          <a:bodyPr wrap="square" lIns="72000" tIns="0" rIns="72000" bIns="36000"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1100" dirty="0">
                <a:solidFill>
                  <a:srgbClr val="000000"/>
                </a:solidFill>
                <a:latin typeface="Vodafone Rg"/>
                <a:sym typeface="Wingdings" panose="05000000000000000000" pitchFamily="2" charset="2"/>
                <a:hlinkClick r:id="rId7"/>
              </a:rPr>
              <a:t>CCS Engineering ADO</a:t>
            </a:r>
            <a:endParaRPr lang="en-GB" sz="1100" dirty="0">
              <a:solidFill>
                <a:srgbClr val="000000"/>
              </a:solidFill>
              <a:latin typeface="Vodafone Rg"/>
            </a:endParaRPr>
          </a:p>
        </p:txBody>
      </p:sp>
      <p:sp>
        <p:nvSpPr>
          <p:cNvPr id="57" name="TextBox 56">
            <a:extLst>
              <a:ext uri="{FF2B5EF4-FFF2-40B4-BE49-F238E27FC236}">
                <a16:creationId xmlns:a16="http://schemas.microsoft.com/office/drawing/2014/main" id="{15052905-68EC-45F7-9A5E-A6007B8510F0}"/>
              </a:ext>
            </a:extLst>
          </p:cNvPr>
          <p:cNvSpPr txBox="1"/>
          <p:nvPr/>
        </p:nvSpPr>
        <p:spPr>
          <a:xfrm>
            <a:off x="250826" y="671985"/>
            <a:ext cx="8642349" cy="460139"/>
          </a:xfrm>
          <a:prstGeom prst="rect">
            <a:avLst/>
          </a:prstGeom>
          <a:solidFill>
            <a:schemeClr val="bg1">
              <a:lumMod val="95000"/>
            </a:schemeClr>
          </a:solidFill>
        </p:spPr>
        <p:txBody>
          <a:bodyPr wrap="square" lIns="54000" tIns="27000" rIns="54000" bIns="54000" rtlCol="0">
            <a:noAutofit/>
          </a:bodyPr>
          <a:lstStyle/>
          <a:p>
            <a:pPr defTabSz="685800"/>
            <a:r>
              <a:rPr lang="en-GB" sz="1200" dirty="0">
                <a:solidFill>
                  <a:srgbClr val="000000"/>
                </a:solidFill>
                <a:latin typeface="Vodafone Rg" pitchFamily="34" charset="0"/>
              </a:rPr>
              <a:t>Overview of the key ADO projects and work item types that will be used as part of the Release Management lifecycle. </a:t>
            </a:r>
          </a:p>
          <a:p>
            <a:pPr defTabSz="685800"/>
            <a:r>
              <a:rPr lang="en-GB" sz="1200" i="1" dirty="0">
                <a:solidFill>
                  <a:srgbClr val="FF0000"/>
                </a:solidFill>
                <a:latin typeface="Vodafone Rg" pitchFamily="34" charset="0"/>
              </a:rPr>
              <a:t>Please note that Change Control, RAID , Tasks and Bugs will be detailed in other documents</a:t>
            </a:r>
          </a:p>
        </p:txBody>
      </p:sp>
      <p:sp>
        <p:nvSpPr>
          <p:cNvPr id="46" name="TextBox 45">
            <a:extLst>
              <a:ext uri="{FF2B5EF4-FFF2-40B4-BE49-F238E27FC236}">
                <a16:creationId xmlns:a16="http://schemas.microsoft.com/office/drawing/2014/main" id="{703805A9-B055-4B14-A037-1A526B87897F}"/>
              </a:ext>
            </a:extLst>
          </p:cNvPr>
          <p:cNvSpPr txBox="1"/>
          <p:nvPr/>
        </p:nvSpPr>
        <p:spPr>
          <a:xfrm>
            <a:off x="6159127" y="1559067"/>
            <a:ext cx="1800000" cy="205629"/>
          </a:xfrm>
          <a:prstGeom prst="rect">
            <a:avLst/>
          </a:prstGeom>
          <a:solidFill>
            <a:schemeClr val="bg1">
              <a:lumMod val="95000"/>
            </a:schemeClr>
          </a:solidFill>
          <a:ln>
            <a:solidFill>
              <a:schemeClr val="bg1">
                <a:lumMod val="95000"/>
              </a:schemeClr>
            </a:solidFill>
          </a:ln>
        </p:spPr>
        <p:txBody>
          <a:bodyPr wrap="square" lIns="72000" tIns="0" rIns="72000" bIns="36000"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1100" dirty="0">
                <a:solidFill>
                  <a:srgbClr val="000000"/>
                </a:solidFill>
                <a:latin typeface="Vodafone Rg"/>
                <a:sym typeface="Wingdings" panose="05000000000000000000" pitchFamily="2" charset="2"/>
                <a:hlinkClick r:id="rId8"/>
              </a:rPr>
              <a:t>Integration ADO</a:t>
            </a:r>
            <a:endParaRPr lang="en-GB" sz="1100" dirty="0">
              <a:solidFill>
                <a:srgbClr val="000000"/>
              </a:solidFill>
              <a:latin typeface="Vodafone Rg"/>
            </a:endParaRPr>
          </a:p>
        </p:txBody>
      </p:sp>
      <p:sp>
        <p:nvSpPr>
          <p:cNvPr id="65" name="TextBox 64">
            <a:extLst>
              <a:ext uri="{FF2B5EF4-FFF2-40B4-BE49-F238E27FC236}">
                <a16:creationId xmlns:a16="http://schemas.microsoft.com/office/drawing/2014/main" id="{DBE6B29E-0CDE-405D-BBBC-8471F11C14B6}"/>
              </a:ext>
            </a:extLst>
          </p:cNvPr>
          <p:cNvSpPr txBox="1"/>
          <p:nvPr/>
        </p:nvSpPr>
        <p:spPr>
          <a:xfrm>
            <a:off x="498721" y="4029783"/>
            <a:ext cx="2118533" cy="407804"/>
          </a:xfrm>
          <a:prstGeom prst="rect">
            <a:avLst/>
          </a:prstGeom>
          <a:noFill/>
        </p:spPr>
        <p:txBody>
          <a:bodyPr wrap="square">
            <a:spAutoFit/>
          </a:bodyPr>
          <a:lstStyle/>
          <a:p>
            <a:r>
              <a:rPr lang="en-GB" sz="1050" b="1" u="sng" dirty="0"/>
              <a:t>Key Contacts:</a:t>
            </a:r>
          </a:p>
          <a:p>
            <a:pPr marL="171450" indent="-171450">
              <a:buFont typeface="Arial" panose="020B0604020202020204" pitchFamily="34" charset="0"/>
              <a:buChar char="•"/>
            </a:pPr>
            <a:r>
              <a:rPr lang="en-GB" sz="900" dirty="0"/>
              <a:t>Nicola Wootton</a:t>
            </a:r>
          </a:p>
        </p:txBody>
      </p:sp>
      <p:sp>
        <p:nvSpPr>
          <p:cNvPr id="67" name="TextBox 66">
            <a:extLst>
              <a:ext uri="{FF2B5EF4-FFF2-40B4-BE49-F238E27FC236}">
                <a16:creationId xmlns:a16="http://schemas.microsoft.com/office/drawing/2014/main" id="{489567DC-CAFB-4959-BB07-06ECEB209D24}"/>
              </a:ext>
            </a:extLst>
          </p:cNvPr>
          <p:cNvSpPr txBox="1"/>
          <p:nvPr/>
        </p:nvSpPr>
        <p:spPr>
          <a:xfrm>
            <a:off x="2950202" y="4053876"/>
            <a:ext cx="2441946" cy="407804"/>
          </a:xfrm>
          <a:prstGeom prst="rect">
            <a:avLst/>
          </a:prstGeom>
          <a:noFill/>
        </p:spPr>
        <p:txBody>
          <a:bodyPr wrap="square">
            <a:spAutoFit/>
          </a:bodyPr>
          <a:lstStyle/>
          <a:p>
            <a:r>
              <a:rPr lang="en-GB" sz="1050" b="1" u="sng" dirty="0"/>
              <a:t>Key Contacts:</a:t>
            </a:r>
          </a:p>
          <a:p>
            <a:pPr marL="171450" indent="-171450">
              <a:buFont typeface="Arial" panose="020B0604020202020204" pitchFamily="34" charset="0"/>
              <a:buChar char="•"/>
            </a:pPr>
            <a:r>
              <a:rPr lang="en-GB" sz="900" dirty="0"/>
              <a:t>Vincent Stokell </a:t>
            </a:r>
          </a:p>
        </p:txBody>
      </p:sp>
      <p:sp>
        <p:nvSpPr>
          <p:cNvPr id="68" name="TextBox 67">
            <a:extLst>
              <a:ext uri="{FF2B5EF4-FFF2-40B4-BE49-F238E27FC236}">
                <a16:creationId xmlns:a16="http://schemas.microsoft.com/office/drawing/2014/main" id="{E94594CE-D003-488A-A446-3927426AAEC7}"/>
              </a:ext>
            </a:extLst>
          </p:cNvPr>
          <p:cNvSpPr txBox="1"/>
          <p:nvPr/>
        </p:nvSpPr>
        <p:spPr>
          <a:xfrm>
            <a:off x="6323477" y="4053876"/>
            <a:ext cx="2649419" cy="669414"/>
          </a:xfrm>
          <a:prstGeom prst="rect">
            <a:avLst/>
          </a:prstGeom>
          <a:noFill/>
        </p:spPr>
        <p:txBody>
          <a:bodyPr wrap="square">
            <a:spAutoFit/>
          </a:bodyPr>
          <a:lstStyle/>
          <a:p>
            <a:r>
              <a:rPr lang="en-GB" sz="1050" b="1" u="sng" dirty="0"/>
              <a:t>Key Contacts:</a:t>
            </a:r>
          </a:p>
          <a:p>
            <a:pPr marL="171450" indent="-171450">
              <a:buFont typeface="Arial" panose="020B0604020202020204" pitchFamily="34" charset="0"/>
              <a:buChar char="•"/>
            </a:pPr>
            <a:r>
              <a:rPr lang="en-GB" sz="900" dirty="0">
                <a:highlight>
                  <a:srgbClr val="FFFF00"/>
                </a:highlight>
              </a:rPr>
              <a:t>CCS Engineering: Steve Karlsen</a:t>
            </a:r>
          </a:p>
          <a:p>
            <a:pPr marL="171450" indent="-171450">
              <a:buFont typeface="Arial" panose="020B0604020202020204" pitchFamily="34" charset="0"/>
              <a:buChar char="•"/>
            </a:pPr>
            <a:r>
              <a:rPr lang="en-GB" sz="900" dirty="0">
                <a:highlight>
                  <a:srgbClr val="FFFF00"/>
                </a:highlight>
              </a:rPr>
              <a:t>Data: Kevin, Susan</a:t>
            </a:r>
          </a:p>
          <a:p>
            <a:pPr marL="171450" indent="-171450">
              <a:buFont typeface="Arial" panose="020B0604020202020204" pitchFamily="34" charset="0"/>
              <a:buChar char="•"/>
            </a:pPr>
            <a:r>
              <a:rPr lang="en-GB" sz="900" dirty="0">
                <a:highlight>
                  <a:srgbClr val="FFFF00"/>
                </a:highlight>
              </a:rPr>
              <a:t>Integration: Parminder</a:t>
            </a:r>
          </a:p>
        </p:txBody>
      </p:sp>
      <p:sp>
        <p:nvSpPr>
          <p:cNvPr id="4" name="Rectangle 3">
            <a:extLst>
              <a:ext uri="{FF2B5EF4-FFF2-40B4-BE49-F238E27FC236}">
                <a16:creationId xmlns:a16="http://schemas.microsoft.com/office/drawing/2014/main" id="{B688ED0D-8809-464E-8B69-B3B594DD735C}"/>
              </a:ext>
            </a:extLst>
          </p:cNvPr>
          <p:cNvSpPr/>
          <p:nvPr/>
        </p:nvSpPr>
        <p:spPr>
          <a:xfrm>
            <a:off x="3260308" y="2105203"/>
            <a:ext cx="2260864" cy="1776574"/>
          </a:xfrm>
          <a:prstGeom prst="rect">
            <a:avLst/>
          </a:prstGeom>
          <a:solidFill>
            <a:schemeClr val="bg1"/>
          </a:solidFill>
          <a:ln w="25400" cap="flat" cmpd="sng" algn="ctr">
            <a:solidFill>
              <a:schemeClr val="tx1"/>
            </a:solidFill>
            <a:prstDash val="dash"/>
          </a:ln>
          <a:effectLst/>
        </p:spPr>
        <p:style>
          <a:lnRef idx="2">
            <a:scrgbClr r="0" g="0" b="0"/>
          </a:lnRef>
          <a:fillRef idx="1">
            <a:scrgbClr r="0" g="0" b="0"/>
          </a:fillRef>
          <a:effectRef idx="0">
            <a:scrgbClr r="0" g="0" b="0"/>
          </a:effectRef>
          <a:fontRef idx="minor">
            <a:schemeClr val="lt1"/>
          </a:fontRef>
        </p:style>
        <p:txBody>
          <a:bodyPr spcFirstLastPara="0" vert="horz" wrap="square" lIns="36000" tIns="36000" rIns="36000" bIns="36000" numCol="1" spcCol="127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333367">
              <a:lnSpc>
                <a:spcPct val="90000"/>
              </a:lnSpc>
              <a:spcBef>
                <a:spcPct val="0"/>
              </a:spcBef>
              <a:spcAft>
                <a:spcPct val="35000"/>
              </a:spcAft>
            </a:pPr>
            <a:endParaRPr lang="en-GB" sz="750">
              <a:solidFill>
                <a:srgbClr val="34342B"/>
              </a:solidFill>
              <a:latin typeface="Vodafone Rg" pitchFamily="34" charset="0"/>
            </a:endParaRPr>
          </a:p>
        </p:txBody>
      </p:sp>
      <p:sp>
        <p:nvSpPr>
          <p:cNvPr id="19" name="TextBox 18">
            <a:extLst>
              <a:ext uri="{FF2B5EF4-FFF2-40B4-BE49-F238E27FC236}">
                <a16:creationId xmlns:a16="http://schemas.microsoft.com/office/drawing/2014/main" id="{4BE3D921-7B20-47B7-B9EB-4A7DB7D75AF4}"/>
              </a:ext>
            </a:extLst>
          </p:cNvPr>
          <p:cNvSpPr txBox="1"/>
          <p:nvPr/>
        </p:nvSpPr>
        <p:spPr>
          <a:xfrm>
            <a:off x="3520281" y="1611289"/>
            <a:ext cx="1800000" cy="205629"/>
          </a:xfrm>
          <a:prstGeom prst="rect">
            <a:avLst/>
          </a:prstGeom>
          <a:solidFill>
            <a:schemeClr val="bg1">
              <a:lumMod val="95000"/>
            </a:schemeClr>
          </a:solidFill>
          <a:ln>
            <a:solidFill>
              <a:schemeClr val="bg1">
                <a:lumMod val="95000"/>
              </a:schemeClr>
            </a:solidFill>
          </a:ln>
        </p:spPr>
        <p:txBody>
          <a:bodyPr wrap="square" lIns="72000" tIns="0" rIns="72000" bIns="36000" rtlCol="0">
            <a:spAutoFit/>
          </a:bodyPr>
          <a:lstStyle>
            <a:defPPr>
              <a:defRPr lang="en-US"/>
            </a:defPPr>
            <a:lvl1pPr defTabSz="914355">
              <a:defRPr sz="1100">
                <a:solidFill>
                  <a:srgbClr val="000000"/>
                </a:solidFill>
                <a:latin typeface="Vodafone Rg"/>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r>
              <a:rPr lang="en-GB" dirty="0">
                <a:sym typeface="Wingdings" panose="05000000000000000000" pitchFamily="2" charset="2"/>
                <a:hlinkClick r:id="rId9"/>
              </a:rPr>
              <a:t>Release Management ADO </a:t>
            </a:r>
            <a:endParaRPr lang="en-GB" dirty="0"/>
          </a:p>
        </p:txBody>
      </p:sp>
      <p:sp>
        <p:nvSpPr>
          <p:cNvPr id="36" name="TextBox 35">
            <a:extLst>
              <a:ext uri="{FF2B5EF4-FFF2-40B4-BE49-F238E27FC236}">
                <a16:creationId xmlns:a16="http://schemas.microsoft.com/office/drawing/2014/main" id="{C0CB8FF9-A752-4DE8-BDEE-D962F28B509F}"/>
              </a:ext>
            </a:extLst>
          </p:cNvPr>
          <p:cNvSpPr txBox="1"/>
          <p:nvPr/>
        </p:nvSpPr>
        <p:spPr>
          <a:xfrm>
            <a:off x="3833776" y="2282381"/>
            <a:ext cx="1732591" cy="216000"/>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1000" b="1" dirty="0">
                <a:solidFill>
                  <a:srgbClr val="000000"/>
                </a:solidFill>
                <a:latin typeface="Vodafone Rg"/>
              </a:rPr>
              <a:t>Feature </a:t>
            </a:r>
            <a:r>
              <a:rPr lang="en-GB" sz="1000" dirty="0">
                <a:solidFill>
                  <a:srgbClr val="000000"/>
                </a:solidFill>
                <a:latin typeface="Vodafone Rg"/>
              </a:rPr>
              <a:t>(Spans Releases)</a:t>
            </a:r>
          </a:p>
        </p:txBody>
      </p:sp>
      <p:pic>
        <p:nvPicPr>
          <p:cNvPr id="37" name="Picture 36">
            <a:extLst>
              <a:ext uri="{FF2B5EF4-FFF2-40B4-BE49-F238E27FC236}">
                <a16:creationId xmlns:a16="http://schemas.microsoft.com/office/drawing/2014/main" id="{ACE8324D-7454-4BF9-B9E8-EAE2F050E64D}"/>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3455002" y="2220881"/>
            <a:ext cx="407279" cy="339000"/>
          </a:xfrm>
          <a:prstGeom prst="rect">
            <a:avLst/>
          </a:prstGeom>
        </p:spPr>
      </p:pic>
      <p:sp>
        <p:nvSpPr>
          <p:cNvPr id="35" name="TextBox 34">
            <a:extLst>
              <a:ext uri="{FF2B5EF4-FFF2-40B4-BE49-F238E27FC236}">
                <a16:creationId xmlns:a16="http://schemas.microsoft.com/office/drawing/2014/main" id="{9A66C9FF-75B5-4DC7-8397-9D7D44063239}"/>
              </a:ext>
            </a:extLst>
          </p:cNvPr>
          <p:cNvSpPr txBox="1"/>
          <p:nvPr/>
        </p:nvSpPr>
        <p:spPr>
          <a:xfrm>
            <a:off x="3937105" y="2427038"/>
            <a:ext cx="1222036" cy="180000"/>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800" b="1" i="1" dirty="0">
                <a:solidFill>
                  <a:srgbClr val="0070C0"/>
                </a:solidFill>
                <a:latin typeface="Vodafone Rg"/>
              </a:rPr>
              <a:t>Moved  here via button</a:t>
            </a:r>
          </a:p>
        </p:txBody>
      </p:sp>
      <p:sp>
        <p:nvSpPr>
          <p:cNvPr id="38" name="TextBox 37">
            <a:extLst>
              <a:ext uri="{FF2B5EF4-FFF2-40B4-BE49-F238E27FC236}">
                <a16:creationId xmlns:a16="http://schemas.microsoft.com/office/drawing/2014/main" id="{1F5488BC-A2AC-4E99-9A31-2B52A4385534}"/>
              </a:ext>
            </a:extLst>
          </p:cNvPr>
          <p:cNvSpPr txBox="1"/>
          <p:nvPr/>
        </p:nvSpPr>
        <p:spPr>
          <a:xfrm>
            <a:off x="3937187" y="3605738"/>
            <a:ext cx="1062273" cy="180000"/>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800" i="1" dirty="0">
                <a:solidFill>
                  <a:srgbClr val="000000"/>
                </a:solidFill>
                <a:latin typeface="Vodafone Rg"/>
              </a:rPr>
              <a:t>Created here</a:t>
            </a:r>
          </a:p>
        </p:txBody>
      </p:sp>
      <p:sp>
        <p:nvSpPr>
          <p:cNvPr id="43" name="TextBox 42">
            <a:extLst>
              <a:ext uri="{FF2B5EF4-FFF2-40B4-BE49-F238E27FC236}">
                <a16:creationId xmlns:a16="http://schemas.microsoft.com/office/drawing/2014/main" id="{97DB5084-249B-457E-AC9A-FDC4AD830CDB}"/>
              </a:ext>
            </a:extLst>
          </p:cNvPr>
          <p:cNvSpPr txBox="1"/>
          <p:nvPr/>
        </p:nvSpPr>
        <p:spPr>
          <a:xfrm>
            <a:off x="3799110" y="3344404"/>
            <a:ext cx="1822911" cy="216000"/>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1000" b="1" dirty="0">
                <a:solidFill>
                  <a:srgbClr val="000000"/>
                </a:solidFill>
                <a:latin typeface="Vodafone Rg"/>
              </a:rPr>
              <a:t>Function</a:t>
            </a:r>
            <a:r>
              <a:rPr lang="en-GB" sz="1000" dirty="0">
                <a:solidFill>
                  <a:srgbClr val="000000"/>
                </a:solidFill>
                <a:latin typeface="Vodafone Rg"/>
              </a:rPr>
              <a:t> (Application Impact) </a:t>
            </a:r>
          </a:p>
        </p:txBody>
      </p:sp>
      <p:sp>
        <p:nvSpPr>
          <p:cNvPr id="26" name="TextBox 25">
            <a:extLst>
              <a:ext uri="{FF2B5EF4-FFF2-40B4-BE49-F238E27FC236}">
                <a16:creationId xmlns:a16="http://schemas.microsoft.com/office/drawing/2014/main" id="{103A108A-DB87-3A60-D94A-8074880384F0}"/>
              </a:ext>
            </a:extLst>
          </p:cNvPr>
          <p:cNvSpPr txBox="1"/>
          <p:nvPr/>
        </p:nvSpPr>
        <p:spPr>
          <a:xfrm>
            <a:off x="3833776" y="2854245"/>
            <a:ext cx="1360980" cy="215999"/>
          </a:xfrm>
          <a:prstGeom prst="rect">
            <a:avLst/>
          </a:prstGeom>
          <a:noFill/>
        </p:spPr>
        <p:txBody>
          <a:bodyPr vert="horz" wrap="square" lIns="36000" tIns="36000" rIns="36000" bIns="36000" rtlCol="0" anchor="t" anchorCtr="0">
            <a:noAutofit/>
          </a:bodyPr>
          <a:lstStyle>
            <a:defPPr>
              <a:defRPr lang="en-US"/>
            </a:defPPr>
            <a:lvl1pPr defTabSz="914355">
              <a:defRPr sz="1000">
                <a:solidFill>
                  <a:srgbClr val="000000"/>
                </a:solidFill>
                <a:latin typeface="Vodafone Rg"/>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7400" defTabSz="685800">
              <a:defRPr sz="1350"/>
            </a:lvl7pPr>
            <a:lvl8pPr marL="2400300" defTabSz="685800">
              <a:defRPr sz="1350"/>
            </a:lvl8pPr>
            <a:lvl9pPr marL="2743200" defTabSz="685800">
              <a:defRPr sz="1350"/>
            </a:lvl9pPr>
          </a:lstStyle>
          <a:p>
            <a:r>
              <a:rPr lang="en-GB" b="1" dirty="0"/>
              <a:t>Delivery </a:t>
            </a:r>
            <a:r>
              <a:rPr lang="en-GB" dirty="0"/>
              <a:t>(Per Release) </a:t>
            </a:r>
          </a:p>
        </p:txBody>
      </p:sp>
      <p:pic>
        <p:nvPicPr>
          <p:cNvPr id="24" name="Picture 23">
            <a:extLst>
              <a:ext uri="{FF2B5EF4-FFF2-40B4-BE49-F238E27FC236}">
                <a16:creationId xmlns:a16="http://schemas.microsoft.com/office/drawing/2014/main" id="{7EA646FB-1EEB-5136-8818-DB9F1D8DB0AC}"/>
              </a:ext>
            </a:extLst>
          </p:cNvPr>
          <p:cNvPicPr>
            <a:picLocks noChangeAspect="1"/>
          </p:cNvPicPr>
          <p:nvPr/>
        </p:nvPicPr>
        <p:blipFill>
          <a:blip r:embed="rId10"/>
          <a:stretch>
            <a:fillRect/>
          </a:stretch>
        </p:blipFill>
        <p:spPr>
          <a:xfrm>
            <a:off x="3530439" y="2847114"/>
            <a:ext cx="256404" cy="230260"/>
          </a:xfrm>
          <a:prstGeom prst="rect">
            <a:avLst/>
          </a:prstGeom>
        </p:spPr>
      </p:pic>
      <p:sp>
        <p:nvSpPr>
          <p:cNvPr id="32" name="TextBox 31">
            <a:extLst>
              <a:ext uri="{FF2B5EF4-FFF2-40B4-BE49-F238E27FC236}">
                <a16:creationId xmlns:a16="http://schemas.microsoft.com/office/drawing/2014/main" id="{0F7A75DD-92EB-F70E-4FF4-A0F9FB55A73B}"/>
              </a:ext>
            </a:extLst>
          </p:cNvPr>
          <p:cNvSpPr txBox="1"/>
          <p:nvPr/>
        </p:nvSpPr>
        <p:spPr>
          <a:xfrm>
            <a:off x="3922888" y="2997845"/>
            <a:ext cx="1062273" cy="180000"/>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800" i="1" dirty="0">
                <a:solidFill>
                  <a:srgbClr val="000000"/>
                </a:solidFill>
                <a:latin typeface="Vodafone Rg"/>
              </a:rPr>
              <a:t>Created here</a:t>
            </a:r>
          </a:p>
        </p:txBody>
      </p:sp>
      <p:sp>
        <p:nvSpPr>
          <p:cNvPr id="61" name="TextBox 60">
            <a:extLst>
              <a:ext uri="{FF2B5EF4-FFF2-40B4-BE49-F238E27FC236}">
                <a16:creationId xmlns:a16="http://schemas.microsoft.com/office/drawing/2014/main" id="{B19D2BFC-0F18-A321-39F8-7F37BEF83384}"/>
              </a:ext>
            </a:extLst>
          </p:cNvPr>
          <p:cNvSpPr txBox="1"/>
          <p:nvPr/>
        </p:nvSpPr>
        <p:spPr>
          <a:xfrm>
            <a:off x="6159127" y="1793294"/>
            <a:ext cx="1800000" cy="205629"/>
          </a:xfrm>
          <a:prstGeom prst="rect">
            <a:avLst/>
          </a:prstGeom>
          <a:solidFill>
            <a:schemeClr val="bg1">
              <a:lumMod val="95000"/>
            </a:schemeClr>
          </a:solidFill>
          <a:ln>
            <a:solidFill>
              <a:schemeClr val="bg1">
                <a:lumMod val="95000"/>
              </a:schemeClr>
            </a:solidFill>
          </a:ln>
        </p:spPr>
        <p:txBody>
          <a:bodyPr wrap="square" lIns="72000" tIns="0" rIns="72000" bIns="36000"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1100" dirty="0">
                <a:solidFill>
                  <a:srgbClr val="000000"/>
                </a:solidFill>
                <a:latin typeface="Vodafone Rg"/>
                <a:sym typeface="Wingdings" panose="05000000000000000000" pitchFamily="2" charset="2"/>
                <a:hlinkClick r:id="rId11"/>
              </a:rPr>
              <a:t>Data ADO</a:t>
            </a:r>
            <a:endParaRPr lang="en-GB" sz="1100" dirty="0">
              <a:solidFill>
                <a:srgbClr val="000000"/>
              </a:solidFill>
              <a:latin typeface="Vodafone Rg"/>
            </a:endParaRPr>
          </a:p>
        </p:txBody>
      </p:sp>
      <p:sp>
        <p:nvSpPr>
          <p:cNvPr id="27" name="Rectangle 26">
            <a:extLst>
              <a:ext uri="{FF2B5EF4-FFF2-40B4-BE49-F238E27FC236}">
                <a16:creationId xmlns:a16="http://schemas.microsoft.com/office/drawing/2014/main" id="{AB1A97AA-6F8E-111C-D959-FF84D9B36A4B}"/>
              </a:ext>
            </a:extLst>
          </p:cNvPr>
          <p:cNvSpPr/>
          <p:nvPr/>
        </p:nvSpPr>
        <p:spPr>
          <a:xfrm>
            <a:off x="5890352" y="2105203"/>
            <a:ext cx="2360386" cy="1776574"/>
          </a:xfrm>
          <a:prstGeom prst="rect">
            <a:avLst/>
          </a:prstGeom>
          <a:solidFill>
            <a:schemeClr val="bg1"/>
          </a:solidFill>
          <a:ln w="25400" cap="flat" cmpd="sng" algn="ctr">
            <a:solidFill>
              <a:schemeClr val="tx1"/>
            </a:solidFill>
            <a:prstDash val="dash"/>
          </a:ln>
          <a:effectLst/>
        </p:spPr>
        <p:style>
          <a:lnRef idx="2">
            <a:scrgbClr r="0" g="0" b="0"/>
          </a:lnRef>
          <a:fillRef idx="1">
            <a:scrgbClr r="0" g="0" b="0"/>
          </a:fillRef>
          <a:effectRef idx="0">
            <a:scrgbClr r="0" g="0" b="0"/>
          </a:effectRef>
          <a:fontRef idx="minor">
            <a:schemeClr val="lt1"/>
          </a:fontRef>
        </p:style>
        <p:txBody>
          <a:bodyPr spcFirstLastPara="0" vert="horz" wrap="square" lIns="36000" tIns="36000" rIns="36000" bIns="36000" numCol="1" spcCol="127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333367">
              <a:lnSpc>
                <a:spcPct val="90000"/>
              </a:lnSpc>
              <a:spcBef>
                <a:spcPct val="0"/>
              </a:spcBef>
              <a:spcAft>
                <a:spcPct val="35000"/>
              </a:spcAft>
            </a:pPr>
            <a:endParaRPr lang="en-GB" sz="750">
              <a:solidFill>
                <a:srgbClr val="34342B"/>
              </a:solidFill>
              <a:latin typeface="Vodafone Rg" pitchFamily="34" charset="0"/>
            </a:endParaRPr>
          </a:p>
        </p:txBody>
      </p:sp>
      <p:pic>
        <p:nvPicPr>
          <p:cNvPr id="79" name="Picture 78">
            <a:extLst>
              <a:ext uri="{FF2B5EF4-FFF2-40B4-BE49-F238E27FC236}">
                <a16:creationId xmlns:a16="http://schemas.microsoft.com/office/drawing/2014/main" id="{E53E5B59-AC2A-430A-97AB-EF1E84E5DA97}"/>
              </a:ext>
            </a:extLst>
          </p:cNvPr>
          <p:cNvPicPr>
            <a:picLocks/>
          </p:cNvPicPr>
          <p:nvPr/>
        </p:nvPicPr>
        <p:blipFill>
          <a:blip r:embed="rId12">
            <a:alphaModFix/>
            <a:extLst>
              <a:ext uri="{BEBA8EAE-BF5A-486C-A8C5-ECC9F3942E4B}">
                <a14:imgProps xmlns:a14="http://schemas.microsoft.com/office/drawing/2010/main">
                  <a14:imgLayer r:embed="rId13">
                    <a14:imgEffect>
                      <a14:backgroundRemoval t="10000" b="90000" l="10000" r="90000">
                        <a14:foregroundMark x1="46479" y1="29134" x2="46479" y2="29134"/>
                      </a14:backgroundRemoval>
                    </a14:imgEffect>
                  </a14:imgLayer>
                </a14:imgProps>
              </a:ext>
            </a:extLst>
          </a:blip>
          <a:stretch>
            <a:fillRect/>
          </a:stretch>
        </p:blipFill>
        <p:spPr>
          <a:xfrm>
            <a:off x="5979195" y="2273432"/>
            <a:ext cx="353285" cy="326460"/>
          </a:xfrm>
          <a:prstGeom prst="rect">
            <a:avLst/>
          </a:prstGeom>
        </p:spPr>
      </p:pic>
      <p:pic>
        <p:nvPicPr>
          <p:cNvPr id="87" name="Picture 86">
            <a:extLst>
              <a:ext uri="{FF2B5EF4-FFF2-40B4-BE49-F238E27FC236}">
                <a16:creationId xmlns:a16="http://schemas.microsoft.com/office/drawing/2014/main" id="{014860DB-CF23-493F-A174-271BA03CFCEC}"/>
              </a:ext>
            </a:extLst>
          </p:cNvPr>
          <p:cNvPicPr>
            <a:picLocks noChangeAspect="1"/>
          </p:cNvPicPr>
          <p:nvPr/>
        </p:nvPicPr>
        <p:blipFill>
          <a:blip r:embed="rId14">
            <a:extLst>
              <a:ext uri="{BEBA8EAE-BF5A-486C-A8C5-ECC9F3942E4B}">
                <a14:imgProps xmlns:a14="http://schemas.microsoft.com/office/drawing/2010/main">
                  <a14:imgLayer r:embed="rId15">
                    <a14:imgEffect>
                      <a14:backgroundRemoval t="10000" b="90000" l="10000" r="90000">
                        <a14:foregroundMark x1="54386" y1="40909" x2="54386" y2="40909"/>
                        <a14:foregroundMark x1="75439" y1="50000" x2="75439" y2="50000"/>
                        <a14:foregroundMark x1="24561" y1="47727" x2="24561" y2="47727"/>
                      </a14:backgroundRemoval>
                    </a14:imgEffect>
                  </a14:imgLayer>
                </a14:imgProps>
              </a:ext>
            </a:extLst>
          </a:blip>
          <a:stretch>
            <a:fillRect/>
          </a:stretch>
        </p:blipFill>
        <p:spPr>
          <a:xfrm>
            <a:off x="5939740" y="3325288"/>
            <a:ext cx="428104" cy="330466"/>
          </a:xfrm>
          <a:prstGeom prst="rect">
            <a:avLst/>
          </a:prstGeom>
          <a:ln>
            <a:noFill/>
          </a:ln>
        </p:spPr>
      </p:pic>
      <p:sp>
        <p:nvSpPr>
          <p:cNvPr id="88" name="TextBox 87">
            <a:extLst>
              <a:ext uri="{FF2B5EF4-FFF2-40B4-BE49-F238E27FC236}">
                <a16:creationId xmlns:a16="http://schemas.microsoft.com/office/drawing/2014/main" id="{2EED6D80-E0F6-4DB0-99C6-A3B21357DD2D}"/>
              </a:ext>
            </a:extLst>
          </p:cNvPr>
          <p:cNvSpPr txBox="1"/>
          <p:nvPr/>
        </p:nvSpPr>
        <p:spPr>
          <a:xfrm>
            <a:off x="6299028" y="3382521"/>
            <a:ext cx="648000" cy="216000"/>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1000" b="1" dirty="0">
                <a:solidFill>
                  <a:srgbClr val="000000"/>
                </a:solidFill>
                <a:latin typeface="Vodafone Rg"/>
              </a:rPr>
              <a:t>User Story</a:t>
            </a:r>
          </a:p>
        </p:txBody>
      </p:sp>
      <p:sp>
        <p:nvSpPr>
          <p:cNvPr id="91" name="TextBox 90">
            <a:extLst>
              <a:ext uri="{FF2B5EF4-FFF2-40B4-BE49-F238E27FC236}">
                <a16:creationId xmlns:a16="http://schemas.microsoft.com/office/drawing/2014/main" id="{3CA195F2-6F56-404D-9D3D-F3BF2E7E1D45}"/>
              </a:ext>
            </a:extLst>
          </p:cNvPr>
          <p:cNvSpPr txBox="1"/>
          <p:nvPr/>
        </p:nvSpPr>
        <p:spPr>
          <a:xfrm>
            <a:off x="7196853" y="3382521"/>
            <a:ext cx="648000" cy="216000"/>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1000" b="1" dirty="0">
                <a:solidFill>
                  <a:srgbClr val="000000"/>
                </a:solidFill>
                <a:latin typeface="Vodafone Rg"/>
              </a:rPr>
              <a:t>Task</a:t>
            </a:r>
          </a:p>
        </p:txBody>
      </p:sp>
      <p:pic>
        <p:nvPicPr>
          <p:cNvPr id="92" name="Picture 91">
            <a:extLst>
              <a:ext uri="{FF2B5EF4-FFF2-40B4-BE49-F238E27FC236}">
                <a16:creationId xmlns:a16="http://schemas.microsoft.com/office/drawing/2014/main" id="{A8277338-7CC0-4F36-8ABD-61DD879A83C0}"/>
              </a:ext>
            </a:extLst>
          </p:cNvPr>
          <p:cNvPicPr>
            <a:picLocks noChangeAspect="1"/>
          </p:cNvPicPr>
          <p:nvPr/>
        </p:nvPicPr>
        <p:blipFill>
          <a:blip r:embed="rId16">
            <a:extLst>
              <a:ext uri="{BEBA8EAE-BF5A-486C-A8C5-ECC9F3942E4B}">
                <a14:imgProps xmlns:a14="http://schemas.microsoft.com/office/drawing/2010/main">
                  <a14:imgLayer r:embed="rId17">
                    <a14:imgEffect>
                      <a14:backgroundRemoval t="10000" b="90000" l="10000" r="90000"/>
                    </a14:imgEffect>
                  </a14:imgLayer>
                </a14:imgProps>
              </a:ext>
            </a:extLst>
          </a:blip>
          <a:stretch>
            <a:fillRect/>
          </a:stretch>
        </p:blipFill>
        <p:spPr>
          <a:xfrm>
            <a:off x="6967755" y="3334427"/>
            <a:ext cx="240986" cy="312188"/>
          </a:xfrm>
          <a:prstGeom prst="rect">
            <a:avLst/>
          </a:prstGeom>
          <a:ln>
            <a:noFill/>
          </a:ln>
        </p:spPr>
      </p:pic>
      <p:pic>
        <p:nvPicPr>
          <p:cNvPr id="93" name="Picture 92">
            <a:extLst>
              <a:ext uri="{FF2B5EF4-FFF2-40B4-BE49-F238E27FC236}">
                <a16:creationId xmlns:a16="http://schemas.microsoft.com/office/drawing/2014/main" id="{C4764374-66E9-4C12-AD35-9C2375CBFF43}"/>
              </a:ext>
            </a:extLst>
          </p:cNvPr>
          <p:cNvPicPr>
            <a:picLocks noChangeAspect="1"/>
          </p:cNvPicPr>
          <p:nvPr/>
        </p:nvPicPr>
        <p:blipFill>
          <a:blip r:embed="rId18">
            <a:extLst>
              <a:ext uri="{BEBA8EAE-BF5A-486C-A8C5-ECC9F3942E4B}">
                <a14:imgProps xmlns:a14="http://schemas.microsoft.com/office/drawing/2010/main">
                  <a14:imgLayer r:embed="rId19">
                    <a14:imgEffect>
                      <a14:backgroundRemoval t="10000" b="90000" l="10000" r="90000">
                        <a14:foregroundMark x1="51515" y1="46667" x2="51515" y2="46667"/>
                      </a14:backgroundRemoval>
                    </a14:imgEffect>
                  </a14:imgLayer>
                </a14:imgProps>
              </a:ext>
            </a:extLst>
          </a:blip>
          <a:stretch>
            <a:fillRect/>
          </a:stretch>
        </p:blipFill>
        <p:spPr>
          <a:xfrm>
            <a:off x="7569506" y="3325288"/>
            <a:ext cx="363513" cy="330466"/>
          </a:xfrm>
          <a:prstGeom prst="rect">
            <a:avLst/>
          </a:prstGeom>
          <a:ln>
            <a:noFill/>
          </a:ln>
        </p:spPr>
      </p:pic>
      <p:sp>
        <p:nvSpPr>
          <p:cNvPr id="94" name="TextBox 93">
            <a:extLst>
              <a:ext uri="{FF2B5EF4-FFF2-40B4-BE49-F238E27FC236}">
                <a16:creationId xmlns:a16="http://schemas.microsoft.com/office/drawing/2014/main" id="{BC3B47B2-A2C1-446D-9C3D-340133C25E10}"/>
              </a:ext>
            </a:extLst>
          </p:cNvPr>
          <p:cNvSpPr txBox="1"/>
          <p:nvPr/>
        </p:nvSpPr>
        <p:spPr>
          <a:xfrm>
            <a:off x="7839361" y="3382521"/>
            <a:ext cx="648000" cy="216000"/>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1000" b="1" dirty="0">
                <a:solidFill>
                  <a:srgbClr val="000000"/>
                </a:solidFill>
                <a:latin typeface="Vodafone Rg"/>
              </a:rPr>
              <a:t>Bug</a:t>
            </a:r>
          </a:p>
        </p:txBody>
      </p:sp>
      <p:sp>
        <p:nvSpPr>
          <p:cNvPr id="110" name="TextBox 109">
            <a:extLst>
              <a:ext uri="{FF2B5EF4-FFF2-40B4-BE49-F238E27FC236}">
                <a16:creationId xmlns:a16="http://schemas.microsoft.com/office/drawing/2014/main" id="{210CAC84-8B2E-C289-BEFB-8220BB84E063}"/>
              </a:ext>
            </a:extLst>
          </p:cNvPr>
          <p:cNvSpPr txBox="1"/>
          <p:nvPr/>
        </p:nvSpPr>
        <p:spPr>
          <a:xfrm>
            <a:off x="6092819" y="3103941"/>
            <a:ext cx="2142899" cy="215444"/>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55">
              <a:defRPr/>
            </a:pPr>
            <a:r>
              <a:rPr lang="en-GB" sz="900" b="1" i="1" dirty="0">
                <a:solidFill>
                  <a:srgbClr val="000000"/>
                </a:solidFill>
                <a:latin typeface="Vodafone Rg"/>
              </a:rPr>
              <a:t>Other Work Items Vary By Domain</a:t>
            </a:r>
          </a:p>
        </p:txBody>
      </p:sp>
      <p:pic>
        <p:nvPicPr>
          <p:cNvPr id="29" name="Picture 28">
            <a:extLst>
              <a:ext uri="{FF2B5EF4-FFF2-40B4-BE49-F238E27FC236}">
                <a16:creationId xmlns:a16="http://schemas.microsoft.com/office/drawing/2014/main" id="{D79F7427-D529-F835-4B54-40868594C618}"/>
              </a:ext>
            </a:extLst>
          </p:cNvPr>
          <p:cNvPicPr>
            <a:picLocks noChangeAspect="1"/>
          </p:cNvPicPr>
          <p:nvPr/>
        </p:nvPicPr>
        <p:blipFill>
          <a:blip r:embed="rId20"/>
          <a:stretch>
            <a:fillRect/>
          </a:stretch>
        </p:blipFill>
        <p:spPr>
          <a:xfrm>
            <a:off x="1008301" y="2231327"/>
            <a:ext cx="257211" cy="250067"/>
          </a:xfrm>
          <a:prstGeom prst="rect">
            <a:avLst/>
          </a:prstGeom>
        </p:spPr>
      </p:pic>
      <p:cxnSp>
        <p:nvCxnSpPr>
          <p:cNvPr id="54" name="Straight Arrow Connector 53">
            <a:extLst>
              <a:ext uri="{FF2B5EF4-FFF2-40B4-BE49-F238E27FC236}">
                <a16:creationId xmlns:a16="http://schemas.microsoft.com/office/drawing/2014/main" id="{B8EC77B8-88A7-18AA-5D96-E6A58EFB3F52}"/>
              </a:ext>
            </a:extLst>
          </p:cNvPr>
          <p:cNvCxnSpPr>
            <a:cxnSpLocks/>
            <a:stCxn id="29" idx="2"/>
            <a:endCxn id="8" idx="0"/>
          </p:cNvCxnSpPr>
          <p:nvPr/>
        </p:nvCxnSpPr>
        <p:spPr>
          <a:xfrm>
            <a:off x="1136907" y="2481394"/>
            <a:ext cx="0" cy="27810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87EA851-13C2-5B67-46F1-0FD82B0FA31F}"/>
              </a:ext>
            </a:extLst>
          </p:cNvPr>
          <p:cNvCxnSpPr>
            <a:cxnSpLocks/>
          </p:cNvCxnSpPr>
          <p:nvPr/>
        </p:nvCxnSpPr>
        <p:spPr>
          <a:xfrm>
            <a:off x="1140930" y="3048884"/>
            <a:ext cx="0" cy="27810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98D53BC8-F022-35A5-26A0-C5CC80B2038E}"/>
              </a:ext>
            </a:extLst>
          </p:cNvPr>
          <p:cNvCxnSpPr>
            <a:cxnSpLocks/>
          </p:cNvCxnSpPr>
          <p:nvPr/>
        </p:nvCxnSpPr>
        <p:spPr>
          <a:xfrm>
            <a:off x="3658641" y="2559881"/>
            <a:ext cx="0" cy="27810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603A0BA5-5AF9-BE99-A632-66A373224BB1}"/>
              </a:ext>
            </a:extLst>
          </p:cNvPr>
          <p:cNvCxnSpPr>
            <a:cxnSpLocks/>
          </p:cNvCxnSpPr>
          <p:nvPr/>
        </p:nvCxnSpPr>
        <p:spPr>
          <a:xfrm>
            <a:off x="3658641" y="3127181"/>
            <a:ext cx="0" cy="27810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B59EA01-FD8B-5D4B-AAAB-2B00BEF738FC}"/>
              </a:ext>
            </a:extLst>
          </p:cNvPr>
          <p:cNvSpPr txBox="1"/>
          <p:nvPr/>
        </p:nvSpPr>
        <p:spPr>
          <a:xfrm>
            <a:off x="6342816" y="2328662"/>
            <a:ext cx="1822911" cy="216000"/>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1000" b="1" dirty="0">
                <a:solidFill>
                  <a:srgbClr val="000000"/>
                </a:solidFill>
                <a:latin typeface="Vodafone Rg"/>
              </a:rPr>
              <a:t>Function</a:t>
            </a:r>
            <a:r>
              <a:rPr lang="en-GB" sz="1000" dirty="0">
                <a:solidFill>
                  <a:srgbClr val="000000"/>
                </a:solidFill>
                <a:latin typeface="Vodafone Rg"/>
              </a:rPr>
              <a:t> (Application Impact) </a:t>
            </a:r>
          </a:p>
        </p:txBody>
      </p:sp>
      <p:pic>
        <p:nvPicPr>
          <p:cNvPr id="69" name="Picture 68">
            <a:extLst>
              <a:ext uri="{FF2B5EF4-FFF2-40B4-BE49-F238E27FC236}">
                <a16:creationId xmlns:a16="http://schemas.microsoft.com/office/drawing/2014/main" id="{86411819-DC9E-2A5A-1654-C70D9A3FD830}"/>
              </a:ext>
            </a:extLst>
          </p:cNvPr>
          <p:cNvPicPr>
            <a:picLocks/>
          </p:cNvPicPr>
          <p:nvPr/>
        </p:nvPicPr>
        <p:blipFill>
          <a:blip r:embed="rId12">
            <a:alphaModFix/>
            <a:extLst>
              <a:ext uri="{BEBA8EAE-BF5A-486C-A8C5-ECC9F3942E4B}">
                <a14:imgProps xmlns:a14="http://schemas.microsoft.com/office/drawing/2010/main">
                  <a14:imgLayer r:embed="rId13">
                    <a14:imgEffect>
                      <a14:backgroundRemoval t="10000" b="90000" l="10000" r="90000">
                        <a14:foregroundMark x1="46479" y1="29134" x2="46479" y2="29134"/>
                      </a14:backgroundRemoval>
                    </a14:imgEffect>
                  </a14:imgLayer>
                </a14:imgProps>
              </a:ext>
            </a:extLst>
          </a:blip>
          <a:stretch>
            <a:fillRect/>
          </a:stretch>
        </p:blipFill>
        <p:spPr>
          <a:xfrm>
            <a:off x="3481999" y="3408701"/>
            <a:ext cx="353285" cy="326460"/>
          </a:xfrm>
          <a:prstGeom prst="rect">
            <a:avLst/>
          </a:prstGeom>
        </p:spPr>
      </p:pic>
      <p:sp>
        <p:nvSpPr>
          <p:cNvPr id="70" name="TextBox 69">
            <a:extLst>
              <a:ext uri="{FF2B5EF4-FFF2-40B4-BE49-F238E27FC236}">
                <a16:creationId xmlns:a16="http://schemas.microsoft.com/office/drawing/2014/main" id="{C716F188-62E7-67DE-C7C0-185868C6BEBE}"/>
              </a:ext>
            </a:extLst>
          </p:cNvPr>
          <p:cNvSpPr txBox="1"/>
          <p:nvPr/>
        </p:nvSpPr>
        <p:spPr>
          <a:xfrm>
            <a:off x="6458242" y="2465060"/>
            <a:ext cx="1381119" cy="180000"/>
          </a:xfrm>
          <a:prstGeom prst="rect">
            <a:avLst/>
          </a:prstGeom>
          <a:noFill/>
        </p:spPr>
        <p:txBody>
          <a:bodyPr vert="horz" wrap="square" lIns="36000" tIns="36000" rIns="36000" bIns="3600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55">
              <a:defRPr/>
            </a:pPr>
            <a:r>
              <a:rPr lang="en-GB" sz="800" b="1" i="1" dirty="0">
                <a:solidFill>
                  <a:srgbClr val="0070C0"/>
                </a:solidFill>
                <a:latin typeface="Vodafone Rg"/>
              </a:rPr>
              <a:t>Moved  here automatically</a:t>
            </a:r>
          </a:p>
        </p:txBody>
      </p:sp>
      <p:sp>
        <p:nvSpPr>
          <p:cNvPr id="73" name="Arrow: Down 72">
            <a:extLst>
              <a:ext uri="{FF2B5EF4-FFF2-40B4-BE49-F238E27FC236}">
                <a16:creationId xmlns:a16="http://schemas.microsoft.com/office/drawing/2014/main" id="{1837F230-6469-5B6A-4B36-76E4BD9F6DB1}"/>
              </a:ext>
            </a:extLst>
          </p:cNvPr>
          <p:cNvSpPr/>
          <p:nvPr/>
        </p:nvSpPr>
        <p:spPr>
          <a:xfrm>
            <a:off x="3317775" y="2216298"/>
            <a:ext cx="108000" cy="1579926"/>
          </a:xfrm>
          <a:prstGeom prst="downArrow">
            <a:avLst/>
          </a:prstGeom>
          <a:solidFill>
            <a:schemeClr val="bg1">
              <a:lumMod val="75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6000" tIns="36000" rIns="36000" bIns="36000" numCol="1" spcCol="127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444478">
              <a:lnSpc>
                <a:spcPct val="90000"/>
              </a:lnSpc>
              <a:spcBef>
                <a:spcPct val="0"/>
              </a:spcBef>
              <a:spcAft>
                <a:spcPct val="35000"/>
              </a:spcAft>
              <a:defRPr/>
            </a:pPr>
            <a:endParaRPr lang="en-GB" sz="1000">
              <a:solidFill>
                <a:srgbClr val="34342B"/>
              </a:solidFill>
              <a:latin typeface="Vodafone Rg" pitchFamily="34" charset="0"/>
            </a:endParaRPr>
          </a:p>
        </p:txBody>
      </p:sp>
      <p:grpSp>
        <p:nvGrpSpPr>
          <p:cNvPr id="34" name="Group 33">
            <a:extLst>
              <a:ext uri="{FF2B5EF4-FFF2-40B4-BE49-F238E27FC236}">
                <a16:creationId xmlns:a16="http://schemas.microsoft.com/office/drawing/2014/main" id="{3937E55B-C07A-F236-BC28-56056767BDCC}"/>
              </a:ext>
            </a:extLst>
          </p:cNvPr>
          <p:cNvGrpSpPr/>
          <p:nvPr/>
        </p:nvGrpSpPr>
        <p:grpSpPr>
          <a:xfrm>
            <a:off x="2865152" y="2361398"/>
            <a:ext cx="384189" cy="1210533"/>
            <a:chOff x="2629594" y="2481394"/>
            <a:chExt cx="512006" cy="1090537"/>
          </a:xfrm>
        </p:grpSpPr>
        <p:grpSp>
          <p:nvGrpSpPr>
            <p:cNvPr id="30" name="Group 29">
              <a:extLst>
                <a:ext uri="{FF2B5EF4-FFF2-40B4-BE49-F238E27FC236}">
                  <a16:creationId xmlns:a16="http://schemas.microsoft.com/office/drawing/2014/main" id="{C52DE1D9-301A-89F9-48F3-B0667F98230D}"/>
                </a:ext>
              </a:extLst>
            </p:cNvPr>
            <p:cNvGrpSpPr/>
            <p:nvPr/>
          </p:nvGrpSpPr>
          <p:grpSpPr>
            <a:xfrm>
              <a:off x="2629594" y="2481394"/>
              <a:ext cx="215944" cy="1090537"/>
              <a:chOff x="2629594" y="2481394"/>
              <a:chExt cx="215944" cy="1090537"/>
            </a:xfrm>
          </p:grpSpPr>
          <p:cxnSp>
            <p:nvCxnSpPr>
              <p:cNvPr id="15" name="Straight Connector 14">
                <a:extLst>
                  <a:ext uri="{FF2B5EF4-FFF2-40B4-BE49-F238E27FC236}">
                    <a16:creationId xmlns:a16="http://schemas.microsoft.com/office/drawing/2014/main" id="{08DF0513-1E44-7AEA-550A-D74BFB601EC4}"/>
                  </a:ext>
                </a:extLst>
              </p:cNvPr>
              <p:cNvCxnSpPr>
                <a:cxnSpLocks/>
              </p:cNvCxnSpPr>
              <p:nvPr/>
            </p:nvCxnSpPr>
            <p:spPr>
              <a:xfrm>
                <a:off x="2629594" y="3562339"/>
                <a:ext cx="209859" cy="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B3B8E5B-2F58-12FC-05AC-2E85B7FA69D3}"/>
                  </a:ext>
                </a:extLst>
              </p:cNvPr>
              <p:cNvCxnSpPr>
                <a:cxnSpLocks/>
              </p:cNvCxnSpPr>
              <p:nvPr/>
            </p:nvCxnSpPr>
            <p:spPr>
              <a:xfrm flipV="1">
                <a:off x="2842208" y="2481394"/>
                <a:ext cx="3330" cy="1090537"/>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grpSp>
        <p:cxnSp>
          <p:nvCxnSpPr>
            <p:cNvPr id="33" name="Straight Arrow Connector 32">
              <a:extLst>
                <a:ext uri="{FF2B5EF4-FFF2-40B4-BE49-F238E27FC236}">
                  <a16:creationId xmlns:a16="http://schemas.microsoft.com/office/drawing/2014/main" id="{2E5AE154-1BE9-F91E-2ABF-46E5E4020F7D}"/>
                </a:ext>
              </a:extLst>
            </p:cNvPr>
            <p:cNvCxnSpPr/>
            <p:nvPr/>
          </p:nvCxnSpPr>
          <p:spPr>
            <a:xfrm>
              <a:off x="2839453" y="2481394"/>
              <a:ext cx="302147" cy="0"/>
            </a:xfrm>
            <a:prstGeom prst="straightConnector1">
              <a:avLst/>
            </a:prstGeom>
            <a:ln>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C7D4168B-131D-4DEB-AFFB-A83FDDA439E1}"/>
              </a:ext>
            </a:extLst>
          </p:cNvPr>
          <p:cNvGrpSpPr/>
          <p:nvPr/>
        </p:nvGrpSpPr>
        <p:grpSpPr>
          <a:xfrm>
            <a:off x="5541899" y="2425447"/>
            <a:ext cx="338561" cy="1210533"/>
            <a:chOff x="2629594" y="2481394"/>
            <a:chExt cx="512006" cy="1090537"/>
          </a:xfrm>
        </p:grpSpPr>
        <p:grpSp>
          <p:nvGrpSpPr>
            <p:cNvPr id="40" name="Group 39">
              <a:extLst>
                <a:ext uri="{FF2B5EF4-FFF2-40B4-BE49-F238E27FC236}">
                  <a16:creationId xmlns:a16="http://schemas.microsoft.com/office/drawing/2014/main" id="{21433896-6343-E6A3-AD48-FADCE39CA11C}"/>
                </a:ext>
              </a:extLst>
            </p:cNvPr>
            <p:cNvGrpSpPr/>
            <p:nvPr/>
          </p:nvGrpSpPr>
          <p:grpSpPr>
            <a:xfrm>
              <a:off x="2629594" y="2481394"/>
              <a:ext cx="215944" cy="1090537"/>
              <a:chOff x="2629594" y="2481394"/>
              <a:chExt cx="215944" cy="1090537"/>
            </a:xfrm>
          </p:grpSpPr>
          <p:cxnSp>
            <p:nvCxnSpPr>
              <p:cNvPr id="42" name="Straight Connector 41">
                <a:extLst>
                  <a:ext uri="{FF2B5EF4-FFF2-40B4-BE49-F238E27FC236}">
                    <a16:creationId xmlns:a16="http://schemas.microsoft.com/office/drawing/2014/main" id="{D3CD2DD1-5B44-D975-5352-2CD1B06E38F5}"/>
                  </a:ext>
                </a:extLst>
              </p:cNvPr>
              <p:cNvCxnSpPr>
                <a:cxnSpLocks/>
              </p:cNvCxnSpPr>
              <p:nvPr/>
            </p:nvCxnSpPr>
            <p:spPr>
              <a:xfrm>
                <a:off x="2629594" y="3562339"/>
                <a:ext cx="209859" cy="0"/>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8614239-98AE-5B22-1B8C-4CA46FB1D2B2}"/>
                  </a:ext>
                </a:extLst>
              </p:cNvPr>
              <p:cNvCxnSpPr>
                <a:cxnSpLocks/>
              </p:cNvCxnSpPr>
              <p:nvPr/>
            </p:nvCxnSpPr>
            <p:spPr>
              <a:xfrm flipV="1">
                <a:off x="2842208" y="2481394"/>
                <a:ext cx="3330" cy="1090537"/>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grpSp>
        <p:cxnSp>
          <p:nvCxnSpPr>
            <p:cNvPr id="41" name="Straight Arrow Connector 40">
              <a:extLst>
                <a:ext uri="{FF2B5EF4-FFF2-40B4-BE49-F238E27FC236}">
                  <a16:creationId xmlns:a16="http://schemas.microsoft.com/office/drawing/2014/main" id="{14AA6237-2878-AAE0-95DB-999B99F09CD8}"/>
                </a:ext>
              </a:extLst>
            </p:cNvPr>
            <p:cNvCxnSpPr/>
            <p:nvPr/>
          </p:nvCxnSpPr>
          <p:spPr>
            <a:xfrm>
              <a:off x="2839453" y="2481394"/>
              <a:ext cx="302147" cy="0"/>
            </a:xfrm>
            <a:prstGeom prst="straightConnector1">
              <a:avLst/>
            </a:prstGeom>
            <a:ln>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37143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19">
            <a:extLst>
              <a:ext uri="{FF2B5EF4-FFF2-40B4-BE49-F238E27FC236}">
                <a16:creationId xmlns:a16="http://schemas.microsoft.com/office/drawing/2014/main" id="{598311EE-ED28-F27E-99AA-17D56376152F}"/>
              </a:ext>
            </a:extLst>
          </p:cNvPr>
          <p:cNvSpPr>
            <a:spLocks noGrp="1"/>
          </p:cNvSpPr>
          <p:nvPr>
            <p:ph sz="quarter" idx="13"/>
          </p:nvPr>
        </p:nvSpPr>
        <p:spPr/>
        <p:txBody>
          <a:bodyPr/>
          <a:lstStyle/>
          <a:p>
            <a:pPr marL="0" lvl="0" indent="0">
              <a:buNone/>
            </a:pPr>
            <a:r>
              <a:rPr lang="en-GB" sz="1400" b="1" dirty="0">
                <a:effectLst/>
                <a:latin typeface="+mn-lt"/>
                <a:ea typeface="Times New Roman" panose="02020603050405020304" pitchFamily="18" charset="0"/>
              </a:rPr>
              <a:t>Within the </a:t>
            </a:r>
            <a:r>
              <a:rPr lang="en-GB" sz="1400" b="1" dirty="0">
                <a:effectLst/>
                <a:latin typeface="+mn-lt"/>
                <a:ea typeface="Times New Roman" panose="02020603050405020304" pitchFamily="18" charset="0"/>
                <a:hlinkClick r:id="rId2"/>
              </a:rPr>
              <a:t>P2D ADO Project</a:t>
            </a:r>
            <a:r>
              <a:rPr lang="en-GB" sz="1400" b="1" dirty="0">
                <a:effectLst/>
                <a:latin typeface="+mn-lt"/>
                <a:ea typeface="Times New Roman" panose="02020603050405020304" pitchFamily="18" charset="0"/>
              </a:rPr>
              <a:t>:</a:t>
            </a:r>
          </a:p>
          <a:p>
            <a:pPr marL="342900" lvl="0" indent="-342900">
              <a:spcAft>
                <a:spcPts val="0"/>
              </a:spcAft>
              <a:buFont typeface="+mj-lt"/>
              <a:buAutoNum type="arabicPeriod"/>
            </a:pPr>
            <a:r>
              <a:rPr lang="en-GB" sz="1200" dirty="0">
                <a:effectLst/>
                <a:latin typeface="+mn-lt"/>
                <a:ea typeface="Times New Roman" panose="02020603050405020304" pitchFamily="18" charset="0"/>
              </a:rPr>
              <a:t>In the early stages of the project, t</a:t>
            </a:r>
            <a:r>
              <a:rPr lang="en-GB" sz="1200" dirty="0">
                <a:latin typeface="+mn-lt"/>
                <a:ea typeface="Times New Roman" panose="02020603050405020304" pitchFamily="18" charset="0"/>
              </a:rPr>
              <a:t>he </a:t>
            </a:r>
            <a:r>
              <a:rPr lang="en-GB" sz="1200" dirty="0">
                <a:effectLst/>
                <a:latin typeface="+mn-lt"/>
                <a:ea typeface="Times New Roman" panose="02020603050405020304" pitchFamily="18" charset="0"/>
              </a:rPr>
              <a:t>Portfolio Planning teams create an Epic to plan the investment and capacity.</a:t>
            </a:r>
            <a:endParaRPr lang="en-GB" sz="1200" dirty="0">
              <a:effectLst/>
              <a:latin typeface="+mn-lt"/>
              <a:ea typeface="Calibri" panose="020F0502020204030204" pitchFamily="34" charset="0"/>
            </a:endParaRPr>
          </a:p>
          <a:p>
            <a:pPr marL="495300" lvl="1" indent="-285750">
              <a:spcAft>
                <a:spcPts val="0"/>
              </a:spcAft>
            </a:pPr>
            <a:r>
              <a:rPr lang="en-GB" sz="1200" dirty="0">
                <a:effectLst/>
                <a:latin typeface="+mn-lt"/>
                <a:ea typeface="Times New Roman" panose="02020603050405020304" pitchFamily="18" charset="0"/>
              </a:rPr>
              <a:t>The Epic is where the allocated budget for the project and it’s forecast spend and actuals are tracked.</a:t>
            </a:r>
          </a:p>
          <a:p>
            <a:pPr marL="495300" lvl="1" indent="-285750"/>
            <a:r>
              <a:rPr lang="en-GB" sz="1200" dirty="0">
                <a:latin typeface="+mn-lt"/>
                <a:ea typeface="Calibri" panose="020F0502020204030204" pitchFamily="34" charset="0"/>
              </a:rPr>
              <a:t>If you cannot find your Epic or if there are multiple for your project, ask the PMO for support, do not create your own</a:t>
            </a:r>
            <a:endParaRPr lang="en-GB" sz="1200" dirty="0">
              <a:effectLst/>
              <a:latin typeface="+mn-lt"/>
              <a:ea typeface="Calibri" panose="020F0502020204030204" pitchFamily="34" charset="0"/>
            </a:endParaRPr>
          </a:p>
          <a:p>
            <a:pPr marL="342900" lvl="0" indent="-342900">
              <a:spcAft>
                <a:spcPts val="0"/>
              </a:spcAft>
              <a:buFont typeface="+mj-lt"/>
              <a:buAutoNum type="arabicPeriod"/>
            </a:pPr>
            <a:r>
              <a:rPr lang="en-GB" sz="1200" dirty="0">
                <a:effectLst/>
                <a:latin typeface="+mn-lt"/>
                <a:ea typeface="Times New Roman" panose="02020603050405020304" pitchFamily="18" charset="0"/>
              </a:rPr>
              <a:t>Features are then created as a children of the Epic</a:t>
            </a:r>
          </a:p>
          <a:p>
            <a:pPr marL="495300" lvl="1" indent="-285750">
              <a:spcAft>
                <a:spcPts val="0"/>
              </a:spcAft>
            </a:pPr>
            <a:r>
              <a:rPr lang="en-GB" sz="1200" dirty="0">
                <a:effectLst/>
                <a:latin typeface="+mn-lt"/>
                <a:ea typeface="Times New Roman" panose="02020603050405020304" pitchFamily="18" charset="0"/>
              </a:rPr>
              <a:t>The Feature is where BAs do their analysis, capture acceptance criteria, work on the </a:t>
            </a:r>
            <a:r>
              <a:rPr lang="en-GB" sz="1200" dirty="0">
                <a:latin typeface="+mn-lt"/>
                <a:ea typeface="Times New Roman" panose="02020603050405020304" pitchFamily="18" charset="0"/>
              </a:rPr>
              <a:t>E2E </a:t>
            </a:r>
            <a:r>
              <a:rPr lang="en-GB" sz="1200" dirty="0">
                <a:effectLst/>
                <a:latin typeface="+mn-lt"/>
                <a:ea typeface="Times New Roman" panose="02020603050405020304" pitchFamily="18" charset="0"/>
              </a:rPr>
              <a:t>HLD etc.</a:t>
            </a:r>
          </a:p>
          <a:p>
            <a:pPr marL="495300" lvl="1" indent="-285750"/>
            <a:r>
              <a:rPr lang="en-GB" sz="1200" dirty="0">
                <a:latin typeface="+mn-lt"/>
                <a:ea typeface="Calibri" panose="020F0502020204030204" pitchFamily="34" charset="0"/>
              </a:rPr>
              <a:t>Without a parent Epic in P2D, Release Management will not have the data needed to manage and commit your Feature</a:t>
            </a:r>
            <a:endParaRPr lang="en-GB" sz="1200" dirty="0">
              <a:effectLst/>
              <a:latin typeface="+mn-lt"/>
              <a:ea typeface="Calibri" panose="020F0502020204030204" pitchFamily="34" charset="0"/>
            </a:endParaRPr>
          </a:p>
          <a:p>
            <a:pPr marL="342900" lvl="0" indent="-342900">
              <a:buFont typeface="+mj-lt"/>
              <a:buAutoNum type="arabicPeriod"/>
            </a:pPr>
            <a:r>
              <a:rPr lang="en-GB" sz="1200" dirty="0">
                <a:effectLst/>
                <a:latin typeface="+mn-lt"/>
                <a:ea typeface="Times New Roman" panose="02020603050405020304" pitchFamily="18" charset="0"/>
              </a:rPr>
              <a:t>Once the target release is defined, this Feature is then moved to the Release Management ADO.</a:t>
            </a:r>
            <a:endParaRPr lang="en-GB" sz="1200" dirty="0">
              <a:effectLst/>
              <a:latin typeface="+mn-lt"/>
              <a:ea typeface="Calibri" panose="020F0502020204030204" pitchFamily="34" charset="0"/>
            </a:endParaRPr>
          </a:p>
          <a:p>
            <a:pPr marL="0" indent="0">
              <a:spcBef>
                <a:spcPts val="1200"/>
              </a:spcBef>
              <a:buNone/>
            </a:pPr>
            <a:r>
              <a:rPr lang="en-GB" sz="1400" b="1" dirty="0">
                <a:effectLst/>
                <a:latin typeface="+mn-lt"/>
                <a:ea typeface="Times New Roman" panose="02020603050405020304" pitchFamily="18" charset="0"/>
              </a:rPr>
              <a:t>Within the </a:t>
            </a:r>
            <a:r>
              <a:rPr lang="en-GB" sz="1400" b="1" dirty="0">
                <a:effectLst/>
                <a:latin typeface="+mn-lt"/>
                <a:ea typeface="Times New Roman" panose="02020603050405020304" pitchFamily="18" charset="0"/>
                <a:hlinkClick r:id="rId3"/>
              </a:rPr>
              <a:t>Release Management ADO Project</a:t>
            </a:r>
            <a:r>
              <a:rPr lang="en-GB" sz="1400" b="1" dirty="0">
                <a:effectLst/>
                <a:latin typeface="+mn-lt"/>
                <a:ea typeface="Times New Roman" panose="02020603050405020304" pitchFamily="18" charset="0"/>
              </a:rPr>
              <a:t>:</a:t>
            </a:r>
          </a:p>
          <a:p>
            <a:pPr marL="342900" lvl="0" indent="-342900">
              <a:spcAft>
                <a:spcPts val="0"/>
              </a:spcAft>
              <a:buFont typeface="+mj-lt"/>
              <a:buAutoNum type="arabicPeriod"/>
            </a:pPr>
            <a:r>
              <a:rPr lang="en-GB" sz="1200" dirty="0">
                <a:effectLst/>
                <a:latin typeface="+mn-lt"/>
                <a:ea typeface="Times New Roman" panose="02020603050405020304" pitchFamily="18" charset="0"/>
              </a:rPr>
              <a:t>Building on </a:t>
            </a:r>
            <a:r>
              <a:rPr lang="en-GB" sz="1200" dirty="0">
                <a:latin typeface="+mn-lt"/>
                <a:ea typeface="Times New Roman" panose="02020603050405020304" pitchFamily="18" charset="0"/>
              </a:rPr>
              <a:t>the p</a:t>
            </a:r>
            <a:r>
              <a:rPr lang="en-GB" sz="1200" dirty="0">
                <a:effectLst/>
                <a:latin typeface="+mn-lt"/>
                <a:ea typeface="Times New Roman" panose="02020603050405020304" pitchFamily="18" charset="0"/>
              </a:rPr>
              <a:t>revious point, once in the RM ADO, review your Feature, especially it’s State and the E2E HLD fields</a:t>
            </a:r>
          </a:p>
          <a:p>
            <a:pPr marL="552450" lvl="1" indent="-342900"/>
            <a:r>
              <a:rPr lang="en-GB" sz="1200" dirty="0">
                <a:latin typeface="+mn-lt"/>
                <a:ea typeface="Calibri" panose="020F0502020204030204" pitchFamily="34" charset="0"/>
              </a:rPr>
              <a:t>Set the Feature’s Target Release to the Release that you expect to deploy all your deliverables</a:t>
            </a:r>
          </a:p>
          <a:p>
            <a:pPr marL="342900" lvl="0" indent="-342900">
              <a:buFont typeface="+mj-lt"/>
              <a:buAutoNum type="arabicPeriod"/>
            </a:pPr>
            <a:r>
              <a:rPr lang="en-GB" sz="1200" dirty="0">
                <a:effectLst/>
                <a:latin typeface="+mn-lt"/>
                <a:ea typeface="Times New Roman" panose="02020603050405020304" pitchFamily="18" charset="0"/>
              </a:rPr>
              <a:t>Create child </a:t>
            </a:r>
            <a:r>
              <a:rPr lang="en-GB" sz="1200" b="1" dirty="0">
                <a:effectLst/>
                <a:latin typeface="+mn-lt"/>
                <a:ea typeface="Times New Roman" panose="02020603050405020304" pitchFamily="18" charset="0"/>
              </a:rPr>
              <a:t>Delivery</a:t>
            </a:r>
            <a:r>
              <a:rPr lang="en-GB" sz="1200" dirty="0">
                <a:effectLst/>
                <a:latin typeface="+mn-lt"/>
                <a:ea typeface="Times New Roman" panose="02020603050405020304" pitchFamily="18" charset="0"/>
              </a:rPr>
              <a:t> work ite</a:t>
            </a:r>
            <a:r>
              <a:rPr lang="en-GB" sz="1200" dirty="0">
                <a:latin typeface="+mn-lt"/>
                <a:ea typeface="Times New Roman" panose="02020603050405020304" pitchFamily="18" charset="0"/>
              </a:rPr>
              <a:t>ms, one for each release required for your Feature</a:t>
            </a:r>
          </a:p>
          <a:p>
            <a:pPr marL="342900" lvl="0" indent="-342900">
              <a:buFont typeface="+mj-lt"/>
              <a:buAutoNum type="arabicPeriod"/>
            </a:pPr>
            <a:r>
              <a:rPr lang="en-GB" sz="1200" dirty="0">
                <a:latin typeface="+mn-lt"/>
              </a:rPr>
              <a:t>For each </a:t>
            </a:r>
            <a:r>
              <a:rPr lang="en-GB" sz="1200" b="1" dirty="0">
                <a:latin typeface="+mn-lt"/>
              </a:rPr>
              <a:t>Delivery</a:t>
            </a:r>
            <a:r>
              <a:rPr lang="en-GB" sz="1200" dirty="0">
                <a:latin typeface="+mn-lt"/>
              </a:rPr>
              <a:t>, complete all key fields, especially the State, Description, Target Release and Consumption Plan</a:t>
            </a:r>
          </a:p>
          <a:p>
            <a:pPr marL="342900" lvl="0" indent="-342900">
              <a:buFont typeface="+mj-lt"/>
              <a:buAutoNum type="arabicPeriod"/>
            </a:pPr>
            <a:r>
              <a:rPr lang="en-GB" sz="1200" dirty="0">
                <a:effectLst/>
                <a:latin typeface="+mn-lt"/>
                <a:ea typeface="Times New Roman" panose="02020603050405020304" pitchFamily="18" charset="0"/>
              </a:rPr>
              <a:t>Now create child </a:t>
            </a:r>
            <a:r>
              <a:rPr lang="en-GB" sz="1200" b="1" dirty="0">
                <a:effectLst/>
                <a:latin typeface="+mn-lt"/>
                <a:ea typeface="Times New Roman" panose="02020603050405020304" pitchFamily="18" charset="0"/>
              </a:rPr>
              <a:t>Function(s) </a:t>
            </a:r>
            <a:r>
              <a:rPr lang="en-GB" sz="1200" dirty="0">
                <a:effectLst/>
                <a:latin typeface="+mn-lt"/>
                <a:ea typeface="Times New Roman" panose="02020603050405020304" pitchFamily="18" charset="0"/>
              </a:rPr>
              <a:t>within your </a:t>
            </a:r>
            <a:r>
              <a:rPr lang="en-GB" sz="1200" b="1" dirty="0">
                <a:effectLst/>
                <a:latin typeface="+mn-lt"/>
                <a:ea typeface="Times New Roman" panose="02020603050405020304" pitchFamily="18" charset="0"/>
              </a:rPr>
              <a:t>Deliveries</a:t>
            </a:r>
            <a:r>
              <a:rPr lang="en-GB" sz="1200" dirty="0">
                <a:effectLst/>
                <a:latin typeface="+mn-lt"/>
                <a:ea typeface="Times New Roman" panose="02020603050405020304" pitchFamily="18" charset="0"/>
              </a:rPr>
              <a:t> to capture application impacts, work or support.</a:t>
            </a:r>
          </a:p>
          <a:p>
            <a:pPr marL="342900" lvl="0" indent="-342900">
              <a:spcAft>
                <a:spcPts val="0"/>
              </a:spcAft>
              <a:buFont typeface="+mj-lt"/>
              <a:buAutoNum type="arabicPeriod"/>
            </a:pPr>
            <a:r>
              <a:rPr lang="en-GB" sz="1200" dirty="0">
                <a:latin typeface="+mn-lt"/>
                <a:ea typeface="Calibri" panose="020F0502020204030204" pitchFamily="34" charset="0"/>
              </a:rPr>
              <a:t>Where the domain for that </a:t>
            </a:r>
            <a:r>
              <a:rPr lang="en-GB" sz="1200" b="1" dirty="0">
                <a:latin typeface="+mn-lt"/>
                <a:ea typeface="Calibri" panose="020F0502020204030204" pitchFamily="34" charset="0"/>
              </a:rPr>
              <a:t>Function</a:t>
            </a:r>
            <a:r>
              <a:rPr lang="en-GB" sz="1200" dirty="0">
                <a:latin typeface="+mn-lt"/>
                <a:ea typeface="Calibri" panose="020F0502020204030204" pitchFamily="34" charset="0"/>
              </a:rPr>
              <a:t> has adopted the </a:t>
            </a:r>
            <a:r>
              <a:rPr lang="en-GB" sz="1200" b="1" dirty="0">
                <a:latin typeface="+mn-lt"/>
                <a:ea typeface="Calibri" panose="020F0502020204030204" pitchFamily="34" charset="0"/>
              </a:rPr>
              <a:t>Function</a:t>
            </a:r>
            <a:r>
              <a:rPr lang="en-GB" sz="1200" dirty="0">
                <a:latin typeface="+mn-lt"/>
                <a:ea typeface="Calibri" panose="020F0502020204030204" pitchFamily="34" charset="0"/>
              </a:rPr>
              <a:t> work item, the </a:t>
            </a:r>
            <a:r>
              <a:rPr lang="en-GB" sz="1200" b="1" dirty="0">
                <a:latin typeface="+mn-lt"/>
                <a:ea typeface="Calibri" panose="020F0502020204030204" pitchFamily="34" charset="0"/>
              </a:rPr>
              <a:t>Function</a:t>
            </a:r>
            <a:r>
              <a:rPr lang="en-GB" sz="1200" dirty="0">
                <a:latin typeface="+mn-lt"/>
                <a:ea typeface="Calibri" panose="020F0502020204030204" pitchFamily="34" charset="0"/>
              </a:rPr>
              <a:t> will automatically move to their ADO Project</a:t>
            </a:r>
          </a:p>
          <a:p>
            <a:pPr marL="552450" lvl="1" indent="-342900"/>
            <a:r>
              <a:rPr lang="en-GB" sz="1200" dirty="0">
                <a:latin typeface="+mn-lt"/>
                <a:ea typeface="Calibri" panose="020F0502020204030204" pitchFamily="34" charset="0"/>
              </a:rPr>
              <a:t>The Domain now takes over the ownership of this work item</a:t>
            </a:r>
          </a:p>
          <a:p>
            <a:pPr marL="342900" lvl="0" indent="-342900">
              <a:spcAft>
                <a:spcPts val="0"/>
              </a:spcAft>
              <a:buFont typeface="+mj-lt"/>
              <a:buAutoNum type="arabicPeriod"/>
            </a:pPr>
            <a:r>
              <a:rPr lang="en-GB" sz="1200" dirty="0">
                <a:effectLst/>
                <a:latin typeface="+mn-lt"/>
                <a:ea typeface="Calibri" panose="020F0502020204030204" pitchFamily="34" charset="0"/>
              </a:rPr>
              <a:t>W</a:t>
            </a:r>
            <a:r>
              <a:rPr lang="en-GB" sz="1200" dirty="0">
                <a:latin typeface="+mn-lt"/>
                <a:ea typeface="Calibri" panose="020F0502020204030204" pitchFamily="34" charset="0"/>
              </a:rPr>
              <a:t>here the domain has not adopted the </a:t>
            </a:r>
            <a:r>
              <a:rPr lang="en-GB" sz="1200" b="1" dirty="0">
                <a:latin typeface="+mn-lt"/>
                <a:ea typeface="Calibri" panose="020F0502020204030204" pitchFamily="34" charset="0"/>
              </a:rPr>
              <a:t>Function</a:t>
            </a:r>
            <a:r>
              <a:rPr lang="en-GB" sz="1200" dirty="0">
                <a:latin typeface="+mn-lt"/>
                <a:ea typeface="Calibri" panose="020F0502020204030204" pitchFamily="34" charset="0"/>
              </a:rPr>
              <a:t>, it remains within the RM ADO Project</a:t>
            </a:r>
          </a:p>
          <a:p>
            <a:pPr marL="552450" lvl="1" indent="-342900"/>
            <a:r>
              <a:rPr lang="en-GB" sz="1200" dirty="0">
                <a:latin typeface="+mn-lt"/>
                <a:ea typeface="Calibri" panose="020F0502020204030204" pitchFamily="34" charset="0"/>
              </a:rPr>
              <a:t>Ownership remains with the TDM, who works with the domain to keep the data in-sync with the domain’s tracking system</a:t>
            </a:r>
          </a:p>
          <a:p>
            <a:pPr marL="552450" lvl="1" indent="-342900"/>
            <a:endParaRPr lang="en-GB" dirty="0">
              <a:latin typeface="+mn-lt"/>
            </a:endParaRPr>
          </a:p>
        </p:txBody>
      </p:sp>
      <p:sp>
        <p:nvSpPr>
          <p:cNvPr id="2" name="Title 1">
            <a:extLst>
              <a:ext uri="{FF2B5EF4-FFF2-40B4-BE49-F238E27FC236}">
                <a16:creationId xmlns:a16="http://schemas.microsoft.com/office/drawing/2014/main" id="{5FFFDE1F-98D1-496D-87FF-B6037D35A5E3}"/>
              </a:ext>
            </a:extLst>
          </p:cNvPr>
          <p:cNvSpPr>
            <a:spLocks noGrp="1"/>
          </p:cNvSpPr>
          <p:nvPr>
            <p:ph type="title"/>
          </p:nvPr>
        </p:nvSpPr>
        <p:spPr/>
        <p:txBody>
          <a:bodyPr/>
          <a:lstStyle/>
          <a:p>
            <a:r>
              <a:rPr lang="en-GB" dirty="0"/>
              <a:t>High level journey - Summary</a:t>
            </a:r>
          </a:p>
        </p:txBody>
      </p:sp>
    </p:spTree>
    <p:extLst>
      <p:ext uri="{BB962C8B-B14F-4D97-AF65-F5344CB8AC3E}">
        <p14:creationId xmlns:p14="http://schemas.microsoft.com/office/powerpoint/2010/main" val="3714257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B6C5A4D8-8579-4FDA-A87E-26A76279A924}"/>
              </a:ext>
            </a:extLst>
          </p:cNvPr>
          <p:cNvSpPr/>
          <p:nvPr/>
        </p:nvSpPr>
        <p:spPr>
          <a:xfrm>
            <a:off x="194305" y="1318098"/>
            <a:ext cx="8642350" cy="3603625"/>
          </a:xfrm>
          <a:prstGeom prst="rect">
            <a:avLst/>
          </a:prstGeom>
          <a:noFill/>
        </p:spPr>
        <p:txBody>
          <a:bodyPr/>
          <a:lstStyle/>
          <a:p>
            <a:endParaRPr lang="en-GB"/>
          </a:p>
        </p:txBody>
      </p:sp>
      <p:sp>
        <p:nvSpPr>
          <p:cNvPr id="78" name="Freeform: Shape 77">
            <a:extLst>
              <a:ext uri="{FF2B5EF4-FFF2-40B4-BE49-F238E27FC236}">
                <a16:creationId xmlns:a16="http://schemas.microsoft.com/office/drawing/2014/main" id="{9E90771E-5A22-48B2-B257-B14DACDAE78D}"/>
              </a:ext>
            </a:extLst>
          </p:cNvPr>
          <p:cNvSpPr/>
          <p:nvPr/>
        </p:nvSpPr>
        <p:spPr>
          <a:xfrm>
            <a:off x="2135734" y="1508679"/>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sp>
        <p:nvSpPr>
          <p:cNvPr id="4" name="Slide Number Placeholder 3">
            <a:extLst>
              <a:ext uri="{FF2B5EF4-FFF2-40B4-BE49-F238E27FC236}">
                <a16:creationId xmlns:a16="http://schemas.microsoft.com/office/drawing/2014/main" id="{C96DA59E-3B00-40A4-96AE-82AC15D86BD5}"/>
              </a:ext>
            </a:extLst>
          </p:cNvPr>
          <p:cNvSpPr>
            <a:spLocks noGrp="1"/>
          </p:cNvSpPr>
          <p:nvPr>
            <p:ph type="sldNum" sz="quarter" idx="15"/>
          </p:nvPr>
        </p:nvSpPr>
        <p:spPr/>
        <p:txBody>
          <a:bodyPr/>
          <a:lstStyle/>
          <a:p>
            <a:pPr defTabSz="914378"/>
            <a:fld id="{72A83A2B-3358-44F8-83A0-4598795D8FB5}" type="slidenum">
              <a:rPr lang="en-GB">
                <a:solidFill>
                  <a:srgbClr val="000000"/>
                </a:solidFill>
              </a:rPr>
              <a:pPr defTabSz="914378"/>
              <a:t>23</a:t>
            </a:fld>
            <a:endParaRPr lang="en-GB">
              <a:solidFill>
                <a:srgbClr val="000000"/>
              </a:solidFill>
            </a:endParaRPr>
          </a:p>
        </p:txBody>
      </p:sp>
      <p:sp>
        <p:nvSpPr>
          <p:cNvPr id="2" name="Title 1">
            <a:extLst>
              <a:ext uri="{FF2B5EF4-FFF2-40B4-BE49-F238E27FC236}">
                <a16:creationId xmlns:a16="http://schemas.microsoft.com/office/drawing/2014/main" id="{8DABFEE5-84BE-4829-83BE-E029F92370C6}"/>
              </a:ext>
            </a:extLst>
          </p:cNvPr>
          <p:cNvSpPr>
            <a:spLocks noGrp="1"/>
          </p:cNvSpPr>
          <p:nvPr>
            <p:ph type="title"/>
          </p:nvPr>
        </p:nvSpPr>
        <p:spPr/>
        <p:txBody>
          <a:bodyPr/>
          <a:lstStyle/>
          <a:p>
            <a:r>
              <a:rPr lang="en-GB" dirty="0"/>
              <a:t>Detailed workflow who does what #1</a:t>
            </a:r>
          </a:p>
        </p:txBody>
      </p:sp>
      <p:sp>
        <p:nvSpPr>
          <p:cNvPr id="16" name="TextBox 15">
            <a:extLst>
              <a:ext uri="{FF2B5EF4-FFF2-40B4-BE49-F238E27FC236}">
                <a16:creationId xmlns:a16="http://schemas.microsoft.com/office/drawing/2014/main" id="{92746F47-60CD-49F6-936B-24E1117A73FE}"/>
              </a:ext>
            </a:extLst>
          </p:cNvPr>
          <p:cNvSpPr txBox="1"/>
          <p:nvPr/>
        </p:nvSpPr>
        <p:spPr>
          <a:xfrm>
            <a:off x="7248760" y="36349"/>
            <a:ext cx="1815752" cy="337886"/>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chor="ctr">
            <a:noAutofit/>
          </a:bodyPr>
          <a:lstStyle/>
          <a:p>
            <a:pPr algn="ctr" defTabSz="685800"/>
            <a:r>
              <a:rPr lang="en-GB" sz="900">
                <a:solidFill>
                  <a:srgbClr val="000000"/>
                </a:solidFill>
                <a:latin typeface="Vodafone Rg" pitchFamily="34" charset="0"/>
              </a:rPr>
              <a:t>The order of the steps is indicative and may vary depending on the project</a:t>
            </a:r>
          </a:p>
        </p:txBody>
      </p:sp>
      <p:sp>
        <p:nvSpPr>
          <p:cNvPr id="159" name="TextBox 158">
            <a:extLst>
              <a:ext uri="{FF2B5EF4-FFF2-40B4-BE49-F238E27FC236}">
                <a16:creationId xmlns:a16="http://schemas.microsoft.com/office/drawing/2014/main" id="{C092075E-4F43-F9ED-4A84-FC0685C01F51}"/>
              </a:ext>
            </a:extLst>
          </p:cNvPr>
          <p:cNvSpPr txBox="1"/>
          <p:nvPr/>
        </p:nvSpPr>
        <p:spPr>
          <a:xfrm>
            <a:off x="250826" y="762394"/>
            <a:ext cx="8642349" cy="309172"/>
          </a:xfrm>
          <a:prstGeom prst="rect">
            <a:avLst/>
          </a:prstGeom>
          <a:solidFill>
            <a:schemeClr val="bg2">
              <a:lumMod val="20000"/>
              <a:lumOff val="80000"/>
            </a:schemeClr>
          </a:solidFill>
        </p:spPr>
        <p:txBody>
          <a:bodyPr wrap="square" lIns="54000" tIns="27000" rIns="54000" bIns="54000" rtlCol="0">
            <a:noAutofit/>
          </a:bodyPr>
          <a:lstStyle/>
          <a:p>
            <a:pPr defTabSz="685800"/>
            <a:r>
              <a:rPr lang="en-GB" sz="1200" dirty="0">
                <a:solidFill>
                  <a:srgbClr val="000000"/>
                </a:solidFill>
                <a:latin typeface="Vodafone Rg" pitchFamily="34" charset="0"/>
              </a:rPr>
              <a:t>A more detailed workflow of the Epic, Feature and Function, along with their typical roles</a:t>
            </a:r>
          </a:p>
          <a:p>
            <a:pPr defTabSz="685800"/>
            <a:endParaRPr lang="en-GB" sz="1200" i="1" dirty="0">
              <a:solidFill>
                <a:srgbClr val="FF0000"/>
              </a:solidFill>
              <a:latin typeface="Vodafone Rg" pitchFamily="34" charset="0"/>
            </a:endParaRPr>
          </a:p>
        </p:txBody>
      </p:sp>
      <p:grpSp>
        <p:nvGrpSpPr>
          <p:cNvPr id="90" name="Group 89">
            <a:extLst>
              <a:ext uri="{FF2B5EF4-FFF2-40B4-BE49-F238E27FC236}">
                <a16:creationId xmlns:a16="http://schemas.microsoft.com/office/drawing/2014/main" id="{795FC684-D376-8839-90D2-D5E1A45DB1CE}"/>
              </a:ext>
            </a:extLst>
          </p:cNvPr>
          <p:cNvGrpSpPr/>
          <p:nvPr/>
        </p:nvGrpSpPr>
        <p:grpSpPr>
          <a:xfrm>
            <a:off x="281272" y="1117811"/>
            <a:ext cx="1854461" cy="1584000"/>
            <a:chOff x="281272" y="1121115"/>
            <a:chExt cx="1854461" cy="1584000"/>
          </a:xfrm>
        </p:grpSpPr>
        <p:sp>
          <p:nvSpPr>
            <p:cNvPr id="5" name="TextBox 4">
              <a:extLst>
                <a:ext uri="{FF2B5EF4-FFF2-40B4-BE49-F238E27FC236}">
                  <a16:creationId xmlns:a16="http://schemas.microsoft.com/office/drawing/2014/main" id="{7131E1F1-B526-49ED-8830-B48D912D3B4E}"/>
                </a:ext>
              </a:extLst>
            </p:cNvPr>
            <p:cNvSpPr txBox="1"/>
            <p:nvPr/>
          </p:nvSpPr>
          <p:spPr>
            <a:xfrm rot="16200000">
              <a:off x="0" y="1911304"/>
              <a:ext cx="696591" cy="134048"/>
            </a:xfrm>
            <a:prstGeom prst="rect">
              <a:avLst/>
            </a:prstGeom>
            <a:solidFill>
              <a:srgbClr val="00B050"/>
            </a:solidFill>
          </p:spPr>
          <p:txBody>
            <a:bodyPr wrap="square" lIns="0" tIns="0" rIns="0" bIns="0" rtlCol="0" anchor="ctr">
              <a:noAutofit/>
            </a:bodyPr>
            <a:lstStyle/>
            <a:p>
              <a:pPr algn="ctr" defTabSz="914378"/>
              <a:r>
                <a:rPr lang="en-GB" sz="900" b="1" dirty="0">
                  <a:solidFill>
                    <a:srgbClr val="FFFFFF"/>
                  </a:solidFill>
                  <a:latin typeface="Vodafone Rg" pitchFamily="34" charset="0"/>
                </a:rPr>
                <a:t>Start</a:t>
              </a:r>
            </a:p>
          </p:txBody>
        </p:sp>
        <p:grpSp>
          <p:nvGrpSpPr>
            <p:cNvPr id="52" name="Group 51">
              <a:extLst>
                <a:ext uri="{FF2B5EF4-FFF2-40B4-BE49-F238E27FC236}">
                  <a16:creationId xmlns:a16="http://schemas.microsoft.com/office/drawing/2014/main" id="{EFABD153-559D-F611-0724-893F260430B5}"/>
                </a:ext>
              </a:extLst>
            </p:cNvPr>
            <p:cNvGrpSpPr/>
            <p:nvPr/>
          </p:nvGrpSpPr>
          <p:grpSpPr>
            <a:xfrm>
              <a:off x="371733" y="1121115"/>
              <a:ext cx="1764000" cy="1584000"/>
              <a:chOff x="360000" y="1152000"/>
              <a:chExt cx="1764000" cy="1584000"/>
            </a:xfrm>
            <a:solidFill>
              <a:schemeClr val="accent1">
                <a:lumMod val="20000"/>
                <a:lumOff val="80000"/>
              </a:schemeClr>
            </a:solidFill>
          </p:grpSpPr>
          <p:sp>
            <p:nvSpPr>
              <p:cNvPr id="53" name="Freeform: Shape 52">
                <a:extLst>
                  <a:ext uri="{FF2B5EF4-FFF2-40B4-BE49-F238E27FC236}">
                    <a16:creationId xmlns:a16="http://schemas.microsoft.com/office/drawing/2014/main" id="{529EA63B-08A5-765A-23A5-E95163F75E29}"/>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54" name="Rectangle 53">
                <a:extLst>
                  <a:ext uri="{FF2B5EF4-FFF2-40B4-BE49-F238E27FC236}">
                    <a16:creationId xmlns:a16="http://schemas.microsoft.com/office/drawing/2014/main" id="{5B4DF8E3-7E7F-061C-7E13-402CAB3AEF9D}"/>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 </a:t>
                </a:r>
                <a:r>
                  <a:rPr lang="en-GB" sz="800" dirty="0">
                    <a:solidFill>
                      <a:srgbClr val="000000"/>
                    </a:solidFill>
                    <a:latin typeface="Vodafone Rg"/>
                  </a:rPr>
                  <a:t>In P2D (Plan to Deliver) ADO raise the Project </a:t>
                </a:r>
                <a:r>
                  <a:rPr lang="en-GB" sz="800" b="1" dirty="0">
                    <a:solidFill>
                      <a:srgbClr val="000000"/>
                    </a:solidFill>
                    <a:latin typeface="Vodafone Rg"/>
                  </a:rPr>
                  <a:t>Epic</a:t>
                </a:r>
              </a:p>
            </p:txBody>
          </p:sp>
          <p:sp>
            <p:nvSpPr>
              <p:cNvPr id="55" name="TextBox 54">
                <a:extLst>
                  <a:ext uri="{FF2B5EF4-FFF2-40B4-BE49-F238E27FC236}">
                    <a16:creationId xmlns:a16="http://schemas.microsoft.com/office/drawing/2014/main" id="{24B1549D-D240-E5C2-E244-72D5955B68FA}"/>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Product Owner/Business Owner</a:t>
                </a:r>
              </a:p>
              <a:p>
                <a:pPr defTabSz="914378"/>
                <a:r>
                  <a:rPr lang="en-GB" sz="800" dirty="0">
                    <a:solidFill>
                      <a:srgbClr val="000000"/>
                    </a:solidFill>
                    <a:latin typeface="Vodafone Rg"/>
                  </a:rPr>
                  <a:t>Group portfolio manager</a:t>
                </a:r>
              </a:p>
            </p:txBody>
          </p:sp>
          <p:sp>
            <p:nvSpPr>
              <p:cNvPr id="56" name="TextBox 55">
                <a:extLst>
                  <a:ext uri="{FF2B5EF4-FFF2-40B4-BE49-F238E27FC236}">
                    <a16:creationId xmlns:a16="http://schemas.microsoft.com/office/drawing/2014/main" id="{FB79C6FA-66F3-CF8A-3354-E49D56D7EEC9}"/>
                  </a:ext>
                </a:extLst>
              </p:cNvPr>
              <p:cNvSpPr txBox="1"/>
              <p:nvPr/>
            </p:nvSpPr>
            <p:spPr>
              <a:xfrm>
                <a:off x="360000" y="1152000"/>
                <a:ext cx="132385"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1</a:t>
                </a:r>
              </a:p>
            </p:txBody>
          </p:sp>
        </p:grpSp>
        <p:pic>
          <p:nvPicPr>
            <p:cNvPr id="38" name="Picture 37">
              <a:extLst>
                <a:ext uri="{FF2B5EF4-FFF2-40B4-BE49-F238E27FC236}">
                  <a16:creationId xmlns:a16="http://schemas.microsoft.com/office/drawing/2014/main" id="{05993A3A-32FF-A926-751B-4820C682A7D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513949" y="2523516"/>
              <a:ext cx="204000" cy="180000"/>
            </a:xfrm>
            <a:prstGeom prst="rect">
              <a:avLst/>
            </a:prstGeom>
          </p:spPr>
        </p:pic>
      </p:grpSp>
      <p:grpSp>
        <p:nvGrpSpPr>
          <p:cNvPr id="91" name="Group 90">
            <a:extLst>
              <a:ext uri="{FF2B5EF4-FFF2-40B4-BE49-F238E27FC236}">
                <a16:creationId xmlns:a16="http://schemas.microsoft.com/office/drawing/2014/main" id="{6783D719-6801-DF47-154F-E24EB715CAA8}"/>
              </a:ext>
            </a:extLst>
          </p:cNvPr>
          <p:cNvGrpSpPr/>
          <p:nvPr/>
        </p:nvGrpSpPr>
        <p:grpSpPr>
          <a:xfrm>
            <a:off x="2558566" y="1117811"/>
            <a:ext cx="1764000" cy="1584000"/>
            <a:chOff x="2457161" y="1117248"/>
            <a:chExt cx="1764000" cy="1584000"/>
          </a:xfrm>
        </p:grpSpPr>
        <p:grpSp>
          <p:nvGrpSpPr>
            <p:cNvPr id="57" name="Group 56">
              <a:extLst>
                <a:ext uri="{FF2B5EF4-FFF2-40B4-BE49-F238E27FC236}">
                  <a16:creationId xmlns:a16="http://schemas.microsoft.com/office/drawing/2014/main" id="{07CA93EB-261C-E8F5-9C26-CEAB53527783}"/>
                </a:ext>
              </a:extLst>
            </p:cNvPr>
            <p:cNvGrpSpPr/>
            <p:nvPr/>
          </p:nvGrpSpPr>
          <p:grpSpPr>
            <a:xfrm>
              <a:off x="2457161" y="1117248"/>
              <a:ext cx="1764000" cy="1584000"/>
              <a:chOff x="360000" y="1152000"/>
              <a:chExt cx="1764000" cy="1584000"/>
            </a:xfrm>
            <a:solidFill>
              <a:schemeClr val="accent1">
                <a:lumMod val="20000"/>
                <a:lumOff val="80000"/>
              </a:schemeClr>
            </a:solidFill>
          </p:grpSpPr>
          <p:sp>
            <p:nvSpPr>
              <p:cNvPr id="58" name="Freeform: Shape 57">
                <a:extLst>
                  <a:ext uri="{FF2B5EF4-FFF2-40B4-BE49-F238E27FC236}">
                    <a16:creationId xmlns:a16="http://schemas.microsoft.com/office/drawing/2014/main" id="{11428B4B-39A3-E38B-48F8-8C56A29C9838}"/>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59" name="Rectangle 58">
                <a:extLst>
                  <a:ext uri="{FF2B5EF4-FFF2-40B4-BE49-F238E27FC236}">
                    <a16:creationId xmlns:a16="http://schemas.microsoft.com/office/drawing/2014/main" id="{95C50389-7A22-3325-8CD8-BA53E67D2FF7}"/>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 </a:t>
                </a:r>
                <a:r>
                  <a:rPr lang="en-GB" sz="800" dirty="0">
                    <a:solidFill>
                      <a:srgbClr val="000000"/>
                    </a:solidFill>
                    <a:latin typeface="Vodafone Rg"/>
                  </a:rPr>
                  <a:t>In P2D, the Backlog is defined and groomed via child </a:t>
                </a:r>
                <a:r>
                  <a:rPr lang="en-GB" sz="800" b="1" dirty="0">
                    <a:solidFill>
                      <a:srgbClr val="000000"/>
                    </a:solidFill>
                    <a:latin typeface="Vodafone Rg"/>
                  </a:rPr>
                  <a:t>Features</a:t>
                </a:r>
                <a:endParaRPr lang="en-GB" sz="800" dirty="0">
                  <a:solidFill>
                    <a:srgbClr val="000000"/>
                  </a:solidFill>
                  <a:latin typeface="Vodafone Rg"/>
                </a:endParaRPr>
              </a:p>
            </p:txBody>
          </p:sp>
          <p:sp>
            <p:nvSpPr>
              <p:cNvPr id="60" name="TextBox 59">
                <a:extLst>
                  <a:ext uri="{FF2B5EF4-FFF2-40B4-BE49-F238E27FC236}">
                    <a16:creationId xmlns:a16="http://schemas.microsoft.com/office/drawing/2014/main" id="{55E967DB-9566-3572-95BF-F59AE375F447}"/>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Group Business Analyst/stakeholder</a:t>
                </a:r>
              </a:p>
              <a:p>
                <a:pPr defTabSz="914378"/>
                <a:r>
                  <a:rPr lang="en-GB" sz="800" dirty="0">
                    <a:solidFill>
                      <a:srgbClr val="000000"/>
                    </a:solidFill>
                    <a:latin typeface="Vodafone Rg"/>
                  </a:rPr>
                  <a:t>Product Owner/Business Owner</a:t>
                </a:r>
                <a:endParaRPr lang="en-GB" sz="1000" dirty="0">
                  <a:solidFill>
                    <a:srgbClr val="000000"/>
                  </a:solidFill>
                  <a:latin typeface="Vodafone Rg"/>
                </a:endParaRPr>
              </a:p>
            </p:txBody>
          </p:sp>
          <p:sp>
            <p:nvSpPr>
              <p:cNvPr id="61" name="TextBox 60">
                <a:extLst>
                  <a:ext uri="{FF2B5EF4-FFF2-40B4-BE49-F238E27FC236}">
                    <a16:creationId xmlns:a16="http://schemas.microsoft.com/office/drawing/2014/main" id="{7B6F9852-2383-056C-C03A-F9B2367D9EC5}"/>
                  </a:ext>
                </a:extLst>
              </p:cNvPr>
              <p:cNvSpPr txBox="1"/>
              <p:nvPr/>
            </p:nvSpPr>
            <p:spPr>
              <a:xfrm>
                <a:off x="360000" y="1152000"/>
                <a:ext cx="132385"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2</a:t>
                </a:r>
              </a:p>
            </p:txBody>
          </p:sp>
        </p:grpSp>
        <p:pic>
          <p:nvPicPr>
            <p:cNvPr id="65" name="Picture 64">
              <a:extLst>
                <a:ext uri="{FF2B5EF4-FFF2-40B4-BE49-F238E27FC236}">
                  <a16:creationId xmlns:a16="http://schemas.microsoft.com/office/drawing/2014/main" id="{0EACD3CC-067A-ED86-2D60-6B4DF014523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2601161" y="2516961"/>
              <a:ext cx="204000" cy="180000"/>
            </a:xfrm>
            <a:prstGeom prst="rect">
              <a:avLst/>
            </a:prstGeom>
          </p:spPr>
        </p:pic>
        <p:pic>
          <p:nvPicPr>
            <p:cNvPr id="66" name="Picture 65">
              <a:extLst>
                <a:ext uri="{FF2B5EF4-FFF2-40B4-BE49-F238E27FC236}">
                  <a16:creationId xmlns:a16="http://schemas.microsoft.com/office/drawing/2014/main" id="{9D75524E-3A0A-FC87-797A-8213074EE09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2808438" y="2525431"/>
              <a:ext cx="203777" cy="169613"/>
            </a:xfrm>
            <a:prstGeom prst="rect">
              <a:avLst/>
            </a:prstGeom>
          </p:spPr>
        </p:pic>
      </p:grpSp>
      <p:grpSp>
        <p:nvGrpSpPr>
          <p:cNvPr id="92" name="Group 91">
            <a:extLst>
              <a:ext uri="{FF2B5EF4-FFF2-40B4-BE49-F238E27FC236}">
                <a16:creationId xmlns:a16="http://schemas.microsoft.com/office/drawing/2014/main" id="{EA8EA026-563F-786D-643B-323B9F15F13A}"/>
              </a:ext>
            </a:extLst>
          </p:cNvPr>
          <p:cNvGrpSpPr/>
          <p:nvPr/>
        </p:nvGrpSpPr>
        <p:grpSpPr>
          <a:xfrm>
            <a:off x="4745399" y="1117811"/>
            <a:ext cx="1764000" cy="1584000"/>
            <a:chOff x="4559501" y="1095355"/>
            <a:chExt cx="1764000" cy="1584000"/>
          </a:xfrm>
        </p:grpSpPr>
        <p:grpSp>
          <p:nvGrpSpPr>
            <p:cNvPr id="46" name="Group 45">
              <a:extLst>
                <a:ext uri="{FF2B5EF4-FFF2-40B4-BE49-F238E27FC236}">
                  <a16:creationId xmlns:a16="http://schemas.microsoft.com/office/drawing/2014/main" id="{C71945AC-AFC6-D85C-B348-E80809063CAD}"/>
                </a:ext>
              </a:extLst>
            </p:cNvPr>
            <p:cNvGrpSpPr/>
            <p:nvPr/>
          </p:nvGrpSpPr>
          <p:grpSpPr>
            <a:xfrm>
              <a:off x="4559501" y="1095355"/>
              <a:ext cx="1764000" cy="1584000"/>
              <a:chOff x="360000" y="1152000"/>
              <a:chExt cx="1764000" cy="1584000"/>
            </a:xfrm>
            <a:solidFill>
              <a:schemeClr val="accent1">
                <a:lumMod val="20000"/>
                <a:lumOff val="80000"/>
              </a:schemeClr>
            </a:solidFill>
          </p:grpSpPr>
          <p:sp>
            <p:nvSpPr>
              <p:cNvPr id="48" name="Freeform: Shape 47">
                <a:extLst>
                  <a:ext uri="{FF2B5EF4-FFF2-40B4-BE49-F238E27FC236}">
                    <a16:creationId xmlns:a16="http://schemas.microsoft.com/office/drawing/2014/main" id="{AC16F746-6A1E-8DAB-E46C-3EC95F4A0790}"/>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grp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47" name="Rectangle 46">
                <a:extLst>
                  <a:ext uri="{FF2B5EF4-FFF2-40B4-BE49-F238E27FC236}">
                    <a16:creationId xmlns:a16="http://schemas.microsoft.com/office/drawing/2014/main" id="{43594668-2A86-9F26-8C3C-90424C349DC5}"/>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a:t>
                </a:r>
                <a:r>
                  <a:rPr lang="en-GB" sz="800" dirty="0">
                    <a:solidFill>
                      <a:srgbClr val="000000"/>
                    </a:solidFill>
                    <a:latin typeface="Vodafone Rg"/>
                  </a:rPr>
                  <a:t> In P2D, update the </a:t>
                </a:r>
                <a:r>
                  <a:rPr lang="en-GB" sz="800" b="1" dirty="0">
                    <a:solidFill>
                      <a:srgbClr val="000000"/>
                    </a:solidFill>
                    <a:latin typeface="Vodafone Rg"/>
                  </a:rPr>
                  <a:t>Feature</a:t>
                </a:r>
                <a:r>
                  <a:rPr lang="en-GB" sz="800" dirty="0">
                    <a:solidFill>
                      <a:srgbClr val="000000"/>
                    </a:solidFill>
                    <a:latin typeface="Vodafone Rg"/>
                  </a:rPr>
                  <a:t> Target release (Final Release). </a:t>
                </a:r>
              </a:p>
              <a:p>
                <a:pPr defTabSz="200025">
                  <a:lnSpc>
                    <a:spcPct val="90000"/>
                  </a:lnSpc>
                  <a:spcBef>
                    <a:spcPct val="0"/>
                  </a:spcBef>
                  <a:spcAft>
                    <a:spcPct val="35000"/>
                  </a:spcAft>
                </a:pPr>
                <a:r>
                  <a:rPr lang="en-GB" sz="800" dirty="0">
                    <a:solidFill>
                      <a:srgbClr val="000000"/>
                    </a:solidFill>
                    <a:latin typeface="Vodafone Rg"/>
                  </a:rPr>
                  <a:t>Then when the E2E HLD is in progress or close to that release’s kick-off, move the Feature to the Release Management (RM) ADO Project</a:t>
                </a:r>
              </a:p>
            </p:txBody>
          </p:sp>
          <p:sp>
            <p:nvSpPr>
              <p:cNvPr id="49" name="TextBox 48">
                <a:extLst>
                  <a:ext uri="{FF2B5EF4-FFF2-40B4-BE49-F238E27FC236}">
                    <a16:creationId xmlns:a16="http://schemas.microsoft.com/office/drawing/2014/main" id="{88872F99-FB42-0165-0B5F-D04C350B97A5}"/>
                  </a:ext>
                </a:extLst>
              </p:cNvPr>
              <p:cNvSpPr txBox="1"/>
              <p:nvPr/>
            </p:nvSpPr>
            <p:spPr>
              <a:xfrm>
                <a:off x="540000" y="2058525"/>
                <a:ext cx="1548000" cy="540000"/>
              </a:xfrm>
              <a:prstGeom prst="rect">
                <a:avLst/>
              </a:prstGeom>
              <a:grp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Technical Delivery Manager (TDM)</a:t>
                </a:r>
              </a:p>
            </p:txBody>
          </p:sp>
          <p:sp>
            <p:nvSpPr>
              <p:cNvPr id="51" name="TextBox 50">
                <a:extLst>
                  <a:ext uri="{FF2B5EF4-FFF2-40B4-BE49-F238E27FC236}">
                    <a16:creationId xmlns:a16="http://schemas.microsoft.com/office/drawing/2014/main" id="{D5E4D19F-E7D1-C8E6-EC89-2D24F50CCDCE}"/>
                  </a:ext>
                </a:extLst>
              </p:cNvPr>
              <p:cNvSpPr txBox="1"/>
              <p:nvPr/>
            </p:nvSpPr>
            <p:spPr>
              <a:xfrm>
                <a:off x="360000" y="1152000"/>
                <a:ext cx="132385"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3</a:t>
                </a:r>
              </a:p>
            </p:txBody>
          </p:sp>
        </p:grpSp>
        <p:pic>
          <p:nvPicPr>
            <p:cNvPr id="67" name="Picture 66">
              <a:extLst>
                <a:ext uri="{FF2B5EF4-FFF2-40B4-BE49-F238E27FC236}">
                  <a16:creationId xmlns:a16="http://schemas.microsoft.com/office/drawing/2014/main" id="{111964F5-4230-D5A8-92E5-08F4E0E3B21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4702632" y="2503632"/>
              <a:ext cx="203777" cy="169613"/>
            </a:xfrm>
            <a:prstGeom prst="rect">
              <a:avLst/>
            </a:prstGeom>
          </p:spPr>
        </p:pic>
      </p:grpSp>
      <p:grpSp>
        <p:nvGrpSpPr>
          <p:cNvPr id="93" name="Group 92">
            <a:extLst>
              <a:ext uri="{FF2B5EF4-FFF2-40B4-BE49-F238E27FC236}">
                <a16:creationId xmlns:a16="http://schemas.microsoft.com/office/drawing/2014/main" id="{B433ED54-D37E-6B67-CB22-50FF52593159}"/>
              </a:ext>
            </a:extLst>
          </p:cNvPr>
          <p:cNvGrpSpPr/>
          <p:nvPr/>
        </p:nvGrpSpPr>
        <p:grpSpPr>
          <a:xfrm>
            <a:off x="6932231" y="1117811"/>
            <a:ext cx="1764000" cy="1584000"/>
            <a:chOff x="7127919" y="1107414"/>
            <a:chExt cx="1764000" cy="1584000"/>
          </a:xfrm>
        </p:grpSpPr>
        <p:grpSp>
          <p:nvGrpSpPr>
            <p:cNvPr id="75" name="Group 74">
              <a:extLst>
                <a:ext uri="{FF2B5EF4-FFF2-40B4-BE49-F238E27FC236}">
                  <a16:creationId xmlns:a16="http://schemas.microsoft.com/office/drawing/2014/main" id="{308A0E90-4C28-EAF7-85E7-D3266EB50DB4}"/>
                </a:ext>
              </a:extLst>
            </p:cNvPr>
            <p:cNvGrpSpPr/>
            <p:nvPr/>
          </p:nvGrpSpPr>
          <p:grpSpPr>
            <a:xfrm>
              <a:off x="7127919" y="1107414"/>
              <a:ext cx="1764000" cy="1584000"/>
              <a:chOff x="360000" y="1152000"/>
              <a:chExt cx="1764000" cy="1584000"/>
            </a:xfrm>
            <a:solidFill>
              <a:schemeClr val="accent1">
                <a:lumMod val="20000"/>
                <a:lumOff val="80000"/>
              </a:schemeClr>
            </a:solidFill>
          </p:grpSpPr>
          <p:sp>
            <p:nvSpPr>
              <p:cNvPr id="76" name="Freeform: Shape 75">
                <a:extLst>
                  <a:ext uri="{FF2B5EF4-FFF2-40B4-BE49-F238E27FC236}">
                    <a16:creationId xmlns:a16="http://schemas.microsoft.com/office/drawing/2014/main" id="{38691D45-0DC2-4D57-E34C-32300D330DD1}"/>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solidFill>
                <a:schemeClr val="accent1">
                  <a:lumMod val="20000"/>
                  <a:lumOff val="80000"/>
                </a:schemeClr>
              </a:solid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800" dirty="0">
                  <a:solidFill>
                    <a:srgbClr val="000000"/>
                  </a:solidFill>
                  <a:latin typeface="Vodafone Rg"/>
                </a:endParaRPr>
              </a:p>
            </p:txBody>
          </p:sp>
          <p:sp>
            <p:nvSpPr>
              <p:cNvPr id="77" name="Rectangle 76">
                <a:extLst>
                  <a:ext uri="{FF2B5EF4-FFF2-40B4-BE49-F238E27FC236}">
                    <a16:creationId xmlns:a16="http://schemas.microsoft.com/office/drawing/2014/main" id="{4F994E2F-82AC-EA2F-C9B4-87DBBB4F3669}"/>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 </a:t>
                </a:r>
                <a:r>
                  <a:rPr lang="en-GB" sz="800" dirty="0">
                    <a:solidFill>
                      <a:srgbClr val="000000"/>
                    </a:solidFill>
                    <a:latin typeface="Vodafone Rg"/>
                  </a:rPr>
                  <a:t>In the RM ADO’s </a:t>
                </a:r>
                <a:r>
                  <a:rPr lang="en-GB" sz="800" b="1" dirty="0">
                    <a:solidFill>
                      <a:srgbClr val="000000"/>
                    </a:solidFill>
                    <a:latin typeface="Vodafone Rg"/>
                  </a:rPr>
                  <a:t>Feature, </a:t>
                </a:r>
                <a:r>
                  <a:rPr lang="en-GB" sz="800" dirty="0">
                    <a:solidFill>
                      <a:srgbClr val="000000"/>
                    </a:solidFill>
                    <a:latin typeface="Vodafone Rg"/>
                  </a:rPr>
                  <a:t>update the State, E2E HLD Fields &amp; Links to Design Documentation, and all other fields for which you have data</a:t>
                </a:r>
              </a:p>
            </p:txBody>
          </p:sp>
          <p:sp>
            <p:nvSpPr>
              <p:cNvPr id="82" name="TextBox 81">
                <a:extLst>
                  <a:ext uri="{FF2B5EF4-FFF2-40B4-BE49-F238E27FC236}">
                    <a16:creationId xmlns:a16="http://schemas.microsoft.com/office/drawing/2014/main" id="{D66BD663-1B94-1FF0-3794-6C6893BDEE21}"/>
                  </a:ext>
                </a:extLst>
              </p:cNvPr>
              <p:cNvSpPr txBox="1"/>
              <p:nvPr/>
            </p:nvSpPr>
            <p:spPr>
              <a:xfrm>
                <a:off x="540000" y="2058525"/>
                <a:ext cx="1548000" cy="540000"/>
              </a:xfrm>
              <a:prstGeom prst="rect">
                <a:avLst/>
              </a:prstGeom>
              <a:solidFill>
                <a:schemeClr val="accent1">
                  <a:lumMod val="20000"/>
                  <a:lumOff val="80000"/>
                </a:schemeClr>
              </a:solid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latin typeface="Vodafone Rg"/>
                  </a:rPr>
                  <a:t>TDM</a:t>
                </a:r>
              </a:p>
              <a:p>
                <a:pPr defTabSz="914378"/>
                <a:r>
                  <a:rPr lang="en-GB" sz="800" dirty="0">
                    <a:latin typeface="Vodafone Rg"/>
                  </a:rPr>
                  <a:t>Solution Architect</a:t>
                </a:r>
              </a:p>
              <a:p>
                <a:pPr defTabSz="914378"/>
                <a:endParaRPr lang="en-GB" sz="800" dirty="0">
                  <a:latin typeface="Vodafone Rg"/>
                </a:endParaRPr>
              </a:p>
            </p:txBody>
          </p:sp>
          <p:sp>
            <p:nvSpPr>
              <p:cNvPr id="84" name="TextBox 83">
                <a:extLst>
                  <a:ext uri="{FF2B5EF4-FFF2-40B4-BE49-F238E27FC236}">
                    <a16:creationId xmlns:a16="http://schemas.microsoft.com/office/drawing/2014/main" id="{D47775C3-8DE0-8365-D433-E515DC515F83}"/>
                  </a:ext>
                </a:extLst>
              </p:cNvPr>
              <p:cNvSpPr txBox="1"/>
              <p:nvPr/>
            </p:nvSpPr>
            <p:spPr>
              <a:xfrm>
                <a:off x="360000" y="1152000"/>
                <a:ext cx="132385"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4</a:t>
                </a:r>
                <a:endParaRPr lang="en-GB" sz="800" b="1" dirty="0">
                  <a:solidFill>
                    <a:srgbClr val="00B0CA"/>
                  </a:solidFill>
                  <a:latin typeface="Vodafone Rg" pitchFamily="34" charset="0"/>
                </a:endParaRPr>
              </a:p>
            </p:txBody>
          </p:sp>
        </p:grpSp>
        <p:pic>
          <p:nvPicPr>
            <p:cNvPr id="85" name="Picture 84">
              <a:extLst>
                <a:ext uri="{FF2B5EF4-FFF2-40B4-BE49-F238E27FC236}">
                  <a16:creationId xmlns:a16="http://schemas.microsoft.com/office/drawing/2014/main" id="{EDAB5E63-72D3-C135-7F76-463619F4B3A7}"/>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7277222" y="2520409"/>
              <a:ext cx="203777" cy="169613"/>
            </a:xfrm>
            <a:prstGeom prst="rect">
              <a:avLst/>
            </a:prstGeom>
          </p:spPr>
        </p:pic>
      </p:grpSp>
      <p:grpSp>
        <p:nvGrpSpPr>
          <p:cNvPr id="96" name="Group 95">
            <a:extLst>
              <a:ext uri="{FF2B5EF4-FFF2-40B4-BE49-F238E27FC236}">
                <a16:creationId xmlns:a16="http://schemas.microsoft.com/office/drawing/2014/main" id="{9BA6605D-F079-6EDE-5A2A-1C9F9A6066DA}"/>
              </a:ext>
            </a:extLst>
          </p:cNvPr>
          <p:cNvGrpSpPr/>
          <p:nvPr/>
        </p:nvGrpSpPr>
        <p:grpSpPr>
          <a:xfrm>
            <a:off x="371733" y="2959466"/>
            <a:ext cx="1764000" cy="1584000"/>
            <a:chOff x="4559501" y="1095355"/>
            <a:chExt cx="1764000" cy="1584000"/>
          </a:xfrm>
        </p:grpSpPr>
        <p:grpSp>
          <p:nvGrpSpPr>
            <p:cNvPr id="97" name="Group 96">
              <a:extLst>
                <a:ext uri="{FF2B5EF4-FFF2-40B4-BE49-F238E27FC236}">
                  <a16:creationId xmlns:a16="http://schemas.microsoft.com/office/drawing/2014/main" id="{527E5FA5-6A65-598F-6E73-17ED613C44CA}"/>
                </a:ext>
              </a:extLst>
            </p:cNvPr>
            <p:cNvGrpSpPr/>
            <p:nvPr/>
          </p:nvGrpSpPr>
          <p:grpSpPr>
            <a:xfrm>
              <a:off x="4559501" y="1095355"/>
              <a:ext cx="1764000" cy="1584000"/>
              <a:chOff x="360000" y="1152000"/>
              <a:chExt cx="1764000" cy="1584000"/>
            </a:xfrm>
            <a:solidFill>
              <a:schemeClr val="accent1">
                <a:lumMod val="20000"/>
                <a:lumOff val="80000"/>
              </a:schemeClr>
            </a:solidFill>
          </p:grpSpPr>
          <p:sp>
            <p:nvSpPr>
              <p:cNvPr id="99" name="Freeform: Shape 98">
                <a:extLst>
                  <a:ext uri="{FF2B5EF4-FFF2-40B4-BE49-F238E27FC236}">
                    <a16:creationId xmlns:a16="http://schemas.microsoft.com/office/drawing/2014/main" id="{E6F57A9E-A7F6-B978-93AF-A88EED32D9A1}"/>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grp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100" name="Rectangle 99">
                <a:extLst>
                  <a:ext uri="{FF2B5EF4-FFF2-40B4-BE49-F238E27FC236}">
                    <a16:creationId xmlns:a16="http://schemas.microsoft.com/office/drawing/2014/main" id="{67469EE1-ABBA-EDAA-8573-40B87365AA71}"/>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a:t>
                </a:r>
                <a:r>
                  <a:rPr lang="en-GB" sz="800" dirty="0">
                    <a:solidFill>
                      <a:srgbClr val="000000"/>
                    </a:solidFill>
                    <a:latin typeface="Vodafone Rg"/>
                  </a:rPr>
                  <a:t> Within the </a:t>
                </a:r>
                <a:r>
                  <a:rPr lang="en-GB" sz="800" b="1" dirty="0">
                    <a:solidFill>
                      <a:srgbClr val="000000"/>
                    </a:solidFill>
                    <a:latin typeface="Vodafone Rg"/>
                  </a:rPr>
                  <a:t>Feature</a:t>
                </a:r>
                <a:r>
                  <a:rPr lang="en-GB" sz="800" dirty="0">
                    <a:solidFill>
                      <a:srgbClr val="000000"/>
                    </a:solidFill>
                    <a:latin typeface="Vodafone Rg"/>
                  </a:rPr>
                  <a:t>, create child </a:t>
                </a:r>
                <a:r>
                  <a:rPr lang="en-GB" sz="800" b="1" dirty="0">
                    <a:solidFill>
                      <a:srgbClr val="000000"/>
                    </a:solidFill>
                    <a:latin typeface="Vodafone Rg"/>
                  </a:rPr>
                  <a:t>Deliveries(s)  </a:t>
                </a:r>
                <a:r>
                  <a:rPr lang="en-GB" sz="800" dirty="0">
                    <a:solidFill>
                      <a:srgbClr val="000000"/>
                    </a:solidFill>
                    <a:latin typeface="Vodafone Rg"/>
                  </a:rPr>
                  <a:t>for each Release required</a:t>
                </a:r>
              </a:p>
            </p:txBody>
          </p:sp>
          <p:sp>
            <p:nvSpPr>
              <p:cNvPr id="101" name="TextBox 100">
                <a:extLst>
                  <a:ext uri="{FF2B5EF4-FFF2-40B4-BE49-F238E27FC236}">
                    <a16:creationId xmlns:a16="http://schemas.microsoft.com/office/drawing/2014/main" id="{6C10B117-0A2F-069A-E0CF-1377D4FE6B99}"/>
                  </a:ext>
                </a:extLst>
              </p:cNvPr>
              <p:cNvSpPr txBox="1"/>
              <p:nvPr/>
            </p:nvSpPr>
            <p:spPr>
              <a:xfrm>
                <a:off x="540000" y="2058525"/>
                <a:ext cx="1548000" cy="540000"/>
              </a:xfrm>
              <a:prstGeom prst="rect">
                <a:avLst/>
              </a:prstGeom>
              <a:grp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TDM</a:t>
                </a:r>
              </a:p>
            </p:txBody>
          </p:sp>
          <p:sp>
            <p:nvSpPr>
              <p:cNvPr id="102" name="TextBox 101">
                <a:extLst>
                  <a:ext uri="{FF2B5EF4-FFF2-40B4-BE49-F238E27FC236}">
                    <a16:creationId xmlns:a16="http://schemas.microsoft.com/office/drawing/2014/main" id="{5AADDBA8-D951-C162-935F-5AB06DB8A674}"/>
                  </a:ext>
                </a:extLst>
              </p:cNvPr>
              <p:cNvSpPr txBox="1"/>
              <p:nvPr/>
            </p:nvSpPr>
            <p:spPr>
              <a:xfrm>
                <a:off x="360000" y="1152000"/>
                <a:ext cx="132385"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5</a:t>
                </a:r>
              </a:p>
            </p:txBody>
          </p:sp>
        </p:grpSp>
        <p:pic>
          <p:nvPicPr>
            <p:cNvPr id="98" name="Picture 97">
              <a:extLst>
                <a:ext uri="{FF2B5EF4-FFF2-40B4-BE49-F238E27FC236}">
                  <a16:creationId xmlns:a16="http://schemas.microsoft.com/office/drawing/2014/main" id="{AD1DB502-D4EA-DF7C-B3AF-CB8F4698D623}"/>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4702632" y="2503632"/>
              <a:ext cx="203777" cy="169613"/>
            </a:xfrm>
            <a:prstGeom prst="rect">
              <a:avLst/>
            </a:prstGeom>
          </p:spPr>
        </p:pic>
      </p:grpSp>
      <p:grpSp>
        <p:nvGrpSpPr>
          <p:cNvPr id="125" name="Group 124">
            <a:extLst>
              <a:ext uri="{FF2B5EF4-FFF2-40B4-BE49-F238E27FC236}">
                <a16:creationId xmlns:a16="http://schemas.microsoft.com/office/drawing/2014/main" id="{8C095746-3966-1A11-EF2E-484D8527603C}"/>
              </a:ext>
            </a:extLst>
          </p:cNvPr>
          <p:cNvGrpSpPr/>
          <p:nvPr/>
        </p:nvGrpSpPr>
        <p:grpSpPr>
          <a:xfrm>
            <a:off x="3946012" y="4647783"/>
            <a:ext cx="4513487" cy="340534"/>
            <a:chOff x="3487173" y="4623714"/>
            <a:chExt cx="4513487" cy="340534"/>
          </a:xfrm>
        </p:grpSpPr>
        <p:sp>
          <p:nvSpPr>
            <p:cNvPr id="11" name="Rectangle 10">
              <a:extLst>
                <a:ext uri="{FF2B5EF4-FFF2-40B4-BE49-F238E27FC236}">
                  <a16:creationId xmlns:a16="http://schemas.microsoft.com/office/drawing/2014/main" id="{DE246BA2-56CE-476D-AC87-5EB370B5F966}"/>
                </a:ext>
              </a:extLst>
            </p:cNvPr>
            <p:cNvSpPr/>
            <p:nvPr/>
          </p:nvSpPr>
          <p:spPr>
            <a:xfrm>
              <a:off x="3487173" y="4623714"/>
              <a:ext cx="4513487" cy="340534"/>
            </a:xfrm>
            <a:prstGeom prst="rect">
              <a:avLst/>
            </a:prstGeom>
            <a:solidFill>
              <a:schemeClr val="bg1">
                <a:lumMod val="95000"/>
              </a:schemeClr>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489">
                <a:lnSpc>
                  <a:spcPct val="90000"/>
                </a:lnSpc>
                <a:spcBef>
                  <a:spcPct val="0"/>
                </a:spcBef>
                <a:spcAft>
                  <a:spcPct val="35000"/>
                </a:spcAft>
              </a:pPr>
              <a:endParaRPr lang="en-GB" sz="1000">
                <a:solidFill>
                  <a:srgbClr val="34342B"/>
                </a:solidFill>
                <a:latin typeface="Vodafone Rg" pitchFamily="34" charset="0"/>
              </a:endParaRPr>
            </a:p>
          </p:txBody>
        </p:sp>
        <p:sp>
          <p:nvSpPr>
            <p:cNvPr id="14" name="TextBox 13">
              <a:extLst>
                <a:ext uri="{FF2B5EF4-FFF2-40B4-BE49-F238E27FC236}">
                  <a16:creationId xmlns:a16="http://schemas.microsoft.com/office/drawing/2014/main" id="{DF7DF665-A1CF-426B-94C0-A72A300436F7}"/>
                </a:ext>
              </a:extLst>
            </p:cNvPr>
            <p:cNvSpPr txBox="1"/>
            <p:nvPr/>
          </p:nvSpPr>
          <p:spPr>
            <a:xfrm>
              <a:off x="3606367" y="4700740"/>
              <a:ext cx="468013" cy="170622"/>
            </a:xfrm>
            <a:prstGeom prst="rect">
              <a:avLst/>
            </a:prstGeom>
          </p:spPr>
          <p:txBody>
            <a:bodyPr wrap="square" lIns="0" tIns="0" rIns="0" bIns="0" rtlCol="0">
              <a:noAutofit/>
            </a:bodyPr>
            <a:lstStyle/>
            <a:p>
              <a:pPr defTabSz="914378"/>
              <a:r>
                <a:rPr lang="en-GB" sz="1000" b="1" dirty="0">
                  <a:solidFill>
                    <a:srgbClr val="000000"/>
                  </a:solidFill>
                  <a:latin typeface="Vodafone Rg" pitchFamily="34" charset="0"/>
                </a:rPr>
                <a:t>Key</a:t>
              </a:r>
            </a:p>
          </p:txBody>
        </p:sp>
        <p:grpSp>
          <p:nvGrpSpPr>
            <p:cNvPr id="68" name="Group 67">
              <a:extLst>
                <a:ext uri="{FF2B5EF4-FFF2-40B4-BE49-F238E27FC236}">
                  <a16:creationId xmlns:a16="http://schemas.microsoft.com/office/drawing/2014/main" id="{BBEF3AF1-7A48-4447-727A-2FE81C0C44DB}"/>
                </a:ext>
              </a:extLst>
            </p:cNvPr>
            <p:cNvGrpSpPr/>
            <p:nvPr/>
          </p:nvGrpSpPr>
          <p:grpSpPr>
            <a:xfrm>
              <a:off x="4052496" y="4694050"/>
              <a:ext cx="667814" cy="170622"/>
              <a:chOff x="4773687" y="4696973"/>
              <a:chExt cx="667814" cy="170622"/>
            </a:xfrm>
          </p:grpSpPr>
          <p:pic>
            <p:nvPicPr>
              <p:cNvPr id="132" name="Picture 131">
                <a:extLst>
                  <a:ext uri="{FF2B5EF4-FFF2-40B4-BE49-F238E27FC236}">
                    <a16:creationId xmlns:a16="http://schemas.microsoft.com/office/drawing/2014/main" id="{EABD76F2-096E-4ACB-8D14-BE65C37A7BA2}"/>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4773687" y="4697478"/>
                <a:ext cx="203777" cy="169613"/>
              </a:xfrm>
              <a:prstGeom prst="rect">
                <a:avLst/>
              </a:prstGeom>
            </p:spPr>
          </p:pic>
          <p:sp>
            <p:nvSpPr>
              <p:cNvPr id="148" name="TextBox 147">
                <a:extLst>
                  <a:ext uri="{FF2B5EF4-FFF2-40B4-BE49-F238E27FC236}">
                    <a16:creationId xmlns:a16="http://schemas.microsoft.com/office/drawing/2014/main" id="{692B6B6B-ADA4-43FA-99EE-D1CD8DDEAD99}"/>
                  </a:ext>
                </a:extLst>
              </p:cNvPr>
              <p:cNvSpPr txBox="1"/>
              <p:nvPr/>
            </p:nvSpPr>
            <p:spPr>
              <a:xfrm>
                <a:off x="4973488" y="4696973"/>
                <a:ext cx="468013"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Feature</a:t>
                </a:r>
              </a:p>
            </p:txBody>
          </p:sp>
        </p:grpSp>
        <p:grpSp>
          <p:nvGrpSpPr>
            <p:cNvPr id="72" name="Group 71">
              <a:extLst>
                <a:ext uri="{FF2B5EF4-FFF2-40B4-BE49-F238E27FC236}">
                  <a16:creationId xmlns:a16="http://schemas.microsoft.com/office/drawing/2014/main" id="{E73516FE-B8DD-2949-06C3-EA408DAC07A1}"/>
                </a:ext>
              </a:extLst>
            </p:cNvPr>
            <p:cNvGrpSpPr/>
            <p:nvPr/>
          </p:nvGrpSpPr>
          <p:grpSpPr>
            <a:xfrm>
              <a:off x="5456424" y="4689572"/>
              <a:ext cx="681998" cy="179578"/>
              <a:chOff x="5961244" y="4692495"/>
              <a:chExt cx="681998" cy="179578"/>
            </a:xfrm>
          </p:grpSpPr>
          <p:pic>
            <p:nvPicPr>
              <p:cNvPr id="138" name="Picture 137">
                <a:extLst>
                  <a:ext uri="{FF2B5EF4-FFF2-40B4-BE49-F238E27FC236}">
                    <a16:creationId xmlns:a16="http://schemas.microsoft.com/office/drawing/2014/main" id="{A8B92623-B9AF-42B0-96A5-711717897DDA}"/>
                  </a:ext>
                </a:extLst>
              </p:cNvPr>
              <p:cNvPicPr>
                <a:picLocks/>
              </p:cNvPicPr>
              <p:nvPr/>
            </p:nvPicPr>
            <p:blipFill>
              <a:blip r:embed="rId7">
                <a:alphaModFix/>
                <a:extLst>
                  <a:ext uri="{BEBA8EAE-BF5A-486C-A8C5-ECC9F3942E4B}">
                    <a14:imgProps xmlns:a14="http://schemas.microsoft.com/office/drawing/2010/main">
                      <a14:imgLayer r:embed="rId8">
                        <a14:imgEffect>
                          <a14:backgroundRemoval t="10000" b="90000" l="10000" r="90000">
                            <a14:foregroundMark x1="46479" y1="29134" x2="46479" y2="29134"/>
                          </a14:backgroundRemoval>
                        </a14:imgEffect>
                      </a14:imgLayer>
                    </a14:imgProps>
                  </a:ext>
                </a:extLst>
              </a:blip>
              <a:stretch>
                <a:fillRect/>
              </a:stretch>
            </p:blipFill>
            <p:spPr>
              <a:xfrm>
                <a:off x="5961244" y="4692495"/>
                <a:ext cx="203777" cy="179578"/>
              </a:xfrm>
              <a:prstGeom prst="rect">
                <a:avLst/>
              </a:prstGeom>
            </p:spPr>
          </p:pic>
          <p:sp>
            <p:nvSpPr>
              <p:cNvPr id="149" name="TextBox 148">
                <a:extLst>
                  <a:ext uri="{FF2B5EF4-FFF2-40B4-BE49-F238E27FC236}">
                    <a16:creationId xmlns:a16="http://schemas.microsoft.com/office/drawing/2014/main" id="{2FA090A6-F8E6-4108-9D51-FF450E4CA612}"/>
                  </a:ext>
                </a:extLst>
              </p:cNvPr>
              <p:cNvSpPr txBox="1"/>
              <p:nvPr/>
            </p:nvSpPr>
            <p:spPr>
              <a:xfrm>
                <a:off x="6175229" y="4696973"/>
                <a:ext cx="468013"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Function</a:t>
                </a:r>
              </a:p>
            </p:txBody>
          </p:sp>
        </p:grpSp>
        <p:grpSp>
          <p:nvGrpSpPr>
            <p:cNvPr id="74" name="Group 73">
              <a:extLst>
                <a:ext uri="{FF2B5EF4-FFF2-40B4-BE49-F238E27FC236}">
                  <a16:creationId xmlns:a16="http://schemas.microsoft.com/office/drawing/2014/main" id="{0FDC7362-C607-EF61-481A-6C21FB33DE1F}"/>
                </a:ext>
              </a:extLst>
            </p:cNvPr>
            <p:cNvGrpSpPr/>
            <p:nvPr/>
          </p:nvGrpSpPr>
          <p:grpSpPr>
            <a:xfrm>
              <a:off x="7126856" y="4694050"/>
              <a:ext cx="850310" cy="170622"/>
              <a:chOff x="7533433" y="4696973"/>
              <a:chExt cx="850310" cy="170622"/>
            </a:xfrm>
          </p:grpSpPr>
          <p:sp>
            <p:nvSpPr>
              <p:cNvPr id="50" name="Rectangle 49">
                <a:extLst>
                  <a:ext uri="{FF2B5EF4-FFF2-40B4-BE49-F238E27FC236}">
                    <a16:creationId xmlns:a16="http://schemas.microsoft.com/office/drawing/2014/main" id="{76D5BF0A-26DD-4924-B3E3-8710A253072A}"/>
                  </a:ext>
                </a:extLst>
              </p:cNvPr>
              <p:cNvSpPr/>
              <p:nvPr/>
            </p:nvSpPr>
            <p:spPr>
              <a:xfrm>
                <a:off x="7533433" y="4706266"/>
                <a:ext cx="214733" cy="152036"/>
              </a:xfrm>
              <a:prstGeom prst="rect">
                <a:avLst/>
              </a:prstGeom>
              <a:solidFill>
                <a:schemeClr val="accent1">
                  <a:lumMod val="20000"/>
                  <a:lumOff val="80000"/>
                </a:schemeClr>
              </a:solidFill>
              <a:ln w="9525"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489">
                  <a:lnSpc>
                    <a:spcPct val="90000"/>
                  </a:lnSpc>
                  <a:spcBef>
                    <a:spcPct val="0"/>
                  </a:spcBef>
                  <a:spcAft>
                    <a:spcPct val="35000"/>
                  </a:spcAft>
                </a:pPr>
                <a:endParaRPr lang="en-GB" sz="800">
                  <a:solidFill>
                    <a:srgbClr val="34342B"/>
                  </a:solidFill>
                  <a:latin typeface="Vodafone Rg" pitchFamily="34" charset="0"/>
                </a:endParaRPr>
              </a:p>
            </p:txBody>
          </p:sp>
          <p:sp>
            <p:nvSpPr>
              <p:cNvPr id="167" name="TextBox 166">
                <a:extLst>
                  <a:ext uri="{FF2B5EF4-FFF2-40B4-BE49-F238E27FC236}">
                    <a16:creationId xmlns:a16="http://schemas.microsoft.com/office/drawing/2014/main" id="{9C1DB295-5404-45E5-96F4-FF1D93457B67}"/>
                  </a:ext>
                </a:extLst>
              </p:cNvPr>
              <p:cNvSpPr txBox="1"/>
              <p:nvPr/>
            </p:nvSpPr>
            <p:spPr>
              <a:xfrm>
                <a:off x="7789128" y="4696973"/>
                <a:ext cx="594615"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TDM Activity</a:t>
                </a:r>
              </a:p>
            </p:txBody>
          </p:sp>
        </p:grpSp>
        <p:grpSp>
          <p:nvGrpSpPr>
            <p:cNvPr id="73" name="Group 72">
              <a:extLst>
                <a:ext uri="{FF2B5EF4-FFF2-40B4-BE49-F238E27FC236}">
                  <a16:creationId xmlns:a16="http://schemas.microsoft.com/office/drawing/2014/main" id="{71963B3D-5E25-5B67-0B89-C2283AF93DC1}"/>
                </a:ext>
              </a:extLst>
            </p:cNvPr>
            <p:cNvGrpSpPr/>
            <p:nvPr/>
          </p:nvGrpSpPr>
          <p:grpSpPr>
            <a:xfrm>
              <a:off x="6208103" y="4694050"/>
              <a:ext cx="885650" cy="170622"/>
              <a:chOff x="5823230" y="4696973"/>
              <a:chExt cx="885650" cy="170622"/>
            </a:xfrm>
          </p:grpSpPr>
          <p:pic>
            <p:nvPicPr>
              <p:cNvPr id="15" name="Picture 14">
                <a:extLst>
                  <a:ext uri="{FF2B5EF4-FFF2-40B4-BE49-F238E27FC236}">
                    <a16:creationId xmlns:a16="http://schemas.microsoft.com/office/drawing/2014/main" id="{0CC2CE87-5E27-438F-80D0-A97CEA71E161}"/>
                  </a:ext>
                </a:extLst>
              </p:cNvPr>
              <p:cNvPicPr>
                <a:picLocks noChangeAspect="1"/>
              </p:cNvPicPr>
              <p:nvPr/>
            </p:nvPicPr>
            <p:blipFill>
              <a:blip r:embed="rId9">
                <a:clrChange>
                  <a:clrFrom>
                    <a:srgbClr val="F8F8F8"/>
                  </a:clrFrom>
                  <a:clrTo>
                    <a:srgbClr val="F8F8F8">
                      <a:alpha val="0"/>
                    </a:srgbClr>
                  </a:clrTo>
                </a:clrChange>
              </a:blip>
              <a:stretch>
                <a:fillRect/>
              </a:stretch>
            </p:blipFill>
            <p:spPr>
              <a:xfrm>
                <a:off x="5823230" y="4708884"/>
                <a:ext cx="180164" cy="146800"/>
              </a:xfrm>
              <a:prstGeom prst="rect">
                <a:avLst/>
              </a:prstGeom>
            </p:spPr>
          </p:pic>
          <p:sp>
            <p:nvSpPr>
              <p:cNvPr id="134" name="TextBox 133">
                <a:extLst>
                  <a:ext uri="{FF2B5EF4-FFF2-40B4-BE49-F238E27FC236}">
                    <a16:creationId xmlns:a16="http://schemas.microsoft.com/office/drawing/2014/main" id="{AA933981-EB97-4B62-8F39-73BE8208FDA4}"/>
                  </a:ext>
                </a:extLst>
              </p:cNvPr>
              <p:cNvSpPr txBox="1"/>
              <p:nvPr/>
            </p:nvSpPr>
            <p:spPr>
              <a:xfrm>
                <a:off x="6022598" y="4696973"/>
                <a:ext cx="686282"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State Change</a:t>
                </a:r>
              </a:p>
            </p:txBody>
          </p:sp>
        </p:grpSp>
        <p:grpSp>
          <p:nvGrpSpPr>
            <p:cNvPr id="120" name="Group 119">
              <a:extLst>
                <a:ext uri="{FF2B5EF4-FFF2-40B4-BE49-F238E27FC236}">
                  <a16:creationId xmlns:a16="http://schemas.microsoft.com/office/drawing/2014/main" id="{4C7ABE4C-0094-010B-BCE7-DE1409803070}"/>
                </a:ext>
              </a:extLst>
            </p:cNvPr>
            <p:cNvGrpSpPr/>
            <p:nvPr/>
          </p:nvGrpSpPr>
          <p:grpSpPr>
            <a:xfrm>
              <a:off x="4704092" y="4689361"/>
              <a:ext cx="706489" cy="180000"/>
              <a:chOff x="4429144" y="4678153"/>
              <a:chExt cx="706489" cy="180000"/>
            </a:xfrm>
          </p:grpSpPr>
          <p:sp>
            <p:nvSpPr>
              <p:cNvPr id="112" name="TextBox 111">
                <a:extLst>
                  <a:ext uri="{FF2B5EF4-FFF2-40B4-BE49-F238E27FC236}">
                    <a16:creationId xmlns:a16="http://schemas.microsoft.com/office/drawing/2014/main" id="{1CD6282B-1F0A-82E6-6B5E-081663A6A839}"/>
                  </a:ext>
                </a:extLst>
              </p:cNvPr>
              <p:cNvSpPr txBox="1"/>
              <p:nvPr/>
            </p:nvSpPr>
            <p:spPr>
              <a:xfrm>
                <a:off x="4667620" y="4682842"/>
                <a:ext cx="468013"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Delivery</a:t>
                </a:r>
              </a:p>
            </p:txBody>
          </p:sp>
          <p:pic>
            <p:nvPicPr>
              <p:cNvPr id="117" name="Picture 116">
                <a:extLst>
                  <a:ext uri="{FF2B5EF4-FFF2-40B4-BE49-F238E27FC236}">
                    <a16:creationId xmlns:a16="http://schemas.microsoft.com/office/drawing/2014/main" id="{E988DFA9-3FF5-F72E-0950-1CE8004808EA}"/>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foregroundMark x1="54386" y1="40909" x2="54386" y2="40909"/>
                            <a14:foregroundMark x1="75439" y1="50000" x2="75439" y2="50000"/>
                            <a14:foregroundMark x1="24561" y1="47727" x2="24561" y2="47727"/>
                          </a14:backgroundRemoval>
                        </a14:imgEffect>
                      </a14:imgLayer>
                    </a14:imgProps>
                  </a:ext>
                </a:extLst>
              </a:blip>
              <a:stretch>
                <a:fillRect/>
              </a:stretch>
            </p:blipFill>
            <p:spPr>
              <a:xfrm>
                <a:off x="4429144" y="4678153"/>
                <a:ext cx="233183" cy="180000"/>
              </a:xfrm>
              <a:prstGeom prst="rect">
                <a:avLst/>
              </a:prstGeom>
            </p:spPr>
          </p:pic>
        </p:grpSp>
      </p:grpSp>
      <p:pic>
        <p:nvPicPr>
          <p:cNvPr id="126" name="Picture 125">
            <a:extLst>
              <a:ext uri="{FF2B5EF4-FFF2-40B4-BE49-F238E27FC236}">
                <a16:creationId xmlns:a16="http://schemas.microsoft.com/office/drawing/2014/main" id="{A118DF84-A940-8A97-8667-755F4B94A834}"/>
              </a:ext>
            </a:extLst>
          </p:cNvPr>
          <p:cNvPicPr>
            <a:picLocks noChangeAspect="1"/>
          </p:cNvPicPr>
          <p:nvPr/>
        </p:nvPicPr>
        <p:blipFill>
          <a:blip r:embed="rId9">
            <a:clrChange>
              <a:clrFrom>
                <a:srgbClr val="F8F8F8"/>
              </a:clrFrom>
              <a:clrTo>
                <a:srgbClr val="F8F8F8">
                  <a:alpha val="0"/>
                </a:srgbClr>
              </a:clrTo>
            </a:clrChange>
          </a:blip>
          <a:stretch>
            <a:fillRect/>
          </a:stretch>
        </p:blipFill>
        <p:spPr>
          <a:xfrm>
            <a:off x="7271180" y="2550831"/>
            <a:ext cx="180164" cy="146800"/>
          </a:xfrm>
          <a:prstGeom prst="rect">
            <a:avLst/>
          </a:prstGeom>
        </p:spPr>
      </p:pic>
      <p:grpSp>
        <p:nvGrpSpPr>
          <p:cNvPr id="44" name="Group 43">
            <a:extLst>
              <a:ext uri="{FF2B5EF4-FFF2-40B4-BE49-F238E27FC236}">
                <a16:creationId xmlns:a16="http://schemas.microsoft.com/office/drawing/2014/main" id="{7F9D3A0D-6E13-C481-1AF2-FBE28E86716E}"/>
              </a:ext>
            </a:extLst>
          </p:cNvPr>
          <p:cNvGrpSpPr/>
          <p:nvPr/>
        </p:nvGrpSpPr>
        <p:grpSpPr>
          <a:xfrm>
            <a:off x="6933140" y="2951721"/>
            <a:ext cx="1764000" cy="1584000"/>
            <a:chOff x="360000" y="1152000"/>
            <a:chExt cx="1764000" cy="1584000"/>
          </a:xfrm>
          <a:solidFill>
            <a:schemeClr val="accent1">
              <a:lumMod val="20000"/>
              <a:lumOff val="80000"/>
            </a:schemeClr>
          </a:solidFill>
        </p:grpSpPr>
        <p:sp>
          <p:nvSpPr>
            <p:cNvPr id="62" name="Freeform: Shape 61">
              <a:extLst>
                <a:ext uri="{FF2B5EF4-FFF2-40B4-BE49-F238E27FC236}">
                  <a16:creationId xmlns:a16="http://schemas.microsoft.com/office/drawing/2014/main" id="{57C9C3CF-7DCA-E915-A859-11128375FEFF}"/>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grp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63" name="Rectangle 62">
              <a:extLst>
                <a:ext uri="{FF2B5EF4-FFF2-40B4-BE49-F238E27FC236}">
                  <a16:creationId xmlns:a16="http://schemas.microsoft.com/office/drawing/2014/main" id="{75FC3307-F76A-6AE6-73EF-159EE600D13E}"/>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Note:</a:t>
              </a:r>
              <a:r>
                <a:rPr lang="en-GB" sz="800" dirty="0">
                  <a:solidFill>
                    <a:srgbClr val="000000"/>
                  </a:solidFill>
                  <a:latin typeface="Vodafone Rg"/>
                </a:rPr>
                <a:t> </a:t>
              </a:r>
              <a:r>
                <a:rPr lang="en-GB" sz="800" b="1" dirty="0">
                  <a:solidFill>
                    <a:srgbClr val="000000"/>
                  </a:solidFill>
                  <a:latin typeface="Vodafone Rg"/>
                </a:rPr>
                <a:t>Functions</a:t>
              </a:r>
              <a:r>
                <a:rPr lang="en-GB" sz="800" dirty="0">
                  <a:solidFill>
                    <a:srgbClr val="000000"/>
                  </a:solidFill>
                  <a:latin typeface="Vodafone Rg"/>
                </a:rPr>
                <a:t> will automatically move to the domain’s ADO if they support the </a:t>
              </a:r>
              <a:r>
                <a:rPr lang="en-GB" sz="800" b="1" dirty="0">
                  <a:solidFill>
                    <a:srgbClr val="000000"/>
                  </a:solidFill>
                  <a:latin typeface="Vodafone Rg"/>
                </a:rPr>
                <a:t>Function</a:t>
              </a:r>
              <a:r>
                <a:rPr lang="en-GB" sz="800" dirty="0">
                  <a:solidFill>
                    <a:srgbClr val="000000"/>
                  </a:solidFill>
                  <a:latin typeface="Vodafone Rg"/>
                </a:rPr>
                <a:t> work item or stay within the RM ADO if not.  </a:t>
              </a:r>
            </a:p>
            <a:p>
              <a:pPr defTabSz="200025">
                <a:lnSpc>
                  <a:spcPct val="90000"/>
                </a:lnSpc>
                <a:spcBef>
                  <a:spcPct val="0"/>
                </a:spcBef>
                <a:spcAft>
                  <a:spcPct val="35000"/>
                </a:spcAft>
              </a:pPr>
              <a:r>
                <a:rPr lang="en-GB" sz="800" dirty="0">
                  <a:solidFill>
                    <a:srgbClr val="000000"/>
                  </a:solidFill>
                  <a:latin typeface="Vodafone Rg"/>
                </a:rPr>
                <a:t>If not, TDMs must keep the Function up to date, with domain support</a:t>
              </a:r>
            </a:p>
          </p:txBody>
        </p:sp>
        <p:sp>
          <p:nvSpPr>
            <p:cNvPr id="69" name="TextBox 68">
              <a:extLst>
                <a:ext uri="{FF2B5EF4-FFF2-40B4-BE49-F238E27FC236}">
                  <a16:creationId xmlns:a16="http://schemas.microsoft.com/office/drawing/2014/main" id="{F0DD328E-AA0A-C772-4CBB-A721FE889CE5}"/>
                </a:ext>
              </a:extLst>
            </p:cNvPr>
            <p:cNvSpPr txBox="1"/>
            <p:nvPr/>
          </p:nvSpPr>
          <p:spPr>
            <a:xfrm>
              <a:off x="540000" y="2058525"/>
              <a:ext cx="1548000" cy="540000"/>
            </a:xfrm>
            <a:prstGeom prst="rect">
              <a:avLst/>
            </a:prstGeom>
            <a:grp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TDM</a:t>
              </a:r>
            </a:p>
          </p:txBody>
        </p:sp>
        <p:sp>
          <p:nvSpPr>
            <p:cNvPr id="70" name="TextBox 69">
              <a:extLst>
                <a:ext uri="{FF2B5EF4-FFF2-40B4-BE49-F238E27FC236}">
                  <a16:creationId xmlns:a16="http://schemas.microsoft.com/office/drawing/2014/main" id="{6327BE4B-BA06-14F0-C8C4-0A5290FD8A25}"/>
                </a:ext>
              </a:extLst>
            </p:cNvPr>
            <p:cNvSpPr txBox="1"/>
            <p:nvPr/>
          </p:nvSpPr>
          <p:spPr>
            <a:xfrm>
              <a:off x="360000" y="1152000"/>
              <a:ext cx="132385"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8</a:t>
              </a:r>
            </a:p>
          </p:txBody>
        </p:sp>
      </p:grpSp>
      <p:pic>
        <p:nvPicPr>
          <p:cNvPr id="127" name="Picture 126">
            <a:extLst>
              <a:ext uri="{FF2B5EF4-FFF2-40B4-BE49-F238E27FC236}">
                <a16:creationId xmlns:a16="http://schemas.microsoft.com/office/drawing/2014/main" id="{90A7F02F-C588-FC47-415F-1F5A45747567}"/>
              </a:ext>
            </a:extLst>
          </p:cNvPr>
          <p:cNvPicPr>
            <a:picLocks/>
          </p:cNvPicPr>
          <p:nvPr/>
        </p:nvPicPr>
        <p:blipFill>
          <a:blip r:embed="rId7">
            <a:alphaModFix/>
            <a:extLst>
              <a:ext uri="{BEBA8EAE-BF5A-486C-A8C5-ECC9F3942E4B}">
                <a14:imgProps xmlns:a14="http://schemas.microsoft.com/office/drawing/2010/main">
                  <a14:imgLayer r:embed="rId8">
                    <a14:imgEffect>
                      <a14:backgroundRemoval t="10000" b="90000" l="10000" r="90000">
                        <a14:foregroundMark x1="46479" y1="29134" x2="46479" y2="29134"/>
                      </a14:backgroundRemoval>
                    </a14:imgEffect>
                  </a14:imgLayer>
                </a14:imgProps>
              </a:ext>
            </a:extLst>
          </a:blip>
          <a:stretch>
            <a:fillRect/>
          </a:stretch>
        </p:blipFill>
        <p:spPr>
          <a:xfrm>
            <a:off x="7081220" y="4368310"/>
            <a:ext cx="203777" cy="179578"/>
          </a:xfrm>
          <a:prstGeom prst="rect">
            <a:avLst/>
          </a:prstGeom>
        </p:spPr>
      </p:pic>
      <p:sp>
        <p:nvSpPr>
          <p:cNvPr id="135" name="TextBox 134">
            <a:extLst>
              <a:ext uri="{FF2B5EF4-FFF2-40B4-BE49-F238E27FC236}">
                <a16:creationId xmlns:a16="http://schemas.microsoft.com/office/drawing/2014/main" id="{7669A55B-04D1-1828-ADC1-AD2942BD95DF}"/>
              </a:ext>
            </a:extLst>
          </p:cNvPr>
          <p:cNvSpPr txBox="1"/>
          <p:nvPr/>
        </p:nvSpPr>
        <p:spPr>
          <a:xfrm rot="16200000">
            <a:off x="8346236" y="3744000"/>
            <a:ext cx="959832" cy="134048"/>
          </a:xfrm>
          <a:prstGeom prst="rect">
            <a:avLst/>
          </a:prstGeom>
          <a:solidFill>
            <a:schemeClr val="accent4"/>
          </a:solidFill>
        </p:spPr>
        <p:txBody>
          <a:bodyPr wrap="square" lIns="0" tIns="0" rIns="0" bIns="0" rtlCol="0" anchor="ctr">
            <a:noAutofit/>
          </a:bodyPr>
          <a:lstStyle/>
          <a:p>
            <a:pPr algn="ctr" defTabSz="914378"/>
            <a:r>
              <a:rPr lang="en-GB" sz="900" b="1" dirty="0">
                <a:solidFill>
                  <a:srgbClr val="FFFFFF"/>
                </a:solidFill>
                <a:latin typeface="Vodafone Rg" pitchFamily="34" charset="0"/>
              </a:rPr>
              <a:t>Next Page</a:t>
            </a:r>
          </a:p>
        </p:txBody>
      </p:sp>
      <p:sp>
        <p:nvSpPr>
          <p:cNvPr id="136" name="Freeform: Shape 135">
            <a:extLst>
              <a:ext uri="{FF2B5EF4-FFF2-40B4-BE49-F238E27FC236}">
                <a16:creationId xmlns:a16="http://schemas.microsoft.com/office/drawing/2014/main" id="{FAE779AE-52B3-A522-154B-F6B474173B66}"/>
              </a:ext>
            </a:extLst>
          </p:cNvPr>
          <p:cNvSpPr/>
          <p:nvPr/>
        </p:nvSpPr>
        <p:spPr>
          <a:xfrm>
            <a:off x="4322782" y="1508679"/>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sp>
        <p:nvSpPr>
          <p:cNvPr id="137" name="Freeform: Shape 136">
            <a:extLst>
              <a:ext uri="{FF2B5EF4-FFF2-40B4-BE49-F238E27FC236}">
                <a16:creationId xmlns:a16="http://schemas.microsoft.com/office/drawing/2014/main" id="{6676E80A-62FB-1417-98F4-0603D7EA17EE}"/>
              </a:ext>
            </a:extLst>
          </p:cNvPr>
          <p:cNvSpPr/>
          <p:nvPr/>
        </p:nvSpPr>
        <p:spPr>
          <a:xfrm>
            <a:off x="6516702" y="1508679"/>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sp>
        <p:nvSpPr>
          <p:cNvPr id="139" name="Freeform: Shape 138">
            <a:extLst>
              <a:ext uri="{FF2B5EF4-FFF2-40B4-BE49-F238E27FC236}">
                <a16:creationId xmlns:a16="http://schemas.microsoft.com/office/drawing/2014/main" id="{980FCA24-3C99-E1E9-C8CB-7E1499F0161A}"/>
              </a:ext>
            </a:extLst>
          </p:cNvPr>
          <p:cNvSpPr/>
          <p:nvPr/>
        </p:nvSpPr>
        <p:spPr>
          <a:xfrm>
            <a:off x="2134139" y="3323032"/>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grpSp>
        <p:nvGrpSpPr>
          <p:cNvPr id="175" name="Group 174">
            <a:extLst>
              <a:ext uri="{FF2B5EF4-FFF2-40B4-BE49-F238E27FC236}">
                <a16:creationId xmlns:a16="http://schemas.microsoft.com/office/drawing/2014/main" id="{450B4A1A-E2E0-A78B-A605-5916CD7BEA24}"/>
              </a:ext>
            </a:extLst>
          </p:cNvPr>
          <p:cNvGrpSpPr/>
          <p:nvPr/>
        </p:nvGrpSpPr>
        <p:grpSpPr>
          <a:xfrm>
            <a:off x="1325733" y="2695607"/>
            <a:ext cx="6637568" cy="407859"/>
            <a:chOff x="1325733" y="2695607"/>
            <a:chExt cx="6637568" cy="407859"/>
          </a:xfrm>
        </p:grpSpPr>
        <p:cxnSp>
          <p:nvCxnSpPr>
            <p:cNvPr id="146" name="Straight Connector 145">
              <a:extLst>
                <a:ext uri="{FF2B5EF4-FFF2-40B4-BE49-F238E27FC236}">
                  <a16:creationId xmlns:a16="http://schemas.microsoft.com/office/drawing/2014/main" id="{20A4569C-4DE8-C7AB-07EB-E758C35E314F}"/>
                </a:ext>
              </a:extLst>
            </p:cNvPr>
            <p:cNvCxnSpPr>
              <a:cxnSpLocks/>
            </p:cNvCxnSpPr>
            <p:nvPr/>
          </p:nvCxnSpPr>
          <p:spPr>
            <a:xfrm>
              <a:off x="7963301" y="2695607"/>
              <a:ext cx="0" cy="137429"/>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F77D696F-5AD6-1E84-6E01-BCEC97FB9239}"/>
                </a:ext>
              </a:extLst>
            </p:cNvPr>
            <p:cNvCxnSpPr>
              <a:cxnSpLocks/>
            </p:cNvCxnSpPr>
            <p:nvPr/>
          </p:nvCxnSpPr>
          <p:spPr>
            <a:xfrm flipH="1">
              <a:off x="1325733" y="2833036"/>
              <a:ext cx="6637568"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62870F04-5BB1-6350-E71D-B393E3130404}"/>
                </a:ext>
              </a:extLst>
            </p:cNvPr>
            <p:cNvCxnSpPr>
              <a:cxnSpLocks/>
              <a:endCxn id="100" idx="0"/>
            </p:cNvCxnSpPr>
            <p:nvPr/>
          </p:nvCxnSpPr>
          <p:spPr>
            <a:xfrm>
              <a:off x="1325733" y="2834671"/>
              <a:ext cx="0" cy="268795"/>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pic>
        <p:nvPicPr>
          <p:cNvPr id="6" name="Picture 5">
            <a:extLst>
              <a:ext uri="{FF2B5EF4-FFF2-40B4-BE49-F238E27FC236}">
                <a16:creationId xmlns:a16="http://schemas.microsoft.com/office/drawing/2014/main" id="{8E69F5C3-435F-83DA-F48D-CCF87462B287}"/>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foregroundMark x1="54386" y1="40909" x2="54386" y2="40909"/>
                        <a14:foregroundMark x1="75439" y1="50000" x2="75439" y2="50000"/>
                        <a14:foregroundMark x1="24561" y1="47727" x2="24561" y2="47727"/>
                      </a14:backgroundRemoval>
                    </a14:imgEffect>
                  </a14:imgLayer>
                </a14:imgProps>
              </a:ext>
            </a:extLst>
          </a:blip>
          <a:stretch>
            <a:fillRect/>
          </a:stretch>
        </p:blipFill>
        <p:spPr>
          <a:xfrm>
            <a:off x="698283" y="4360206"/>
            <a:ext cx="233183" cy="180000"/>
          </a:xfrm>
          <a:prstGeom prst="rect">
            <a:avLst/>
          </a:prstGeom>
        </p:spPr>
      </p:pic>
      <p:grpSp>
        <p:nvGrpSpPr>
          <p:cNvPr id="7" name="Group 6">
            <a:extLst>
              <a:ext uri="{FF2B5EF4-FFF2-40B4-BE49-F238E27FC236}">
                <a16:creationId xmlns:a16="http://schemas.microsoft.com/office/drawing/2014/main" id="{F51DFC1D-08D2-DED4-CDC8-1429BE0CA864}"/>
              </a:ext>
            </a:extLst>
          </p:cNvPr>
          <p:cNvGrpSpPr/>
          <p:nvPr/>
        </p:nvGrpSpPr>
        <p:grpSpPr>
          <a:xfrm>
            <a:off x="2553243" y="2951721"/>
            <a:ext cx="1764000" cy="1584000"/>
            <a:chOff x="4559501" y="1095355"/>
            <a:chExt cx="1764000" cy="1584000"/>
          </a:xfrm>
        </p:grpSpPr>
        <p:grpSp>
          <p:nvGrpSpPr>
            <p:cNvPr id="8" name="Group 7">
              <a:extLst>
                <a:ext uri="{FF2B5EF4-FFF2-40B4-BE49-F238E27FC236}">
                  <a16:creationId xmlns:a16="http://schemas.microsoft.com/office/drawing/2014/main" id="{57334829-83F5-CC43-88C2-285341325FA2}"/>
                </a:ext>
              </a:extLst>
            </p:cNvPr>
            <p:cNvGrpSpPr/>
            <p:nvPr/>
          </p:nvGrpSpPr>
          <p:grpSpPr>
            <a:xfrm>
              <a:off x="4559501" y="1095355"/>
              <a:ext cx="1764000" cy="1584000"/>
              <a:chOff x="360000" y="1152000"/>
              <a:chExt cx="1764000" cy="1584000"/>
            </a:xfrm>
            <a:solidFill>
              <a:schemeClr val="accent1">
                <a:lumMod val="20000"/>
                <a:lumOff val="80000"/>
              </a:schemeClr>
            </a:solidFill>
          </p:grpSpPr>
          <p:sp>
            <p:nvSpPr>
              <p:cNvPr id="10" name="Freeform: Shape 9">
                <a:extLst>
                  <a:ext uri="{FF2B5EF4-FFF2-40B4-BE49-F238E27FC236}">
                    <a16:creationId xmlns:a16="http://schemas.microsoft.com/office/drawing/2014/main" id="{47C6CC89-95AE-2DFA-7BB6-B1500E762FDB}"/>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grp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12" name="Rectangle 11">
                <a:extLst>
                  <a:ext uri="{FF2B5EF4-FFF2-40B4-BE49-F238E27FC236}">
                    <a16:creationId xmlns:a16="http://schemas.microsoft.com/office/drawing/2014/main" id="{14C64AF8-43D4-8CE2-59D9-CDB9A5368DBE}"/>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a:t>
                </a:r>
                <a:r>
                  <a:rPr lang="en-GB" sz="800" dirty="0">
                    <a:solidFill>
                      <a:srgbClr val="000000"/>
                    </a:solidFill>
                    <a:latin typeface="Vodafone Rg"/>
                  </a:rPr>
                  <a:t> Within each </a:t>
                </a:r>
                <a:r>
                  <a:rPr lang="en-GB" sz="800" b="1" dirty="0">
                    <a:solidFill>
                      <a:srgbClr val="000000"/>
                    </a:solidFill>
                    <a:latin typeface="Vodafone Rg"/>
                  </a:rPr>
                  <a:t>Delivery</a:t>
                </a:r>
                <a:r>
                  <a:rPr lang="en-GB" sz="800" dirty="0">
                    <a:solidFill>
                      <a:srgbClr val="000000"/>
                    </a:solidFill>
                    <a:latin typeface="Vodafone Rg"/>
                  </a:rPr>
                  <a:t>, update the Target Release, Consumption Plan and all other fields for which you have data</a:t>
                </a:r>
              </a:p>
            </p:txBody>
          </p:sp>
          <p:sp>
            <p:nvSpPr>
              <p:cNvPr id="13" name="TextBox 12">
                <a:extLst>
                  <a:ext uri="{FF2B5EF4-FFF2-40B4-BE49-F238E27FC236}">
                    <a16:creationId xmlns:a16="http://schemas.microsoft.com/office/drawing/2014/main" id="{7028E581-4D9F-7474-0B7C-7FB0F3D3AFAE}"/>
                  </a:ext>
                </a:extLst>
              </p:cNvPr>
              <p:cNvSpPr txBox="1"/>
              <p:nvPr/>
            </p:nvSpPr>
            <p:spPr>
              <a:xfrm>
                <a:off x="540000" y="2058525"/>
                <a:ext cx="1548000" cy="540000"/>
              </a:xfrm>
              <a:prstGeom prst="rect">
                <a:avLst/>
              </a:prstGeom>
              <a:grp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TDM</a:t>
                </a:r>
              </a:p>
            </p:txBody>
          </p:sp>
          <p:sp>
            <p:nvSpPr>
              <p:cNvPr id="17" name="TextBox 16">
                <a:extLst>
                  <a:ext uri="{FF2B5EF4-FFF2-40B4-BE49-F238E27FC236}">
                    <a16:creationId xmlns:a16="http://schemas.microsoft.com/office/drawing/2014/main" id="{3431B50C-18FF-4D02-CCF4-0D8579C4F349}"/>
                  </a:ext>
                </a:extLst>
              </p:cNvPr>
              <p:cNvSpPr txBox="1"/>
              <p:nvPr/>
            </p:nvSpPr>
            <p:spPr>
              <a:xfrm>
                <a:off x="360000" y="1152000"/>
                <a:ext cx="132385"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6</a:t>
                </a:r>
              </a:p>
            </p:txBody>
          </p:sp>
        </p:grpSp>
        <p:pic>
          <p:nvPicPr>
            <p:cNvPr id="9" name="Picture 8">
              <a:extLst>
                <a:ext uri="{FF2B5EF4-FFF2-40B4-BE49-F238E27FC236}">
                  <a16:creationId xmlns:a16="http://schemas.microsoft.com/office/drawing/2014/main" id="{0873CB25-18D6-695C-2577-1F4CF304CE02}"/>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4702632" y="2503632"/>
              <a:ext cx="203777" cy="169613"/>
            </a:xfrm>
            <a:prstGeom prst="rect">
              <a:avLst/>
            </a:prstGeom>
          </p:spPr>
        </p:pic>
      </p:grpSp>
      <p:sp>
        <p:nvSpPr>
          <p:cNvPr id="18" name="Freeform: Shape 17">
            <a:extLst>
              <a:ext uri="{FF2B5EF4-FFF2-40B4-BE49-F238E27FC236}">
                <a16:creationId xmlns:a16="http://schemas.microsoft.com/office/drawing/2014/main" id="{7339A22A-B8B5-019B-C0CD-1273825ABD22}"/>
              </a:ext>
            </a:extLst>
          </p:cNvPr>
          <p:cNvSpPr/>
          <p:nvPr/>
        </p:nvSpPr>
        <p:spPr>
          <a:xfrm>
            <a:off x="4315649" y="3316922"/>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pic>
        <p:nvPicPr>
          <p:cNvPr id="19" name="Picture 18">
            <a:extLst>
              <a:ext uri="{FF2B5EF4-FFF2-40B4-BE49-F238E27FC236}">
                <a16:creationId xmlns:a16="http://schemas.microsoft.com/office/drawing/2014/main" id="{8134D0DD-CD25-3657-7E27-E694B6FADE59}"/>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foregroundMark x1="54386" y1="40909" x2="54386" y2="40909"/>
                        <a14:foregroundMark x1="75439" y1="50000" x2="75439" y2="50000"/>
                        <a14:foregroundMark x1="24561" y1="47727" x2="24561" y2="47727"/>
                      </a14:backgroundRemoval>
                    </a14:imgEffect>
                  </a14:imgLayer>
                </a14:imgProps>
              </a:ext>
            </a:extLst>
          </a:blip>
          <a:stretch>
            <a:fillRect/>
          </a:stretch>
        </p:blipFill>
        <p:spPr>
          <a:xfrm>
            <a:off x="2879793" y="4354096"/>
            <a:ext cx="233183" cy="180000"/>
          </a:xfrm>
          <a:prstGeom prst="rect">
            <a:avLst/>
          </a:prstGeom>
        </p:spPr>
      </p:pic>
      <p:grpSp>
        <p:nvGrpSpPr>
          <p:cNvPr id="22" name="Group 21">
            <a:extLst>
              <a:ext uri="{FF2B5EF4-FFF2-40B4-BE49-F238E27FC236}">
                <a16:creationId xmlns:a16="http://schemas.microsoft.com/office/drawing/2014/main" id="{8DDE7372-F646-06DB-04C6-6E27FC5F730B}"/>
              </a:ext>
            </a:extLst>
          </p:cNvPr>
          <p:cNvGrpSpPr/>
          <p:nvPr/>
        </p:nvGrpSpPr>
        <p:grpSpPr>
          <a:xfrm>
            <a:off x="4743011" y="2946166"/>
            <a:ext cx="1764000" cy="1584000"/>
            <a:chOff x="360000" y="1152000"/>
            <a:chExt cx="1764000" cy="1584000"/>
          </a:xfrm>
          <a:solidFill>
            <a:schemeClr val="accent1">
              <a:lumMod val="20000"/>
              <a:lumOff val="80000"/>
            </a:schemeClr>
          </a:solidFill>
        </p:grpSpPr>
        <p:sp>
          <p:nvSpPr>
            <p:cNvPr id="24" name="Freeform: Shape 23">
              <a:extLst>
                <a:ext uri="{FF2B5EF4-FFF2-40B4-BE49-F238E27FC236}">
                  <a16:creationId xmlns:a16="http://schemas.microsoft.com/office/drawing/2014/main" id="{CD9F14A8-64FB-67F7-130D-AE10B2F535C7}"/>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grp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25" name="Rectangle 24">
              <a:extLst>
                <a:ext uri="{FF2B5EF4-FFF2-40B4-BE49-F238E27FC236}">
                  <a16:creationId xmlns:a16="http://schemas.microsoft.com/office/drawing/2014/main" id="{7CC616F6-9493-51E7-45DC-886320346F3E}"/>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a:t>
              </a:r>
              <a:r>
                <a:rPr lang="en-GB" sz="800" dirty="0">
                  <a:solidFill>
                    <a:srgbClr val="000000"/>
                  </a:solidFill>
                  <a:latin typeface="Vodafone Rg"/>
                </a:rPr>
                <a:t> Within each </a:t>
              </a:r>
              <a:r>
                <a:rPr lang="en-GB" sz="800" b="1" dirty="0">
                  <a:solidFill>
                    <a:srgbClr val="000000"/>
                  </a:solidFill>
                  <a:latin typeface="Vodafone Rg"/>
                </a:rPr>
                <a:t>Delivery</a:t>
              </a:r>
              <a:r>
                <a:rPr lang="en-GB" sz="800" dirty="0">
                  <a:solidFill>
                    <a:srgbClr val="000000"/>
                  </a:solidFill>
                  <a:latin typeface="Vodafone Rg"/>
                </a:rPr>
                <a:t>, create child </a:t>
              </a:r>
              <a:r>
                <a:rPr lang="en-GB" sz="800" b="1" dirty="0">
                  <a:solidFill>
                    <a:srgbClr val="000000"/>
                  </a:solidFill>
                  <a:latin typeface="Vodafone Rg"/>
                </a:rPr>
                <a:t>Functions</a:t>
              </a:r>
              <a:r>
                <a:rPr lang="en-GB" sz="800" dirty="0">
                  <a:solidFill>
                    <a:srgbClr val="000000"/>
                  </a:solidFill>
                  <a:latin typeface="Vodafone Rg"/>
                </a:rPr>
                <a:t> for each application that is impacted or where domain support or SIT is required</a:t>
              </a:r>
            </a:p>
          </p:txBody>
        </p:sp>
        <p:sp>
          <p:nvSpPr>
            <p:cNvPr id="26" name="TextBox 25">
              <a:extLst>
                <a:ext uri="{FF2B5EF4-FFF2-40B4-BE49-F238E27FC236}">
                  <a16:creationId xmlns:a16="http://schemas.microsoft.com/office/drawing/2014/main" id="{69429BAA-877E-A6B8-560A-3B0F633D3C70}"/>
                </a:ext>
              </a:extLst>
            </p:cNvPr>
            <p:cNvSpPr txBox="1"/>
            <p:nvPr/>
          </p:nvSpPr>
          <p:spPr>
            <a:xfrm>
              <a:off x="540000" y="2058525"/>
              <a:ext cx="1548000" cy="540000"/>
            </a:xfrm>
            <a:prstGeom prst="rect">
              <a:avLst/>
            </a:prstGeom>
            <a:grp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TDM</a:t>
              </a:r>
            </a:p>
          </p:txBody>
        </p:sp>
        <p:sp>
          <p:nvSpPr>
            <p:cNvPr id="27" name="TextBox 26">
              <a:extLst>
                <a:ext uri="{FF2B5EF4-FFF2-40B4-BE49-F238E27FC236}">
                  <a16:creationId xmlns:a16="http://schemas.microsoft.com/office/drawing/2014/main" id="{F07E930E-B6AD-17E5-26BA-FC0547DFCC37}"/>
                </a:ext>
              </a:extLst>
            </p:cNvPr>
            <p:cNvSpPr txBox="1"/>
            <p:nvPr/>
          </p:nvSpPr>
          <p:spPr>
            <a:xfrm>
              <a:off x="360000" y="1152000"/>
              <a:ext cx="132385"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7</a:t>
              </a:r>
            </a:p>
          </p:txBody>
        </p:sp>
      </p:grpSp>
      <p:pic>
        <p:nvPicPr>
          <p:cNvPr id="3" name="Picture 2">
            <a:extLst>
              <a:ext uri="{FF2B5EF4-FFF2-40B4-BE49-F238E27FC236}">
                <a16:creationId xmlns:a16="http://schemas.microsoft.com/office/drawing/2014/main" id="{EF2B643C-7E26-8760-663C-B630962E33DC}"/>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foregroundMark x1="54386" y1="40909" x2="54386" y2="40909"/>
                        <a14:foregroundMark x1="75439" y1="50000" x2="75439" y2="50000"/>
                        <a14:foregroundMark x1="24561" y1="47727" x2="24561" y2="47727"/>
                      </a14:backgroundRemoval>
                    </a14:imgEffect>
                  </a14:imgLayer>
                </a14:imgProps>
              </a:ext>
            </a:extLst>
          </a:blip>
          <a:stretch>
            <a:fillRect/>
          </a:stretch>
        </p:blipFill>
        <p:spPr>
          <a:xfrm>
            <a:off x="4885141" y="4347576"/>
            <a:ext cx="233183" cy="180000"/>
          </a:xfrm>
          <a:prstGeom prst="rect">
            <a:avLst/>
          </a:prstGeom>
        </p:spPr>
      </p:pic>
      <p:pic>
        <p:nvPicPr>
          <p:cNvPr id="28" name="Picture 27">
            <a:extLst>
              <a:ext uri="{FF2B5EF4-FFF2-40B4-BE49-F238E27FC236}">
                <a16:creationId xmlns:a16="http://schemas.microsoft.com/office/drawing/2014/main" id="{768B0904-EC4D-0AF7-8551-E2C99B359228}"/>
              </a:ext>
            </a:extLst>
          </p:cNvPr>
          <p:cNvPicPr>
            <a:picLocks/>
          </p:cNvPicPr>
          <p:nvPr/>
        </p:nvPicPr>
        <p:blipFill>
          <a:blip r:embed="rId7">
            <a:alphaModFix/>
            <a:extLst>
              <a:ext uri="{BEBA8EAE-BF5A-486C-A8C5-ECC9F3942E4B}">
                <a14:imgProps xmlns:a14="http://schemas.microsoft.com/office/drawing/2010/main">
                  <a14:imgLayer r:embed="rId8">
                    <a14:imgEffect>
                      <a14:backgroundRemoval t="10000" b="90000" l="10000" r="90000">
                        <a14:foregroundMark x1="46479" y1="29134" x2="46479" y2="29134"/>
                      </a14:backgroundRemoval>
                    </a14:imgEffect>
                  </a14:imgLayer>
                </a14:imgProps>
              </a:ext>
            </a:extLst>
          </a:blip>
          <a:stretch>
            <a:fillRect/>
          </a:stretch>
        </p:blipFill>
        <p:spPr>
          <a:xfrm>
            <a:off x="5096082" y="4354096"/>
            <a:ext cx="203777" cy="179578"/>
          </a:xfrm>
          <a:prstGeom prst="rect">
            <a:avLst/>
          </a:prstGeom>
        </p:spPr>
      </p:pic>
    </p:spTree>
    <p:extLst>
      <p:ext uri="{BB962C8B-B14F-4D97-AF65-F5344CB8AC3E}">
        <p14:creationId xmlns:p14="http://schemas.microsoft.com/office/powerpoint/2010/main" val="3446284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B6C5A4D8-8579-4FDA-A87E-26A76279A924}"/>
              </a:ext>
            </a:extLst>
          </p:cNvPr>
          <p:cNvSpPr/>
          <p:nvPr/>
        </p:nvSpPr>
        <p:spPr>
          <a:xfrm>
            <a:off x="194305" y="1318098"/>
            <a:ext cx="8642350" cy="3603625"/>
          </a:xfrm>
          <a:prstGeom prst="rect">
            <a:avLst/>
          </a:prstGeom>
          <a:noFill/>
        </p:spPr>
        <p:txBody>
          <a:bodyPr/>
          <a:lstStyle/>
          <a:p>
            <a:endParaRPr lang="en-GB"/>
          </a:p>
        </p:txBody>
      </p:sp>
      <p:sp>
        <p:nvSpPr>
          <p:cNvPr id="4" name="Slide Number Placeholder 3">
            <a:extLst>
              <a:ext uri="{FF2B5EF4-FFF2-40B4-BE49-F238E27FC236}">
                <a16:creationId xmlns:a16="http://schemas.microsoft.com/office/drawing/2014/main" id="{C96DA59E-3B00-40A4-96AE-82AC15D86BD5}"/>
              </a:ext>
            </a:extLst>
          </p:cNvPr>
          <p:cNvSpPr>
            <a:spLocks noGrp="1"/>
          </p:cNvSpPr>
          <p:nvPr>
            <p:ph type="sldNum" sz="quarter" idx="15"/>
          </p:nvPr>
        </p:nvSpPr>
        <p:spPr/>
        <p:txBody>
          <a:bodyPr/>
          <a:lstStyle/>
          <a:p>
            <a:pPr defTabSz="914378"/>
            <a:fld id="{72A83A2B-3358-44F8-83A0-4598795D8FB5}" type="slidenum">
              <a:rPr lang="en-GB">
                <a:solidFill>
                  <a:srgbClr val="000000"/>
                </a:solidFill>
              </a:rPr>
              <a:pPr defTabSz="914378"/>
              <a:t>24</a:t>
            </a:fld>
            <a:endParaRPr lang="en-GB">
              <a:solidFill>
                <a:srgbClr val="000000"/>
              </a:solidFill>
            </a:endParaRPr>
          </a:p>
        </p:txBody>
      </p:sp>
      <p:sp>
        <p:nvSpPr>
          <p:cNvPr id="2" name="Title 1">
            <a:extLst>
              <a:ext uri="{FF2B5EF4-FFF2-40B4-BE49-F238E27FC236}">
                <a16:creationId xmlns:a16="http://schemas.microsoft.com/office/drawing/2014/main" id="{8DABFEE5-84BE-4829-83BE-E029F92370C6}"/>
              </a:ext>
            </a:extLst>
          </p:cNvPr>
          <p:cNvSpPr>
            <a:spLocks noGrp="1"/>
          </p:cNvSpPr>
          <p:nvPr>
            <p:ph type="title"/>
          </p:nvPr>
        </p:nvSpPr>
        <p:spPr/>
        <p:txBody>
          <a:bodyPr/>
          <a:lstStyle/>
          <a:p>
            <a:r>
              <a:rPr lang="en-GB" dirty="0"/>
              <a:t>Detailed workflow who does what #2</a:t>
            </a:r>
          </a:p>
        </p:txBody>
      </p:sp>
      <p:sp>
        <p:nvSpPr>
          <p:cNvPr id="16" name="TextBox 15">
            <a:extLst>
              <a:ext uri="{FF2B5EF4-FFF2-40B4-BE49-F238E27FC236}">
                <a16:creationId xmlns:a16="http://schemas.microsoft.com/office/drawing/2014/main" id="{92746F47-60CD-49F6-936B-24E1117A73FE}"/>
              </a:ext>
            </a:extLst>
          </p:cNvPr>
          <p:cNvSpPr txBox="1"/>
          <p:nvPr/>
        </p:nvSpPr>
        <p:spPr>
          <a:xfrm>
            <a:off x="7248760" y="36349"/>
            <a:ext cx="1815752" cy="337886"/>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chor="ctr">
            <a:noAutofit/>
          </a:bodyPr>
          <a:lstStyle/>
          <a:p>
            <a:pPr algn="ctr" defTabSz="685800"/>
            <a:r>
              <a:rPr lang="en-GB" sz="900">
                <a:solidFill>
                  <a:srgbClr val="000000"/>
                </a:solidFill>
                <a:latin typeface="Vodafone Rg" pitchFamily="34" charset="0"/>
              </a:rPr>
              <a:t>The order of the steps is indicative and may vary depending on the project</a:t>
            </a:r>
          </a:p>
        </p:txBody>
      </p:sp>
      <p:sp>
        <p:nvSpPr>
          <p:cNvPr id="159" name="TextBox 158">
            <a:extLst>
              <a:ext uri="{FF2B5EF4-FFF2-40B4-BE49-F238E27FC236}">
                <a16:creationId xmlns:a16="http://schemas.microsoft.com/office/drawing/2014/main" id="{C092075E-4F43-F9ED-4A84-FC0685C01F51}"/>
              </a:ext>
            </a:extLst>
          </p:cNvPr>
          <p:cNvSpPr txBox="1"/>
          <p:nvPr/>
        </p:nvSpPr>
        <p:spPr>
          <a:xfrm>
            <a:off x="250826" y="762394"/>
            <a:ext cx="8642349" cy="309172"/>
          </a:xfrm>
          <a:prstGeom prst="rect">
            <a:avLst/>
          </a:prstGeom>
          <a:solidFill>
            <a:schemeClr val="bg2">
              <a:lumMod val="20000"/>
              <a:lumOff val="80000"/>
            </a:schemeClr>
          </a:solidFill>
        </p:spPr>
        <p:txBody>
          <a:bodyPr wrap="square" lIns="54000" tIns="27000" rIns="54000" bIns="54000" rtlCol="0">
            <a:noAutofit/>
          </a:bodyPr>
          <a:lstStyle/>
          <a:p>
            <a:pPr defTabSz="685800"/>
            <a:r>
              <a:rPr lang="en-GB" sz="1200" dirty="0">
                <a:solidFill>
                  <a:srgbClr val="000000"/>
                </a:solidFill>
                <a:latin typeface="Vodafone Rg" pitchFamily="34" charset="0"/>
              </a:rPr>
              <a:t>A more detailed workflow of the Epic, Feature and Function, along with their typical roles</a:t>
            </a:r>
          </a:p>
          <a:p>
            <a:pPr defTabSz="685800"/>
            <a:endParaRPr lang="en-GB" sz="1200" i="1" dirty="0">
              <a:solidFill>
                <a:srgbClr val="FF0000"/>
              </a:solidFill>
              <a:latin typeface="Vodafone Rg" pitchFamily="34" charset="0"/>
            </a:endParaRPr>
          </a:p>
        </p:txBody>
      </p:sp>
      <p:pic>
        <p:nvPicPr>
          <p:cNvPr id="127" name="Picture 126">
            <a:extLst>
              <a:ext uri="{FF2B5EF4-FFF2-40B4-BE49-F238E27FC236}">
                <a16:creationId xmlns:a16="http://schemas.microsoft.com/office/drawing/2014/main" id="{90A7F02F-C588-FC47-415F-1F5A45747567}"/>
              </a:ext>
            </a:extLst>
          </p:cNvPr>
          <p:cNvPicPr>
            <a:picLocks/>
          </p:cNvPicPr>
          <p:nvPr/>
        </p:nvPicPr>
        <p:blipFill>
          <a:blip r:embed="rId3">
            <a:alphaModFix/>
            <a:extLst>
              <a:ext uri="{BEBA8EAE-BF5A-486C-A8C5-ECC9F3942E4B}">
                <a14:imgProps xmlns:a14="http://schemas.microsoft.com/office/drawing/2010/main">
                  <a14:imgLayer r:embed="rId4">
                    <a14:imgEffect>
                      <a14:backgroundRemoval t="10000" b="90000" l="10000" r="90000">
                        <a14:foregroundMark x1="46479" y1="29134" x2="46479" y2="29134"/>
                      </a14:backgroundRemoval>
                    </a14:imgEffect>
                  </a14:imgLayer>
                </a14:imgProps>
              </a:ext>
            </a:extLst>
          </a:blip>
          <a:stretch>
            <a:fillRect/>
          </a:stretch>
        </p:blipFill>
        <p:spPr>
          <a:xfrm>
            <a:off x="2705599" y="2517143"/>
            <a:ext cx="203777" cy="179578"/>
          </a:xfrm>
          <a:prstGeom prst="rect">
            <a:avLst/>
          </a:prstGeom>
        </p:spPr>
      </p:pic>
      <p:pic>
        <p:nvPicPr>
          <p:cNvPr id="129" name="Picture 128">
            <a:extLst>
              <a:ext uri="{FF2B5EF4-FFF2-40B4-BE49-F238E27FC236}">
                <a16:creationId xmlns:a16="http://schemas.microsoft.com/office/drawing/2014/main" id="{D170E5A0-4878-F4D3-FA72-B35E137B32A4}"/>
              </a:ext>
            </a:extLst>
          </p:cNvPr>
          <p:cNvPicPr>
            <a:picLocks noChangeAspect="1"/>
          </p:cNvPicPr>
          <p:nvPr/>
        </p:nvPicPr>
        <p:blipFill>
          <a:blip r:embed="rId5">
            <a:clrChange>
              <a:clrFrom>
                <a:srgbClr val="F8F8F8"/>
              </a:clrFrom>
              <a:clrTo>
                <a:srgbClr val="F8F8F8">
                  <a:alpha val="0"/>
                </a:srgbClr>
              </a:clrTo>
            </a:clrChange>
          </a:blip>
          <a:stretch>
            <a:fillRect/>
          </a:stretch>
        </p:blipFill>
        <p:spPr>
          <a:xfrm>
            <a:off x="2895086" y="2548707"/>
            <a:ext cx="180164" cy="146800"/>
          </a:xfrm>
          <a:prstGeom prst="rect">
            <a:avLst/>
          </a:prstGeom>
        </p:spPr>
      </p:pic>
      <p:sp>
        <p:nvSpPr>
          <p:cNvPr id="135" name="TextBox 134">
            <a:extLst>
              <a:ext uri="{FF2B5EF4-FFF2-40B4-BE49-F238E27FC236}">
                <a16:creationId xmlns:a16="http://schemas.microsoft.com/office/drawing/2014/main" id="{7669A55B-04D1-1828-ADC1-AD2942BD95DF}"/>
              </a:ext>
            </a:extLst>
          </p:cNvPr>
          <p:cNvSpPr txBox="1"/>
          <p:nvPr/>
        </p:nvSpPr>
        <p:spPr>
          <a:xfrm rot="16200000">
            <a:off x="8346236" y="3744000"/>
            <a:ext cx="959832" cy="134048"/>
          </a:xfrm>
          <a:prstGeom prst="rect">
            <a:avLst/>
          </a:prstGeom>
          <a:solidFill>
            <a:schemeClr val="accent4"/>
          </a:solidFill>
        </p:spPr>
        <p:txBody>
          <a:bodyPr wrap="square" lIns="0" tIns="0" rIns="0" bIns="0" rtlCol="0" anchor="ctr">
            <a:noAutofit/>
          </a:bodyPr>
          <a:lstStyle/>
          <a:p>
            <a:pPr algn="ctr" defTabSz="914378"/>
            <a:r>
              <a:rPr lang="en-GB" sz="900" b="1" dirty="0">
                <a:solidFill>
                  <a:srgbClr val="FFFFFF"/>
                </a:solidFill>
                <a:latin typeface="Vodafone Rg" pitchFamily="34" charset="0"/>
              </a:rPr>
              <a:t>Next Page</a:t>
            </a:r>
          </a:p>
        </p:txBody>
      </p:sp>
      <p:grpSp>
        <p:nvGrpSpPr>
          <p:cNvPr id="175" name="Group 174">
            <a:extLst>
              <a:ext uri="{FF2B5EF4-FFF2-40B4-BE49-F238E27FC236}">
                <a16:creationId xmlns:a16="http://schemas.microsoft.com/office/drawing/2014/main" id="{450B4A1A-E2E0-A78B-A605-5916CD7BEA24}"/>
              </a:ext>
            </a:extLst>
          </p:cNvPr>
          <p:cNvGrpSpPr/>
          <p:nvPr/>
        </p:nvGrpSpPr>
        <p:grpSpPr>
          <a:xfrm>
            <a:off x="1325733" y="2695607"/>
            <a:ext cx="6637568" cy="406224"/>
            <a:chOff x="1325733" y="2695607"/>
            <a:chExt cx="6637568" cy="406224"/>
          </a:xfrm>
        </p:grpSpPr>
        <p:cxnSp>
          <p:nvCxnSpPr>
            <p:cNvPr id="146" name="Straight Connector 145">
              <a:extLst>
                <a:ext uri="{FF2B5EF4-FFF2-40B4-BE49-F238E27FC236}">
                  <a16:creationId xmlns:a16="http://schemas.microsoft.com/office/drawing/2014/main" id="{20A4569C-4DE8-C7AB-07EB-E758C35E314F}"/>
                </a:ext>
              </a:extLst>
            </p:cNvPr>
            <p:cNvCxnSpPr>
              <a:cxnSpLocks/>
            </p:cNvCxnSpPr>
            <p:nvPr/>
          </p:nvCxnSpPr>
          <p:spPr>
            <a:xfrm>
              <a:off x="7963301" y="2695607"/>
              <a:ext cx="0" cy="137429"/>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F77D696F-5AD6-1E84-6E01-BCEC97FB9239}"/>
                </a:ext>
              </a:extLst>
            </p:cNvPr>
            <p:cNvCxnSpPr>
              <a:cxnSpLocks/>
            </p:cNvCxnSpPr>
            <p:nvPr/>
          </p:nvCxnSpPr>
          <p:spPr>
            <a:xfrm flipH="1">
              <a:off x="1325733" y="2833036"/>
              <a:ext cx="6637568"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62870F04-5BB1-6350-E71D-B393E3130404}"/>
                </a:ext>
              </a:extLst>
            </p:cNvPr>
            <p:cNvCxnSpPr>
              <a:cxnSpLocks/>
            </p:cNvCxnSpPr>
            <p:nvPr/>
          </p:nvCxnSpPr>
          <p:spPr>
            <a:xfrm>
              <a:off x="1325733" y="2833036"/>
              <a:ext cx="0" cy="268795"/>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sp>
        <p:nvSpPr>
          <p:cNvPr id="6" name="Freeform: Shape 5">
            <a:extLst>
              <a:ext uri="{FF2B5EF4-FFF2-40B4-BE49-F238E27FC236}">
                <a16:creationId xmlns:a16="http://schemas.microsoft.com/office/drawing/2014/main" id="{3CA85CA2-2021-9BE7-E026-696AE7FC8C35}"/>
              </a:ext>
            </a:extLst>
          </p:cNvPr>
          <p:cNvSpPr/>
          <p:nvPr/>
        </p:nvSpPr>
        <p:spPr>
          <a:xfrm>
            <a:off x="2135734" y="1508679"/>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sp>
        <p:nvSpPr>
          <p:cNvPr id="8" name="TextBox 7">
            <a:extLst>
              <a:ext uri="{FF2B5EF4-FFF2-40B4-BE49-F238E27FC236}">
                <a16:creationId xmlns:a16="http://schemas.microsoft.com/office/drawing/2014/main" id="{F9E3B1A0-A2B0-C1BB-90E4-00874F970665}"/>
              </a:ext>
            </a:extLst>
          </p:cNvPr>
          <p:cNvSpPr txBox="1"/>
          <p:nvPr/>
        </p:nvSpPr>
        <p:spPr>
          <a:xfrm rot="16200000">
            <a:off x="0" y="1908000"/>
            <a:ext cx="696591" cy="134048"/>
          </a:xfrm>
          <a:prstGeom prst="rect">
            <a:avLst/>
          </a:prstGeom>
          <a:solidFill>
            <a:schemeClr val="accent4"/>
          </a:solidFill>
        </p:spPr>
        <p:txBody>
          <a:bodyPr wrap="square" lIns="0" tIns="0" rIns="0" bIns="0" rtlCol="0" anchor="ctr">
            <a:noAutofit/>
          </a:bodyPr>
          <a:lstStyle/>
          <a:p>
            <a:pPr algn="ctr" defTabSz="914378"/>
            <a:r>
              <a:rPr lang="en-GB" sz="900" b="1" dirty="0">
                <a:solidFill>
                  <a:srgbClr val="FFFFFF"/>
                </a:solidFill>
                <a:latin typeface="Vodafone Rg" pitchFamily="34" charset="0"/>
              </a:rPr>
              <a:t>Continued</a:t>
            </a:r>
          </a:p>
        </p:txBody>
      </p:sp>
      <p:grpSp>
        <p:nvGrpSpPr>
          <p:cNvPr id="9" name="Group 8">
            <a:extLst>
              <a:ext uri="{FF2B5EF4-FFF2-40B4-BE49-F238E27FC236}">
                <a16:creationId xmlns:a16="http://schemas.microsoft.com/office/drawing/2014/main" id="{40DF4A87-D4CA-2A45-38A4-36EECE349788}"/>
              </a:ext>
            </a:extLst>
          </p:cNvPr>
          <p:cNvGrpSpPr/>
          <p:nvPr/>
        </p:nvGrpSpPr>
        <p:grpSpPr>
          <a:xfrm>
            <a:off x="370139" y="1117811"/>
            <a:ext cx="1764000" cy="1584000"/>
            <a:chOff x="360000" y="1152000"/>
            <a:chExt cx="1764000" cy="1584000"/>
          </a:xfrm>
          <a:solidFill>
            <a:schemeClr val="accent1">
              <a:lumMod val="20000"/>
              <a:lumOff val="80000"/>
            </a:schemeClr>
          </a:solidFill>
        </p:grpSpPr>
        <p:sp>
          <p:nvSpPr>
            <p:cNvPr id="12" name="Freeform: Shape 11">
              <a:extLst>
                <a:ext uri="{FF2B5EF4-FFF2-40B4-BE49-F238E27FC236}">
                  <a16:creationId xmlns:a16="http://schemas.microsoft.com/office/drawing/2014/main" id="{8E1533BF-E5E1-6296-99C4-DAC382025C70}"/>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13" name="Rectangle 12">
              <a:extLst>
                <a:ext uri="{FF2B5EF4-FFF2-40B4-BE49-F238E27FC236}">
                  <a16:creationId xmlns:a16="http://schemas.microsoft.com/office/drawing/2014/main" id="{FBA3B5DE-5713-384C-0EAA-6096FEF28012}"/>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 </a:t>
              </a:r>
              <a:r>
                <a:rPr lang="en-GB" sz="800" dirty="0">
                  <a:solidFill>
                    <a:srgbClr val="000000"/>
                  </a:solidFill>
                  <a:latin typeface="Vodafone Rg"/>
                </a:rPr>
                <a:t>Workshop with domains to confirm and assess </a:t>
              </a:r>
              <a:r>
                <a:rPr lang="en-GB" sz="800" b="1" dirty="0">
                  <a:solidFill>
                    <a:srgbClr val="000000"/>
                  </a:solidFill>
                  <a:latin typeface="Vodafone Rg"/>
                </a:rPr>
                <a:t>Function(s)</a:t>
              </a:r>
            </a:p>
          </p:txBody>
        </p:sp>
        <p:sp>
          <p:nvSpPr>
            <p:cNvPr id="17" name="TextBox 16">
              <a:extLst>
                <a:ext uri="{FF2B5EF4-FFF2-40B4-BE49-F238E27FC236}">
                  <a16:creationId xmlns:a16="http://schemas.microsoft.com/office/drawing/2014/main" id="{53A27A90-6C57-D0C1-8E2D-1A8C55ACDA72}"/>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TDM</a:t>
              </a:r>
            </a:p>
            <a:p>
              <a:pPr defTabSz="914378"/>
              <a:r>
                <a:rPr lang="en-GB" sz="800" dirty="0">
                  <a:solidFill>
                    <a:srgbClr val="000000"/>
                  </a:solidFill>
                  <a:latin typeface="Vodafone Rg"/>
                </a:rPr>
                <a:t>Domain Architect/Third Party Designer</a:t>
              </a:r>
            </a:p>
            <a:p>
              <a:pPr defTabSz="914378"/>
              <a:endParaRPr lang="en-GB" sz="800" dirty="0">
                <a:solidFill>
                  <a:srgbClr val="000000"/>
                </a:solidFill>
                <a:latin typeface="Vodafone Rg"/>
              </a:endParaRPr>
            </a:p>
          </p:txBody>
        </p:sp>
        <p:sp>
          <p:nvSpPr>
            <p:cNvPr id="18" name="TextBox 17">
              <a:extLst>
                <a:ext uri="{FF2B5EF4-FFF2-40B4-BE49-F238E27FC236}">
                  <a16:creationId xmlns:a16="http://schemas.microsoft.com/office/drawing/2014/main" id="{155D2C44-7FE4-24C1-C1FF-660EFDA32B8F}"/>
                </a:ext>
              </a:extLst>
            </p:cNvPr>
            <p:cNvSpPr txBox="1"/>
            <p:nvPr/>
          </p:nvSpPr>
          <p:spPr>
            <a:xfrm>
              <a:off x="360000" y="1152000"/>
              <a:ext cx="132385"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9</a:t>
              </a:r>
            </a:p>
          </p:txBody>
        </p:sp>
      </p:grpSp>
      <p:grpSp>
        <p:nvGrpSpPr>
          <p:cNvPr id="20" name="Group 19">
            <a:extLst>
              <a:ext uri="{FF2B5EF4-FFF2-40B4-BE49-F238E27FC236}">
                <a16:creationId xmlns:a16="http://schemas.microsoft.com/office/drawing/2014/main" id="{642F5012-3AD2-8EEB-95CD-2536916FEB02}"/>
              </a:ext>
            </a:extLst>
          </p:cNvPr>
          <p:cNvGrpSpPr/>
          <p:nvPr/>
        </p:nvGrpSpPr>
        <p:grpSpPr>
          <a:xfrm>
            <a:off x="2413569" y="1117811"/>
            <a:ext cx="1910051" cy="1584000"/>
            <a:chOff x="213949" y="1152000"/>
            <a:chExt cx="1910051" cy="1584000"/>
          </a:xfrm>
          <a:solidFill>
            <a:schemeClr val="accent1">
              <a:lumMod val="20000"/>
              <a:lumOff val="80000"/>
            </a:schemeClr>
          </a:solidFill>
        </p:grpSpPr>
        <p:sp>
          <p:nvSpPr>
            <p:cNvPr id="23" name="Freeform: Shape 22">
              <a:extLst>
                <a:ext uri="{FF2B5EF4-FFF2-40B4-BE49-F238E27FC236}">
                  <a16:creationId xmlns:a16="http://schemas.microsoft.com/office/drawing/2014/main" id="{655A35FA-067D-D080-A474-3E4F9DA52C7C}"/>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24" name="Rectangle 23">
              <a:extLst>
                <a:ext uri="{FF2B5EF4-FFF2-40B4-BE49-F238E27FC236}">
                  <a16:creationId xmlns:a16="http://schemas.microsoft.com/office/drawing/2014/main" id="{9E1712CD-4EC6-1D67-54E7-A800DC7494EA}"/>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a:t>
              </a:r>
              <a:r>
                <a:rPr lang="en-GB" sz="800" dirty="0">
                  <a:solidFill>
                    <a:srgbClr val="000000"/>
                  </a:solidFill>
                  <a:latin typeface="Vodafone Rg"/>
                </a:rPr>
                <a:t> Request and progress VROM, updating T-Shirt &amp; </a:t>
              </a:r>
              <a:r>
                <a:rPr lang="en-GB" sz="800" b="1" dirty="0">
                  <a:solidFill>
                    <a:srgbClr val="000000"/>
                  </a:solidFill>
                  <a:latin typeface="Vodafone Rg"/>
                </a:rPr>
                <a:t>Function</a:t>
              </a:r>
              <a:r>
                <a:rPr lang="en-GB" sz="800" dirty="0">
                  <a:solidFill>
                    <a:srgbClr val="000000"/>
                  </a:solidFill>
                  <a:latin typeface="Vodafone Rg"/>
                </a:rPr>
                <a:t> State.</a:t>
              </a:r>
              <a:br>
                <a:rPr lang="en-GB" sz="800" dirty="0">
                  <a:solidFill>
                    <a:srgbClr val="000000"/>
                  </a:solidFill>
                  <a:latin typeface="Vodafone Rg"/>
                </a:rPr>
              </a:br>
              <a:br>
                <a:rPr lang="en-GB" sz="800" dirty="0">
                  <a:solidFill>
                    <a:srgbClr val="000000"/>
                  </a:solidFill>
                  <a:latin typeface="Vodafone Rg"/>
                </a:rPr>
              </a:br>
              <a:r>
                <a:rPr lang="en-GB" sz="800" b="1" dirty="0">
                  <a:solidFill>
                    <a:srgbClr val="000000"/>
                  </a:solidFill>
                  <a:latin typeface="Vodafone Rg"/>
                </a:rPr>
                <a:t>Note</a:t>
              </a:r>
              <a:r>
                <a:rPr lang="en-GB" sz="800" dirty="0">
                  <a:solidFill>
                    <a:srgbClr val="000000"/>
                  </a:solidFill>
                  <a:latin typeface="Vodafone Rg"/>
                </a:rPr>
                <a:t>: If not small, consider splitting  and scheduling in parallel, with multiple design/dev/test if possible</a:t>
              </a:r>
            </a:p>
          </p:txBody>
        </p:sp>
        <p:sp>
          <p:nvSpPr>
            <p:cNvPr id="25" name="TextBox 24">
              <a:extLst>
                <a:ext uri="{FF2B5EF4-FFF2-40B4-BE49-F238E27FC236}">
                  <a16:creationId xmlns:a16="http://schemas.microsoft.com/office/drawing/2014/main" id="{EAD91AB1-F0E6-48C8-1DB1-6224E69527A0}"/>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Domain Architect/Third Party Designer</a:t>
              </a:r>
            </a:p>
            <a:p>
              <a:pPr defTabSz="914378"/>
              <a:r>
                <a:rPr lang="en-GB" sz="800" dirty="0">
                  <a:solidFill>
                    <a:srgbClr val="000000"/>
                  </a:solidFill>
                  <a:latin typeface="Vodafone Rg"/>
                </a:rPr>
                <a:t>TDM</a:t>
              </a:r>
            </a:p>
          </p:txBody>
        </p:sp>
        <p:sp>
          <p:nvSpPr>
            <p:cNvPr id="26" name="TextBox 25">
              <a:extLst>
                <a:ext uri="{FF2B5EF4-FFF2-40B4-BE49-F238E27FC236}">
                  <a16:creationId xmlns:a16="http://schemas.microsoft.com/office/drawing/2014/main" id="{773A2F8E-D3F2-36F4-AAB0-2992ADA95FFF}"/>
                </a:ext>
              </a:extLst>
            </p:cNvPr>
            <p:cNvSpPr txBox="1"/>
            <p:nvPr/>
          </p:nvSpPr>
          <p:spPr>
            <a:xfrm>
              <a:off x="213949" y="1152000"/>
              <a:ext cx="288000"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10</a:t>
              </a:r>
            </a:p>
          </p:txBody>
        </p:sp>
      </p:grpSp>
      <p:grpSp>
        <p:nvGrpSpPr>
          <p:cNvPr id="28" name="Group 27">
            <a:extLst>
              <a:ext uri="{FF2B5EF4-FFF2-40B4-BE49-F238E27FC236}">
                <a16:creationId xmlns:a16="http://schemas.microsoft.com/office/drawing/2014/main" id="{6DBA0769-82AB-45DA-4EDE-0DC822397891}"/>
              </a:ext>
            </a:extLst>
          </p:cNvPr>
          <p:cNvGrpSpPr/>
          <p:nvPr/>
        </p:nvGrpSpPr>
        <p:grpSpPr>
          <a:xfrm>
            <a:off x="4603050" y="1117811"/>
            <a:ext cx="1906876" cy="1584000"/>
            <a:chOff x="217124" y="1152000"/>
            <a:chExt cx="1906876" cy="1584000"/>
          </a:xfrm>
          <a:solidFill>
            <a:schemeClr val="accent1">
              <a:lumMod val="20000"/>
              <a:lumOff val="80000"/>
            </a:schemeClr>
          </a:solidFill>
        </p:grpSpPr>
        <p:sp>
          <p:nvSpPr>
            <p:cNvPr id="30" name="Freeform: Shape 29">
              <a:extLst>
                <a:ext uri="{FF2B5EF4-FFF2-40B4-BE49-F238E27FC236}">
                  <a16:creationId xmlns:a16="http://schemas.microsoft.com/office/drawing/2014/main" id="{931D00D7-6DBA-A2FA-1ADC-87CA1F0CACBC}"/>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31" name="Rectangle 30">
              <a:extLst>
                <a:ext uri="{FF2B5EF4-FFF2-40B4-BE49-F238E27FC236}">
                  <a16:creationId xmlns:a16="http://schemas.microsoft.com/office/drawing/2014/main" id="{BCD0CEAF-A3A4-5147-690C-25A6B1228372}"/>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a:t>
              </a:r>
              <a:r>
                <a:rPr lang="en-GB" sz="800" dirty="0">
                  <a:solidFill>
                    <a:srgbClr val="000000"/>
                  </a:solidFill>
                  <a:latin typeface="Vodafone Rg"/>
                </a:rPr>
                <a:t> Within </a:t>
              </a:r>
              <a:r>
                <a:rPr lang="en-GB" sz="800" b="1" dirty="0">
                  <a:solidFill>
                    <a:srgbClr val="000000"/>
                  </a:solidFill>
                  <a:latin typeface="Vodafone Rg"/>
                </a:rPr>
                <a:t>Function</a:t>
              </a:r>
              <a:r>
                <a:rPr lang="en-GB" sz="800" dirty="0">
                  <a:solidFill>
                    <a:srgbClr val="000000"/>
                  </a:solidFill>
                  <a:latin typeface="Vodafone Rg"/>
                </a:rPr>
                <a:t>, Upload/Link to VROM, update State, PAD, BTD and other key fields</a:t>
              </a:r>
            </a:p>
            <a:p>
              <a:pPr defTabSz="200025">
                <a:lnSpc>
                  <a:spcPct val="90000"/>
                </a:lnSpc>
                <a:spcBef>
                  <a:spcPct val="0"/>
                </a:spcBef>
                <a:spcAft>
                  <a:spcPct val="35000"/>
                </a:spcAft>
              </a:pPr>
              <a:endParaRPr lang="en-GB" sz="800" dirty="0">
                <a:solidFill>
                  <a:srgbClr val="000000"/>
                </a:solidFill>
                <a:latin typeface="Vodafone Rg"/>
              </a:endParaRPr>
            </a:p>
          </p:txBody>
        </p:sp>
        <p:sp>
          <p:nvSpPr>
            <p:cNvPr id="32" name="TextBox 31">
              <a:extLst>
                <a:ext uri="{FF2B5EF4-FFF2-40B4-BE49-F238E27FC236}">
                  <a16:creationId xmlns:a16="http://schemas.microsoft.com/office/drawing/2014/main" id="{734DFCF6-06CF-6A52-3536-EC31EA23A5D6}"/>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Domain Architect/Third Party Designer</a:t>
              </a:r>
            </a:p>
            <a:p>
              <a:pPr defTabSz="914378"/>
              <a:r>
                <a:rPr lang="en-GB" sz="800" i="1" dirty="0">
                  <a:solidFill>
                    <a:srgbClr val="000000"/>
                  </a:solidFill>
                  <a:latin typeface="Vodafone Rg"/>
                </a:rPr>
                <a:t>TDM (If function in RM ADO)</a:t>
              </a:r>
            </a:p>
          </p:txBody>
        </p:sp>
        <p:sp>
          <p:nvSpPr>
            <p:cNvPr id="33" name="TextBox 32">
              <a:extLst>
                <a:ext uri="{FF2B5EF4-FFF2-40B4-BE49-F238E27FC236}">
                  <a16:creationId xmlns:a16="http://schemas.microsoft.com/office/drawing/2014/main" id="{FAC30F8A-1FB9-529B-D4C5-3263B12D59DB}"/>
                </a:ext>
              </a:extLst>
            </p:cNvPr>
            <p:cNvSpPr txBox="1"/>
            <p:nvPr/>
          </p:nvSpPr>
          <p:spPr>
            <a:xfrm>
              <a:off x="217124" y="1152000"/>
              <a:ext cx="288000"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11</a:t>
              </a:r>
            </a:p>
          </p:txBody>
        </p:sp>
      </p:grpSp>
      <p:grpSp>
        <p:nvGrpSpPr>
          <p:cNvPr id="35" name="Group 34">
            <a:extLst>
              <a:ext uri="{FF2B5EF4-FFF2-40B4-BE49-F238E27FC236}">
                <a16:creationId xmlns:a16="http://schemas.microsoft.com/office/drawing/2014/main" id="{0A5137C7-223B-90D7-FFB7-F43B3137055F}"/>
              </a:ext>
            </a:extLst>
          </p:cNvPr>
          <p:cNvGrpSpPr/>
          <p:nvPr/>
        </p:nvGrpSpPr>
        <p:grpSpPr>
          <a:xfrm>
            <a:off x="6789355" y="1117811"/>
            <a:ext cx="1906876" cy="1584000"/>
            <a:chOff x="217124" y="1152000"/>
            <a:chExt cx="1906876" cy="1584000"/>
          </a:xfrm>
          <a:solidFill>
            <a:schemeClr val="accent1">
              <a:lumMod val="20000"/>
              <a:lumOff val="80000"/>
            </a:schemeClr>
          </a:solidFill>
        </p:grpSpPr>
        <p:sp>
          <p:nvSpPr>
            <p:cNvPr id="37" name="Freeform: Shape 36">
              <a:extLst>
                <a:ext uri="{FF2B5EF4-FFF2-40B4-BE49-F238E27FC236}">
                  <a16:creationId xmlns:a16="http://schemas.microsoft.com/office/drawing/2014/main" id="{89D3E7B4-F9D9-1146-DEF5-FE4FF1C7B9E2}"/>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800" dirty="0">
                <a:solidFill>
                  <a:srgbClr val="000000"/>
                </a:solidFill>
                <a:latin typeface="Vodafone Rg"/>
              </a:endParaRPr>
            </a:p>
          </p:txBody>
        </p:sp>
        <p:sp>
          <p:nvSpPr>
            <p:cNvPr id="39" name="Rectangle 38">
              <a:extLst>
                <a:ext uri="{FF2B5EF4-FFF2-40B4-BE49-F238E27FC236}">
                  <a16:creationId xmlns:a16="http://schemas.microsoft.com/office/drawing/2014/main" id="{D8491431-5CF8-800B-FBAC-0FFE37D0533E}"/>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 </a:t>
              </a:r>
              <a:r>
                <a:rPr lang="en-GB" sz="800" dirty="0">
                  <a:solidFill>
                    <a:srgbClr val="000000"/>
                  </a:solidFill>
                  <a:latin typeface="Vodafone Rg"/>
                </a:rPr>
                <a:t>Where the VROM is not created by a domain, the Domain approves the VROM and updates the </a:t>
              </a:r>
              <a:r>
                <a:rPr lang="en-GB" sz="800" b="1" dirty="0">
                  <a:solidFill>
                    <a:srgbClr val="000000"/>
                  </a:solidFill>
                  <a:latin typeface="Vodafone Rg"/>
                </a:rPr>
                <a:t>Function</a:t>
              </a:r>
              <a:r>
                <a:rPr lang="en-GB" sz="800" dirty="0">
                  <a:solidFill>
                    <a:srgbClr val="000000"/>
                  </a:solidFill>
                  <a:latin typeface="Vodafone Rg"/>
                </a:rPr>
                <a:t> State</a:t>
              </a:r>
            </a:p>
          </p:txBody>
        </p:sp>
        <p:sp>
          <p:nvSpPr>
            <p:cNvPr id="40" name="TextBox 39">
              <a:extLst>
                <a:ext uri="{FF2B5EF4-FFF2-40B4-BE49-F238E27FC236}">
                  <a16:creationId xmlns:a16="http://schemas.microsoft.com/office/drawing/2014/main" id="{C95113EB-76CE-D34E-1678-CC08517E6291}"/>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Domain Architect</a:t>
              </a:r>
            </a:p>
            <a:p>
              <a:pPr defTabSz="914378"/>
              <a:r>
                <a:rPr lang="en-GB" sz="800" i="1" dirty="0">
                  <a:solidFill>
                    <a:srgbClr val="000000"/>
                  </a:solidFill>
                  <a:latin typeface="Vodafone Rg"/>
                </a:rPr>
                <a:t>TDM (If function in RM ADO)</a:t>
              </a:r>
            </a:p>
            <a:p>
              <a:pPr defTabSz="914378"/>
              <a:endParaRPr lang="en-GB" sz="800" dirty="0">
                <a:solidFill>
                  <a:srgbClr val="000000"/>
                </a:solidFill>
                <a:latin typeface="Vodafone Rg"/>
              </a:endParaRPr>
            </a:p>
            <a:p>
              <a:pPr defTabSz="914378"/>
              <a:endParaRPr lang="en-GB" sz="800" dirty="0">
                <a:latin typeface="Vodafone Rg"/>
              </a:endParaRPr>
            </a:p>
          </p:txBody>
        </p:sp>
        <p:sp>
          <p:nvSpPr>
            <p:cNvPr id="41" name="TextBox 40">
              <a:extLst>
                <a:ext uri="{FF2B5EF4-FFF2-40B4-BE49-F238E27FC236}">
                  <a16:creationId xmlns:a16="http://schemas.microsoft.com/office/drawing/2014/main" id="{149AAA75-C0BB-27F5-FE5B-4077DF507F68}"/>
                </a:ext>
              </a:extLst>
            </p:cNvPr>
            <p:cNvSpPr txBox="1"/>
            <p:nvPr/>
          </p:nvSpPr>
          <p:spPr>
            <a:xfrm>
              <a:off x="217124" y="1152000"/>
              <a:ext cx="288000"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12</a:t>
              </a:r>
            </a:p>
          </p:txBody>
        </p:sp>
      </p:grpSp>
      <p:sp>
        <p:nvSpPr>
          <p:cNvPr id="45" name="Freeform: Shape 44">
            <a:extLst>
              <a:ext uri="{FF2B5EF4-FFF2-40B4-BE49-F238E27FC236}">
                <a16:creationId xmlns:a16="http://schemas.microsoft.com/office/drawing/2014/main" id="{1F8C8108-9512-5EA2-0FB8-7A742A0748F7}"/>
              </a:ext>
            </a:extLst>
          </p:cNvPr>
          <p:cNvSpPr/>
          <p:nvPr/>
        </p:nvSpPr>
        <p:spPr>
          <a:xfrm>
            <a:off x="4322782" y="1508679"/>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sp>
        <p:nvSpPr>
          <p:cNvPr id="79" name="Freeform: Shape 78">
            <a:extLst>
              <a:ext uri="{FF2B5EF4-FFF2-40B4-BE49-F238E27FC236}">
                <a16:creationId xmlns:a16="http://schemas.microsoft.com/office/drawing/2014/main" id="{1DC4180C-FA70-EDE4-F222-2FA06DE00025}"/>
              </a:ext>
            </a:extLst>
          </p:cNvPr>
          <p:cNvSpPr/>
          <p:nvPr/>
        </p:nvSpPr>
        <p:spPr>
          <a:xfrm>
            <a:off x="6516702" y="1508679"/>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pic>
        <p:nvPicPr>
          <p:cNvPr id="94" name="Picture 93">
            <a:extLst>
              <a:ext uri="{FF2B5EF4-FFF2-40B4-BE49-F238E27FC236}">
                <a16:creationId xmlns:a16="http://schemas.microsoft.com/office/drawing/2014/main" id="{BF5E2D91-53C0-6E67-8E05-4C9438482CED}"/>
              </a:ext>
            </a:extLst>
          </p:cNvPr>
          <p:cNvPicPr>
            <a:picLocks noChangeAspect="1"/>
          </p:cNvPicPr>
          <p:nvPr/>
        </p:nvPicPr>
        <p:blipFill>
          <a:blip r:embed="rId5">
            <a:clrChange>
              <a:clrFrom>
                <a:srgbClr val="F8F8F8"/>
              </a:clrFrom>
              <a:clrTo>
                <a:srgbClr val="F8F8F8">
                  <a:alpha val="0"/>
                </a:srgbClr>
              </a:clrTo>
            </a:clrChange>
          </a:blip>
          <a:stretch>
            <a:fillRect/>
          </a:stretch>
        </p:blipFill>
        <p:spPr>
          <a:xfrm>
            <a:off x="676173" y="2552099"/>
            <a:ext cx="180164" cy="146800"/>
          </a:xfrm>
          <a:prstGeom prst="rect">
            <a:avLst/>
          </a:prstGeom>
        </p:spPr>
      </p:pic>
      <p:pic>
        <p:nvPicPr>
          <p:cNvPr id="95" name="Picture 94">
            <a:extLst>
              <a:ext uri="{FF2B5EF4-FFF2-40B4-BE49-F238E27FC236}">
                <a16:creationId xmlns:a16="http://schemas.microsoft.com/office/drawing/2014/main" id="{B7D2F402-A856-4E05-98C4-F52F64A466AD}"/>
              </a:ext>
            </a:extLst>
          </p:cNvPr>
          <p:cNvPicPr>
            <a:picLocks/>
          </p:cNvPicPr>
          <p:nvPr/>
        </p:nvPicPr>
        <p:blipFill>
          <a:blip r:embed="rId3">
            <a:alphaModFix/>
            <a:extLst>
              <a:ext uri="{BEBA8EAE-BF5A-486C-A8C5-ECC9F3942E4B}">
                <a14:imgProps xmlns:a14="http://schemas.microsoft.com/office/drawing/2010/main">
                  <a14:imgLayer r:embed="rId4">
                    <a14:imgEffect>
                      <a14:backgroundRemoval t="10000" b="90000" l="10000" r="90000">
                        <a14:foregroundMark x1="46479" y1="29134" x2="46479" y2="29134"/>
                      </a14:backgroundRemoval>
                    </a14:imgEffect>
                  </a14:imgLayer>
                </a14:imgProps>
              </a:ext>
            </a:extLst>
          </a:blip>
          <a:stretch>
            <a:fillRect/>
          </a:stretch>
        </p:blipFill>
        <p:spPr>
          <a:xfrm>
            <a:off x="487209" y="2518995"/>
            <a:ext cx="203777" cy="179578"/>
          </a:xfrm>
          <a:prstGeom prst="rect">
            <a:avLst/>
          </a:prstGeom>
        </p:spPr>
      </p:pic>
      <p:pic>
        <p:nvPicPr>
          <p:cNvPr id="130" name="Picture 129">
            <a:extLst>
              <a:ext uri="{FF2B5EF4-FFF2-40B4-BE49-F238E27FC236}">
                <a16:creationId xmlns:a16="http://schemas.microsoft.com/office/drawing/2014/main" id="{E3F9302D-9422-3BED-99DD-8FA7195D580D}"/>
              </a:ext>
            </a:extLst>
          </p:cNvPr>
          <p:cNvPicPr>
            <a:picLocks/>
          </p:cNvPicPr>
          <p:nvPr/>
        </p:nvPicPr>
        <p:blipFill>
          <a:blip r:embed="rId3">
            <a:alphaModFix/>
            <a:extLst>
              <a:ext uri="{BEBA8EAE-BF5A-486C-A8C5-ECC9F3942E4B}">
                <a14:imgProps xmlns:a14="http://schemas.microsoft.com/office/drawing/2010/main">
                  <a14:imgLayer r:embed="rId4">
                    <a14:imgEffect>
                      <a14:backgroundRemoval t="10000" b="90000" l="10000" r="90000">
                        <a14:foregroundMark x1="46479" y1="29134" x2="46479" y2="29134"/>
                      </a14:backgroundRemoval>
                    </a14:imgEffect>
                  </a14:imgLayer>
                </a14:imgProps>
              </a:ext>
            </a:extLst>
          </a:blip>
          <a:stretch>
            <a:fillRect/>
          </a:stretch>
        </p:blipFill>
        <p:spPr>
          <a:xfrm>
            <a:off x="4895928" y="2519831"/>
            <a:ext cx="203777" cy="179578"/>
          </a:xfrm>
          <a:prstGeom prst="rect">
            <a:avLst/>
          </a:prstGeom>
        </p:spPr>
      </p:pic>
      <p:pic>
        <p:nvPicPr>
          <p:cNvPr id="131" name="Picture 130">
            <a:extLst>
              <a:ext uri="{FF2B5EF4-FFF2-40B4-BE49-F238E27FC236}">
                <a16:creationId xmlns:a16="http://schemas.microsoft.com/office/drawing/2014/main" id="{2C61CBBE-8166-D87B-746A-4DD168288468}"/>
              </a:ext>
            </a:extLst>
          </p:cNvPr>
          <p:cNvPicPr>
            <a:picLocks noChangeAspect="1"/>
          </p:cNvPicPr>
          <p:nvPr/>
        </p:nvPicPr>
        <p:blipFill>
          <a:blip r:embed="rId5">
            <a:clrChange>
              <a:clrFrom>
                <a:srgbClr val="F8F8F8"/>
              </a:clrFrom>
              <a:clrTo>
                <a:srgbClr val="F8F8F8">
                  <a:alpha val="0"/>
                </a:srgbClr>
              </a:clrTo>
            </a:clrChange>
          </a:blip>
          <a:stretch>
            <a:fillRect/>
          </a:stretch>
        </p:blipFill>
        <p:spPr>
          <a:xfrm>
            <a:off x="5072784" y="2543879"/>
            <a:ext cx="180164" cy="146800"/>
          </a:xfrm>
          <a:prstGeom prst="rect">
            <a:avLst/>
          </a:prstGeom>
        </p:spPr>
      </p:pic>
      <p:pic>
        <p:nvPicPr>
          <p:cNvPr id="133" name="Picture 132">
            <a:extLst>
              <a:ext uri="{FF2B5EF4-FFF2-40B4-BE49-F238E27FC236}">
                <a16:creationId xmlns:a16="http://schemas.microsoft.com/office/drawing/2014/main" id="{929CA13E-DCFE-C72E-ED43-6455344D5327}"/>
              </a:ext>
            </a:extLst>
          </p:cNvPr>
          <p:cNvPicPr>
            <a:picLocks/>
          </p:cNvPicPr>
          <p:nvPr/>
        </p:nvPicPr>
        <p:blipFill>
          <a:blip r:embed="rId3">
            <a:alphaModFix/>
            <a:extLst>
              <a:ext uri="{BEBA8EAE-BF5A-486C-A8C5-ECC9F3942E4B}">
                <a14:imgProps xmlns:a14="http://schemas.microsoft.com/office/drawing/2010/main">
                  <a14:imgLayer r:embed="rId4">
                    <a14:imgEffect>
                      <a14:backgroundRemoval t="10000" b="90000" l="10000" r="90000">
                        <a14:foregroundMark x1="46479" y1="29134" x2="46479" y2="29134"/>
                      </a14:backgroundRemoval>
                    </a14:imgEffect>
                  </a14:imgLayer>
                </a14:imgProps>
              </a:ext>
            </a:extLst>
          </a:blip>
          <a:stretch>
            <a:fillRect/>
          </a:stretch>
        </p:blipFill>
        <p:spPr>
          <a:xfrm>
            <a:off x="7080665" y="2520137"/>
            <a:ext cx="203777" cy="179578"/>
          </a:xfrm>
          <a:prstGeom prst="rect">
            <a:avLst/>
          </a:prstGeom>
        </p:spPr>
      </p:pic>
      <p:pic>
        <p:nvPicPr>
          <p:cNvPr id="142" name="Picture 141">
            <a:extLst>
              <a:ext uri="{FF2B5EF4-FFF2-40B4-BE49-F238E27FC236}">
                <a16:creationId xmlns:a16="http://schemas.microsoft.com/office/drawing/2014/main" id="{2A7D3229-C47B-A1C9-1A83-EA6767FE0B1D}"/>
              </a:ext>
            </a:extLst>
          </p:cNvPr>
          <p:cNvPicPr>
            <a:picLocks noChangeAspect="1"/>
          </p:cNvPicPr>
          <p:nvPr/>
        </p:nvPicPr>
        <p:blipFill>
          <a:blip r:embed="rId5">
            <a:clrChange>
              <a:clrFrom>
                <a:srgbClr val="F8F8F8"/>
              </a:clrFrom>
              <a:clrTo>
                <a:srgbClr val="F8F8F8">
                  <a:alpha val="0"/>
                </a:srgbClr>
              </a:clrTo>
            </a:clrChange>
          </a:blip>
          <a:stretch>
            <a:fillRect/>
          </a:stretch>
        </p:blipFill>
        <p:spPr>
          <a:xfrm>
            <a:off x="7257521" y="2544185"/>
            <a:ext cx="180164" cy="146800"/>
          </a:xfrm>
          <a:prstGeom prst="rect">
            <a:avLst/>
          </a:prstGeom>
        </p:spPr>
      </p:pic>
      <p:sp>
        <p:nvSpPr>
          <p:cNvPr id="145" name="Freeform: Shape 144">
            <a:extLst>
              <a:ext uri="{FF2B5EF4-FFF2-40B4-BE49-F238E27FC236}">
                <a16:creationId xmlns:a16="http://schemas.microsoft.com/office/drawing/2014/main" id="{7861757C-D27E-8BD0-1759-99502F7F7AAF}"/>
              </a:ext>
            </a:extLst>
          </p:cNvPr>
          <p:cNvSpPr/>
          <p:nvPr/>
        </p:nvSpPr>
        <p:spPr>
          <a:xfrm>
            <a:off x="2135734" y="3353354"/>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grpSp>
        <p:nvGrpSpPr>
          <p:cNvPr id="147" name="Group 146">
            <a:extLst>
              <a:ext uri="{FF2B5EF4-FFF2-40B4-BE49-F238E27FC236}">
                <a16:creationId xmlns:a16="http://schemas.microsoft.com/office/drawing/2014/main" id="{70097D07-DBB8-6D74-8448-3E541EAB633B}"/>
              </a:ext>
            </a:extLst>
          </p:cNvPr>
          <p:cNvGrpSpPr/>
          <p:nvPr/>
        </p:nvGrpSpPr>
        <p:grpSpPr>
          <a:xfrm>
            <a:off x="227263" y="2962486"/>
            <a:ext cx="1906876" cy="1584000"/>
            <a:chOff x="217124" y="1152000"/>
            <a:chExt cx="1906876" cy="1584000"/>
          </a:xfrm>
          <a:solidFill>
            <a:schemeClr val="accent1">
              <a:lumMod val="20000"/>
              <a:lumOff val="80000"/>
            </a:schemeClr>
          </a:solidFill>
        </p:grpSpPr>
        <p:sp>
          <p:nvSpPr>
            <p:cNvPr id="150" name="Freeform: Shape 149">
              <a:extLst>
                <a:ext uri="{FF2B5EF4-FFF2-40B4-BE49-F238E27FC236}">
                  <a16:creationId xmlns:a16="http://schemas.microsoft.com/office/drawing/2014/main" id="{0E3C7EFB-AFA5-0303-8935-0AE4CC1F45B8}"/>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solidFill>
              <a:schemeClr val="accent1">
                <a:lumMod val="20000"/>
                <a:lumOff val="80000"/>
              </a:schemeClr>
            </a:solid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151" name="Rectangle 150">
              <a:extLst>
                <a:ext uri="{FF2B5EF4-FFF2-40B4-BE49-F238E27FC236}">
                  <a16:creationId xmlns:a16="http://schemas.microsoft.com/office/drawing/2014/main" id="{F0986245-3F2D-C575-0D99-839E5E886C59}"/>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 </a:t>
              </a:r>
              <a:r>
                <a:rPr lang="en-GB" sz="800" dirty="0">
                  <a:solidFill>
                    <a:srgbClr val="000000"/>
                  </a:solidFill>
                  <a:latin typeface="Vodafone Rg"/>
                </a:rPr>
                <a:t>Financial Approval of costs, update </a:t>
              </a:r>
              <a:r>
                <a:rPr lang="en-GB" sz="800" b="1" dirty="0">
                  <a:solidFill>
                    <a:srgbClr val="000000"/>
                  </a:solidFill>
                  <a:latin typeface="Vodafone Rg"/>
                </a:rPr>
                <a:t>Function</a:t>
              </a:r>
              <a:r>
                <a:rPr lang="en-GB" sz="800" dirty="0">
                  <a:solidFill>
                    <a:srgbClr val="000000"/>
                  </a:solidFill>
                  <a:latin typeface="Vodafone Rg"/>
                </a:rPr>
                <a:t> State</a:t>
              </a:r>
              <a:endParaRPr lang="en-GB" sz="800" b="1" dirty="0">
                <a:solidFill>
                  <a:srgbClr val="000000"/>
                </a:solidFill>
                <a:latin typeface="Vodafone Rg"/>
              </a:endParaRPr>
            </a:p>
          </p:txBody>
        </p:sp>
        <p:sp>
          <p:nvSpPr>
            <p:cNvPr id="152" name="TextBox 151">
              <a:extLst>
                <a:ext uri="{FF2B5EF4-FFF2-40B4-BE49-F238E27FC236}">
                  <a16:creationId xmlns:a16="http://schemas.microsoft.com/office/drawing/2014/main" id="{E36E344F-26E4-6E28-E6ED-2BB8E9C8AD45}"/>
                </a:ext>
              </a:extLst>
            </p:cNvPr>
            <p:cNvSpPr txBox="1"/>
            <p:nvPr/>
          </p:nvSpPr>
          <p:spPr>
            <a:xfrm>
              <a:off x="540000" y="2058525"/>
              <a:ext cx="1548000" cy="540000"/>
            </a:xfrm>
            <a:prstGeom prst="rect">
              <a:avLst/>
            </a:prstGeom>
            <a:solidFill>
              <a:schemeClr val="accent1">
                <a:lumMod val="20000"/>
                <a:lumOff val="80000"/>
              </a:schemeClr>
            </a:solid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TDM/Budget Holder</a:t>
              </a:r>
            </a:p>
            <a:p>
              <a:pPr defTabSz="914378"/>
              <a:endParaRPr lang="en-GB" sz="800" dirty="0">
                <a:solidFill>
                  <a:srgbClr val="000000"/>
                </a:solidFill>
                <a:latin typeface="Vodafone Rg"/>
              </a:endParaRPr>
            </a:p>
          </p:txBody>
        </p:sp>
        <p:sp>
          <p:nvSpPr>
            <p:cNvPr id="153" name="TextBox 152">
              <a:extLst>
                <a:ext uri="{FF2B5EF4-FFF2-40B4-BE49-F238E27FC236}">
                  <a16:creationId xmlns:a16="http://schemas.microsoft.com/office/drawing/2014/main" id="{2F96386C-575B-AC8A-25B0-7293ABD402FB}"/>
                </a:ext>
              </a:extLst>
            </p:cNvPr>
            <p:cNvSpPr txBox="1"/>
            <p:nvPr/>
          </p:nvSpPr>
          <p:spPr>
            <a:xfrm>
              <a:off x="217124" y="1152000"/>
              <a:ext cx="288000"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13</a:t>
              </a:r>
            </a:p>
          </p:txBody>
        </p:sp>
      </p:grpSp>
      <p:grpSp>
        <p:nvGrpSpPr>
          <p:cNvPr id="154" name="Group 153">
            <a:extLst>
              <a:ext uri="{FF2B5EF4-FFF2-40B4-BE49-F238E27FC236}">
                <a16:creationId xmlns:a16="http://schemas.microsoft.com/office/drawing/2014/main" id="{6095AC03-B514-E409-8547-5DDB6CDD5A06}"/>
              </a:ext>
            </a:extLst>
          </p:cNvPr>
          <p:cNvGrpSpPr/>
          <p:nvPr/>
        </p:nvGrpSpPr>
        <p:grpSpPr>
          <a:xfrm>
            <a:off x="2413569" y="2962486"/>
            <a:ext cx="1910051" cy="1584000"/>
            <a:chOff x="213949" y="1152000"/>
            <a:chExt cx="1910051" cy="1584000"/>
          </a:xfrm>
          <a:solidFill>
            <a:schemeClr val="accent1">
              <a:lumMod val="20000"/>
              <a:lumOff val="80000"/>
            </a:schemeClr>
          </a:solidFill>
        </p:grpSpPr>
        <p:sp>
          <p:nvSpPr>
            <p:cNvPr id="155" name="Freeform: Shape 154">
              <a:extLst>
                <a:ext uri="{FF2B5EF4-FFF2-40B4-BE49-F238E27FC236}">
                  <a16:creationId xmlns:a16="http://schemas.microsoft.com/office/drawing/2014/main" id="{3C1FECA4-322F-F6F6-5653-C25C2B596B0B}"/>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156" name="Rectangle 155">
              <a:extLst>
                <a:ext uri="{FF2B5EF4-FFF2-40B4-BE49-F238E27FC236}">
                  <a16:creationId xmlns:a16="http://schemas.microsoft.com/office/drawing/2014/main" id="{B317BBCE-E466-0966-7240-2FF8B8468010}"/>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 </a:t>
              </a:r>
              <a:r>
                <a:rPr lang="en-GB" sz="800" dirty="0">
                  <a:solidFill>
                    <a:srgbClr val="000000"/>
                  </a:solidFill>
                  <a:latin typeface="Vodafone Rg"/>
                </a:rPr>
                <a:t>Create and approve application Delivery plans, updating all relevant </a:t>
              </a:r>
              <a:r>
                <a:rPr lang="en-GB" sz="800" b="1" dirty="0">
                  <a:solidFill>
                    <a:srgbClr val="000000"/>
                  </a:solidFill>
                  <a:latin typeface="Vodafone Rg"/>
                </a:rPr>
                <a:t>Function</a:t>
              </a:r>
              <a:r>
                <a:rPr lang="en-GB" sz="800" dirty="0">
                  <a:solidFill>
                    <a:srgbClr val="000000"/>
                  </a:solidFill>
                  <a:latin typeface="Vodafone Rg"/>
                </a:rPr>
                <a:t> fields</a:t>
              </a:r>
            </a:p>
          </p:txBody>
        </p:sp>
        <p:sp>
          <p:nvSpPr>
            <p:cNvPr id="157" name="TextBox 156">
              <a:extLst>
                <a:ext uri="{FF2B5EF4-FFF2-40B4-BE49-F238E27FC236}">
                  <a16:creationId xmlns:a16="http://schemas.microsoft.com/office/drawing/2014/main" id="{76A67E42-7B0E-DD24-D495-C529AD884859}"/>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Domain Delivery Manager/Scrum M.</a:t>
              </a:r>
            </a:p>
            <a:p>
              <a:pPr defTabSz="914378"/>
              <a:r>
                <a:rPr lang="en-GB" sz="800" i="1" dirty="0">
                  <a:solidFill>
                    <a:srgbClr val="000000"/>
                  </a:solidFill>
                  <a:latin typeface="Vodafone Rg"/>
                </a:rPr>
                <a:t>TDM, RM &amp; SIT to review</a:t>
              </a:r>
            </a:p>
            <a:p>
              <a:pPr defTabSz="914378"/>
              <a:endParaRPr lang="en-GB" sz="800" b="1" dirty="0">
                <a:solidFill>
                  <a:srgbClr val="000000"/>
                </a:solidFill>
                <a:latin typeface="Vodafone Rg"/>
              </a:endParaRPr>
            </a:p>
          </p:txBody>
        </p:sp>
        <p:sp>
          <p:nvSpPr>
            <p:cNvPr id="158" name="TextBox 157">
              <a:extLst>
                <a:ext uri="{FF2B5EF4-FFF2-40B4-BE49-F238E27FC236}">
                  <a16:creationId xmlns:a16="http://schemas.microsoft.com/office/drawing/2014/main" id="{22295859-5C89-0F0D-BFA0-C61466968E82}"/>
                </a:ext>
              </a:extLst>
            </p:cNvPr>
            <p:cNvSpPr txBox="1"/>
            <p:nvPr/>
          </p:nvSpPr>
          <p:spPr>
            <a:xfrm>
              <a:off x="213949" y="1152000"/>
              <a:ext cx="288000"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14</a:t>
              </a:r>
            </a:p>
          </p:txBody>
        </p:sp>
      </p:grpSp>
      <p:grpSp>
        <p:nvGrpSpPr>
          <p:cNvPr id="160" name="Group 159">
            <a:extLst>
              <a:ext uri="{FF2B5EF4-FFF2-40B4-BE49-F238E27FC236}">
                <a16:creationId xmlns:a16="http://schemas.microsoft.com/office/drawing/2014/main" id="{790A674C-AFE3-B262-953E-15F850BA3EC6}"/>
              </a:ext>
            </a:extLst>
          </p:cNvPr>
          <p:cNvGrpSpPr/>
          <p:nvPr/>
        </p:nvGrpSpPr>
        <p:grpSpPr>
          <a:xfrm>
            <a:off x="4603050" y="2962486"/>
            <a:ext cx="1906876" cy="1584000"/>
            <a:chOff x="217124" y="1152000"/>
            <a:chExt cx="1906876" cy="1584000"/>
          </a:xfrm>
          <a:solidFill>
            <a:schemeClr val="accent1">
              <a:lumMod val="20000"/>
              <a:lumOff val="80000"/>
            </a:schemeClr>
          </a:solidFill>
        </p:grpSpPr>
        <p:sp>
          <p:nvSpPr>
            <p:cNvPr id="161" name="Freeform: Shape 160">
              <a:extLst>
                <a:ext uri="{FF2B5EF4-FFF2-40B4-BE49-F238E27FC236}">
                  <a16:creationId xmlns:a16="http://schemas.microsoft.com/office/drawing/2014/main" id="{92EACDBE-2E45-806F-8351-4CC1FFDC7E68}"/>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162" name="Rectangle 161">
              <a:extLst>
                <a:ext uri="{FF2B5EF4-FFF2-40B4-BE49-F238E27FC236}">
                  <a16:creationId xmlns:a16="http://schemas.microsoft.com/office/drawing/2014/main" id="{0072DCBB-1077-11CF-6757-ADACD91207CA}"/>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 </a:t>
              </a:r>
              <a:r>
                <a:rPr lang="en-GB" sz="800" dirty="0">
                  <a:solidFill>
                    <a:srgbClr val="000000"/>
                  </a:solidFill>
                  <a:latin typeface="Vodafone Rg"/>
                </a:rPr>
                <a:t>Create and Approve Low Level Design (LLD), update </a:t>
              </a:r>
              <a:r>
                <a:rPr lang="en-GB" sz="800" b="1" dirty="0">
                  <a:solidFill>
                    <a:srgbClr val="000000"/>
                  </a:solidFill>
                  <a:latin typeface="Vodafone Rg"/>
                </a:rPr>
                <a:t>Function</a:t>
              </a:r>
              <a:r>
                <a:rPr lang="en-GB" sz="800" dirty="0">
                  <a:solidFill>
                    <a:srgbClr val="000000"/>
                  </a:solidFill>
                  <a:latin typeface="Vodafone Rg"/>
                </a:rPr>
                <a:t> design state and other fields</a:t>
              </a:r>
            </a:p>
          </p:txBody>
        </p:sp>
        <p:sp>
          <p:nvSpPr>
            <p:cNvPr id="163" name="TextBox 162">
              <a:extLst>
                <a:ext uri="{FF2B5EF4-FFF2-40B4-BE49-F238E27FC236}">
                  <a16:creationId xmlns:a16="http://schemas.microsoft.com/office/drawing/2014/main" id="{A95E7847-C172-2654-4DD6-ADDD41352605}"/>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Domain Architect/Third Party Designer</a:t>
              </a:r>
            </a:p>
            <a:p>
              <a:pPr defTabSz="914378"/>
              <a:r>
                <a:rPr lang="en-GB" sz="800" i="1" dirty="0">
                  <a:solidFill>
                    <a:srgbClr val="000000"/>
                  </a:solidFill>
                  <a:latin typeface="Vodafone Rg"/>
                </a:rPr>
                <a:t>Product Owner / Business Owner</a:t>
              </a:r>
            </a:p>
            <a:p>
              <a:pPr defTabSz="914378"/>
              <a:r>
                <a:rPr lang="en-GB" sz="800" i="1" dirty="0">
                  <a:solidFill>
                    <a:srgbClr val="000000"/>
                  </a:solidFill>
                  <a:latin typeface="Vodafone Rg"/>
                </a:rPr>
                <a:t>Solution Architect &amp; Dev may review</a:t>
              </a:r>
            </a:p>
            <a:p>
              <a:pPr defTabSz="914378"/>
              <a:endParaRPr lang="en-GB" sz="800" dirty="0">
                <a:solidFill>
                  <a:srgbClr val="000000"/>
                </a:solidFill>
                <a:latin typeface="Vodafone Rg"/>
              </a:endParaRPr>
            </a:p>
          </p:txBody>
        </p:sp>
        <p:sp>
          <p:nvSpPr>
            <p:cNvPr id="165" name="TextBox 164">
              <a:extLst>
                <a:ext uri="{FF2B5EF4-FFF2-40B4-BE49-F238E27FC236}">
                  <a16:creationId xmlns:a16="http://schemas.microsoft.com/office/drawing/2014/main" id="{33F44A1F-0987-5B36-1849-5D192D4E6A2E}"/>
                </a:ext>
              </a:extLst>
            </p:cNvPr>
            <p:cNvSpPr txBox="1"/>
            <p:nvPr/>
          </p:nvSpPr>
          <p:spPr>
            <a:xfrm>
              <a:off x="217124" y="1152000"/>
              <a:ext cx="288000"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15</a:t>
              </a:r>
            </a:p>
          </p:txBody>
        </p:sp>
      </p:grpSp>
      <p:grpSp>
        <p:nvGrpSpPr>
          <p:cNvPr id="166" name="Group 165">
            <a:extLst>
              <a:ext uri="{FF2B5EF4-FFF2-40B4-BE49-F238E27FC236}">
                <a16:creationId xmlns:a16="http://schemas.microsoft.com/office/drawing/2014/main" id="{0F8D632F-6FD8-01B6-E2FD-06842C060273}"/>
              </a:ext>
            </a:extLst>
          </p:cNvPr>
          <p:cNvGrpSpPr/>
          <p:nvPr/>
        </p:nvGrpSpPr>
        <p:grpSpPr>
          <a:xfrm>
            <a:off x="6789355" y="2962486"/>
            <a:ext cx="1906876" cy="1584000"/>
            <a:chOff x="217124" y="1152000"/>
            <a:chExt cx="1906876" cy="1584000"/>
          </a:xfrm>
          <a:solidFill>
            <a:schemeClr val="accent1">
              <a:lumMod val="20000"/>
              <a:lumOff val="80000"/>
            </a:schemeClr>
          </a:solidFill>
        </p:grpSpPr>
        <p:sp>
          <p:nvSpPr>
            <p:cNvPr id="168" name="Freeform: Shape 167">
              <a:extLst>
                <a:ext uri="{FF2B5EF4-FFF2-40B4-BE49-F238E27FC236}">
                  <a16:creationId xmlns:a16="http://schemas.microsoft.com/office/drawing/2014/main" id="{0D4D647F-3972-D09A-F4AD-05D73B709993}"/>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800" dirty="0">
                <a:solidFill>
                  <a:srgbClr val="000000"/>
                </a:solidFill>
                <a:latin typeface="Vodafone Rg"/>
              </a:endParaRPr>
            </a:p>
          </p:txBody>
        </p:sp>
        <p:sp>
          <p:nvSpPr>
            <p:cNvPr id="169" name="Rectangle 168">
              <a:extLst>
                <a:ext uri="{FF2B5EF4-FFF2-40B4-BE49-F238E27FC236}">
                  <a16:creationId xmlns:a16="http://schemas.microsoft.com/office/drawing/2014/main" id="{FE0EF992-BDCE-9441-B95E-A1091B98C01A}"/>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 </a:t>
              </a:r>
              <a:r>
                <a:rPr lang="en-GB" sz="800" dirty="0">
                  <a:solidFill>
                    <a:srgbClr val="000000"/>
                  </a:solidFill>
                  <a:latin typeface="Vodafone Rg"/>
                </a:rPr>
                <a:t>Commit to release and update </a:t>
              </a:r>
              <a:r>
                <a:rPr lang="en-GB" sz="800" b="1" dirty="0">
                  <a:solidFill>
                    <a:srgbClr val="000000"/>
                  </a:solidFill>
                  <a:latin typeface="Vodafone Rg"/>
                </a:rPr>
                <a:t>Delivery</a:t>
              </a:r>
              <a:r>
                <a:rPr lang="en-GB" sz="800" dirty="0">
                  <a:solidFill>
                    <a:srgbClr val="000000"/>
                  </a:solidFill>
                  <a:latin typeface="Vodafone Rg"/>
                </a:rPr>
                <a:t> State</a:t>
              </a:r>
            </a:p>
            <a:p>
              <a:pPr defTabSz="200025">
                <a:lnSpc>
                  <a:spcPct val="90000"/>
                </a:lnSpc>
                <a:spcBef>
                  <a:spcPct val="0"/>
                </a:spcBef>
                <a:spcAft>
                  <a:spcPct val="35000"/>
                </a:spcAft>
              </a:pPr>
              <a:endParaRPr lang="en-GB" sz="800" dirty="0">
                <a:solidFill>
                  <a:srgbClr val="000000"/>
                </a:solidFill>
                <a:latin typeface="Vodafone Rg"/>
              </a:endParaRPr>
            </a:p>
          </p:txBody>
        </p:sp>
        <p:sp>
          <p:nvSpPr>
            <p:cNvPr id="171" name="TextBox 170">
              <a:extLst>
                <a:ext uri="{FF2B5EF4-FFF2-40B4-BE49-F238E27FC236}">
                  <a16:creationId xmlns:a16="http://schemas.microsoft.com/office/drawing/2014/main" id="{78E66919-34B6-3638-20A8-BCAD92EAC349}"/>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Release Manager</a:t>
              </a:r>
            </a:p>
            <a:p>
              <a:pPr defTabSz="914378"/>
              <a:endParaRPr lang="en-GB" sz="800" dirty="0">
                <a:latin typeface="Vodafone Rg"/>
              </a:endParaRPr>
            </a:p>
          </p:txBody>
        </p:sp>
        <p:sp>
          <p:nvSpPr>
            <p:cNvPr id="172" name="TextBox 171">
              <a:extLst>
                <a:ext uri="{FF2B5EF4-FFF2-40B4-BE49-F238E27FC236}">
                  <a16:creationId xmlns:a16="http://schemas.microsoft.com/office/drawing/2014/main" id="{730D913B-5D33-06B3-1341-BF909403760C}"/>
                </a:ext>
              </a:extLst>
            </p:cNvPr>
            <p:cNvSpPr txBox="1"/>
            <p:nvPr/>
          </p:nvSpPr>
          <p:spPr>
            <a:xfrm>
              <a:off x="217124" y="1152000"/>
              <a:ext cx="288000"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16</a:t>
              </a:r>
            </a:p>
          </p:txBody>
        </p:sp>
      </p:grpSp>
      <p:sp>
        <p:nvSpPr>
          <p:cNvPr id="173" name="Freeform: Shape 172">
            <a:extLst>
              <a:ext uri="{FF2B5EF4-FFF2-40B4-BE49-F238E27FC236}">
                <a16:creationId xmlns:a16="http://schemas.microsoft.com/office/drawing/2014/main" id="{4EE61873-CD4A-324E-5384-45A61D2A6506}"/>
              </a:ext>
            </a:extLst>
          </p:cNvPr>
          <p:cNvSpPr/>
          <p:nvPr/>
        </p:nvSpPr>
        <p:spPr>
          <a:xfrm>
            <a:off x="4322782" y="3353354"/>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sp>
        <p:nvSpPr>
          <p:cNvPr id="174" name="Freeform: Shape 173">
            <a:extLst>
              <a:ext uri="{FF2B5EF4-FFF2-40B4-BE49-F238E27FC236}">
                <a16:creationId xmlns:a16="http://schemas.microsoft.com/office/drawing/2014/main" id="{0317195F-9624-9DBB-2CF0-058A804B7A0B}"/>
              </a:ext>
            </a:extLst>
          </p:cNvPr>
          <p:cNvSpPr/>
          <p:nvPr/>
        </p:nvSpPr>
        <p:spPr>
          <a:xfrm>
            <a:off x="6516702" y="3353354"/>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pic>
        <p:nvPicPr>
          <p:cNvPr id="176" name="Picture 175">
            <a:extLst>
              <a:ext uri="{FF2B5EF4-FFF2-40B4-BE49-F238E27FC236}">
                <a16:creationId xmlns:a16="http://schemas.microsoft.com/office/drawing/2014/main" id="{98940A75-8B28-41FE-483A-047A5ABFB67F}"/>
              </a:ext>
            </a:extLst>
          </p:cNvPr>
          <p:cNvPicPr>
            <a:picLocks/>
          </p:cNvPicPr>
          <p:nvPr/>
        </p:nvPicPr>
        <p:blipFill>
          <a:blip r:embed="rId3">
            <a:alphaModFix/>
            <a:extLst>
              <a:ext uri="{BEBA8EAE-BF5A-486C-A8C5-ECC9F3942E4B}">
                <a14:imgProps xmlns:a14="http://schemas.microsoft.com/office/drawing/2010/main">
                  <a14:imgLayer r:embed="rId4">
                    <a14:imgEffect>
                      <a14:backgroundRemoval t="10000" b="90000" l="10000" r="90000">
                        <a14:foregroundMark x1="46479" y1="29134" x2="46479" y2="29134"/>
                      </a14:backgroundRemoval>
                    </a14:imgEffect>
                  </a14:imgLayer>
                </a14:imgProps>
              </a:ext>
            </a:extLst>
          </a:blip>
          <a:stretch>
            <a:fillRect/>
          </a:stretch>
        </p:blipFill>
        <p:spPr>
          <a:xfrm>
            <a:off x="2705152" y="4366908"/>
            <a:ext cx="203777" cy="179578"/>
          </a:xfrm>
          <a:prstGeom prst="rect">
            <a:avLst/>
          </a:prstGeom>
        </p:spPr>
      </p:pic>
      <p:pic>
        <p:nvPicPr>
          <p:cNvPr id="177" name="Picture 176">
            <a:extLst>
              <a:ext uri="{FF2B5EF4-FFF2-40B4-BE49-F238E27FC236}">
                <a16:creationId xmlns:a16="http://schemas.microsoft.com/office/drawing/2014/main" id="{155A0DC4-0B9E-7AF3-18FD-6C0C92E8EA85}"/>
              </a:ext>
            </a:extLst>
          </p:cNvPr>
          <p:cNvPicPr>
            <a:picLocks/>
          </p:cNvPicPr>
          <p:nvPr/>
        </p:nvPicPr>
        <p:blipFill>
          <a:blip r:embed="rId3">
            <a:alphaModFix/>
            <a:extLst>
              <a:ext uri="{BEBA8EAE-BF5A-486C-A8C5-ECC9F3942E4B}">
                <a14:imgProps xmlns:a14="http://schemas.microsoft.com/office/drawing/2010/main">
                  <a14:imgLayer r:embed="rId4">
                    <a14:imgEffect>
                      <a14:backgroundRemoval t="10000" b="90000" l="10000" r="90000">
                        <a14:foregroundMark x1="46479" y1="29134" x2="46479" y2="29134"/>
                      </a14:backgroundRemoval>
                    </a14:imgEffect>
                  </a14:imgLayer>
                </a14:imgProps>
              </a:ext>
            </a:extLst>
          </a:blip>
          <a:stretch>
            <a:fillRect/>
          </a:stretch>
        </p:blipFill>
        <p:spPr>
          <a:xfrm>
            <a:off x="516059" y="4366908"/>
            <a:ext cx="203777" cy="179578"/>
          </a:xfrm>
          <a:prstGeom prst="rect">
            <a:avLst/>
          </a:prstGeom>
        </p:spPr>
      </p:pic>
      <p:pic>
        <p:nvPicPr>
          <p:cNvPr id="178" name="Picture 177">
            <a:extLst>
              <a:ext uri="{FF2B5EF4-FFF2-40B4-BE49-F238E27FC236}">
                <a16:creationId xmlns:a16="http://schemas.microsoft.com/office/drawing/2014/main" id="{469F976D-D8C6-6E23-7904-B7529B88A323}"/>
              </a:ext>
            </a:extLst>
          </p:cNvPr>
          <p:cNvPicPr>
            <a:picLocks noChangeAspect="1"/>
          </p:cNvPicPr>
          <p:nvPr/>
        </p:nvPicPr>
        <p:blipFill>
          <a:blip r:embed="rId5">
            <a:clrChange>
              <a:clrFrom>
                <a:srgbClr val="F8F8F8"/>
              </a:clrFrom>
              <a:clrTo>
                <a:srgbClr val="F8F8F8">
                  <a:alpha val="0"/>
                </a:srgbClr>
              </a:clrTo>
            </a:clrChange>
          </a:blip>
          <a:stretch>
            <a:fillRect/>
          </a:stretch>
        </p:blipFill>
        <p:spPr>
          <a:xfrm>
            <a:off x="688873" y="4404349"/>
            <a:ext cx="180164" cy="146800"/>
          </a:xfrm>
          <a:prstGeom prst="rect">
            <a:avLst/>
          </a:prstGeom>
        </p:spPr>
      </p:pic>
      <p:pic>
        <p:nvPicPr>
          <p:cNvPr id="179" name="Picture 178">
            <a:extLst>
              <a:ext uri="{FF2B5EF4-FFF2-40B4-BE49-F238E27FC236}">
                <a16:creationId xmlns:a16="http://schemas.microsoft.com/office/drawing/2014/main" id="{A51DED05-24DA-3810-7821-41D567A6D135}"/>
              </a:ext>
            </a:extLst>
          </p:cNvPr>
          <p:cNvPicPr>
            <a:picLocks/>
          </p:cNvPicPr>
          <p:nvPr/>
        </p:nvPicPr>
        <p:blipFill>
          <a:blip r:embed="rId3">
            <a:alphaModFix/>
            <a:extLst>
              <a:ext uri="{BEBA8EAE-BF5A-486C-A8C5-ECC9F3942E4B}">
                <a14:imgProps xmlns:a14="http://schemas.microsoft.com/office/drawing/2010/main">
                  <a14:imgLayer r:embed="rId4">
                    <a14:imgEffect>
                      <a14:backgroundRemoval t="10000" b="90000" l="10000" r="90000">
                        <a14:foregroundMark x1="46479" y1="29134" x2="46479" y2="29134"/>
                      </a14:backgroundRemoval>
                    </a14:imgEffect>
                  </a14:imgLayer>
                </a14:imgProps>
              </a:ext>
            </a:extLst>
          </a:blip>
          <a:stretch>
            <a:fillRect/>
          </a:stretch>
        </p:blipFill>
        <p:spPr>
          <a:xfrm>
            <a:off x="4889925" y="4365003"/>
            <a:ext cx="203777" cy="179578"/>
          </a:xfrm>
          <a:prstGeom prst="rect">
            <a:avLst/>
          </a:prstGeom>
        </p:spPr>
      </p:pic>
      <p:pic>
        <p:nvPicPr>
          <p:cNvPr id="180" name="Picture 179">
            <a:extLst>
              <a:ext uri="{FF2B5EF4-FFF2-40B4-BE49-F238E27FC236}">
                <a16:creationId xmlns:a16="http://schemas.microsoft.com/office/drawing/2014/main" id="{B8AA5A85-5FBD-6760-0E8A-75B5BC73CE1D}"/>
              </a:ext>
            </a:extLst>
          </p:cNvPr>
          <p:cNvPicPr>
            <a:picLocks noChangeAspect="1"/>
          </p:cNvPicPr>
          <p:nvPr/>
        </p:nvPicPr>
        <p:blipFill>
          <a:blip r:embed="rId5">
            <a:clrChange>
              <a:clrFrom>
                <a:srgbClr val="F8F8F8"/>
              </a:clrFrom>
              <a:clrTo>
                <a:srgbClr val="F8F8F8">
                  <a:alpha val="0"/>
                </a:srgbClr>
              </a:clrTo>
            </a:clrChange>
          </a:blip>
          <a:stretch>
            <a:fillRect/>
          </a:stretch>
        </p:blipFill>
        <p:spPr>
          <a:xfrm>
            <a:off x="5062739" y="4392820"/>
            <a:ext cx="180164" cy="146800"/>
          </a:xfrm>
          <a:prstGeom prst="rect">
            <a:avLst/>
          </a:prstGeom>
        </p:spPr>
      </p:pic>
      <p:sp>
        <p:nvSpPr>
          <p:cNvPr id="181" name="Star: 5 Points 180">
            <a:extLst>
              <a:ext uri="{FF2B5EF4-FFF2-40B4-BE49-F238E27FC236}">
                <a16:creationId xmlns:a16="http://schemas.microsoft.com/office/drawing/2014/main" id="{F9379BAC-C4BA-4369-7ED1-032417DF0FCA}"/>
              </a:ext>
            </a:extLst>
          </p:cNvPr>
          <p:cNvSpPr/>
          <p:nvPr/>
        </p:nvSpPr>
        <p:spPr>
          <a:xfrm>
            <a:off x="6530439" y="3604970"/>
            <a:ext cx="180000" cy="180000"/>
          </a:xfrm>
          <a:prstGeom prst="star5">
            <a:avLst/>
          </a:prstGeom>
          <a:solidFill>
            <a:schemeClr val="accent1"/>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182" name="TextBox 181">
            <a:extLst>
              <a:ext uri="{FF2B5EF4-FFF2-40B4-BE49-F238E27FC236}">
                <a16:creationId xmlns:a16="http://schemas.microsoft.com/office/drawing/2014/main" id="{13EEA228-2DCD-AC30-F549-E9D3D0F2FC2E}"/>
              </a:ext>
            </a:extLst>
          </p:cNvPr>
          <p:cNvSpPr txBox="1"/>
          <p:nvPr/>
        </p:nvSpPr>
        <p:spPr>
          <a:xfrm>
            <a:off x="6772863" y="3606413"/>
            <a:ext cx="360000" cy="180000"/>
          </a:xfrm>
          <a:prstGeom prst="rect">
            <a:avLst/>
          </a:prstGeom>
        </p:spPr>
        <p:txBody>
          <a:bodyPr wrap="square" lIns="0" tIns="0" rIns="0" bIns="0" rtlCol="0">
            <a:noAutofit/>
          </a:bodyPr>
          <a:lstStyle/>
          <a:p>
            <a:pPr marL="0" indent="0">
              <a:buFont typeface="Arial" pitchFamily="34" charset="0"/>
              <a:buNone/>
            </a:pPr>
            <a:r>
              <a:rPr lang="en-GB" sz="1200" b="1" dirty="0">
                <a:latin typeface="Vodafone Rg" pitchFamily="34" charset="0"/>
              </a:rPr>
              <a:t>RPM</a:t>
            </a:r>
            <a:endParaRPr lang="en-GB" sz="1050" b="1" dirty="0">
              <a:latin typeface="Vodafone Rg" pitchFamily="34" charset="0"/>
            </a:endParaRPr>
          </a:p>
        </p:txBody>
      </p:sp>
      <p:pic>
        <p:nvPicPr>
          <p:cNvPr id="183" name="Picture 182">
            <a:extLst>
              <a:ext uri="{FF2B5EF4-FFF2-40B4-BE49-F238E27FC236}">
                <a16:creationId xmlns:a16="http://schemas.microsoft.com/office/drawing/2014/main" id="{7ADBF158-B80E-6BC6-CF9D-B3A312CCE6AA}"/>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foregroundMark x1="54386" y1="40909" x2="54386" y2="40909"/>
                        <a14:foregroundMark x1="75439" y1="50000" x2="75439" y2="50000"/>
                        <a14:foregroundMark x1="24561" y1="47727" x2="24561" y2="47727"/>
                      </a14:backgroundRemoval>
                    </a14:imgEffect>
                  </a14:imgLayer>
                </a14:imgProps>
              </a:ext>
            </a:extLst>
          </a:blip>
          <a:stretch>
            <a:fillRect/>
          </a:stretch>
        </p:blipFill>
        <p:spPr>
          <a:xfrm>
            <a:off x="7077935" y="4361892"/>
            <a:ext cx="233183" cy="180000"/>
          </a:xfrm>
          <a:prstGeom prst="rect">
            <a:avLst/>
          </a:prstGeom>
        </p:spPr>
      </p:pic>
      <p:pic>
        <p:nvPicPr>
          <p:cNvPr id="184" name="Picture 183">
            <a:extLst>
              <a:ext uri="{FF2B5EF4-FFF2-40B4-BE49-F238E27FC236}">
                <a16:creationId xmlns:a16="http://schemas.microsoft.com/office/drawing/2014/main" id="{C1C55F10-BA79-C682-4973-67A109C2A11E}"/>
              </a:ext>
            </a:extLst>
          </p:cNvPr>
          <p:cNvPicPr>
            <a:picLocks noChangeAspect="1"/>
          </p:cNvPicPr>
          <p:nvPr/>
        </p:nvPicPr>
        <p:blipFill>
          <a:blip r:embed="rId5">
            <a:clrChange>
              <a:clrFrom>
                <a:srgbClr val="F8F8F8"/>
              </a:clrFrom>
              <a:clrTo>
                <a:srgbClr val="F8F8F8">
                  <a:alpha val="0"/>
                </a:srgbClr>
              </a:clrTo>
            </a:clrChange>
          </a:blip>
          <a:stretch>
            <a:fillRect/>
          </a:stretch>
        </p:blipFill>
        <p:spPr>
          <a:xfrm>
            <a:off x="7293561" y="4393592"/>
            <a:ext cx="180164" cy="146800"/>
          </a:xfrm>
          <a:prstGeom prst="rect">
            <a:avLst/>
          </a:prstGeom>
        </p:spPr>
      </p:pic>
      <p:grpSp>
        <p:nvGrpSpPr>
          <p:cNvPr id="3" name="Group 2">
            <a:extLst>
              <a:ext uri="{FF2B5EF4-FFF2-40B4-BE49-F238E27FC236}">
                <a16:creationId xmlns:a16="http://schemas.microsoft.com/office/drawing/2014/main" id="{EE8A0C64-DBE9-333A-F228-4147B993575C}"/>
              </a:ext>
            </a:extLst>
          </p:cNvPr>
          <p:cNvGrpSpPr/>
          <p:nvPr/>
        </p:nvGrpSpPr>
        <p:grpSpPr>
          <a:xfrm>
            <a:off x="3946012" y="4647783"/>
            <a:ext cx="4513487" cy="340534"/>
            <a:chOff x="3487173" y="4623714"/>
            <a:chExt cx="4513487" cy="340534"/>
          </a:xfrm>
        </p:grpSpPr>
        <p:sp>
          <p:nvSpPr>
            <p:cNvPr id="5" name="Rectangle 4">
              <a:extLst>
                <a:ext uri="{FF2B5EF4-FFF2-40B4-BE49-F238E27FC236}">
                  <a16:creationId xmlns:a16="http://schemas.microsoft.com/office/drawing/2014/main" id="{7D1D9759-88E9-B3DC-D1CE-AF5CEF765A29}"/>
                </a:ext>
              </a:extLst>
            </p:cNvPr>
            <p:cNvSpPr/>
            <p:nvPr/>
          </p:nvSpPr>
          <p:spPr>
            <a:xfrm>
              <a:off x="3487173" y="4623714"/>
              <a:ext cx="4513487" cy="340534"/>
            </a:xfrm>
            <a:prstGeom prst="rect">
              <a:avLst/>
            </a:prstGeom>
            <a:solidFill>
              <a:schemeClr val="bg1">
                <a:lumMod val="95000"/>
              </a:schemeClr>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489">
                <a:lnSpc>
                  <a:spcPct val="90000"/>
                </a:lnSpc>
                <a:spcBef>
                  <a:spcPct val="0"/>
                </a:spcBef>
                <a:spcAft>
                  <a:spcPct val="35000"/>
                </a:spcAft>
              </a:pPr>
              <a:endParaRPr lang="en-GB" sz="1000">
                <a:solidFill>
                  <a:srgbClr val="34342B"/>
                </a:solidFill>
                <a:latin typeface="Vodafone Rg" pitchFamily="34" charset="0"/>
              </a:endParaRPr>
            </a:p>
          </p:txBody>
        </p:sp>
        <p:sp>
          <p:nvSpPr>
            <p:cNvPr id="7" name="TextBox 6">
              <a:extLst>
                <a:ext uri="{FF2B5EF4-FFF2-40B4-BE49-F238E27FC236}">
                  <a16:creationId xmlns:a16="http://schemas.microsoft.com/office/drawing/2014/main" id="{4A9A8F44-176B-10A7-7DA0-349026FC49D6}"/>
                </a:ext>
              </a:extLst>
            </p:cNvPr>
            <p:cNvSpPr txBox="1"/>
            <p:nvPr/>
          </p:nvSpPr>
          <p:spPr>
            <a:xfrm>
              <a:off x="3606367" y="4700740"/>
              <a:ext cx="468013" cy="170622"/>
            </a:xfrm>
            <a:prstGeom prst="rect">
              <a:avLst/>
            </a:prstGeom>
          </p:spPr>
          <p:txBody>
            <a:bodyPr wrap="square" lIns="0" tIns="0" rIns="0" bIns="0" rtlCol="0">
              <a:noAutofit/>
            </a:bodyPr>
            <a:lstStyle/>
            <a:p>
              <a:pPr defTabSz="914378"/>
              <a:r>
                <a:rPr lang="en-GB" sz="1000" b="1" dirty="0">
                  <a:solidFill>
                    <a:srgbClr val="000000"/>
                  </a:solidFill>
                  <a:latin typeface="Vodafone Rg" pitchFamily="34" charset="0"/>
                </a:rPr>
                <a:t>Key</a:t>
              </a:r>
            </a:p>
          </p:txBody>
        </p:sp>
        <p:grpSp>
          <p:nvGrpSpPr>
            <p:cNvPr id="10" name="Group 9">
              <a:extLst>
                <a:ext uri="{FF2B5EF4-FFF2-40B4-BE49-F238E27FC236}">
                  <a16:creationId xmlns:a16="http://schemas.microsoft.com/office/drawing/2014/main" id="{813280FE-04C4-6D77-BEF0-6A5F6DC3CEA3}"/>
                </a:ext>
              </a:extLst>
            </p:cNvPr>
            <p:cNvGrpSpPr/>
            <p:nvPr/>
          </p:nvGrpSpPr>
          <p:grpSpPr>
            <a:xfrm>
              <a:off x="4052496" y="4694050"/>
              <a:ext cx="667814" cy="170622"/>
              <a:chOff x="4773687" y="4696973"/>
              <a:chExt cx="667814" cy="170622"/>
            </a:xfrm>
          </p:grpSpPr>
          <p:pic>
            <p:nvPicPr>
              <p:cNvPr id="47" name="Picture 46">
                <a:extLst>
                  <a:ext uri="{FF2B5EF4-FFF2-40B4-BE49-F238E27FC236}">
                    <a16:creationId xmlns:a16="http://schemas.microsoft.com/office/drawing/2014/main" id="{D244682F-812A-9E42-0E3B-95A78D47B7B3}"/>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Lst>
              </a:blip>
              <a:stretch>
                <a:fillRect/>
              </a:stretch>
            </p:blipFill>
            <p:spPr>
              <a:xfrm>
                <a:off x="4773687" y="4697478"/>
                <a:ext cx="203777" cy="169613"/>
              </a:xfrm>
              <a:prstGeom prst="rect">
                <a:avLst/>
              </a:prstGeom>
            </p:spPr>
          </p:pic>
          <p:sp>
            <p:nvSpPr>
              <p:cNvPr id="48" name="TextBox 47">
                <a:extLst>
                  <a:ext uri="{FF2B5EF4-FFF2-40B4-BE49-F238E27FC236}">
                    <a16:creationId xmlns:a16="http://schemas.microsoft.com/office/drawing/2014/main" id="{6B8E40B9-6E70-DF0A-CBC2-B03640C00FD7}"/>
                  </a:ext>
                </a:extLst>
              </p:cNvPr>
              <p:cNvSpPr txBox="1"/>
              <p:nvPr/>
            </p:nvSpPr>
            <p:spPr>
              <a:xfrm>
                <a:off x="4973488" y="4696973"/>
                <a:ext cx="468013"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Feature</a:t>
                </a:r>
              </a:p>
            </p:txBody>
          </p:sp>
        </p:grpSp>
        <p:grpSp>
          <p:nvGrpSpPr>
            <p:cNvPr id="19" name="Group 18">
              <a:extLst>
                <a:ext uri="{FF2B5EF4-FFF2-40B4-BE49-F238E27FC236}">
                  <a16:creationId xmlns:a16="http://schemas.microsoft.com/office/drawing/2014/main" id="{B94E9EF6-F238-D6B0-EEA0-BD65D52BE5F6}"/>
                </a:ext>
              </a:extLst>
            </p:cNvPr>
            <p:cNvGrpSpPr/>
            <p:nvPr/>
          </p:nvGrpSpPr>
          <p:grpSpPr>
            <a:xfrm>
              <a:off x="5456424" y="4689572"/>
              <a:ext cx="681998" cy="179578"/>
              <a:chOff x="5961244" y="4692495"/>
              <a:chExt cx="681998" cy="179578"/>
            </a:xfrm>
          </p:grpSpPr>
          <p:pic>
            <p:nvPicPr>
              <p:cNvPr id="44" name="Picture 43">
                <a:extLst>
                  <a:ext uri="{FF2B5EF4-FFF2-40B4-BE49-F238E27FC236}">
                    <a16:creationId xmlns:a16="http://schemas.microsoft.com/office/drawing/2014/main" id="{9470B195-6CF6-C1E3-999E-01E3161A223A}"/>
                  </a:ext>
                </a:extLst>
              </p:cNvPr>
              <p:cNvPicPr>
                <a:picLocks/>
              </p:cNvPicPr>
              <p:nvPr/>
            </p:nvPicPr>
            <p:blipFill>
              <a:blip r:embed="rId3">
                <a:alphaModFix/>
                <a:extLst>
                  <a:ext uri="{BEBA8EAE-BF5A-486C-A8C5-ECC9F3942E4B}">
                    <a14:imgProps xmlns:a14="http://schemas.microsoft.com/office/drawing/2010/main">
                      <a14:imgLayer r:embed="rId4">
                        <a14:imgEffect>
                          <a14:backgroundRemoval t="10000" b="90000" l="10000" r="90000">
                            <a14:foregroundMark x1="46479" y1="29134" x2="46479" y2="29134"/>
                          </a14:backgroundRemoval>
                        </a14:imgEffect>
                      </a14:imgLayer>
                    </a14:imgProps>
                  </a:ext>
                </a:extLst>
              </a:blip>
              <a:stretch>
                <a:fillRect/>
              </a:stretch>
            </p:blipFill>
            <p:spPr>
              <a:xfrm>
                <a:off x="5961244" y="4692495"/>
                <a:ext cx="203777" cy="179578"/>
              </a:xfrm>
              <a:prstGeom prst="rect">
                <a:avLst/>
              </a:prstGeom>
            </p:spPr>
          </p:pic>
          <p:sp>
            <p:nvSpPr>
              <p:cNvPr id="46" name="TextBox 45">
                <a:extLst>
                  <a:ext uri="{FF2B5EF4-FFF2-40B4-BE49-F238E27FC236}">
                    <a16:creationId xmlns:a16="http://schemas.microsoft.com/office/drawing/2014/main" id="{A20B28A2-2C99-DEF7-765B-3E7384F15DF8}"/>
                  </a:ext>
                </a:extLst>
              </p:cNvPr>
              <p:cNvSpPr txBox="1"/>
              <p:nvPr/>
            </p:nvSpPr>
            <p:spPr>
              <a:xfrm>
                <a:off x="6175229" y="4696973"/>
                <a:ext cx="468013"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Function</a:t>
                </a:r>
              </a:p>
            </p:txBody>
          </p:sp>
        </p:grpSp>
        <p:grpSp>
          <p:nvGrpSpPr>
            <p:cNvPr id="21" name="Group 20">
              <a:extLst>
                <a:ext uri="{FF2B5EF4-FFF2-40B4-BE49-F238E27FC236}">
                  <a16:creationId xmlns:a16="http://schemas.microsoft.com/office/drawing/2014/main" id="{BA970813-2544-DCC7-38C5-8C76E556BD35}"/>
                </a:ext>
              </a:extLst>
            </p:cNvPr>
            <p:cNvGrpSpPr/>
            <p:nvPr/>
          </p:nvGrpSpPr>
          <p:grpSpPr>
            <a:xfrm>
              <a:off x="7126856" y="4694050"/>
              <a:ext cx="850310" cy="170622"/>
              <a:chOff x="7533433" y="4696973"/>
              <a:chExt cx="850310" cy="170622"/>
            </a:xfrm>
          </p:grpSpPr>
          <p:sp>
            <p:nvSpPr>
              <p:cNvPr id="42" name="Rectangle 41">
                <a:extLst>
                  <a:ext uri="{FF2B5EF4-FFF2-40B4-BE49-F238E27FC236}">
                    <a16:creationId xmlns:a16="http://schemas.microsoft.com/office/drawing/2014/main" id="{29AB7F5F-B675-889F-2FDE-AFE930EE197E}"/>
                  </a:ext>
                </a:extLst>
              </p:cNvPr>
              <p:cNvSpPr/>
              <p:nvPr/>
            </p:nvSpPr>
            <p:spPr>
              <a:xfrm>
                <a:off x="7533433" y="4706266"/>
                <a:ext cx="214733" cy="152036"/>
              </a:xfrm>
              <a:prstGeom prst="rect">
                <a:avLst/>
              </a:prstGeom>
              <a:solidFill>
                <a:schemeClr val="accent1">
                  <a:lumMod val="20000"/>
                  <a:lumOff val="80000"/>
                </a:schemeClr>
              </a:solidFill>
              <a:ln w="9525"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489">
                  <a:lnSpc>
                    <a:spcPct val="90000"/>
                  </a:lnSpc>
                  <a:spcBef>
                    <a:spcPct val="0"/>
                  </a:spcBef>
                  <a:spcAft>
                    <a:spcPct val="35000"/>
                  </a:spcAft>
                </a:pPr>
                <a:endParaRPr lang="en-GB" sz="800">
                  <a:solidFill>
                    <a:srgbClr val="34342B"/>
                  </a:solidFill>
                  <a:latin typeface="Vodafone Rg" pitchFamily="34" charset="0"/>
                </a:endParaRPr>
              </a:p>
            </p:txBody>
          </p:sp>
          <p:sp>
            <p:nvSpPr>
              <p:cNvPr id="43" name="TextBox 42">
                <a:extLst>
                  <a:ext uri="{FF2B5EF4-FFF2-40B4-BE49-F238E27FC236}">
                    <a16:creationId xmlns:a16="http://schemas.microsoft.com/office/drawing/2014/main" id="{BA195475-CE76-0015-0490-A28257623930}"/>
                  </a:ext>
                </a:extLst>
              </p:cNvPr>
              <p:cNvSpPr txBox="1"/>
              <p:nvPr/>
            </p:nvSpPr>
            <p:spPr>
              <a:xfrm>
                <a:off x="7789128" y="4696973"/>
                <a:ext cx="594615"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TDM Activity</a:t>
                </a:r>
              </a:p>
            </p:txBody>
          </p:sp>
        </p:grpSp>
        <p:grpSp>
          <p:nvGrpSpPr>
            <p:cNvPr id="22" name="Group 21">
              <a:extLst>
                <a:ext uri="{FF2B5EF4-FFF2-40B4-BE49-F238E27FC236}">
                  <a16:creationId xmlns:a16="http://schemas.microsoft.com/office/drawing/2014/main" id="{CF53C1FE-D929-D49E-3527-D015156CAE95}"/>
                </a:ext>
              </a:extLst>
            </p:cNvPr>
            <p:cNvGrpSpPr/>
            <p:nvPr/>
          </p:nvGrpSpPr>
          <p:grpSpPr>
            <a:xfrm>
              <a:off x="6208103" y="4694050"/>
              <a:ext cx="885650" cy="170622"/>
              <a:chOff x="5823230" y="4696973"/>
              <a:chExt cx="885650" cy="170622"/>
            </a:xfrm>
          </p:grpSpPr>
          <p:pic>
            <p:nvPicPr>
              <p:cNvPr id="36" name="Picture 35">
                <a:extLst>
                  <a:ext uri="{FF2B5EF4-FFF2-40B4-BE49-F238E27FC236}">
                    <a16:creationId xmlns:a16="http://schemas.microsoft.com/office/drawing/2014/main" id="{98D9EBBA-77DD-4DD1-B453-220E9353F2BD}"/>
                  </a:ext>
                </a:extLst>
              </p:cNvPr>
              <p:cNvPicPr>
                <a:picLocks noChangeAspect="1"/>
              </p:cNvPicPr>
              <p:nvPr/>
            </p:nvPicPr>
            <p:blipFill>
              <a:blip r:embed="rId5">
                <a:clrChange>
                  <a:clrFrom>
                    <a:srgbClr val="F8F8F8"/>
                  </a:clrFrom>
                  <a:clrTo>
                    <a:srgbClr val="F8F8F8">
                      <a:alpha val="0"/>
                    </a:srgbClr>
                  </a:clrTo>
                </a:clrChange>
              </a:blip>
              <a:stretch>
                <a:fillRect/>
              </a:stretch>
            </p:blipFill>
            <p:spPr>
              <a:xfrm>
                <a:off x="5823230" y="4708884"/>
                <a:ext cx="180164" cy="146800"/>
              </a:xfrm>
              <a:prstGeom prst="rect">
                <a:avLst/>
              </a:prstGeom>
            </p:spPr>
          </p:pic>
          <p:sp>
            <p:nvSpPr>
              <p:cNvPr id="38" name="TextBox 37">
                <a:extLst>
                  <a:ext uri="{FF2B5EF4-FFF2-40B4-BE49-F238E27FC236}">
                    <a16:creationId xmlns:a16="http://schemas.microsoft.com/office/drawing/2014/main" id="{6E007DF7-0A26-334F-A419-5DB044A3F6B4}"/>
                  </a:ext>
                </a:extLst>
              </p:cNvPr>
              <p:cNvSpPr txBox="1"/>
              <p:nvPr/>
            </p:nvSpPr>
            <p:spPr>
              <a:xfrm>
                <a:off x="6022598" y="4696973"/>
                <a:ext cx="686282"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State Change</a:t>
                </a:r>
              </a:p>
            </p:txBody>
          </p:sp>
        </p:grpSp>
        <p:grpSp>
          <p:nvGrpSpPr>
            <p:cNvPr id="27" name="Group 26">
              <a:extLst>
                <a:ext uri="{FF2B5EF4-FFF2-40B4-BE49-F238E27FC236}">
                  <a16:creationId xmlns:a16="http://schemas.microsoft.com/office/drawing/2014/main" id="{9C1F07CA-BDC7-DF26-BE2D-E6D6A1CA2523}"/>
                </a:ext>
              </a:extLst>
            </p:cNvPr>
            <p:cNvGrpSpPr/>
            <p:nvPr/>
          </p:nvGrpSpPr>
          <p:grpSpPr>
            <a:xfrm>
              <a:off x="4704092" y="4689361"/>
              <a:ext cx="706489" cy="180000"/>
              <a:chOff x="4429144" y="4678153"/>
              <a:chExt cx="706489" cy="180000"/>
            </a:xfrm>
          </p:grpSpPr>
          <p:sp>
            <p:nvSpPr>
              <p:cNvPr id="29" name="TextBox 28">
                <a:extLst>
                  <a:ext uri="{FF2B5EF4-FFF2-40B4-BE49-F238E27FC236}">
                    <a16:creationId xmlns:a16="http://schemas.microsoft.com/office/drawing/2014/main" id="{2364C640-3B6A-AF50-E3EB-8875661B3E71}"/>
                  </a:ext>
                </a:extLst>
              </p:cNvPr>
              <p:cNvSpPr txBox="1"/>
              <p:nvPr/>
            </p:nvSpPr>
            <p:spPr>
              <a:xfrm>
                <a:off x="4667620" y="4682842"/>
                <a:ext cx="468013"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Delivery</a:t>
                </a:r>
              </a:p>
            </p:txBody>
          </p:sp>
          <p:pic>
            <p:nvPicPr>
              <p:cNvPr id="34" name="Picture 33">
                <a:extLst>
                  <a:ext uri="{FF2B5EF4-FFF2-40B4-BE49-F238E27FC236}">
                    <a16:creationId xmlns:a16="http://schemas.microsoft.com/office/drawing/2014/main" id="{1B5FC3D3-B9AC-AF45-BDFA-44A9F915977C}"/>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foregroundMark x1="54386" y1="40909" x2="54386" y2="40909"/>
                            <a14:foregroundMark x1="75439" y1="50000" x2="75439" y2="50000"/>
                            <a14:foregroundMark x1="24561" y1="47727" x2="24561" y2="47727"/>
                          </a14:backgroundRemoval>
                        </a14:imgEffect>
                      </a14:imgLayer>
                    </a14:imgProps>
                  </a:ext>
                </a:extLst>
              </a:blip>
              <a:stretch>
                <a:fillRect/>
              </a:stretch>
            </p:blipFill>
            <p:spPr>
              <a:xfrm>
                <a:off x="4429144" y="4678153"/>
                <a:ext cx="233183" cy="180000"/>
              </a:xfrm>
              <a:prstGeom prst="rect">
                <a:avLst/>
              </a:prstGeom>
            </p:spPr>
          </p:pic>
        </p:grpSp>
      </p:grpSp>
    </p:spTree>
    <p:extLst>
      <p:ext uri="{BB962C8B-B14F-4D97-AF65-F5344CB8AC3E}">
        <p14:creationId xmlns:p14="http://schemas.microsoft.com/office/powerpoint/2010/main" val="3225301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B6C5A4D8-8579-4FDA-A87E-26A76279A924}"/>
              </a:ext>
            </a:extLst>
          </p:cNvPr>
          <p:cNvSpPr/>
          <p:nvPr/>
        </p:nvSpPr>
        <p:spPr>
          <a:xfrm>
            <a:off x="194305" y="1318098"/>
            <a:ext cx="8642350" cy="3603625"/>
          </a:xfrm>
          <a:prstGeom prst="rect">
            <a:avLst/>
          </a:prstGeom>
          <a:noFill/>
        </p:spPr>
        <p:txBody>
          <a:bodyPr/>
          <a:lstStyle/>
          <a:p>
            <a:endParaRPr lang="en-GB"/>
          </a:p>
        </p:txBody>
      </p:sp>
      <p:sp>
        <p:nvSpPr>
          <p:cNvPr id="4" name="Slide Number Placeholder 3">
            <a:extLst>
              <a:ext uri="{FF2B5EF4-FFF2-40B4-BE49-F238E27FC236}">
                <a16:creationId xmlns:a16="http://schemas.microsoft.com/office/drawing/2014/main" id="{C96DA59E-3B00-40A4-96AE-82AC15D86BD5}"/>
              </a:ext>
            </a:extLst>
          </p:cNvPr>
          <p:cNvSpPr>
            <a:spLocks noGrp="1"/>
          </p:cNvSpPr>
          <p:nvPr>
            <p:ph type="sldNum" sz="quarter" idx="15"/>
          </p:nvPr>
        </p:nvSpPr>
        <p:spPr/>
        <p:txBody>
          <a:bodyPr/>
          <a:lstStyle/>
          <a:p>
            <a:pPr defTabSz="914378"/>
            <a:fld id="{72A83A2B-3358-44F8-83A0-4598795D8FB5}" type="slidenum">
              <a:rPr lang="en-GB">
                <a:solidFill>
                  <a:srgbClr val="000000"/>
                </a:solidFill>
              </a:rPr>
              <a:pPr defTabSz="914378"/>
              <a:t>25</a:t>
            </a:fld>
            <a:endParaRPr lang="en-GB">
              <a:solidFill>
                <a:srgbClr val="000000"/>
              </a:solidFill>
            </a:endParaRPr>
          </a:p>
        </p:txBody>
      </p:sp>
      <p:sp>
        <p:nvSpPr>
          <p:cNvPr id="2" name="Title 1">
            <a:extLst>
              <a:ext uri="{FF2B5EF4-FFF2-40B4-BE49-F238E27FC236}">
                <a16:creationId xmlns:a16="http://schemas.microsoft.com/office/drawing/2014/main" id="{8DABFEE5-84BE-4829-83BE-E029F92370C6}"/>
              </a:ext>
            </a:extLst>
          </p:cNvPr>
          <p:cNvSpPr>
            <a:spLocks noGrp="1"/>
          </p:cNvSpPr>
          <p:nvPr>
            <p:ph type="title"/>
          </p:nvPr>
        </p:nvSpPr>
        <p:spPr/>
        <p:txBody>
          <a:bodyPr/>
          <a:lstStyle/>
          <a:p>
            <a:r>
              <a:rPr lang="en-GB" dirty="0"/>
              <a:t>Detailed workflow who does what #3</a:t>
            </a:r>
          </a:p>
        </p:txBody>
      </p:sp>
      <p:sp>
        <p:nvSpPr>
          <p:cNvPr id="16" name="TextBox 15">
            <a:extLst>
              <a:ext uri="{FF2B5EF4-FFF2-40B4-BE49-F238E27FC236}">
                <a16:creationId xmlns:a16="http://schemas.microsoft.com/office/drawing/2014/main" id="{92746F47-60CD-49F6-936B-24E1117A73FE}"/>
              </a:ext>
            </a:extLst>
          </p:cNvPr>
          <p:cNvSpPr txBox="1"/>
          <p:nvPr/>
        </p:nvSpPr>
        <p:spPr>
          <a:xfrm>
            <a:off x="7248760" y="36349"/>
            <a:ext cx="1815752" cy="337886"/>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chor="ctr">
            <a:noAutofit/>
          </a:bodyPr>
          <a:lstStyle/>
          <a:p>
            <a:pPr algn="ctr" defTabSz="685800"/>
            <a:r>
              <a:rPr lang="en-GB" sz="900">
                <a:solidFill>
                  <a:srgbClr val="000000"/>
                </a:solidFill>
                <a:latin typeface="Vodafone Rg" pitchFamily="34" charset="0"/>
              </a:rPr>
              <a:t>The order of the steps is indicative and may vary depending on the project</a:t>
            </a:r>
          </a:p>
        </p:txBody>
      </p:sp>
      <p:sp>
        <p:nvSpPr>
          <p:cNvPr id="159" name="TextBox 158">
            <a:extLst>
              <a:ext uri="{FF2B5EF4-FFF2-40B4-BE49-F238E27FC236}">
                <a16:creationId xmlns:a16="http://schemas.microsoft.com/office/drawing/2014/main" id="{C092075E-4F43-F9ED-4A84-FC0685C01F51}"/>
              </a:ext>
            </a:extLst>
          </p:cNvPr>
          <p:cNvSpPr txBox="1"/>
          <p:nvPr/>
        </p:nvSpPr>
        <p:spPr>
          <a:xfrm>
            <a:off x="250826" y="762394"/>
            <a:ext cx="8642349" cy="309172"/>
          </a:xfrm>
          <a:prstGeom prst="rect">
            <a:avLst/>
          </a:prstGeom>
          <a:solidFill>
            <a:schemeClr val="bg2">
              <a:lumMod val="20000"/>
              <a:lumOff val="80000"/>
            </a:schemeClr>
          </a:solidFill>
        </p:spPr>
        <p:txBody>
          <a:bodyPr wrap="square" lIns="54000" tIns="27000" rIns="54000" bIns="54000" rtlCol="0">
            <a:noAutofit/>
          </a:bodyPr>
          <a:lstStyle/>
          <a:p>
            <a:pPr defTabSz="685800"/>
            <a:r>
              <a:rPr lang="en-GB" sz="1200" dirty="0">
                <a:solidFill>
                  <a:srgbClr val="000000"/>
                </a:solidFill>
                <a:latin typeface="Vodafone Rg" pitchFamily="34" charset="0"/>
              </a:rPr>
              <a:t>A more detailed workflow of the Epic, Feature and Function, along with their typical roles</a:t>
            </a:r>
          </a:p>
          <a:p>
            <a:pPr defTabSz="685800"/>
            <a:endParaRPr lang="en-GB" sz="1200" i="1" dirty="0">
              <a:solidFill>
                <a:srgbClr val="FF0000"/>
              </a:solidFill>
              <a:latin typeface="Vodafone Rg" pitchFamily="34" charset="0"/>
            </a:endParaRPr>
          </a:p>
        </p:txBody>
      </p:sp>
      <p:sp>
        <p:nvSpPr>
          <p:cNvPr id="135" name="TextBox 134">
            <a:extLst>
              <a:ext uri="{FF2B5EF4-FFF2-40B4-BE49-F238E27FC236}">
                <a16:creationId xmlns:a16="http://schemas.microsoft.com/office/drawing/2014/main" id="{7669A55B-04D1-1828-ADC1-AD2942BD95DF}"/>
              </a:ext>
            </a:extLst>
          </p:cNvPr>
          <p:cNvSpPr txBox="1"/>
          <p:nvPr/>
        </p:nvSpPr>
        <p:spPr>
          <a:xfrm rot="16200000">
            <a:off x="8346236" y="3502086"/>
            <a:ext cx="959832" cy="134048"/>
          </a:xfrm>
          <a:prstGeom prst="rect">
            <a:avLst/>
          </a:prstGeom>
          <a:solidFill>
            <a:srgbClr val="00B0CA"/>
          </a:solidFill>
        </p:spPr>
        <p:txBody>
          <a:bodyPr wrap="square" lIns="0" tIns="0" rIns="0" bIns="0" rtlCol="0" anchor="ctr">
            <a:noAutofit/>
          </a:bodyPr>
          <a:lstStyle/>
          <a:p>
            <a:pPr algn="ctr" defTabSz="914378"/>
            <a:r>
              <a:rPr lang="en-GB" sz="900" b="1" dirty="0">
                <a:solidFill>
                  <a:srgbClr val="FFFFFF"/>
                </a:solidFill>
                <a:latin typeface="Vodafone Rg" pitchFamily="34" charset="0"/>
              </a:rPr>
              <a:t>Done</a:t>
            </a:r>
          </a:p>
        </p:txBody>
      </p:sp>
      <p:grpSp>
        <p:nvGrpSpPr>
          <p:cNvPr id="175" name="Group 174">
            <a:extLst>
              <a:ext uri="{FF2B5EF4-FFF2-40B4-BE49-F238E27FC236}">
                <a16:creationId xmlns:a16="http://schemas.microsoft.com/office/drawing/2014/main" id="{450B4A1A-E2E0-A78B-A605-5916CD7BEA24}"/>
              </a:ext>
            </a:extLst>
          </p:cNvPr>
          <p:cNvGrpSpPr/>
          <p:nvPr/>
        </p:nvGrpSpPr>
        <p:grpSpPr>
          <a:xfrm>
            <a:off x="1325733" y="2695607"/>
            <a:ext cx="6637568" cy="406224"/>
            <a:chOff x="1325733" y="2695607"/>
            <a:chExt cx="6637568" cy="406224"/>
          </a:xfrm>
        </p:grpSpPr>
        <p:cxnSp>
          <p:nvCxnSpPr>
            <p:cNvPr id="146" name="Straight Connector 145">
              <a:extLst>
                <a:ext uri="{FF2B5EF4-FFF2-40B4-BE49-F238E27FC236}">
                  <a16:creationId xmlns:a16="http://schemas.microsoft.com/office/drawing/2014/main" id="{20A4569C-4DE8-C7AB-07EB-E758C35E314F}"/>
                </a:ext>
              </a:extLst>
            </p:cNvPr>
            <p:cNvCxnSpPr>
              <a:cxnSpLocks/>
            </p:cNvCxnSpPr>
            <p:nvPr/>
          </p:nvCxnSpPr>
          <p:spPr>
            <a:xfrm>
              <a:off x="7963301" y="2695607"/>
              <a:ext cx="0" cy="137429"/>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F77D696F-5AD6-1E84-6E01-BCEC97FB9239}"/>
                </a:ext>
              </a:extLst>
            </p:cNvPr>
            <p:cNvCxnSpPr>
              <a:cxnSpLocks/>
            </p:cNvCxnSpPr>
            <p:nvPr/>
          </p:nvCxnSpPr>
          <p:spPr>
            <a:xfrm flipH="1">
              <a:off x="1325733" y="2833036"/>
              <a:ext cx="6637568"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62870F04-5BB1-6350-E71D-B393E3130404}"/>
                </a:ext>
              </a:extLst>
            </p:cNvPr>
            <p:cNvCxnSpPr>
              <a:cxnSpLocks/>
            </p:cNvCxnSpPr>
            <p:nvPr/>
          </p:nvCxnSpPr>
          <p:spPr>
            <a:xfrm>
              <a:off x="1325733" y="2833036"/>
              <a:ext cx="0" cy="268795"/>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sp>
        <p:nvSpPr>
          <p:cNvPr id="6" name="Freeform: Shape 5">
            <a:extLst>
              <a:ext uri="{FF2B5EF4-FFF2-40B4-BE49-F238E27FC236}">
                <a16:creationId xmlns:a16="http://schemas.microsoft.com/office/drawing/2014/main" id="{3CA85CA2-2021-9BE7-E026-696AE7FC8C35}"/>
              </a:ext>
            </a:extLst>
          </p:cNvPr>
          <p:cNvSpPr/>
          <p:nvPr/>
        </p:nvSpPr>
        <p:spPr>
          <a:xfrm>
            <a:off x="2135734" y="1508679"/>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sp>
        <p:nvSpPr>
          <p:cNvPr id="8" name="TextBox 7">
            <a:extLst>
              <a:ext uri="{FF2B5EF4-FFF2-40B4-BE49-F238E27FC236}">
                <a16:creationId xmlns:a16="http://schemas.microsoft.com/office/drawing/2014/main" id="{F9E3B1A0-A2B0-C1BB-90E4-00874F970665}"/>
              </a:ext>
            </a:extLst>
          </p:cNvPr>
          <p:cNvSpPr txBox="1"/>
          <p:nvPr/>
        </p:nvSpPr>
        <p:spPr>
          <a:xfrm rot="16200000">
            <a:off x="0" y="1908000"/>
            <a:ext cx="696591" cy="134048"/>
          </a:xfrm>
          <a:prstGeom prst="rect">
            <a:avLst/>
          </a:prstGeom>
          <a:solidFill>
            <a:schemeClr val="accent4"/>
          </a:solidFill>
        </p:spPr>
        <p:txBody>
          <a:bodyPr wrap="square" lIns="0" tIns="0" rIns="0" bIns="0" rtlCol="0" anchor="ctr">
            <a:noAutofit/>
          </a:bodyPr>
          <a:lstStyle/>
          <a:p>
            <a:pPr algn="ctr" defTabSz="914378"/>
            <a:r>
              <a:rPr lang="en-GB" sz="900" b="1" dirty="0">
                <a:solidFill>
                  <a:srgbClr val="FFFFFF"/>
                </a:solidFill>
                <a:latin typeface="Vodafone Rg" pitchFamily="34" charset="0"/>
              </a:rPr>
              <a:t>Continued</a:t>
            </a:r>
          </a:p>
        </p:txBody>
      </p:sp>
      <p:grpSp>
        <p:nvGrpSpPr>
          <p:cNvPr id="9" name="Group 8">
            <a:extLst>
              <a:ext uri="{FF2B5EF4-FFF2-40B4-BE49-F238E27FC236}">
                <a16:creationId xmlns:a16="http://schemas.microsoft.com/office/drawing/2014/main" id="{40DF4A87-D4CA-2A45-38A4-36EECE349788}"/>
              </a:ext>
            </a:extLst>
          </p:cNvPr>
          <p:cNvGrpSpPr/>
          <p:nvPr/>
        </p:nvGrpSpPr>
        <p:grpSpPr>
          <a:xfrm>
            <a:off x="227263" y="1117811"/>
            <a:ext cx="1906876" cy="1584000"/>
            <a:chOff x="217124" y="1152000"/>
            <a:chExt cx="1906876" cy="1584000"/>
          </a:xfrm>
          <a:solidFill>
            <a:schemeClr val="accent1">
              <a:lumMod val="20000"/>
              <a:lumOff val="80000"/>
            </a:schemeClr>
          </a:solidFill>
        </p:grpSpPr>
        <p:sp>
          <p:nvSpPr>
            <p:cNvPr id="12" name="Freeform: Shape 11">
              <a:extLst>
                <a:ext uri="{FF2B5EF4-FFF2-40B4-BE49-F238E27FC236}">
                  <a16:creationId xmlns:a16="http://schemas.microsoft.com/office/drawing/2014/main" id="{8E1533BF-E5E1-6296-99C4-DAC382025C70}"/>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13" name="Rectangle 12">
              <a:extLst>
                <a:ext uri="{FF2B5EF4-FFF2-40B4-BE49-F238E27FC236}">
                  <a16:creationId xmlns:a16="http://schemas.microsoft.com/office/drawing/2014/main" id="{FBA3B5DE-5713-384C-0EAA-6096FEF28012}"/>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a:t>
              </a:r>
              <a:r>
                <a:rPr lang="en-GB" sz="800" dirty="0">
                  <a:solidFill>
                    <a:srgbClr val="000000"/>
                  </a:solidFill>
                  <a:latin typeface="Vodafone Rg"/>
                </a:rPr>
                <a:t> Update </a:t>
              </a:r>
              <a:r>
                <a:rPr lang="en-GB" sz="800" b="1" dirty="0">
                  <a:solidFill>
                    <a:srgbClr val="000000"/>
                  </a:solidFill>
                  <a:latin typeface="Vodafone Rg"/>
                </a:rPr>
                <a:t>Function</a:t>
              </a:r>
              <a:r>
                <a:rPr lang="en-GB" sz="800" dirty="0">
                  <a:solidFill>
                    <a:srgbClr val="000000"/>
                  </a:solidFill>
                  <a:latin typeface="Vodafone Rg"/>
                </a:rPr>
                <a:t> Build &amp; ST progress States, Delivery Dates and other fields</a:t>
              </a:r>
              <a:endParaRPr lang="en-GB" sz="800" b="1" dirty="0">
                <a:solidFill>
                  <a:srgbClr val="000000"/>
                </a:solidFill>
                <a:latin typeface="Vodafone Rg"/>
              </a:endParaRPr>
            </a:p>
          </p:txBody>
        </p:sp>
        <p:sp>
          <p:nvSpPr>
            <p:cNvPr id="17" name="TextBox 16">
              <a:extLst>
                <a:ext uri="{FF2B5EF4-FFF2-40B4-BE49-F238E27FC236}">
                  <a16:creationId xmlns:a16="http://schemas.microsoft.com/office/drawing/2014/main" id="{53A27A90-6C57-D0C1-8E2D-1A8C55ACDA72}"/>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Domain Delivery Manager/Scrum M.</a:t>
              </a:r>
            </a:p>
            <a:p>
              <a:pPr defTabSz="914378"/>
              <a:endParaRPr lang="en-GB" sz="800" dirty="0">
                <a:solidFill>
                  <a:srgbClr val="000000"/>
                </a:solidFill>
                <a:latin typeface="Vodafone Rg"/>
              </a:endParaRPr>
            </a:p>
          </p:txBody>
        </p:sp>
        <p:sp>
          <p:nvSpPr>
            <p:cNvPr id="18" name="TextBox 17">
              <a:extLst>
                <a:ext uri="{FF2B5EF4-FFF2-40B4-BE49-F238E27FC236}">
                  <a16:creationId xmlns:a16="http://schemas.microsoft.com/office/drawing/2014/main" id="{155D2C44-7FE4-24C1-C1FF-660EFDA32B8F}"/>
                </a:ext>
              </a:extLst>
            </p:cNvPr>
            <p:cNvSpPr txBox="1"/>
            <p:nvPr/>
          </p:nvSpPr>
          <p:spPr>
            <a:xfrm>
              <a:off x="217124" y="1152000"/>
              <a:ext cx="288000"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17</a:t>
              </a:r>
            </a:p>
          </p:txBody>
        </p:sp>
      </p:grpSp>
      <p:grpSp>
        <p:nvGrpSpPr>
          <p:cNvPr id="20" name="Group 19">
            <a:extLst>
              <a:ext uri="{FF2B5EF4-FFF2-40B4-BE49-F238E27FC236}">
                <a16:creationId xmlns:a16="http://schemas.microsoft.com/office/drawing/2014/main" id="{642F5012-3AD2-8EEB-95CD-2536916FEB02}"/>
              </a:ext>
            </a:extLst>
          </p:cNvPr>
          <p:cNvGrpSpPr/>
          <p:nvPr/>
        </p:nvGrpSpPr>
        <p:grpSpPr>
          <a:xfrm>
            <a:off x="2413569" y="1117811"/>
            <a:ext cx="1910051" cy="1584000"/>
            <a:chOff x="213949" y="1152000"/>
            <a:chExt cx="1910051" cy="1584000"/>
          </a:xfrm>
          <a:solidFill>
            <a:schemeClr val="accent1">
              <a:lumMod val="20000"/>
              <a:lumOff val="80000"/>
            </a:schemeClr>
          </a:solidFill>
        </p:grpSpPr>
        <p:sp>
          <p:nvSpPr>
            <p:cNvPr id="23" name="Freeform: Shape 22">
              <a:extLst>
                <a:ext uri="{FF2B5EF4-FFF2-40B4-BE49-F238E27FC236}">
                  <a16:creationId xmlns:a16="http://schemas.microsoft.com/office/drawing/2014/main" id="{655A35FA-067D-D080-A474-3E4F9DA52C7C}"/>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24" name="Rectangle 23">
              <a:extLst>
                <a:ext uri="{FF2B5EF4-FFF2-40B4-BE49-F238E27FC236}">
                  <a16:creationId xmlns:a16="http://schemas.microsoft.com/office/drawing/2014/main" id="{9E1712CD-4EC6-1D67-54E7-A800DC7494EA}"/>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a:t>
              </a:r>
              <a:r>
                <a:rPr lang="en-GB" sz="800" dirty="0">
                  <a:solidFill>
                    <a:srgbClr val="000000"/>
                  </a:solidFill>
                  <a:latin typeface="Vodafone Rg"/>
                </a:rPr>
                <a:t> Update </a:t>
              </a:r>
              <a:r>
                <a:rPr lang="en-GB" sz="800" b="1" dirty="0">
                  <a:solidFill>
                    <a:srgbClr val="000000"/>
                  </a:solidFill>
                  <a:latin typeface="Vodafone Rg"/>
                </a:rPr>
                <a:t>Delivery</a:t>
              </a:r>
              <a:r>
                <a:rPr lang="en-GB" sz="800" dirty="0">
                  <a:solidFill>
                    <a:srgbClr val="000000"/>
                  </a:solidFill>
                  <a:latin typeface="Vodafone Rg"/>
                </a:rPr>
                <a:t> SIT progress state</a:t>
              </a:r>
            </a:p>
          </p:txBody>
        </p:sp>
        <p:sp>
          <p:nvSpPr>
            <p:cNvPr id="25" name="TextBox 24">
              <a:extLst>
                <a:ext uri="{FF2B5EF4-FFF2-40B4-BE49-F238E27FC236}">
                  <a16:creationId xmlns:a16="http://schemas.microsoft.com/office/drawing/2014/main" id="{EAD91AB1-F0E6-48C8-1DB1-6224E69527A0}"/>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endParaRPr lang="en-GB" sz="800" dirty="0">
                <a:solidFill>
                  <a:srgbClr val="000000"/>
                </a:solidFill>
                <a:latin typeface="Vodafone Rg"/>
              </a:endParaRPr>
            </a:p>
            <a:p>
              <a:pPr defTabSz="914378"/>
              <a:r>
                <a:rPr lang="en-GB" sz="800" dirty="0">
                  <a:solidFill>
                    <a:srgbClr val="000000"/>
                  </a:solidFill>
                  <a:latin typeface="Vodafone Rg"/>
                </a:rPr>
                <a:t>SIT Team</a:t>
              </a:r>
            </a:p>
            <a:p>
              <a:pPr defTabSz="914378"/>
              <a:r>
                <a:rPr lang="en-GB" sz="800" i="1" dirty="0">
                  <a:solidFill>
                    <a:srgbClr val="000000"/>
                  </a:solidFill>
                  <a:latin typeface="Vodafone Rg"/>
                </a:rPr>
                <a:t>TDM to review</a:t>
              </a:r>
              <a:endParaRPr lang="en-GB" sz="800" b="1" dirty="0">
                <a:solidFill>
                  <a:srgbClr val="000000"/>
                </a:solidFill>
                <a:latin typeface="Vodafone Rg"/>
              </a:endParaRPr>
            </a:p>
          </p:txBody>
        </p:sp>
        <p:sp>
          <p:nvSpPr>
            <p:cNvPr id="26" name="TextBox 25">
              <a:extLst>
                <a:ext uri="{FF2B5EF4-FFF2-40B4-BE49-F238E27FC236}">
                  <a16:creationId xmlns:a16="http://schemas.microsoft.com/office/drawing/2014/main" id="{773A2F8E-D3F2-36F4-AAB0-2992ADA95FFF}"/>
                </a:ext>
              </a:extLst>
            </p:cNvPr>
            <p:cNvSpPr txBox="1"/>
            <p:nvPr/>
          </p:nvSpPr>
          <p:spPr>
            <a:xfrm>
              <a:off x="213949" y="1152000"/>
              <a:ext cx="288000"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18</a:t>
              </a:r>
            </a:p>
          </p:txBody>
        </p:sp>
      </p:grpSp>
      <p:grpSp>
        <p:nvGrpSpPr>
          <p:cNvPr id="28" name="Group 27">
            <a:extLst>
              <a:ext uri="{FF2B5EF4-FFF2-40B4-BE49-F238E27FC236}">
                <a16:creationId xmlns:a16="http://schemas.microsoft.com/office/drawing/2014/main" id="{6DBA0769-82AB-45DA-4EDE-0DC822397891}"/>
              </a:ext>
            </a:extLst>
          </p:cNvPr>
          <p:cNvGrpSpPr/>
          <p:nvPr/>
        </p:nvGrpSpPr>
        <p:grpSpPr>
          <a:xfrm>
            <a:off x="4603050" y="1117811"/>
            <a:ext cx="1906876" cy="1584000"/>
            <a:chOff x="217124" y="1152000"/>
            <a:chExt cx="1906876" cy="1584000"/>
          </a:xfrm>
          <a:solidFill>
            <a:schemeClr val="accent1">
              <a:lumMod val="20000"/>
              <a:lumOff val="80000"/>
            </a:schemeClr>
          </a:solidFill>
        </p:grpSpPr>
        <p:sp>
          <p:nvSpPr>
            <p:cNvPr id="30" name="Freeform: Shape 29">
              <a:extLst>
                <a:ext uri="{FF2B5EF4-FFF2-40B4-BE49-F238E27FC236}">
                  <a16:creationId xmlns:a16="http://schemas.microsoft.com/office/drawing/2014/main" id="{931D00D7-6DBA-A2FA-1ADC-87CA1F0CACBC}"/>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31" name="Rectangle 30">
              <a:extLst>
                <a:ext uri="{FF2B5EF4-FFF2-40B4-BE49-F238E27FC236}">
                  <a16:creationId xmlns:a16="http://schemas.microsoft.com/office/drawing/2014/main" id="{BCD0CEAF-A3A4-5147-690C-25A6B1228372}"/>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a:t>
              </a:r>
              <a:r>
                <a:rPr lang="en-GB" sz="800" dirty="0">
                  <a:solidFill>
                    <a:srgbClr val="000000"/>
                  </a:solidFill>
                  <a:latin typeface="Vodafone Rg"/>
                </a:rPr>
                <a:t> Update </a:t>
              </a:r>
              <a:r>
                <a:rPr lang="en-GB" sz="800" b="1" dirty="0">
                  <a:solidFill>
                    <a:srgbClr val="000000"/>
                  </a:solidFill>
                  <a:latin typeface="Vodafone Rg"/>
                </a:rPr>
                <a:t>Delivery</a:t>
              </a:r>
              <a:r>
                <a:rPr lang="en-GB" sz="800" dirty="0">
                  <a:solidFill>
                    <a:srgbClr val="000000"/>
                  </a:solidFill>
                  <a:latin typeface="Vodafone Rg"/>
                </a:rPr>
                <a:t> State Ready to Deploy, validate Consumption Plan</a:t>
              </a:r>
            </a:p>
          </p:txBody>
        </p:sp>
        <p:sp>
          <p:nvSpPr>
            <p:cNvPr id="32" name="TextBox 31">
              <a:extLst>
                <a:ext uri="{FF2B5EF4-FFF2-40B4-BE49-F238E27FC236}">
                  <a16:creationId xmlns:a16="http://schemas.microsoft.com/office/drawing/2014/main" id="{734DFCF6-06CF-6A52-3536-EC31EA23A5D6}"/>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rgbClr val="000000"/>
                  </a:solidFill>
                  <a:latin typeface="Vodafone Rg"/>
                </a:rPr>
                <a:t>Release Manager</a:t>
              </a:r>
            </a:p>
            <a:p>
              <a:pPr defTabSz="914378"/>
              <a:r>
                <a:rPr lang="en-GB" sz="800" i="1" dirty="0">
                  <a:solidFill>
                    <a:srgbClr val="000000"/>
                  </a:solidFill>
                  <a:latin typeface="Vodafone Rg"/>
                </a:rPr>
                <a:t>SIT Team &amp; TDM to review</a:t>
              </a:r>
            </a:p>
            <a:p>
              <a:pPr defTabSz="914378"/>
              <a:endParaRPr lang="en-GB" sz="800" dirty="0">
                <a:solidFill>
                  <a:srgbClr val="000000"/>
                </a:solidFill>
                <a:latin typeface="Vodafone Rg"/>
              </a:endParaRPr>
            </a:p>
          </p:txBody>
        </p:sp>
        <p:sp>
          <p:nvSpPr>
            <p:cNvPr id="33" name="TextBox 32">
              <a:extLst>
                <a:ext uri="{FF2B5EF4-FFF2-40B4-BE49-F238E27FC236}">
                  <a16:creationId xmlns:a16="http://schemas.microsoft.com/office/drawing/2014/main" id="{FAC30F8A-1FB9-529B-D4C5-3263B12D59DB}"/>
                </a:ext>
              </a:extLst>
            </p:cNvPr>
            <p:cNvSpPr txBox="1"/>
            <p:nvPr/>
          </p:nvSpPr>
          <p:spPr>
            <a:xfrm>
              <a:off x="217124" y="1152000"/>
              <a:ext cx="288000"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19</a:t>
              </a:r>
            </a:p>
          </p:txBody>
        </p:sp>
      </p:grpSp>
      <p:grpSp>
        <p:nvGrpSpPr>
          <p:cNvPr id="35" name="Group 34">
            <a:extLst>
              <a:ext uri="{FF2B5EF4-FFF2-40B4-BE49-F238E27FC236}">
                <a16:creationId xmlns:a16="http://schemas.microsoft.com/office/drawing/2014/main" id="{0A5137C7-223B-90D7-FFB7-F43B3137055F}"/>
              </a:ext>
            </a:extLst>
          </p:cNvPr>
          <p:cNvGrpSpPr/>
          <p:nvPr/>
        </p:nvGrpSpPr>
        <p:grpSpPr>
          <a:xfrm>
            <a:off x="6789355" y="1117811"/>
            <a:ext cx="1906876" cy="1584000"/>
            <a:chOff x="217124" y="1152000"/>
            <a:chExt cx="1906876" cy="1584000"/>
          </a:xfrm>
          <a:solidFill>
            <a:schemeClr val="accent1">
              <a:lumMod val="20000"/>
              <a:lumOff val="80000"/>
            </a:schemeClr>
          </a:solidFill>
        </p:grpSpPr>
        <p:sp>
          <p:nvSpPr>
            <p:cNvPr id="37" name="Freeform: Shape 36">
              <a:extLst>
                <a:ext uri="{FF2B5EF4-FFF2-40B4-BE49-F238E27FC236}">
                  <a16:creationId xmlns:a16="http://schemas.microsoft.com/office/drawing/2014/main" id="{89D3E7B4-F9D9-1146-DEF5-FE4FF1C7B9E2}"/>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800" dirty="0">
                <a:solidFill>
                  <a:srgbClr val="000000"/>
                </a:solidFill>
                <a:latin typeface="Vodafone Rg"/>
              </a:endParaRPr>
            </a:p>
          </p:txBody>
        </p:sp>
        <p:sp>
          <p:nvSpPr>
            <p:cNvPr id="39" name="Rectangle 38">
              <a:extLst>
                <a:ext uri="{FF2B5EF4-FFF2-40B4-BE49-F238E27FC236}">
                  <a16:creationId xmlns:a16="http://schemas.microsoft.com/office/drawing/2014/main" id="{D8491431-5CF8-800B-FBAC-0FFE37D0533E}"/>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 </a:t>
              </a:r>
              <a:r>
                <a:rPr lang="en-GB" sz="800" dirty="0">
                  <a:solidFill>
                    <a:srgbClr val="000000"/>
                  </a:solidFill>
                  <a:latin typeface="Vodafone Rg"/>
                </a:rPr>
                <a:t>Combined Scope Report, Go/No Go Presentation Deck</a:t>
              </a:r>
            </a:p>
          </p:txBody>
        </p:sp>
        <p:sp>
          <p:nvSpPr>
            <p:cNvPr id="40" name="TextBox 39">
              <a:extLst>
                <a:ext uri="{FF2B5EF4-FFF2-40B4-BE49-F238E27FC236}">
                  <a16:creationId xmlns:a16="http://schemas.microsoft.com/office/drawing/2014/main" id="{C95113EB-76CE-D34E-1678-CC08517E6291}"/>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solidFill>
                    <a:sysClr val="windowText" lastClr="000000"/>
                  </a:solidFill>
                  <a:latin typeface="Vodafone Rg"/>
                </a:rPr>
                <a:t>Release Management, Deployment Team, SIT, </a:t>
              </a:r>
              <a:endParaRPr lang="en-GB" sz="800" dirty="0">
                <a:solidFill>
                  <a:srgbClr val="FF0000"/>
                </a:solidFill>
                <a:latin typeface="Vodafone Rg"/>
              </a:endParaRPr>
            </a:p>
          </p:txBody>
        </p:sp>
        <p:sp>
          <p:nvSpPr>
            <p:cNvPr id="41" name="TextBox 40">
              <a:extLst>
                <a:ext uri="{FF2B5EF4-FFF2-40B4-BE49-F238E27FC236}">
                  <a16:creationId xmlns:a16="http://schemas.microsoft.com/office/drawing/2014/main" id="{149AAA75-C0BB-27F5-FE5B-4077DF507F68}"/>
                </a:ext>
              </a:extLst>
            </p:cNvPr>
            <p:cNvSpPr txBox="1"/>
            <p:nvPr/>
          </p:nvSpPr>
          <p:spPr>
            <a:xfrm>
              <a:off x="217124" y="1152000"/>
              <a:ext cx="288000"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20</a:t>
              </a:r>
            </a:p>
          </p:txBody>
        </p:sp>
      </p:grpSp>
      <p:sp>
        <p:nvSpPr>
          <p:cNvPr id="45" name="Freeform: Shape 44">
            <a:extLst>
              <a:ext uri="{FF2B5EF4-FFF2-40B4-BE49-F238E27FC236}">
                <a16:creationId xmlns:a16="http://schemas.microsoft.com/office/drawing/2014/main" id="{1F8C8108-9512-5EA2-0FB8-7A742A0748F7}"/>
              </a:ext>
            </a:extLst>
          </p:cNvPr>
          <p:cNvSpPr/>
          <p:nvPr/>
        </p:nvSpPr>
        <p:spPr>
          <a:xfrm>
            <a:off x="4322782" y="1508679"/>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sp>
        <p:nvSpPr>
          <p:cNvPr id="79" name="Freeform: Shape 78">
            <a:extLst>
              <a:ext uri="{FF2B5EF4-FFF2-40B4-BE49-F238E27FC236}">
                <a16:creationId xmlns:a16="http://schemas.microsoft.com/office/drawing/2014/main" id="{1DC4180C-FA70-EDE4-F222-2FA06DE00025}"/>
              </a:ext>
            </a:extLst>
          </p:cNvPr>
          <p:cNvSpPr/>
          <p:nvPr/>
        </p:nvSpPr>
        <p:spPr>
          <a:xfrm>
            <a:off x="6516702" y="1508679"/>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grpSp>
        <p:nvGrpSpPr>
          <p:cNvPr id="147" name="Group 146">
            <a:extLst>
              <a:ext uri="{FF2B5EF4-FFF2-40B4-BE49-F238E27FC236}">
                <a16:creationId xmlns:a16="http://schemas.microsoft.com/office/drawing/2014/main" id="{70097D07-DBB8-6D74-8448-3E541EAB633B}"/>
              </a:ext>
            </a:extLst>
          </p:cNvPr>
          <p:cNvGrpSpPr/>
          <p:nvPr/>
        </p:nvGrpSpPr>
        <p:grpSpPr>
          <a:xfrm>
            <a:off x="4596525" y="2923044"/>
            <a:ext cx="1906876" cy="1584000"/>
            <a:chOff x="217124" y="1152000"/>
            <a:chExt cx="1906876" cy="1584000"/>
          </a:xfrm>
          <a:solidFill>
            <a:schemeClr val="accent1">
              <a:lumMod val="20000"/>
              <a:lumOff val="80000"/>
            </a:schemeClr>
          </a:solidFill>
        </p:grpSpPr>
        <p:sp>
          <p:nvSpPr>
            <p:cNvPr id="150" name="Freeform: Shape 149">
              <a:extLst>
                <a:ext uri="{FF2B5EF4-FFF2-40B4-BE49-F238E27FC236}">
                  <a16:creationId xmlns:a16="http://schemas.microsoft.com/office/drawing/2014/main" id="{0E3C7EFB-AFA5-0303-8935-0AE4CC1F45B8}"/>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solidFill>
              <a:schemeClr val="accent1">
                <a:lumMod val="20000"/>
                <a:lumOff val="80000"/>
              </a:schemeClr>
            </a:solid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450" dirty="0">
                <a:solidFill>
                  <a:srgbClr val="000000"/>
                </a:solidFill>
                <a:latin typeface="Vodafone Rg"/>
              </a:endParaRPr>
            </a:p>
          </p:txBody>
        </p:sp>
        <p:sp>
          <p:nvSpPr>
            <p:cNvPr id="151" name="Rectangle 150">
              <a:extLst>
                <a:ext uri="{FF2B5EF4-FFF2-40B4-BE49-F238E27FC236}">
                  <a16:creationId xmlns:a16="http://schemas.microsoft.com/office/drawing/2014/main" id="{F0986245-3F2D-C575-0D99-839E5E886C59}"/>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Activities:</a:t>
              </a:r>
              <a:r>
                <a:rPr lang="en-GB" sz="800" dirty="0">
                  <a:solidFill>
                    <a:srgbClr val="000000"/>
                  </a:solidFill>
                  <a:latin typeface="Vodafone Rg"/>
                </a:rPr>
                <a:t> </a:t>
              </a:r>
            </a:p>
            <a:p>
              <a:pPr defTabSz="200025">
                <a:lnSpc>
                  <a:spcPct val="90000"/>
                </a:lnSpc>
                <a:spcBef>
                  <a:spcPct val="0"/>
                </a:spcBef>
                <a:spcAft>
                  <a:spcPct val="35000"/>
                </a:spcAft>
              </a:pPr>
              <a:r>
                <a:rPr lang="en-GB" sz="800" dirty="0">
                  <a:solidFill>
                    <a:srgbClr val="000000"/>
                  </a:solidFill>
                  <a:latin typeface="Vodafone Rg"/>
                </a:rPr>
                <a:t>Set </a:t>
              </a:r>
              <a:r>
                <a:rPr lang="en-GB" sz="800" b="1" dirty="0">
                  <a:solidFill>
                    <a:srgbClr val="000000"/>
                  </a:solidFill>
                  <a:latin typeface="Vodafone Rg"/>
                </a:rPr>
                <a:t>Delivery </a:t>
              </a:r>
              <a:r>
                <a:rPr lang="en-GB" sz="800" dirty="0">
                  <a:solidFill>
                    <a:srgbClr val="000000"/>
                  </a:solidFill>
                  <a:latin typeface="Vodafone Rg"/>
                </a:rPr>
                <a:t>State to Deployed</a:t>
              </a:r>
            </a:p>
            <a:p>
              <a:pPr defTabSz="200025">
                <a:lnSpc>
                  <a:spcPct val="90000"/>
                </a:lnSpc>
                <a:spcBef>
                  <a:spcPct val="0"/>
                </a:spcBef>
                <a:spcAft>
                  <a:spcPct val="35000"/>
                </a:spcAft>
              </a:pPr>
              <a:r>
                <a:rPr lang="en-GB" sz="800" dirty="0">
                  <a:solidFill>
                    <a:srgbClr val="000000"/>
                  </a:solidFill>
                  <a:latin typeface="Vodafone Rg"/>
                </a:rPr>
                <a:t>Set </a:t>
              </a:r>
              <a:r>
                <a:rPr lang="en-GB" sz="800" b="1" dirty="0">
                  <a:solidFill>
                    <a:srgbClr val="000000"/>
                  </a:solidFill>
                  <a:latin typeface="Vodafone Rg"/>
                </a:rPr>
                <a:t>Function</a:t>
              </a:r>
              <a:r>
                <a:rPr lang="en-GB" sz="800" dirty="0">
                  <a:solidFill>
                    <a:srgbClr val="000000"/>
                  </a:solidFill>
                  <a:latin typeface="Vodafone Rg"/>
                </a:rPr>
                <a:t> State to Deployed</a:t>
              </a:r>
            </a:p>
            <a:p>
              <a:pPr defTabSz="200025">
                <a:lnSpc>
                  <a:spcPct val="90000"/>
                </a:lnSpc>
                <a:spcBef>
                  <a:spcPct val="0"/>
                </a:spcBef>
                <a:spcAft>
                  <a:spcPct val="35000"/>
                </a:spcAft>
              </a:pPr>
              <a:r>
                <a:rPr lang="en-GB" sz="800" dirty="0">
                  <a:solidFill>
                    <a:srgbClr val="000000"/>
                  </a:solidFill>
                  <a:latin typeface="Vodafone Rg"/>
                </a:rPr>
                <a:t>Set </a:t>
              </a:r>
              <a:r>
                <a:rPr lang="en-GB" sz="800" b="1" dirty="0">
                  <a:solidFill>
                    <a:srgbClr val="000000"/>
                  </a:solidFill>
                  <a:latin typeface="Vodafone Rg"/>
                </a:rPr>
                <a:t>Feature</a:t>
              </a:r>
              <a:r>
                <a:rPr lang="en-GB" sz="800" dirty="0">
                  <a:solidFill>
                    <a:srgbClr val="000000"/>
                  </a:solidFill>
                  <a:latin typeface="Vodafone Rg"/>
                </a:rPr>
                <a:t> State to Deployed (Where applicable)</a:t>
              </a:r>
            </a:p>
            <a:p>
              <a:pPr defTabSz="200025">
                <a:lnSpc>
                  <a:spcPct val="90000"/>
                </a:lnSpc>
                <a:spcBef>
                  <a:spcPct val="0"/>
                </a:spcBef>
                <a:spcAft>
                  <a:spcPct val="35000"/>
                </a:spcAft>
              </a:pPr>
              <a:endParaRPr lang="en-GB" sz="800" b="1" dirty="0">
                <a:solidFill>
                  <a:srgbClr val="000000"/>
                </a:solidFill>
                <a:latin typeface="Vodafone Rg"/>
              </a:endParaRPr>
            </a:p>
          </p:txBody>
        </p:sp>
        <p:sp>
          <p:nvSpPr>
            <p:cNvPr id="152" name="TextBox 151">
              <a:extLst>
                <a:ext uri="{FF2B5EF4-FFF2-40B4-BE49-F238E27FC236}">
                  <a16:creationId xmlns:a16="http://schemas.microsoft.com/office/drawing/2014/main" id="{E36E344F-26E4-6E28-E6ED-2BB8E9C8AD45}"/>
                </a:ext>
              </a:extLst>
            </p:cNvPr>
            <p:cNvSpPr txBox="1"/>
            <p:nvPr/>
          </p:nvSpPr>
          <p:spPr>
            <a:xfrm>
              <a:off x="540000" y="2058525"/>
              <a:ext cx="1548000" cy="540000"/>
            </a:xfrm>
            <a:prstGeom prst="rect">
              <a:avLst/>
            </a:prstGeom>
            <a:solidFill>
              <a:schemeClr val="accent1">
                <a:lumMod val="20000"/>
                <a:lumOff val="80000"/>
              </a:schemeClr>
            </a:solid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latin typeface="Vodafone Rg"/>
                </a:rPr>
                <a:t>Release Management</a:t>
              </a:r>
            </a:p>
            <a:p>
              <a:pPr defTabSz="914378"/>
              <a:r>
                <a:rPr lang="en-GB" sz="800" dirty="0">
                  <a:solidFill>
                    <a:srgbClr val="000000"/>
                  </a:solidFill>
                  <a:latin typeface="Vodafone Rg"/>
                </a:rPr>
                <a:t>Domain Delivery Manager/Scrum M.</a:t>
              </a:r>
              <a:endParaRPr lang="en-GB" sz="800" dirty="0">
                <a:latin typeface="Vodafone Rg"/>
              </a:endParaRPr>
            </a:p>
            <a:p>
              <a:pPr defTabSz="914378"/>
              <a:r>
                <a:rPr lang="en-GB" sz="800" dirty="0">
                  <a:latin typeface="Vodafone Rg"/>
                </a:rPr>
                <a:t>TDM (Where applicable)</a:t>
              </a:r>
            </a:p>
          </p:txBody>
        </p:sp>
        <p:sp>
          <p:nvSpPr>
            <p:cNvPr id="153" name="TextBox 152">
              <a:extLst>
                <a:ext uri="{FF2B5EF4-FFF2-40B4-BE49-F238E27FC236}">
                  <a16:creationId xmlns:a16="http://schemas.microsoft.com/office/drawing/2014/main" id="{2F96386C-575B-AC8A-25B0-7293ABD402FB}"/>
                </a:ext>
              </a:extLst>
            </p:cNvPr>
            <p:cNvSpPr txBox="1"/>
            <p:nvPr/>
          </p:nvSpPr>
          <p:spPr>
            <a:xfrm>
              <a:off x="217124" y="1152000"/>
              <a:ext cx="288000" cy="299129"/>
            </a:xfrm>
            <a:prstGeom prst="rect">
              <a:avLst/>
            </a:prstGeom>
            <a:noFill/>
            <a:ln w="6350">
              <a:noFill/>
            </a:ln>
          </p:spPr>
          <p:txBody>
            <a:bodyPr wrap="square" lIns="0" tIns="0" rIns="0" bIns="0" rtlCol="0">
              <a:noAutofit/>
            </a:bodyPr>
            <a:lstStyle/>
            <a:p>
              <a:pPr defTabSz="914378"/>
              <a:r>
                <a:rPr lang="en-GB" b="1" dirty="0">
                  <a:solidFill>
                    <a:srgbClr val="FF0000"/>
                  </a:solidFill>
                  <a:latin typeface="Vodafone Rg" pitchFamily="34" charset="0"/>
                </a:rPr>
                <a:t>24</a:t>
              </a:r>
            </a:p>
          </p:txBody>
        </p:sp>
      </p:grpSp>
      <p:pic>
        <p:nvPicPr>
          <p:cNvPr id="185" name="Picture 184">
            <a:extLst>
              <a:ext uri="{FF2B5EF4-FFF2-40B4-BE49-F238E27FC236}">
                <a16:creationId xmlns:a16="http://schemas.microsoft.com/office/drawing/2014/main" id="{67E5DE40-7219-C3AF-DA64-DB792BD6AB33}"/>
              </a:ext>
            </a:extLst>
          </p:cNvPr>
          <p:cNvPicPr>
            <a:picLocks/>
          </p:cNvPicPr>
          <p:nvPr/>
        </p:nvPicPr>
        <p:blipFill>
          <a:blip r:embed="rId3">
            <a:alphaModFix/>
            <a:extLst>
              <a:ext uri="{BEBA8EAE-BF5A-486C-A8C5-ECC9F3942E4B}">
                <a14:imgProps xmlns:a14="http://schemas.microsoft.com/office/drawing/2010/main">
                  <a14:imgLayer r:embed="rId4">
                    <a14:imgEffect>
                      <a14:backgroundRemoval t="10000" b="90000" l="10000" r="90000">
                        <a14:foregroundMark x1="46479" y1="29134" x2="46479" y2="29134"/>
                      </a14:backgroundRemoval>
                    </a14:imgEffect>
                  </a14:imgLayer>
                </a14:imgProps>
              </a:ext>
            </a:extLst>
          </a:blip>
          <a:stretch>
            <a:fillRect/>
          </a:stretch>
        </p:blipFill>
        <p:spPr>
          <a:xfrm>
            <a:off x="509864" y="2521789"/>
            <a:ext cx="203777" cy="179578"/>
          </a:xfrm>
          <a:prstGeom prst="rect">
            <a:avLst/>
          </a:prstGeom>
        </p:spPr>
      </p:pic>
      <p:pic>
        <p:nvPicPr>
          <p:cNvPr id="186" name="Picture 185">
            <a:extLst>
              <a:ext uri="{FF2B5EF4-FFF2-40B4-BE49-F238E27FC236}">
                <a16:creationId xmlns:a16="http://schemas.microsoft.com/office/drawing/2014/main" id="{0D057A5B-B30F-C10C-5F87-9FE9211C7EAE}"/>
              </a:ext>
            </a:extLst>
          </p:cNvPr>
          <p:cNvPicPr>
            <a:picLocks noChangeAspect="1"/>
          </p:cNvPicPr>
          <p:nvPr/>
        </p:nvPicPr>
        <p:blipFill>
          <a:blip r:embed="rId5">
            <a:clrChange>
              <a:clrFrom>
                <a:srgbClr val="F8F8F8"/>
              </a:clrFrom>
              <a:clrTo>
                <a:srgbClr val="F8F8F8">
                  <a:alpha val="0"/>
                </a:srgbClr>
              </a:clrTo>
            </a:clrChange>
          </a:blip>
          <a:stretch>
            <a:fillRect/>
          </a:stretch>
        </p:blipFill>
        <p:spPr>
          <a:xfrm>
            <a:off x="682678" y="2559230"/>
            <a:ext cx="180164" cy="146800"/>
          </a:xfrm>
          <a:prstGeom prst="rect">
            <a:avLst/>
          </a:prstGeom>
        </p:spPr>
      </p:pic>
      <p:sp>
        <p:nvSpPr>
          <p:cNvPr id="3" name="Freeform: Shape 2">
            <a:extLst>
              <a:ext uri="{FF2B5EF4-FFF2-40B4-BE49-F238E27FC236}">
                <a16:creationId xmlns:a16="http://schemas.microsoft.com/office/drawing/2014/main" id="{C61521A1-0D93-600E-1504-759DF12A7ECF}"/>
              </a:ext>
            </a:extLst>
          </p:cNvPr>
          <p:cNvSpPr/>
          <p:nvPr/>
        </p:nvSpPr>
        <p:spPr>
          <a:xfrm>
            <a:off x="2135734" y="3392412"/>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grpSp>
        <p:nvGrpSpPr>
          <p:cNvPr id="42" name="Group 41">
            <a:extLst>
              <a:ext uri="{FF2B5EF4-FFF2-40B4-BE49-F238E27FC236}">
                <a16:creationId xmlns:a16="http://schemas.microsoft.com/office/drawing/2014/main" id="{D56CDC7C-69C8-E0CB-B8AD-C17F79209C5E}"/>
              </a:ext>
            </a:extLst>
          </p:cNvPr>
          <p:cNvGrpSpPr/>
          <p:nvPr/>
        </p:nvGrpSpPr>
        <p:grpSpPr>
          <a:xfrm>
            <a:off x="211582" y="2969434"/>
            <a:ext cx="1906876" cy="1584000"/>
            <a:chOff x="217124" y="1152000"/>
            <a:chExt cx="1906876" cy="1584000"/>
          </a:xfrm>
          <a:solidFill>
            <a:schemeClr val="accent1">
              <a:lumMod val="20000"/>
              <a:lumOff val="80000"/>
            </a:schemeClr>
          </a:solidFill>
        </p:grpSpPr>
        <p:sp>
          <p:nvSpPr>
            <p:cNvPr id="43" name="Freeform: Shape 42">
              <a:extLst>
                <a:ext uri="{FF2B5EF4-FFF2-40B4-BE49-F238E27FC236}">
                  <a16:creationId xmlns:a16="http://schemas.microsoft.com/office/drawing/2014/main" id="{0EACECC2-2C03-56DB-B033-F6D09A612D13}"/>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800" dirty="0">
                <a:solidFill>
                  <a:srgbClr val="000000"/>
                </a:solidFill>
                <a:latin typeface="Vodafone Rg"/>
              </a:endParaRPr>
            </a:p>
          </p:txBody>
        </p:sp>
        <p:sp>
          <p:nvSpPr>
            <p:cNvPr id="44" name="Rectangle 43">
              <a:extLst>
                <a:ext uri="{FF2B5EF4-FFF2-40B4-BE49-F238E27FC236}">
                  <a16:creationId xmlns:a16="http://schemas.microsoft.com/office/drawing/2014/main" id="{E9F079D3-3ED8-3800-B1D7-E7FCF74CB5E7}"/>
                </a:ext>
              </a:extLst>
            </p:cNvPr>
            <p:cNvSpPr/>
            <p:nvPr/>
          </p:nvSpPr>
          <p:spPr>
            <a:xfrm>
              <a:off x="504000" y="1296000"/>
              <a:ext cx="1620000" cy="720000"/>
            </a:xfrm>
            <a:prstGeom prst="rect">
              <a:avLst/>
            </a:prstGeom>
            <a:no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endParaRPr lang="en-GB" sz="800" dirty="0">
                <a:solidFill>
                  <a:srgbClr val="000000"/>
                </a:solidFill>
                <a:latin typeface="Vodafone Rg"/>
              </a:endParaRPr>
            </a:p>
          </p:txBody>
        </p:sp>
        <p:sp>
          <p:nvSpPr>
            <p:cNvPr id="46" name="TextBox 45">
              <a:extLst>
                <a:ext uri="{FF2B5EF4-FFF2-40B4-BE49-F238E27FC236}">
                  <a16:creationId xmlns:a16="http://schemas.microsoft.com/office/drawing/2014/main" id="{393D0570-CDAB-6573-649F-B1C3FF0BF984}"/>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latin typeface="Vodafone Rg"/>
                </a:rPr>
                <a:t>Release Management, Deployment Team, SIT, </a:t>
              </a:r>
              <a:r>
                <a:rPr lang="en-GB" sz="800" dirty="0">
                  <a:solidFill>
                    <a:srgbClr val="FF0000"/>
                  </a:solidFill>
                  <a:latin typeface="Vodafone Rg"/>
                </a:rPr>
                <a:t>Domains, ???</a:t>
              </a:r>
            </a:p>
          </p:txBody>
        </p:sp>
        <p:sp>
          <p:nvSpPr>
            <p:cNvPr id="47" name="TextBox 46">
              <a:extLst>
                <a:ext uri="{FF2B5EF4-FFF2-40B4-BE49-F238E27FC236}">
                  <a16:creationId xmlns:a16="http://schemas.microsoft.com/office/drawing/2014/main" id="{37CDFB8A-BD9B-2DB2-85FF-7AF3FE1A3411}"/>
                </a:ext>
              </a:extLst>
            </p:cNvPr>
            <p:cNvSpPr txBox="1"/>
            <p:nvPr/>
          </p:nvSpPr>
          <p:spPr>
            <a:xfrm>
              <a:off x="217124" y="1152000"/>
              <a:ext cx="288000"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21</a:t>
              </a:r>
            </a:p>
          </p:txBody>
        </p:sp>
      </p:grpSp>
      <p:grpSp>
        <p:nvGrpSpPr>
          <p:cNvPr id="48" name="Group 47">
            <a:extLst>
              <a:ext uri="{FF2B5EF4-FFF2-40B4-BE49-F238E27FC236}">
                <a16:creationId xmlns:a16="http://schemas.microsoft.com/office/drawing/2014/main" id="{73C34F17-BD62-59D0-2255-9B8010A04DEC}"/>
              </a:ext>
            </a:extLst>
          </p:cNvPr>
          <p:cNvGrpSpPr/>
          <p:nvPr/>
        </p:nvGrpSpPr>
        <p:grpSpPr>
          <a:xfrm>
            <a:off x="6774952" y="2920008"/>
            <a:ext cx="1906876" cy="1584000"/>
            <a:chOff x="217124" y="1152000"/>
            <a:chExt cx="1906876" cy="1584000"/>
          </a:xfrm>
          <a:solidFill>
            <a:schemeClr val="accent1">
              <a:lumMod val="20000"/>
              <a:lumOff val="80000"/>
            </a:schemeClr>
          </a:solidFill>
        </p:grpSpPr>
        <p:sp>
          <p:nvSpPr>
            <p:cNvPr id="49" name="Freeform: Shape 48">
              <a:extLst>
                <a:ext uri="{FF2B5EF4-FFF2-40B4-BE49-F238E27FC236}">
                  <a16:creationId xmlns:a16="http://schemas.microsoft.com/office/drawing/2014/main" id="{A7B6148E-B786-CB2B-6952-3B42A3AF9EF4}"/>
                </a:ext>
              </a:extLst>
            </p:cNvPr>
            <p:cNvSpPr/>
            <p:nvPr/>
          </p:nvSpPr>
          <p:spPr>
            <a:xfrm>
              <a:off x="504000" y="1296000"/>
              <a:ext cx="1620000" cy="1440000"/>
            </a:xfrm>
            <a:custGeom>
              <a:avLst/>
              <a:gdLst>
                <a:gd name="connsiteX0" fmla="*/ 0 w 1552922"/>
                <a:gd name="connsiteY0" fmla="*/ 0 h 931753"/>
                <a:gd name="connsiteX1" fmla="*/ 1552922 w 1552922"/>
                <a:gd name="connsiteY1" fmla="*/ 0 h 931753"/>
                <a:gd name="connsiteX2" fmla="*/ 1552922 w 1552922"/>
                <a:gd name="connsiteY2" fmla="*/ 931753 h 931753"/>
                <a:gd name="connsiteX3" fmla="*/ 0 w 1552922"/>
                <a:gd name="connsiteY3" fmla="*/ 931753 h 931753"/>
                <a:gd name="connsiteX4" fmla="*/ 0 w 1552922"/>
                <a:gd name="connsiteY4" fmla="*/ 0 h 931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922" h="931753">
                  <a:moveTo>
                    <a:pt x="0" y="0"/>
                  </a:moveTo>
                  <a:lnTo>
                    <a:pt x="1552922" y="0"/>
                  </a:lnTo>
                  <a:lnTo>
                    <a:pt x="1552922" y="931753"/>
                  </a:lnTo>
                  <a:lnTo>
                    <a:pt x="0" y="931753"/>
                  </a:lnTo>
                  <a:lnTo>
                    <a:pt x="0" y="0"/>
                  </a:lnTo>
                  <a:close/>
                </a:path>
              </a:pathLst>
            </a:custGeom>
            <a:noFill/>
            <a:ln w="6350">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2004" tIns="32004" rIns="32004" bIns="32004" numCol="1" spcCol="1270" anchor="t" anchorCtr="0">
              <a:noAutofit/>
            </a:bodyPr>
            <a:lstStyle/>
            <a:p>
              <a:pPr defTabSz="200025">
                <a:lnSpc>
                  <a:spcPct val="90000"/>
                </a:lnSpc>
                <a:spcBef>
                  <a:spcPct val="0"/>
                </a:spcBef>
                <a:spcAft>
                  <a:spcPct val="35000"/>
                </a:spcAft>
              </a:pPr>
              <a:endParaRPr lang="en-GB" sz="800" dirty="0">
                <a:solidFill>
                  <a:srgbClr val="000000"/>
                </a:solidFill>
                <a:latin typeface="Vodafone Rg"/>
              </a:endParaRPr>
            </a:p>
          </p:txBody>
        </p:sp>
        <p:sp>
          <p:nvSpPr>
            <p:cNvPr id="51" name="Rectangle 50">
              <a:extLst>
                <a:ext uri="{FF2B5EF4-FFF2-40B4-BE49-F238E27FC236}">
                  <a16:creationId xmlns:a16="http://schemas.microsoft.com/office/drawing/2014/main" id="{E631132B-963F-EF72-AD6E-EDC8AED51198}"/>
                </a:ext>
              </a:extLst>
            </p:cNvPr>
            <p:cNvSpPr/>
            <p:nvPr/>
          </p:nvSpPr>
          <p:spPr>
            <a:xfrm>
              <a:off x="504000" y="1296000"/>
              <a:ext cx="1620000" cy="720000"/>
            </a:xfrm>
            <a:prstGeom prst="rect">
              <a:avLst/>
            </a:prstGeom>
            <a:solidFill>
              <a:schemeClr val="bg1"/>
            </a:solidFill>
            <a:ln w="6350" cap="flat" cmpd="sng" algn="ctr">
              <a:solidFill>
                <a:schemeClr val="tx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36000" tIns="6350" rIns="36000" bIns="6350" numCol="1" spcCol="1270" rtlCol="0" anchor="t" anchorCtr="0">
              <a:noAutofit/>
            </a:bodyPr>
            <a:lstStyle/>
            <a:p>
              <a:pPr defTabSz="200025">
                <a:lnSpc>
                  <a:spcPct val="90000"/>
                </a:lnSpc>
                <a:spcBef>
                  <a:spcPct val="0"/>
                </a:spcBef>
                <a:spcAft>
                  <a:spcPct val="35000"/>
                </a:spcAft>
              </a:pPr>
              <a:r>
                <a:rPr lang="en-GB" sz="800" b="1" dirty="0">
                  <a:solidFill>
                    <a:srgbClr val="000000"/>
                  </a:solidFill>
                  <a:latin typeface="Vodafone Rg"/>
                </a:rPr>
                <a:t>Activity: </a:t>
              </a:r>
              <a:r>
                <a:rPr lang="en-GB" sz="800" dirty="0">
                  <a:solidFill>
                    <a:srgbClr val="000000"/>
                  </a:solidFill>
                  <a:latin typeface="Vodafone Rg"/>
                </a:rPr>
                <a:t>ELS runs for 1 week, with </a:t>
              </a:r>
              <a:r>
                <a:rPr lang="en-GB" sz="800" b="1" dirty="0">
                  <a:solidFill>
                    <a:srgbClr val="000000"/>
                  </a:solidFill>
                  <a:latin typeface="Vodafone Rg"/>
                </a:rPr>
                <a:t>Bugs</a:t>
              </a:r>
              <a:r>
                <a:rPr lang="en-GB" sz="800" dirty="0">
                  <a:solidFill>
                    <a:srgbClr val="000000"/>
                  </a:solidFill>
                  <a:latin typeface="Vodafone Rg"/>
                </a:rPr>
                <a:t> logged in the Release Management ADO</a:t>
              </a:r>
            </a:p>
          </p:txBody>
        </p:sp>
        <p:sp>
          <p:nvSpPr>
            <p:cNvPr id="52" name="TextBox 51">
              <a:extLst>
                <a:ext uri="{FF2B5EF4-FFF2-40B4-BE49-F238E27FC236}">
                  <a16:creationId xmlns:a16="http://schemas.microsoft.com/office/drawing/2014/main" id="{34589E60-258D-47CB-4890-9AA4B1A52A8E}"/>
                </a:ext>
              </a:extLst>
            </p:cNvPr>
            <p:cNvSpPr txBox="1"/>
            <p:nvPr/>
          </p:nvSpPr>
          <p:spPr>
            <a:xfrm>
              <a:off x="540000" y="2058525"/>
              <a:ext cx="1548000" cy="540000"/>
            </a:xfrm>
            <a:prstGeom prst="rect">
              <a:avLst/>
            </a:prstGeom>
            <a:noFill/>
            <a:ln w="6350">
              <a:noFill/>
            </a:ln>
          </p:spPr>
          <p:txBody>
            <a:bodyPr wrap="square" lIns="0" tIns="0" rIns="0" bIns="0" rtlCol="0" anchor="t">
              <a:noAutofit/>
            </a:bodyPr>
            <a:lstStyle/>
            <a:p>
              <a:pPr defTabSz="914378"/>
              <a:r>
                <a:rPr lang="en-GB" sz="800" b="1" dirty="0">
                  <a:solidFill>
                    <a:srgbClr val="000000"/>
                  </a:solidFill>
                  <a:latin typeface="Vodafone Rg"/>
                </a:rPr>
                <a:t>Responsible:</a:t>
              </a:r>
            </a:p>
            <a:p>
              <a:pPr defTabSz="914378"/>
              <a:r>
                <a:rPr lang="en-GB" sz="800" dirty="0">
                  <a:latin typeface="Vodafone Rg"/>
                </a:rPr>
                <a:t>Release Management</a:t>
              </a:r>
            </a:p>
            <a:p>
              <a:pPr defTabSz="914378"/>
              <a:endParaRPr lang="en-GB" sz="800" dirty="0">
                <a:solidFill>
                  <a:srgbClr val="FF0000"/>
                </a:solidFill>
                <a:latin typeface="Vodafone Rg"/>
              </a:endParaRPr>
            </a:p>
          </p:txBody>
        </p:sp>
        <p:sp>
          <p:nvSpPr>
            <p:cNvPr id="53" name="TextBox 52">
              <a:extLst>
                <a:ext uri="{FF2B5EF4-FFF2-40B4-BE49-F238E27FC236}">
                  <a16:creationId xmlns:a16="http://schemas.microsoft.com/office/drawing/2014/main" id="{6AE2C35E-7A92-C677-8005-6032860D9493}"/>
                </a:ext>
              </a:extLst>
            </p:cNvPr>
            <p:cNvSpPr txBox="1"/>
            <p:nvPr/>
          </p:nvSpPr>
          <p:spPr>
            <a:xfrm>
              <a:off x="217124" y="1152000"/>
              <a:ext cx="288000" cy="299129"/>
            </a:xfrm>
            <a:prstGeom prst="rect">
              <a:avLst/>
            </a:prstGeom>
            <a:noFill/>
            <a:ln w="6350">
              <a:noFill/>
            </a:ln>
          </p:spPr>
          <p:txBody>
            <a:bodyPr wrap="square" lIns="0" tIns="0" rIns="0" bIns="0" rtlCol="0">
              <a:noAutofit/>
            </a:bodyPr>
            <a:lstStyle/>
            <a:p>
              <a:pPr defTabSz="914378"/>
              <a:r>
                <a:rPr lang="en-GB" b="1" dirty="0">
                  <a:solidFill>
                    <a:srgbClr val="FF0000"/>
                  </a:solidFill>
                  <a:latin typeface="Vodafone Rg" pitchFamily="34" charset="0"/>
                </a:rPr>
                <a:t>23</a:t>
              </a:r>
            </a:p>
          </p:txBody>
        </p:sp>
      </p:grpSp>
      <p:sp>
        <p:nvSpPr>
          <p:cNvPr id="54" name="Oval 53">
            <a:extLst>
              <a:ext uri="{FF2B5EF4-FFF2-40B4-BE49-F238E27FC236}">
                <a16:creationId xmlns:a16="http://schemas.microsoft.com/office/drawing/2014/main" id="{0AB92163-843C-8B7E-28E3-A2F8C65F3079}"/>
              </a:ext>
            </a:extLst>
          </p:cNvPr>
          <p:cNvSpPr>
            <a:spLocks noChangeAspect="1"/>
          </p:cNvSpPr>
          <p:nvPr/>
        </p:nvSpPr>
        <p:spPr>
          <a:xfrm>
            <a:off x="542488" y="3133881"/>
            <a:ext cx="684000" cy="684000"/>
          </a:xfrm>
          <a:prstGeom prst="ellipse">
            <a:avLst/>
          </a:prstGeom>
          <a:solidFill>
            <a:srgbClr val="00B050"/>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r>
              <a:rPr lang="en-GB" sz="2000" kern="1200" dirty="0">
                <a:solidFill>
                  <a:schemeClr val="tx1"/>
                </a:solidFill>
                <a:latin typeface="Vodafone ExB" panose="02000503000000020004" pitchFamily="2" charset="0"/>
              </a:rPr>
              <a:t>Go</a:t>
            </a:r>
          </a:p>
        </p:txBody>
      </p:sp>
      <p:sp>
        <p:nvSpPr>
          <p:cNvPr id="55" name="Oval 54">
            <a:extLst>
              <a:ext uri="{FF2B5EF4-FFF2-40B4-BE49-F238E27FC236}">
                <a16:creationId xmlns:a16="http://schemas.microsoft.com/office/drawing/2014/main" id="{E28C49ED-2DC0-6580-50F9-B71B51870A53}"/>
              </a:ext>
            </a:extLst>
          </p:cNvPr>
          <p:cNvSpPr>
            <a:spLocks noChangeAspect="1"/>
          </p:cNvSpPr>
          <p:nvPr/>
        </p:nvSpPr>
        <p:spPr>
          <a:xfrm>
            <a:off x="1395213" y="3133881"/>
            <a:ext cx="684000" cy="684000"/>
          </a:xfrm>
          <a:prstGeom prst="ellipse">
            <a:avLst/>
          </a:prstGeom>
          <a:solidFill>
            <a:schemeClr val="accent1"/>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r>
              <a:rPr lang="en-GB" sz="2000" kern="1200" dirty="0">
                <a:solidFill>
                  <a:schemeClr val="tx1"/>
                </a:solidFill>
                <a:latin typeface="Vodafone ExB" panose="02000503000000020004" pitchFamily="2" charset="0"/>
              </a:rPr>
              <a:t>No</a:t>
            </a:r>
            <a:br>
              <a:rPr lang="en-GB" sz="2000" kern="1200" dirty="0">
                <a:solidFill>
                  <a:schemeClr val="tx1"/>
                </a:solidFill>
                <a:latin typeface="Vodafone ExB" panose="02000503000000020004" pitchFamily="2" charset="0"/>
              </a:rPr>
            </a:br>
            <a:r>
              <a:rPr lang="en-GB" sz="2000" kern="1200" dirty="0">
                <a:solidFill>
                  <a:schemeClr val="tx1"/>
                </a:solidFill>
                <a:latin typeface="Vodafone ExB" panose="02000503000000020004" pitchFamily="2" charset="0"/>
              </a:rPr>
              <a:t>Go</a:t>
            </a:r>
          </a:p>
        </p:txBody>
      </p:sp>
      <p:pic>
        <p:nvPicPr>
          <p:cNvPr id="1036" name="Picture 12" descr="Deployment - Free seo and web icons">
            <a:extLst>
              <a:ext uri="{FF2B5EF4-FFF2-40B4-BE49-F238E27FC236}">
                <a16:creationId xmlns:a16="http://schemas.microsoft.com/office/drawing/2014/main" id="{4EE75F5A-F013-74F3-2931-30DA21A7A8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8954" y="3352797"/>
            <a:ext cx="1255269" cy="1255269"/>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2F99EE27-D34B-5F34-2D3E-B686629D353C}"/>
              </a:ext>
            </a:extLst>
          </p:cNvPr>
          <p:cNvSpPr/>
          <p:nvPr/>
        </p:nvSpPr>
        <p:spPr>
          <a:xfrm>
            <a:off x="2421327" y="3043539"/>
            <a:ext cx="2190523" cy="338554"/>
          </a:xfrm>
          <a:prstGeom prst="rect">
            <a:avLst/>
          </a:prstGeom>
          <a:noFill/>
        </p:spPr>
        <p:txBody>
          <a:bodyPr wrap="square" lIns="91440" tIns="45720" rIns="91440" bIns="45720">
            <a:spAutoFit/>
          </a:bodyPr>
          <a:lstStyle/>
          <a:p>
            <a:pPr algn="ctr"/>
            <a:r>
              <a:rPr lang="en-US" sz="1600" b="0" cap="none" spc="0" dirty="0">
                <a:ln w="0"/>
                <a:effectLst>
                  <a:glow rad="63500">
                    <a:schemeClr val="accent1">
                      <a:satMod val="175000"/>
                      <a:alpha val="40000"/>
                    </a:schemeClr>
                  </a:glow>
                  <a:outerShdw blurRad="38100" dist="25400" dir="5400000" algn="ctr" rotWithShape="0">
                    <a:srgbClr val="6E747A">
                      <a:alpha val="43000"/>
                    </a:srgbClr>
                  </a:outerShdw>
                </a:effectLst>
              </a:rPr>
              <a:t>Go Live to Production</a:t>
            </a:r>
          </a:p>
        </p:txBody>
      </p:sp>
      <p:sp>
        <p:nvSpPr>
          <p:cNvPr id="57" name="Freeform: Shape 56">
            <a:extLst>
              <a:ext uri="{FF2B5EF4-FFF2-40B4-BE49-F238E27FC236}">
                <a16:creationId xmlns:a16="http://schemas.microsoft.com/office/drawing/2014/main" id="{5F1466EB-8CED-8EE3-78D1-1B159A1D7CC0}"/>
              </a:ext>
            </a:extLst>
          </p:cNvPr>
          <p:cNvSpPr/>
          <p:nvPr/>
        </p:nvSpPr>
        <p:spPr>
          <a:xfrm>
            <a:off x="4338898" y="3392412"/>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sp>
        <p:nvSpPr>
          <p:cNvPr id="58" name="Freeform: Shape 57">
            <a:extLst>
              <a:ext uri="{FF2B5EF4-FFF2-40B4-BE49-F238E27FC236}">
                <a16:creationId xmlns:a16="http://schemas.microsoft.com/office/drawing/2014/main" id="{7580C30E-1912-0E91-2B9B-19FDBE6D37B0}"/>
              </a:ext>
            </a:extLst>
          </p:cNvPr>
          <p:cNvSpPr/>
          <p:nvPr/>
        </p:nvSpPr>
        <p:spPr>
          <a:xfrm>
            <a:off x="6523535" y="3392412"/>
            <a:ext cx="555217" cy="360000"/>
          </a:xfrm>
          <a:custGeom>
            <a:avLst/>
            <a:gdLst>
              <a:gd name="connsiteX0" fmla="*/ 0 w 326572"/>
              <a:gd name="connsiteY0" fmla="*/ 45720 h 91440"/>
              <a:gd name="connsiteX1" fmla="*/ 326572 w 326572"/>
              <a:gd name="connsiteY1" fmla="*/ 45720 h 91440"/>
            </a:gdLst>
            <a:ahLst/>
            <a:cxnLst>
              <a:cxn ang="0">
                <a:pos x="connsiteX0" y="connsiteY0"/>
              </a:cxn>
              <a:cxn ang="0">
                <a:pos x="connsiteX1" y="connsiteY1"/>
              </a:cxn>
            </a:cxnLst>
            <a:rect l="l" t="t" r="r" b="b"/>
            <a:pathLst>
              <a:path w="326572" h="91440">
                <a:moveTo>
                  <a:pt x="0" y="45720"/>
                </a:moveTo>
                <a:lnTo>
                  <a:pt x="326572" y="45720"/>
                </a:lnTo>
              </a:path>
            </a:pathLst>
          </a:custGeom>
          <a:noFill/>
          <a:ln w="12700">
            <a:solidFill>
              <a:schemeClr val="accent5"/>
            </a:solidFill>
            <a:tailEnd type="arrow"/>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5293" tIns="32951" rIns="125293" bIns="32951" numCol="1" spcCol="1270" anchor="ctr" anchorCtr="0">
            <a:noAutofit/>
          </a:bodyPr>
          <a:lstStyle/>
          <a:p>
            <a:pPr algn="ctr" defTabSz="133350">
              <a:lnSpc>
                <a:spcPct val="90000"/>
              </a:lnSpc>
              <a:spcBef>
                <a:spcPct val="0"/>
              </a:spcBef>
              <a:spcAft>
                <a:spcPct val="35000"/>
              </a:spcAft>
            </a:pPr>
            <a:endParaRPr lang="en-GB" sz="300">
              <a:solidFill>
                <a:srgbClr val="000000">
                  <a:hueOff val="0"/>
                  <a:satOff val="0"/>
                  <a:lumOff val="0"/>
                  <a:alphaOff val="0"/>
                </a:srgbClr>
              </a:solidFill>
              <a:latin typeface="Vodafone Rg"/>
            </a:endParaRPr>
          </a:p>
        </p:txBody>
      </p:sp>
      <p:sp>
        <p:nvSpPr>
          <p:cNvPr id="60" name="TextBox 59">
            <a:extLst>
              <a:ext uri="{FF2B5EF4-FFF2-40B4-BE49-F238E27FC236}">
                <a16:creationId xmlns:a16="http://schemas.microsoft.com/office/drawing/2014/main" id="{78CC4BD3-95FC-8C2D-CA28-B6B2D2949B9E}"/>
              </a:ext>
            </a:extLst>
          </p:cNvPr>
          <p:cNvSpPr txBox="1"/>
          <p:nvPr/>
        </p:nvSpPr>
        <p:spPr>
          <a:xfrm>
            <a:off x="2414993" y="2976070"/>
            <a:ext cx="288000" cy="299129"/>
          </a:xfrm>
          <a:prstGeom prst="rect">
            <a:avLst/>
          </a:prstGeom>
          <a:noFill/>
          <a:ln w="6350">
            <a:noFill/>
          </a:ln>
        </p:spPr>
        <p:txBody>
          <a:bodyPr wrap="square" lIns="0" tIns="0" rIns="0" bIns="0" rtlCol="0">
            <a:noAutofit/>
          </a:bodyPr>
          <a:lstStyle/>
          <a:p>
            <a:pPr defTabSz="914378"/>
            <a:r>
              <a:rPr lang="en-GB" b="1" dirty="0">
                <a:solidFill>
                  <a:srgbClr val="00B0CA"/>
                </a:solidFill>
                <a:latin typeface="Vodafone Rg" pitchFamily="34" charset="0"/>
              </a:rPr>
              <a:t>22</a:t>
            </a:r>
          </a:p>
        </p:txBody>
      </p:sp>
      <p:pic>
        <p:nvPicPr>
          <p:cNvPr id="63" name="Picture 62">
            <a:extLst>
              <a:ext uri="{FF2B5EF4-FFF2-40B4-BE49-F238E27FC236}">
                <a16:creationId xmlns:a16="http://schemas.microsoft.com/office/drawing/2014/main" id="{2ED8706A-4B09-72C3-C082-89522E4C9BEE}"/>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54386" y1="40909" x2="54386" y2="40909"/>
                        <a14:foregroundMark x1="75439" y1="50000" x2="75439" y2="50000"/>
                        <a14:foregroundMark x1="24561" y1="47727" x2="24561" y2="47727"/>
                      </a14:backgroundRemoval>
                    </a14:imgEffect>
                  </a14:imgLayer>
                </a14:imgProps>
              </a:ext>
            </a:extLst>
          </a:blip>
          <a:stretch>
            <a:fillRect/>
          </a:stretch>
        </p:blipFill>
        <p:spPr>
          <a:xfrm>
            <a:off x="4886791" y="2524315"/>
            <a:ext cx="233183" cy="180000"/>
          </a:xfrm>
          <a:prstGeom prst="rect">
            <a:avLst/>
          </a:prstGeom>
        </p:spPr>
      </p:pic>
      <p:pic>
        <p:nvPicPr>
          <p:cNvPr id="65" name="Picture 64">
            <a:extLst>
              <a:ext uri="{FF2B5EF4-FFF2-40B4-BE49-F238E27FC236}">
                <a16:creationId xmlns:a16="http://schemas.microsoft.com/office/drawing/2014/main" id="{FF2F9B2B-6CE0-2CE1-6CE0-22E451DDB4F8}"/>
              </a:ext>
            </a:extLst>
          </p:cNvPr>
          <p:cNvPicPr>
            <a:picLocks noChangeAspect="1"/>
          </p:cNvPicPr>
          <p:nvPr/>
        </p:nvPicPr>
        <p:blipFill>
          <a:blip r:embed="rId5">
            <a:clrChange>
              <a:clrFrom>
                <a:srgbClr val="F8F8F8"/>
              </a:clrFrom>
              <a:clrTo>
                <a:srgbClr val="F8F8F8">
                  <a:alpha val="0"/>
                </a:srgbClr>
              </a:clrTo>
            </a:clrChange>
          </a:blip>
          <a:stretch>
            <a:fillRect/>
          </a:stretch>
        </p:blipFill>
        <p:spPr>
          <a:xfrm>
            <a:off x="5116735" y="2553100"/>
            <a:ext cx="180164" cy="146800"/>
          </a:xfrm>
          <a:prstGeom prst="rect">
            <a:avLst/>
          </a:prstGeom>
        </p:spPr>
      </p:pic>
      <p:pic>
        <p:nvPicPr>
          <p:cNvPr id="66" name="Picture 65">
            <a:extLst>
              <a:ext uri="{FF2B5EF4-FFF2-40B4-BE49-F238E27FC236}">
                <a16:creationId xmlns:a16="http://schemas.microsoft.com/office/drawing/2014/main" id="{3866FAF8-C2B4-708C-DDB5-A387C9837967}"/>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54386" y1="40909" x2="54386" y2="40909"/>
                        <a14:foregroundMark x1="75439" y1="50000" x2="75439" y2="50000"/>
                        <a14:foregroundMark x1="24561" y1="47727" x2="24561" y2="47727"/>
                      </a14:backgroundRemoval>
                    </a14:imgEffect>
                  </a14:imgLayer>
                </a14:imgProps>
              </a:ext>
            </a:extLst>
          </a:blip>
          <a:stretch>
            <a:fillRect/>
          </a:stretch>
        </p:blipFill>
        <p:spPr>
          <a:xfrm>
            <a:off x="2728823" y="2515595"/>
            <a:ext cx="233183" cy="180000"/>
          </a:xfrm>
          <a:prstGeom prst="rect">
            <a:avLst/>
          </a:prstGeom>
        </p:spPr>
      </p:pic>
      <p:pic>
        <p:nvPicPr>
          <p:cNvPr id="67" name="Picture 66">
            <a:extLst>
              <a:ext uri="{FF2B5EF4-FFF2-40B4-BE49-F238E27FC236}">
                <a16:creationId xmlns:a16="http://schemas.microsoft.com/office/drawing/2014/main" id="{F504C9ED-6C80-5A5B-245D-74BDE3B34DF1}"/>
              </a:ext>
            </a:extLst>
          </p:cNvPr>
          <p:cNvPicPr>
            <a:picLocks noChangeAspect="1"/>
          </p:cNvPicPr>
          <p:nvPr/>
        </p:nvPicPr>
        <p:blipFill>
          <a:blip r:embed="rId5">
            <a:clrChange>
              <a:clrFrom>
                <a:srgbClr val="F8F8F8"/>
              </a:clrFrom>
              <a:clrTo>
                <a:srgbClr val="F8F8F8">
                  <a:alpha val="0"/>
                </a:srgbClr>
              </a:clrTo>
            </a:clrChange>
          </a:blip>
          <a:stretch>
            <a:fillRect/>
          </a:stretch>
        </p:blipFill>
        <p:spPr>
          <a:xfrm>
            <a:off x="2958767" y="2544380"/>
            <a:ext cx="180164" cy="146800"/>
          </a:xfrm>
          <a:prstGeom prst="rect">
            <a:avLst/>
          </a:prstGeom>
        </p:spPr>
      </p:pic>
      <p:grpSp>
        <p:nvGrpSpPr>
          <p:cNvPr id="5" name="Group 4">
            <a:extLst>
              <a:ext uri="{FF2B5EF4-FFF2-40B4-BE49-F238E27FC236}">
                <a16:creationId xmlns:a16="http://schemas.microsoft.com/office/drawing/2014/main" id="{36E92933-729E-9EEF-81F9-97ABC3CDEAF4}"/>
              </a:ext>
            </a:extLst>
          </p:cNvPr>
          <p:cNvGrpSpPr/>
          <p:nvPr/>
        </p:nvGrpSpPr>
        <p:grpSpPr>
          <a:xfrm>
            <a:off x="3946012" y="4647783"/>
            <a:ext cx="4513487" cy="340534"/>
            <a:chOff x="3487173" y="4623714"/>
            <a:chExt cx="4513487" cy="340534"/>
          </a:xfrm>
        </p:grpSpPr>
        <p:sp>
          <p:nvSpPr>
            <p:cNvPr id="7" name="Rectangle 6">
              <a:extLst>
                <a:ext uri="{FF2B5EF4-FFF2-40B4-BE49-F238E27FC236}">
                  <a16:creationId xmlns:a16="http://schemas.microsoft.com/office/drawing/2014/main" id="{F732E921-4356-3B2C-CEA1-C59A10471E1B}"/>
                </a:ext>
              </a:extLst>
            </p:cNvPr>
            <p:cNvSpPr/>
            <p:nvPr/>
          </p:nvSpPr>
          <p:spPr>
            <a:xfrm>
              <a:off x="3487173" y="4623714"/>
              <a:ext cx="4513487" cy="340534"/>
            </a:xfrm>
            <a:prstGeom prst="rect">
              <a:avLst/>
            </a:prstGeom>
            <a:solidFill>
              <a:schemeClr val="bg1">
                <a:lumMod val="95000"/>
              </a:schemeClr>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489">
                <a:lnSpc>
                  <a:spcPct val="90000"/>
                </a:lnSpc>
                <a:spcBef>
                  <a:spcPct val="0"/>
                </a:spcBef>
                <a:spcAft>
                  <a:spcPct val="35000"/>
                </a:spcAft>
              </a:pPr>
              <a:endParaRPr lang="en-GB" sz="1000">
                <a:solidFill>
                  <a:srgbClr val="34342B"/>
                </a:solidFill>
                <a:latin typeface="Vodafone Rg" pitchFamily="34" charset="0"/>
              </a:endParaRPr>
            </a:p>
          </p:txBody>
        </p:sp>
        <p:sp>
          <p:nvSpPr>
            <p:cNvPr id="10" name="TextBox 9">
              <a:extLst>
                <a:ext uri="{FF2B5EF4-FFF2-40B4-BE49-F238E27FC236}">
                  <a16:creationId xmlns:a16="http://schemas.microsoft.com/office/drawing/2014/main" id="{C3A030EC-A045-20B1-26C7-E561C4F7AB17}"/>
                </a:ext>
              </a:extLst>
            </p:cNvPr>
            <p:cNvSpPr txBox="1"/>
            <p:nvPr/>
          </p:nvSpPr>
          <p:spPr>
            <a:xfrm>
              <a:off x="3606367" y="4700740"/>
              <a:ext cx="468013" cy="170622"/>
            </a:xfrm>
            <a:prstGeom prst="rect">
              <a:avLst/>
            </a:prstGeom>
          </p:spPr>
          <p:txBody>
            <a:bodyPr wrap="square" lIns="0" tIns="0" rIns="0" bIns="0" rtlCol="0">
              <a:noAutofit/>
            </a:bodyPr>
            <a:lstStyle/>
            <a:p>
              <a:pPr defTabSz="914378"/>
              <a:r>
                <a:rPr lang="en-GB" sz="1000" b="1" dirty="0">
                  <a:solidFill>
                    <a:srgbClr val="000000"/>
                  </a:solidFill>
                  <a:latin typeface="Vodafone Rg" pitchFamily="34" charset="0"/>
                </a:rPr>
                <a:t>Key</a:t>
              </a:r>
            </a:p>
          </p:txBody>
        </p:sp>
        <p:grpSp>
          <p:nvGrpSpPr>
            <p:cNvPr id="19" name="Group 18">
              <a:extLst>
                <a:ext uri="{FF2B5EF4-FFF2-40B4-BE49-F238E27FC236}">
                  <a16:creationId xmlns:a16="http://schemas.microsoft.com/office/drawing/2014/main" id="{8CB2DCB2-3CEA-7A73-9397-93A150CCE3E3}"/>
                </a:ext>
              </a:extLst>
            </p:cNvPr>
            <p:cNvGrpSpPr/>
            <p:nvPr/>
          </p:nvGrpSpPr>
          <p:grpSpPr>
            <a:xfrm>
              <a:off x="4052496" y="4694050"/>
              <a:ext cx="667814" cy="170622"/>
              <a:chOff x="4773687" y="4696973"/>
              <a:chExt cx="667814" cy="170622"/>
            </a:xfrm>
          </p:grpSpPr>
          <p:pic>
            <p:nvPicPr>
              <p:cNvPr id="78" name="Picture 77">
                <a:extLst>
                  <a:ext uri="{FF2B5EF4-FFF2-40B4-BE49-F238E27FC236}">
                    <a16:creationId xmlns:a16="http://schemas.microsoft.com/office/drawing/2014/main" id="{EF963654-D0DD-FDEC-CA8C-E848826F5D7C}"/>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Lst>
              </a:blip>
              <a:stretch>
                <a:fillRect/>
              </a:stretch>
            </p:blipFill>
            <p:spPr>
              <a:xfrm>
                <a:off x="4773687" y="4697478"/>
                <a:ext cx="203777" cy="169613"/>
              </a:xfrm>
              <a:prstGeom prst="rect">
                <a:avLst/>
              </a:prstGeom>
            </p:spPr>
          </p:pic>
          <p:sp>
            <p:nvSpPr>
              <p:cNvPr id="80" name="TextBox 79">
                <a:extLst>
                  <a:ext uri="{FF2B5EF4-FFF2-40B4-BE49-F238E27FC236}">
                    <a16:creationId xmlns:a16="http://schemas.microsoft.com/office/drawing/2014/main" id="{D803951B-4E14-A32B-09BE-1C09105B36BB}"/>
                  </a:ext>
                </a:extLst>
              </p:cNvPr>
              <p:cNvSpPr txBox="1"/>
              <p:nvPr/>
            </p:nvSpPr>
            <p:spPr>
              <a:xfrm>
                <a:off x="4973488" y="4696973"/>
                <a:ext cx="468013"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Feature</a:t>
                </a:r>
              </a:p>
            </p:txBody>
          </p:sp>
        </p:grpSp>
        <p:grpSp>
          <p:nvGrpSpPr>
            <p:cNvPr id="21" name="Group 20">
              <a:extLst>
                <a:ext uri="{FF2B5EF4-FFF2-40B4-BE49-F238E27FC236}">
                  <a16:creationId xmlns:a16="http://schemas.microsoft.com/office/drawing/2014/main" id="{64EC8D9A-FBB8-929E-83C0-D069FB1EC7E2}"/>
                </a:ext>
              </a:extLst>
            </p:cNvPr>
            <p:cNvGrpSpPr/>
            <p:nvPr/>
          </p:nvGrpSpPr>
          <p:grpSpPr>
            <a:xfrm>
              <a:off x="5456424" y="4689572"/>
              <a:ext cx="681998" cy="179578"/>
              <a:chOff x="5961244" y="4692495"/>
              <a:chExt cx="681998" cy="179578"/>
            </a:xfrm>
          </p:grpSpPr>
          <p:pic>
            <p:nvPicPr>
              <p:cNvPr id="75" name="Picture 74">
                <a:extLst>
                  <a:ext uri="{FF2B5EF4-FFF2-40B4-BE49-F238E27FC236}">
                    <a16:creationId xmlns:a16="http://schemas.microsoft.com/office/drawing/2014/main" id="{F838DB46-71C5-50DD-34C6-5175884F9221}"/>
                  </a:ext>
                </a:extLst>
              </p:cNvPr>
              <p:cNvPicPr>
                <a:picLocks/>
              </p:cNvPicPr>
              <p:nvPr/>
            </p:nvPicPr>
            <p:blipFill>
              <a:blip r:embed="rId3">
                <a:alphaModFix/>
                <a:extLst>
                  <a:ext uri="{BEBA8EAE-BF5A-486C-A8C5-ECC9F3942E4B}">
                    <a14:imgProps xmlns:a14="http://schemas.microsoft.com/office/drawing/2010/main">
                      <a14:imgLayer r:embed="rId4">
                        <a14:imgEffect>
                          <a14:backgroundRemoval t="10000" b="90000" l="10000" r="90000">
                            <a14:foregroundMark x1="46479" y1="29134" x2="46479" y2="29134"/>
                          </a14:backgroundRemoval>
                        </a14:imgEffect>
                      </a14:imgLayer>
                    </a14:imgProps>
                  </a:ext>
                </a:extLst>
              </a:blip>
              <a:stretch>
                <a:fillRect/>
              </a:stretch>
            </p:blipFill>
            <p:spPr>
              <a:xfrm>
                <a:off x="5961244" y="4692495"/>
                <a:ext cx="203777" cy="179578"/>
              </a:xfrm>
              <a:prstGeom prst="rect">
                <a:avLst/>
              </a:prstGeom>
            </p:spPr>
          </p:pic>
          <p:sp>
            <p:nvSpPr>
              <p:cNvPr id="77" name="TextBox 76">
                <a:extLst>
                  <a:ext uri="{FF2B5EF4-FFF2-40B4-BE49-F238E27FC236}">
                    <a16:creationId xmlns:a16="http://schemas.microsoft.com/office/drawing/2014/main" id="{9F4A370B-7317-15EE-9074-B379E7C19CB2}"/>
                  </a:ext>
                </a:extLst>
              </p:cNvPr>
              <p:cNvSpPr txBox="1"/>
              <p:nvPr/>
            </p:nvSpPr>
            <p:spPr>
              <a:xfrm>
                <a:off x="6175229" y="4696973"/>
                <a:ext cx="468013"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Function</a:t>
                </a:r>
              </a:p>
            </p:txBody>
          </p:sp>
        </p:grpSp>
        <p:grpSp>
          <p:nvGrpSpPr>
            <p:cNvPr id="22" name="Group 21">
              <a:extLst>
                <a:ext uri="{FF2B5EF4-FFF2-40B4-BE49-F238E27FC236}">
                  <a16:creationId xmlns:a16="http://schemas.microsoft.com/office/drawing/2014/main" id="{4FB7C2AA-2394-8BCD-4D59-27C08899828B}"/>
                </a:ext>
              </a:extLst>
            </p:cNvPr>
            <p:cNvGrpSpPr/>
            <p:nvPr/>
          </p:nvGrpSpPr>
          <p:grpSpPr>
            <a:xfrm>
              <a:off x="7126856" y="4694050"/>
              <a:ext cx="850310" cy="170622"/>
              <a:chOff x="7533433" y="4696973"/>
              <a:chExt cx="850310" cy="170622"/>
            </a:xfrm>
          </p:grpSpPr>
          <p:sp>
            <p:nvSpPr>
              <p:cNvPr id="70" name="Rectangle 69">
                <a:extLst>
                  <a:ext uri="{FF2B5EF4-FFF2-40B4-BE49-F238E27FC236}">
                    <a16:creationId xmlns:a16="http://schemas.microsoft.com/office/drawing/2014/main" id="{7BCC3C91-79A9-4B3B-0223-1E55AAB3CB23}"/>
                  </a:ext>
                </a:extLst>
              </p:cNvPr>
              <p:cNvSpPr/>
              <p:nvPr/>
            </p:nvSpPr>
            <p:spPr>
              <a:xfrm>
                <a:off x="7533433" y="4706266"/>
                <a:ext cx="214733" cy="152036"/>
              </a:xfrm>
              <a:prstGeom prst="rect">
                <a:avLst/>
              </a:prstGeom>
              <a:solidFill>
                <a:schemeClr val="accent1">
                  <a:lumMod val="20000"/>
                  <a:lumOff val="80000"/>
                </a:schemeClr>
              </a:solidFill>
              <a:ln w="9525"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489">
                  <a:lnSpc>
                    <a:spcPct val="90000"/>
                  </a:lnSpc>
                  <a:spcBef>
                    <a:spcPct val="0"/>
                  </a:spcBef>
                  <a:spcAft>
                    <a:spcPct val="35000"/>
                  </a:spcAft>
                </a:pPr>
                <a:endParaRPr lang="en-GB" sz="800">
                  <a:solidFill>
                    <a:srgbClr val="34342B"/>
                  </a:solidFill>
                  <a:latin typeface="Vodafone Rg" pitchFamily="34" charset="0"/>
                </a:endParaRPr>
              </a:p>
            </p:txBody>
          </p:sp>
          <p:sp>
            <p:nvSpPr>
              <p:cNvPr id="71" name="TextBox 70">
                <a:extLst>
                  <a:ext uri="{FF2B5EF4-FFF2-40B4-BE49-F238E27FC236}">
                    <a16:creationId xmlns:a16="http://schemas.microsoft.com/office/drawing/2014/main" id="{C7E72B19-49C7-A0DA-C1D8-00770A10AB50}"/>
                  </a:ext>
                </a:extLst>
              </p:cNvPr>
              <p:cNvSpPr txBox="1"/>
              <p:nvPr/>
            </p:nvSpPr>
            <p:spPr>
              <a:xfrm>
                <a:off x="7789128" y="4696973"/>
                <a:ext cx="594615"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TDM Activity</a:t>
                </a:r>
              </a:p>
            </p:txBody>
          </p:sp>
        </p:grpSp>
        <p:grpSp>
          <p:nvGrpSpPr>
            <p:cNvPr id="27" name="Group 26">
              <a:extLst>
                <a:ext uri="{FF2B5EF4-FFF2-40B4-BE49-F238E27FC236}">
                  <a16:creationId xmlns:a16="http://schemas.microsoft.com/office/drawing/2014/main" id="{98DD0326-47F6-63F7-BCCC-A6A41C3AD568}"/>
                </a:ext>
              </a:extLst>
            </p:cNvPr>
            <p:cNvGrpSpPr/>
            <p:nvPr/>
          </p:nvGrpSpPr>
          <p:grpSpPr>
            <a:xfrm>
              <a:off x="6208103" y="4694050"/>
              <a:ext cx="885650" cy="170622"/>
              <a:chOff x="5823230" y="4696973"/>
              <a:chExt cx="885650" cy="170622"/>
            </a:xfrm>
          </p:grpSpPr>
          <p:pic>
            <p:nvPicPr>
              <p:cNvPr id="38" name="Picture 37">
                <a:extLst>
                  <a:ext uri="{FF2B5EF4-FFF2-40B4-BE49-F238E27FC236}">
                    <a16:creationId xmlns:a16="http://schemas.microsoft.com/office/drawing/2014/main" id="{813E49C0-2258-9C6E-8634-3CA0F23BD683}"/>
                  </a:ext>
                </a:extLst>
              </p:cNvPr>
              <p:cNvPicPr>
                <a:picLocks noChangeAspect="1"/>
              </p:cNvPicPr>
              <p:nvPr/>
            </p:nvPicPr>
            <p:blipFill>
              <a:blip r:embed="rId5">
                <a:clrChange>
                  <a:clrFrom>
                    <a:srgbClr val="F8F8F8"/>
                  </a:clrFrom>
                  <a:clrTo>
                    <a:srgbClr val="F8F8F8">
                      <a:alpha val="0"/>
                    </a:srgbClr>
                  </a:clrTo>
                </a:clrChange>
              </a:blip>
              <a:stretch>
                <a:fillRect/>
              </a:stretch>
            </p:blipFill>
            <p:spPr>
              <a:xfrm>
                <a:off x="5823230" y="4708884"/>
                <a:ext cx="180164" cy="146800"/>
              </a:xfrm>
              <a:prstGeom prst="rect">
                <a:avLst/>
              </a:prstGeom>
            </p:spPr>
          </p:pic>
          <p:sp>
            <p:nvSpPr>
              <p:cNvPr id="59" name="TextBox 58">
                <a:extLst>
                  <a:ext uri="{FF2B5EF4-FFF2-40B4-BE49-F238E27FC236}">
                    <a16:creationId xmlns:a16="http://schemas.microsoft.com/office/drawing/2014/main" id="{1E78E665-FAE2-1BFA-4524-6E4D9E4161CC}"/>
                  </a:ext>
                </a:extLst>
              </p:cNvPr>
              <p:cNvSpPr txBox="1"/>
              <p:nvPr/>
            </p:nvSpPr>
            <p:spPr>
              <a:xfrm>
                <a:off x="6022598" y="4696973"/>
                <a:ext cx="686282"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State Change</a:t>
                </a:r>
              </a:p>
            </p:txBody>
          </p:sp>
        </p:grpSp>
        <p:grpSp>
          <p:nvGrpSpPr>
            <p:cNvPr id="29" name="Group 28">
              <a:extLst>
                <a:ext uri="{FF2B5EF4-FFF2-40B4-BE49-F238E27FC236}">
                  <a16:creationId xmlns:a16="http://schemas.microsoft.com/office/drawing/2014/main" id="{7A6DD935-A367-10F0-8040-86134B8EF911}"/>
                </a:ext>
              </a:extLst>
            </p:cNvPr>
            <p:cNvGrpSpPr/>
            <p:nvPr/>
          </p:nvGrpSpPr>
          <p:grpSpPr>
            <a:xfrm>
              <a:off x="4704092" y="4689361"/>
              <a:ext cx="706489" cy="180000"/>
              <a:chOff x="4429144" y="4678153"/>
              <a:chExt cx="706489" cy="180000"/>
            </a:xfrm>
          </p:grpSpPr>
          <p:sp>
            <p:nvSpPr>
              <p:cNvPr id="34" name="TextBox 33">
                <a:extLst>
                  <a:ext uri="{FF2B5EF4-FFF2-40B4-BE49-F238E27FC236}">
                    <a16:creationId xmlns:a16="http://schemas.microsoft.com/office/drawing/2014/main" id="{8D0D64D6-36E2-BE1E-6A35-5A3ACF78B4D5}"/>
                  </a:ext>
                </a:extLst>
              </p:cNvPr>
              <p:cNvSpPr txBox="1"/>
              <p:nvPr/>
            </p:nvSpPr>
            <p:spPr>
              <a:xfrm>
                <a:off x="4667620" y="4682842"/>
                <a:ext cx="468013" cy="170622"/>
              </a:xfrm>
              <a:prstGeom prst="rect">
                <a:avLst/>
              </a:prstGeom>
            </p:spPr>
            <p:txBody>
              <a:bodyPr wrap="square" lIns="0" tIns="0" rIns="0" bIns="0" rtlCol="0" anchor="ctr">
                <a:noAutofit/>
              </a:bodyPr>
              <a:lstStyle/>
              <a:p>
                <a:pPr defTabSz="914378"/>
                <a:r>
                  <a:rPr lang="en-GB" sz="800" dirty="0">
                    <a:solidFill>
                      <a:srgbClr val="000000"/>
                    </a:solidFill>
                    <a:latin typeface="Vodafone Rg" pitchFamily="34" charset="0"/>
                  </a:rPr>
                  <a:t>Delivery</a:t>
                </a:r>
              </a:p>
            </p:txBody>
          </p:sp>
          <p:pic>
            <p:nvPicPr>
              <p:cNvPr id="36" name="Picture 35">
                <a:extLst>
                  <a:ext uri="{FF2B5EF4-FFF2-40B4-BE49-F238E27FC236}">
                    <a16:creationId xmlns:a16="http://schemas.microsoft.com/office/drawing/2014/main" id="{DA310979-85F7-C04C-3CF2-8F69A9B3921A}"/>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54386" y1="40909" x2="54386" y2="40909"/>
                            <a14:foregroundMark x1="75439" y1="50000" x2="75439" y2="50000"/>
                            <a14:foregroundMark x1="24561" y1="47727" x2="24561" y2="47727"/>
                          </a14:backgroundRemoval>
                        </a14:imgEffect>
                      </a14:imgLayer>
                    </a14:imgProps>
                  </a:ext>
                </a:extLst>
              </a:blip>
              <a:stretch>
                <a:fillRect/>
              </a:stretch>
            </p:blipFill>
            <p:spPr>
              <a:xfrm>
                <a:off x="4429144" y="4678153"/>
                <a:ext cx="233183" cy="180000"/>
              </a:xfrm>
              <a:prstGeom prst="rect">
                <a:avLst/>
              </a:prstGeom>
            </p:spPr>
          </p:pic>
        </p:grpSp>
      </p:grpSp>
      <p:pic>
        <p:nvPicPr>
          <p:cNvPr id="81" name="Picture 80">
            <a:extLst>
              <a:ext uri="{FF2B5EF4-FFF2-40B4-BE49-F238E27FC236}">
                <a16:creationId xmlns:a16="http://schemas.microsoft.com/office/drawing/2014/main" id="{D45613B4-272F-C129-9239-FA3A948EEC89}"/>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54386" y1="40909" x2="54386" y2="40909"/>
                        <a14:foregroundMark x1="75439" y1="50000" x2="75439" y2="50000"/>
                        <a14:foregroundMark x1="24561" y1="47727" x2="24561" y2="47727"/>
                      </a14:backgroundRemoval>
                    </a14:imgEffect>
                  </a14:imgLayer>
                </a14:imgProps>
              </a:ext>
            </a:extLst>
          </a:blip>
          <a:stretch>
            <a:fillRect/>
          </a:stretch>
        </p:blipFill>
        <p:spPr>
          <a:xfrm>
            <a:off x="4877999" y="4312866"/>
            <a:ext cx="233183" cy="180000"/>
          </a:xfrm>
          <a:prstGeom prst="rect">
            <a:avLst/>
          </a:prstGeom>
        </p:spPr>
      </p:pic>
      <p:pic>
        <p:nvPicPr>
          <p:cNvPr id="82" name="Picture 81">
            <a:extLst>
              <a:ext uri="{FF2B5EF4-FFF2-40B4-BE49-F238E27FC236}">
                <a16:creationId xmlns:a16="http://schemas.microsoft.com/office/drawing/2014/main" id="{96AC9717-B6D5-7290-5E38-F9086748CB44}"/>
              </a:ext>
            </a:extLst>
          </p:cNvPr>
          <p:cNvPicPr>
            <a:picLocks noChangeAspect="1"/>
          </p:cNvPicPr>
          <p:nvPr/>
        </p:nvPicPr>
        <p:blipFill>
          <a:blip r:embed="rId5">
            <a:clrChange>
              <a:clrFrom>
                <a:srgbClr val="F8F8F8"/>
              </a:clrFrom>
              <a:clrTo>
                <a:srgbClr val="F8F8F8">
                  <a:alpha val="0"/>
                </a:srgbClr>
              </a:clrTo>
            </a:clrChange>
          </a:blip>
          <a:stretch>
            <a:fillRect/>
          </a:stretch>
        </p:blipFill>
        <p:spPr>
          <a:xfrm>
            <a:off x="5483482" y="4329466"/>
            <a:ext cx="180164" cy="146800"/>
          </a:xfrm>
          <a:prstGeom prst="rect">
            <a:avLst/>
          </a:prstGeom>
        </p:spPr>
      </p:pic>
      <p:pic>
        <p:nvPicPr>
          <p:cNvPr id="83" name="Picture 82">
            <a:extLst>
              <a:ext uri="{FF2B5EF4-FFF2-40B4-BE49-F238E27FC236}">
                <a16:creationId xmlns:a16="http://schemas.microsoft.com/office/drawing/2014/main" id="{83D7BC66-FAE1-E2EF-A85D-76F07691D391}"/>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Lst>
          </a:blip>
          <a:stretch>
            <a:fillRect/>
          </a:stretch>
        </p:blipFill>
        <p:spPr>
          <a:xfrm>
            <a:off x="5291457" y="4318060"/>
            <a:ext cx="203777" cy="169613"/>
          </a:xfrm>
          <a:prstGeom prst="rect">
            <a:avLst/>
          </a:prstGeom>
        </p:spPr>
      </p:pic>
      <p:pic>
        <p:nvPicPr>
          <p:cNvPr id="84" name="Picture 83">
            <a:extLst>
              <a:ext uri="{FF2B5EF4-FFF2-40B4-BE49-F238E27FC236}">
                <a16:creationId xmlns:a16="http://schemas.microsoft.com/office/drawing/2014/main" id="{B6A55893-8D6D-3EB5-E9E4-F25BDF7CD7BC}"/>
              </a:ext>
            </a:extLst>
          </p:cNvPr>
          <p:cNvPicPr>
            <a:picLocks/>
          </p:cNvPicPr>
          <p:nvPr/>
        </p:nvPicPr>
        <p:blipFill>
          <a:blip r:embed="rId3">
            <a:alphaModFix/>
            <a:extLst>
              <a:ext uri="{BEBA8EAE-BF5A-486C-A8C5-ECC9F3942E4B}">
                <a14:imgProps xmlns:a14="http://schemas.microsoft.com/office/drawing/2010/main">
                  <a14:imgLayer r:embed="rId4">
                    <a14:imgEffect>
                      <a14:backgroundRemoval t="10000" b="90000" l="10000" r="90000">
                        <a14:foregroundMark x1="46479" y1="29134" x2="46479" y2="29134"/>
                      </a14:backgroundRemoval>
                    </a14:imgEffect>
                  </a14:imgLayer>
                </a14:imgProps>
              </a:ext>
            </a:extLst>
          </a:blip>
          <a:stretch>
            <a:fillRect/>
          </a:stretch>
        </p:blipFill>
        <p:spPr>
          <a:xfrm>
            <a:off x="5099431" y="4313077"/>
            <a:ext cx="203777" cy="179578"/>
          </a:xfrm>
          <a:prstGeom prst="rect">
            <a:avLst/>
          </a:prstGeom>
        </p:spPr>
      </p:pic>
    </p:spTree>
    <p:extLst>
      <p:ext uri="{BB962C8B-B14F-4D97-AF65-F5344CB8AC3E}">
        <p14:creationId xmlns:p14="http://schemas.microsoft.com/office/powerpoint/2010/main" val="8897600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D8CC6CD-0026-93DF-606D-5C0793037F9C}"/>
              </a:ext>
            </a:extLst>
          </p:cNvPr>
          <p:cNvSpPr>
            <a:spLocks noGrp="1"/>
          </p:cNvSpPr>
          <p:nvPr>
            <p:ph type="sldNum" sz="quarter" idx="13"/>
          </p:nvPr>
        </p:nvSpPr>
        <p:spPr/>
        <p:txBody>
          <a:bodyPr/>
          <a:lstStyle/>
          <a:p>
            <a:fld id="{72A83A2B-3358-44F8-83A0-4598795D8FB5}" type="slidenum">
              <a:rPr lang="en-GB" smtClean="0"/>
              <a:pPr/>
              <a:t>26</a:t>
            </a:fld>
            <a:endParaRPr lang="en-GB"/>
          </a:p>
        </p:txBody>
      </p:sp>
      <p:sp>
        <p:nvSpPr>
          <p:cNvPr id="3" name="Date Placeholder 2">
            <a:extLst>
              <a:ext uri="{FF2B5EF4-FFF2-40B4-BE49-F238E27FC236}">
                <a16:creationId xmlns:a16="http://schemas.microsoft.com/office/drawing/2014/main" id="{0407EBF3-3E07-56F4-2993-9E88486FF538}"/>
              </a:ext>
            </a:extLst>
          </p:cNvPr>
          <p:cNvSpPr>
            <a:spLocks noGrp="1"/>
          </p:cNvSpPr>
          <p:nvPr>
            <p:ph type="dt" sz="half" idx="14"/>
          </p:nvPr>
        </p:nvSpPr>
        <p:spPr/>
        <p:txBody>
          <a:bodyPr/>
          <a:lstStyle/>
          <a:p>
            <a:fld id="{307368F5-E43E-7644-B2C0-CD46918E1917}" type="datetime4">
              <a:rPr lang="en-GB" smtClean="0"/>
              <a:t>23 June 2026</a:t>
            </a:fld>
            <a:endParaRPr lang="en-GB"/>
          </a:p>
        </p:txBody>
      </p:sp>
      <p:sp>
        <p:nvSpPr>
          <p:cNvPr id="6" name="Content Placeholder 5">
            <a:extLst>
              <a:ext uri="{FF2B5EF4-FFF2-40B4-BE49-F238E27FC236}">
                <a16:creationId xmlns:a16="http://schemas.microsoft.com/office/drawing/2014/main" id="{64E76148-A12A-5961-0F51-3524A0A9D0ED}"/>
              </a:ext>
            </a:extLst>
          </p:cNvPr>
          <p:cNvSpPr>
            <a:spLocks noGrp="1"/>
          </p:cNvSpPr>
          <p:nvPr>
            <p:ph type="body" sz="quarter" idx="19"/>
          </p:nvPr>
        </p:nvSpPr>
        <p:spPr>
          <a:xfrm>
            <a:off x="180001" y="720000"/>
            <a:ext cx="4140000" cy="3960000"/>
          </a:xfrm>
        </p:spPr>
        <p:txBody>
          <a:bodyPr lIns="36000" tIns="36000" rIns="36000" bIns="36000"/>
          <a:lstStyle/>
          <a:p>
            <a:pPr marL="0" indent="0">
              <a:spcAft>
                <a:spcPts val="0"/>
              </a:spcAft>
              <a:buFont typeface="Arial" pitchFamily="34" charset="0"/>
              <a:buNone/>
            </a:pPr>
            <a:r>
              <a:rPr lang="en-GB" sz="1200" b="1" dirty="0"/>
              <a:t>Who Owns and Manages which Work Items and their States:</a:t>
            </a:r>
            <a:endParaRPr lang="en-GB" sz="1050" b="1" dirty="0"/>
          </a:p>
          <a:p>
            <a:pPr>
              <a:spcAft>
                <a:spcPts val="0"/>
              </a:spcAft>
            </a:pPr>
            <a:r>
              <a:rPr lang="en-GB" sz="1200" b="1" dirty="0"/>
              <a:t>Features</a:t>
            </a:r>
            <a:r>
              <a:rPr lang="en-GB" sz="1200" dirty="0"/>
              <a:t> are owned and managed by Delivery Managers</a:t>
            </a:r>
          </a:p>
          <a:p>
            <a:pPr>
              <a:spcAft>
                <a:spcPts val="0"/>
              </a:spcAft>
            </a:pPr>
            <a:r>
              <a:rPr lang="en-GB" sz="1200" b="1" dirty="0"/>
              <a:t>Deliveries</a:t>
            </a:r>
            <a:r>
              <a:rPr lang="en-GB" sz="1200" dirty="0"/>
              <a:t> are initially owned and managed by Delivery Managers, with Release Management, SIT and Deployment taking over once Committed.</a:t>
            </a:r>
          </a:p>
          <a:p>
            <a:pPr lvl="1">
              <a:spcAft>
                <a:spcPts val="0"/>
              </a:spcAft>
            </a:pPr>
            <a:r>
              <a:rPr lang="en-GB" sz="1100" dirty="0"/>
              <a:t>Some States are automatically set – See Right</a:t>
            </a:r>
          </a:p>
          <a:p>
            <a:pPr>
              <a:spcAft>
                <a:spcPts val="0"/>
              </a:spcAft>
            </a:pPr>
            <a:r>
              <a:rPr lang="en-GB" sz="1200" b="1" dirty="0"/>
              <a:t>Functions</a:t>
            </a:r>
            <a:r>
              <a:rPr lang="en-GB" sz="1200" dirty="0"/>
              <a:t> hosted within a Domain ADO are owned and managed by the Domain</a:t>
            </a:r>
          </a:p>
          <a:p>
            <a:pPr>
              <a:spcAft>
                <a:spcPts val="0"/>
              </a:spcAft>
            </a:pPr>
            <a:r>
              <a:rPr lang="en-GB" sz="1200" b="1" dirty="0"/>
              <a:t>Functions</a:t>
            </a:r>
            <a:r>
              <a:rPr lang="en-GB" sz="1200" dirty="0"/>
              <a:t> hosted within the Release Management ADO are owned and managed by the Delivery Manager, with support from the Domain</a:t>
            </a:r>
          </a:p>
          <a:p>
            <a:pPr lvl="1">
              <a:spcAft>
                <a:spcPts val="0"/>
              </a:spcAft>
            </a:pPr>
            <a:r>
              <a:rPr lang="en-GB" sz="1100" dirty="0"/>
              <a:t>As another resource (ADO, SharePoint, Tool) will likely contain the depth and detail, Release team ask that RM hosted functions are linked to that resource (An ADO Link or Comment URL) with the State, Delivery Dates and only key fields maintained in the Function.</a:t>
            </a:r>
          </a:p>
          <a:p>
            <a:pPr>
              <a:spcAft>
                <a:spcPts val="0"/>
              </a:spcAft>
            </a:pPr>
            <a:endParaRPr lang="en-GB" sz="1200" dirty="0"/>
          </a:p>
          <a:p>
            <a:pPr>
              <a:spcAft>
                <a:spcPts val="0"/>
              </a:spcAft>
            </a:pPr>
            <a:endParaRPr lang="en-GB" sz="1050" dirty="0"/>
          </a:p>
        </p:txBody>
      </p:sp>
      <p:sp>
        <p:nvSpPr>
          <p:cNvPr id="2" name="Title 1">
            <a:extLst>
              <a:ext uri="{FF2B5EF4-FFF2-40B4-BE49-F238E27FC236}">
                <a16:creationId xmlns:a16="http://schemas.microsoft.com/office/drawing/2014/main" id="{CF3C3A2C-A481-81E9-ABC3-09D0D9F6AD48}"/>
              </a:ext>
            </a:extLst>
          </p:cNvPr>
          <p:cNvSpPr>
            <a:spLocks noGrp="1"/>
          </p:cNvSpPr>
          <p:nvPr>
            <p:ph type="title"/>
          </p:nvPr>
        </p:nvSpPr>
        <p:spPr/>
        <p:txBody>
          <a:bodyPr/>
          <a:lstStyle/>
          <a:p>
            <a:r>
              <a:rPr lang="en-GB" dirty="0"/>
              <a:t>Feature / Delivery / Function || </a:t>
            </a:r>
            <a:r>
              <a:rPr lang="en-GB" b="0" dirty="0"/>
              <a:t>State Ownership &amp;  Synchronisation </a:t>
            </a:r>
          </a:p>
        </p:txBody>
      </p:sp>
      <p:sp>
        <p:nvSpPr>
          <p:cNvPr id="8" name="TextBox 7">
            <a:extLst>
              <a:ext uri="{FF2B5EF4-FFF2-40B4-BE49-F238E27FC236}">
                <a16:creationId xmlns:a16="http://schemas.microsoft.com/office/drawing/2014/main" id="{ABB91DDF-0BCE-654F-FD99-33E33006F89D}"/>
              </a:ext>
            </a:extLst>
          </p:cNvPr>
          <p:cNvSpPr txBox="1"/>
          <p:nvPr/>
        </p:nvSpPr>
        <p:spPr>
          <a:xfrm>
            <a:off x="203200" y="432000"/>
            <a:ext cx="8796749" cy="226761"/>
          </a:xfrm>
          <a:prstGeom prst="rect">
            <a:avLst/>
          </a:prstGeom>
        </p:spPr>
        <p:txBody>
          <a:bodyPr wrap="square" lIns="0" tIns="0" rIns="0" bIns="0" rtlCol="0">
            <a:noAutofit/>
          </a:bodyPr>
          <a:lstStyle/>
          <a:p>
            <a:r>
              <a:rPr lang="en-GB" sz="1200" b="1" dirty="0">
                <a:solidFill>
                  <a:srgbClr val="00B050"/>
                </a:solidFill>
              </a:rPr>
              <a:t>This slide is a guide to who is responsible for Feature, Delivery and Function Work Items &amp; States, which do vary by teams.</a:t>
            </a:r>
          </a:p>
        </p:txBody>
      </p:sp>
      <p:sp>
        <p:nvSpPr>
          <p:cNvPr id="9" name="Content Placeholder 5">
            <a:extLst>
              <a:ext uri="{FF2B5EF4-FFF2-40B4-BE49-F238E27FC236}">
                <a16:creationId xmlns:a16="http://schemas.microsoft.com/office/drawing/2014/main" id="{B3C5EACC-4FD7-6779-F8A4-C05027B9F2ED}"/>
              </a:ext>
            </a:extLst>
          </p:cNvPr>
          <p:cNvSpPr txBox="1">
            <a:spLocks/>
          </p:cNvSpPr>
          <p:nvPr/>
        </p:nvSpPr>
        <p:spPr>
          <a:xfrm>
            <a:off x="4752000" y="720000"/>
            <a:ext cx="4140000" cy="3960000"/>
          </a:xfrm>
          <a:prstGeom prst="rect">
            <a:avLst/>
          </a:prstGeom>
        </p:spPr>
        <p:txBody>
          <a:bodyPr vert="horz" lIns="36000" tIns="36000" rIns="36000" bIns="36000" rtlCol="0" anchor="t" anchorCtr="0">
            <a:noAutofit/>
          </a:bodyPr>
          <a:lstStyle>
            <a:lvl1pPr marL="138113" indent="-138113" algn="l" defTabSz="914400" rtl="0" eaLnBrk="1" latinLnBrk="0" hangingPunct="1">
              <a:spcBef>
                <a:spcPts val="600"/>
              </a:spcBef>
              <a:spcAft>
                <a:spcPts val="600"/>
              </a:spcAft>
              <a:buClr>
                <a:schemeClr val="accent1"/>
              </a:buClr>
              <a:buFont typeface="Arial" panose="020B0604020202020204" pitchFamily="34" charset="0"/>
              <a:buChar char="•"/>
              <a:defRPr sz="1600" kern="1200">
                <a:solidFill>
                  <a:schemeClr val="tx1"/>
                </a:solidFill>
                <a:latin typeface="Vodafone Rg" pitchFamily="34" charset="0"/>
                <a:ea typeface="+mn-ea"/>
                <a:cs typeface="+mn-cs"/>
              </a:defRPr>
            </a:lvl1pPr>
            <a:lvl2pPr marL="347663" indent="-147638" algn="l" defTabSz="914400" rtl="0" eaLnBrk="1" latinLnBrk="0" hangingPunct="1">
              <a:spcBef>
                <a:spcPts val="0"/>
              </a:spcBef>
              <a:spcAft>
                <a:spcPts val="300"/>
              </a:spcAft>
              <a:buClr>
                <a:schemeClr val="accent1"/>
              </a:buClr>
              <a:buFont typeface="Calibri" panose="020F0502020204030204" pitchFamily="34" charset="0"/>
              <a:buChar char="–"/>
              <a:defRPr sz="1400" kern="1200">
                <a:solidFill>
                  <a:schemeClr val="tx1"/>
                </a:solidFill>
                <a:latin typeface="Vodafone Rg" pitchFamily="34" charset="0"/>
                <a:ea typeface="+mn-ea"/>
                <a:cs typeface="+mn-cs"/>
              </a:defRPr>
            </a:lvl2pPr>
            <a:lvl3pPr marL="385763" indent="146050" algn="l" defTabSz="914400" rtl="0" eaLnBrk="1" latinLnBrk="0" hangingPunct="1">
              <a:spcBef>
                <a:spcPts val="0"/>
              </a:spcBef>
              <a:spcAft>
                <a:spcPts val="300"/>
              </a:spcAft>
              <a:buClr>
                <a:schemeClr val="accent1"/>
              </a:buClr>
              <a:buFont typeface="Courier New" panose="02070309020205020404" pitchFamily="49" charset="0"/>
              <a:buChar char="o"/>
              <a:defRPr sz="1400" kern="1200">
                <a:solidFill>
                  <a:schemeClr val="tx1"/>
                </a:solidFill>
                <a:latin typeface="Vodafone Rg" pitchFamily="34" charset="0"/>
                <a:ea typeface="+mn-ea"/>
                <a:cs typeface="+mn-cs"/>
              </a:defRPr>
            </a:lvl3pPr>
            <a:lvl4pPr marL="717550" indent="-150813" algn="l" defTabSz="914400" rtl="0" eaLnBrk="1" latinLnBrk="0" hangingPunct="1">
              <a:spcBef>
                <a:spcPts val="0"/>
              </a:spcBef>
              <a:spcAft>
                <a:spcPts val="300"/>
              </a:spcAft>
              <a:buClr>
                <a:schemeClr val="accent1"/>
              </a:buClr>
              <a:buSzPct val="80000"/>
              <a:buFont typeface="Arial" panose="020B0604020202020204" pitchFamily="34" charset="0"/>
              <a:buChar char="•"/>
              <a:defRPr sz="1200" kern="1200">
                <a:solidFill>
                  <a:schemeClr val="tx1"/>
                </a:solidFill>
                <a:latin typeface="+mn-lt"/>
                <a:ea typeface="+mn-ea"/>
                <a:cs typeface="+mn-cs"/>
              </a:defRPr>
            </a:lvl4pPr>
            <a:lvl5pPr marL="914400" indent="-161925" algn="l" defTabSz="914400" rtl="0" eaLnBrk="1" latinLnBrk="0" hangingPunct="1">
              <a:spcBef>
                <a:spcPts val="300"/>
              </a:spcBef>
              <a:buClr>
                <a:schemeClr val="accent1"/>
              </a:buClr>
              <a:buSzPct val="80000"/>
              <a:buFont typeface="Courier New" panose="02070309020205020404" pitchFamily="49" charset="0"/>
              <a:buChar char="o"/>
              <a:defRPr sz="12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0"/>
              </a:spcAft>
              <a:buFont typeface="Arial" pitchFamily="34" charset="0"/>
              <a:buNone/>
            </a:pPr>
            <a:r>
              <a:rPr lang="en-GB" sz="1200" b="1" dirty="0"/>
              <a:t>Release team sync down these States, from Feature to Function, for CCS Engineering only:</a:t>
            </a:r>
          </a:p>
          <a:p>
            <a:pPr marL="285750" indent="-285750">
              <a:spcBef>
                <a:spcPts val="0"/>
              </a:spcBef>
              <a:spcAft>
                <a:spcPts val="0"/>
              </a:spcAft>
              <a:buFont typeface="Arial" panose="020B0604020202020204" pitchFamily="34" charset="0"/>
              <a:buChar char="•"/>
            </a:pPr>
            <a:r>
              <a:rPr lang="en-GB" sz="1200" dirty="0"/>
              <a:t>ITDA</a:t>
            </a:r>
          </a:p>
          <a:p>
            <a:pPr marL="285750" indent="-285750">
              <a:spcBef>
                <a:spcPts val="0"/>
              </a:spcBef>
              <a:spcAft>
                <a:spcPts val="0"/>
              </a:spcAft>
              <a:buFont typeface="Arial" panose="020B0604020202020204" pitchFamily="34" charset="0"/>
              <a:buChar char="•"/>
            </a:pPr>
            <a:r>
              <a:rPr lang="en-GB" sz="1200" dirty="0"/>
              <a:t>E2E HLD</a:t>
            </a:r>
          </a:p>
          <a:p>
            <a:pPr marL="0" indent="0">
              <a:spcBef>
                <a:spcPts val="0"/>
              </a:spcBef>
              <a:spcAft>
                <a:spcPts val="0"/>
              </a:spcAft>
              <a:buFont typeface="Arial" pitchFamily="34" charset="0"/>
              <a:buNone/>
            </a:pPr>
            <a:endParaRPr lang="en-GB" sz="1200" b="1" dirty="0"/>
          </a:p>
          <a:p>
            <a:pPr marL="0" indent="0">
              <a:spcBef>
                <a:spcPts val="0"/>
              </a:spcBef>
              <a:spcAft>
                <a:spcPts val="0"/>
              </a:spcAft>
              <a:buNone/>
            </a:pPr>
            <a:r>
              <a:rPr lang="en-GB" sz="1200" b="1" dirty="0"/>
              <a:t>Release team sync-up these States, from Function to Delivery:</a:t>
            </a:r>
          </a:p>
          <a:p>
            <a:pPr marL="171450" indent="-171450">
              <a:spcBef>
                <a:spcPts val="0"/>
              </a:spcBef>
              <a:spcAft>
                <a:spcPts val="0"/>
              </a:spcAft>
              <a:buFont typeface="Arial" panose="020B0604020202020204" pitchFamily="34" charset="0"/>
              <a:buChar char="•"/>
            </a:pPr>
            <a:r>
              <a:rPr lang="en-GB" sz="1200" dirty="0"/>
              <a:t>VROM</a:t>
            </a:r>
          </a:p>
          <a:p>
            <a:pPr marL="171450" indent="-171450">
              <a:spcBef>
                <a:spcPts val="0"/>
              </a:spcBef>
              <a:spcAft>
                <a:spcPts val="0"/>
              </a:spcAft>
              <a:buFont typeface="Arial" panose="020B0604020202020204" pitchFamily="34" charset="0"/>
              <a:buChar char="•"/>
            </a:pPr>
            <a:r>
              <a:rPr lang="en-GB" sz="1200" dirty="0"/>
              <a:t>Design in Progress</a:t>
            </a:r>
          </a:p>
          <a:p>
            <a:pPr marL="171450" indent="-171450">
              <a:spcBef>
                <a:spcPts val="0"/>
              </a:spcBef>
              <a:spcAft>
                <a:spcPts val="0"/>
              </a:spcAft>
              <a:buFont typeface="Arial" panose="020B0604020202020204" pitchFamily="34" charset="0"/>
              <a:buChar char="•"/>
            </a:pPr>
            <a:r>
              <a:rPr lang="en-GB" sz="1200" dirty="0"/>
              <a:t>Build in Progress</a:t>
            </a:r>
          </a:p>
          <a:p>
            <a:pPr marL="171450" indent="-171450">
              <a:spcBef>
                <a:spcPts val="0"/>
              </a:spcBef>
              <a:spcAft>
                <a:spcPts val="0"/>
              </a:spcAft>
              <a:buFont typeface="Arial" panose="020B0604020202020204" pitchFamily="34" charset="0"/>
              <a:buChar char="•"/>
            </a:pPr>
            <a:r>
              <a:rPr lang="en-GB" sz="1200" dirty="0"/>
              <a:t>ST in Progress</a:t>
            </a:r>
          </a:p>
          <a:p>
            <a:pPr marL="285750" indent="-285750">
              <a:spcBef>
                <a:spcPts val="0"/>
              </a:spcBef>
              <a:spcAft>
                <a:spcPts val="0"/>
              </a:spcAft>
              <a:buFont typeface="Arial" panose="020B0604020202020204" pitchFamily="34" charset="0"/>
              <a:buChar char="•"/>
            </a:pPr>
            <a:endParaRPr lang="en-GB" sz="1200" dirty="0"/>
          </a:p>
          <a:p>
            <a:pPr marL="285750" indent="-285750">
              <a:spcBef>
                <a:spcPts val="0"/>
              </a:spcBef>
              <a:spcAft>
                <a:spcPts val="0"/>
              </a:spcAft>
              <a:buFont typeface="Arial" panose="020B0604020202020204" pitchFamily="34" charset="0"/>
              <a:buChar char="•"/>
            </a:pPr>
            <a:endParaRPr lang="en-GB" sz="1200" dirty="0"/>
          </a:p>
          <a:p>
            <a:pPr marL="0" indent="0">
              <a:spcBef>
                <a:spcPts val="0"/>
              </a:spcBef>
              <a:spcAft>
                <a:spcPts val="0"/>
              </a:spcAft>
              <a:buFont typeface="Arial" pitchFamily="34" charset="0"/>
              <a:buNone/>
            </a:pPr>
            <a:r>
              <a:rPr lang="en-GB" sz="1200" b="1" dirty="0"/>
              <a:t>Domains vary in which states and sub-states they support, and which they sync with the parent Feature and/or the Delivery.  </a:t>
            </a:r>
          </a:p>
          <a:p>
            <a:pPr>
              <a:spcBef>
                <a:spcPts val="0"/>
              </a:spcBef>
              <a:spcAft>
                <a:spcPts val="0"/>
              </a:spcAft>
            </a:pPr>
            <a:r>
              <a:rPr lang="en-GB" sz="1200" b="1" dirty="0"/>
              <a:t>Release team sync down these States, from Delivery to Function, for CCS Engineering only (Nov 2024):</a:t>
            </a:r>
          </a:p>
          <a:p>
            <a:pPr marL="171450" indent="-171450">
              <a:spcBef>
                <a:spcPts val="0"/>
              </a:spcBef>
              <a:spcAft>
                <a:spcPts val="0"/>
              </a:spcAft>
              <a:buFont typeface="Arial" panose="020B0604020202020204" pitchFamily="34" charset="0"/>
              <a:buChar char="•"/>
            </a:pPr>
            <a:r>
              <a:rPr lang="en-GB" sz="1200" dirty="0"/>
              <a:t>SIT in Progress</a:t>
            </a:r>
          </a:p>
          <a:p>
            <a:pPr marL="171450" indent="-171450">
              <a:spcBef>
                <a:spcPts val="0"/>
              </a:spcBef>
              <a:spcAft>
                <a:spcPts val="0"/>
              </a:spcAft>
              <a:buFont typeface="Arial" panose="020B0604020202020204" pitchFamily="34" charset="0"/>
              <a:buChar char="•"/>
            </a:pPr>
            <a:r>
              <a:rPr lang="en-GB" sz="1200" dirty="0"/>
              <a:t>Ready to Deploy</a:t>
            </a:r>
          </a:p>
          <a:p>
            <a:pPr marL="171450" indent="-171450">
              <a:spcBef>
                <a:spcPts val="0"/>
              </a:spcBef>
              <a:spcAft>
                <a:spcPts val="0"/>
              </a:spcAft>
              <a:buFont typeface="Arial" panose="020B0604020202020204" pitchFamily="34" charset="0"/>
              <a:buChar char="•"/>
            </a:pPr>
            <a:r>
              <a:rPr lang="en-GB" sz="1200" dirty="0"/>
              <a:t>Deployed</a:t>
            </a:r>
          </a:p>
          <a:p>
            <a:pPr>
              <a:spcBef>
                <a:spcPts val="0"/>
              </a:spcBef>
              <a:spcAft>
                <a:spcPts val="0"/>
              </a:spcAft>
            </a:pPr>
            <a:endParaRPr lang="en-GB" sz="1200" dirty="0"/>
          </a:p>
          <a:p>
            <a:pPr marL="0" indent="0">
              <a:spcBef>
                <a:spcPts val="0"/>
              </a:spcBef>
              <a:spcAft>
                <a:spcPts val="0"/>
              </a:spcAft>
              <a:buNone/>
            </a:pPr>
            <a:r>
              <a:rPr lang="en-GB" sz="1200" i="1" dirty="0">
                <a:solidFill>
                  <a:srgbClr val="E60000"/>
                </a:solidFill>
              </a:rPr>
              <a:t>Note: All other States are manually set by their owners</a:t>
            </a:r>
          </a:p>
          <a:p>
            <a:pPr>
              <a:spcAft>
                <a:spcPts val="0"/>
              </a:spcAft>
            </a:pPr>
            <a:endParaRPr lang="en-GB" sz="1050" dirty="0"/>
          </a:p>
        </p:txBody>
      </p:sp>
    </p:spTree>
    <p:extLst>
      <p:ext uri="{BB962C8B-B14F-4D97-AF65-F5344CB8AC3E}">
        <p14:creationId xmlns:p14="http://schemas.microsoft.com/office/powerpoint/2010/main" val="113096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04D1542-70BE-1388-70E1-ED756419F2DE}"/>
              </a:ext>
            </a:extLst>
          </p:cNvPr>
          <p:cNvSpPr>
            <a:spLocks noGrp="1"/>
          </p:cNvSpPr>
          <p:nvPr>
            <p:ph type="ctrTitle"/>
          </p:nvPr>
        </p:nvSpPr>
        <p:spPr/>
        <p:txBody>
          <a:bodyPr/>
          <a:lstStyle/>
          <a:p>
            <a:r>
              <a:rPr lang="en-GB" dirty="0"/>
              <a:t>Features</a:t>
            </a:r>
          </a:p>
        </p:txBody>
      </p:sp>
      <p:sp>
        <p:nvSpPr>
          <p:cNvPr id="4" name="Slide Number Placeholder 3">
            <a:extLst>
              <a:ext uri="{FF2B5EF4-FFF2-40B4-BE49-F238E27FC236}">
                <a16:creationId xmlns:a16="http://schemas.microsoft.com/office/drawing/2014/main" id="{574ED55A-3206-A6AB-16EF-80DBD05EDA14}"/>
              </a:ext>
            </a:extLst>
          </p:cNvPr>
          <p:cNvSpPr>
            <a:spLocks noGrp="1"/>
          </p:cNvSpPr>
          <p:nvPr>
            <p:ph type="sldNum" sz="quarter" idx="11"/>
          </p:nvPr>
        </p:nvSpPr>
        <p:spPr/>
        <p:txBody>
          <a:bodyPr/>
          <a:lstStyle/>
          <a:p>
            <a:fld id="{72A83A2B-3358-44F8-83A0-4598795D8FB5}" type="slidenum">
              <a:rPr lang="en-GB" smtClean="0"/>
              <a:pPr/>
              <a:t>27</a:t>
            </a:fld>
            <a:endParaRPr lang="en-GB"/>
          </a:p>
        </p:txBody>
      </p:sp>
    </p:spTree>
    <p:extLst>
      <p:ext uri="{BB962C8B-B14F-4D97-AF65-F5344CB8AC3E}">
        <p14:creationId xmlns:p14="http://schemas.microsoft.com/office/powerpoint/2010/main" val="2563369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5641229-7803-4393-A880-310E059CA712}"/>
              </a:ext>
            </a:extLst>
          </p:cNvPr>
          <p:cNvSpPr>
            <a:spLocks noGrp="1"/>
          </p:cNvSpPr>
          <p:nvPr>
            <p:ph sz="quarter" idx="13"/>
          </p:nvPr>
        </p:nvSpPr>
        <p:spPr/>
        <p:txBody>
          <a:bodyPr/>
          <a:lstStyle/>
          <a:p>
            <a:r>
              <a:rPr lang="en-GB" sz="1600" b="1" dirty="0"/>
              <a:t>Identify your Features (in P2D) that are targeting a CCS release</a:t>
            </a:r>
          </a:p>
          <a:p>
            <a:pPr lvl="1"/>
            <a:r>
              <a:rPr lang="en-GB" dirty="0"/>
              <a:t>If you do not have Features, work with your solution architect to identify and have these created.</a:t>
            </a:r>
          </a:p>
          <a:p>
            <a:pPr lvl="1"/>
            <a:r>
              <a:rPr lang="en-GB" dirty="0"/>
              <a:t>Ensure the Feature is linked to a parent Epic in P2D.</a:t>
            </a:r>
          </a:p>
          <a:p>
            <a:pPr marL="200025" lvl="1" indent="0">
              <a:buNone/>
            </a:pPr>
            <a:endParaRPr lang="en-GB" dirty="0"/>
          </a:p>
          <a:p>
            <a:endParaRPr lang="en-GB" dirty="0"/>
          </a:p>
          <a:p>
            <a:endParaRPr lang="en-GB" dirty="0"/>
          </a:p>
          <a:p>
            <a:pPr marL="0" indent="0">
              <a:buNone/>
            </a:pPr>
            <a:endParaRPr lang="en-GB" dirty="0"/>
          </a:p>
        </p:txBody>
      </p:sp>
      <p:sp>
        <p:nvSpPr>
          <p:cNvPr id="3" name="Date Placeholder 2">
            <a:extLst>
              <a:ext uri="{FF2B5EF4-FFF2-40B4-BE49-F238E27FC236}">
                <a16:creationId xmlns:a16="http://schemas.microsoft.com/office/drawing/2014/main" id="{A31317F4-29EA-4673-9C4D-023C177A9271}"/>
              </a:ext>
            </a:extLst>
          </p:cNvPr>
          <p:cNvSpPr>
            <a:spLocks noGrp="1"/>
          </p:cNvSpPr>
          <p:nvPr>
            <p:ph type="dt" sz="half" idx="14"/>
          </p:nvPr>
        </p:nvSpPr>
        <p:spPr/>
        <p:txBody>
          <a:bodyPr/>
          <a:lstStyle/>
          <a:p>
            <a:fld id="{307368F5-E43E-7644-B2C0-CD46918E1917}" type="datetime4">
              <a:rPr lang="en-GB" smtClean="0"/>
              <a:t>23 June 2026</a:t>
            </a:fld>
            <a:endParaRPr lang="en-GB"/>
          </a:p>
        </p:txBody>
      </p:sp>
      <p:sp>
        <p:nvSpPr>
          <p:cNvPr id="4" name="Slide Number Placeholder 3">
            <a:extLst>
              <a:ext uri="{FF2B5EF4-FFF2-40B4-BE49-F238E27FC236}">
                <a16:creationId xmlns:a16="http://schemas.microsoft.com/office/drawing/2014/main" id="{603F4F1D-AE1D-4712-AC52-3E20552F0727}"/>
              </a:ext>
            </a:extLst>
          </p:cNvPr>
          <p:cNvSpPr>
            <a:spLocks noGrp="1"/>
          </p:cNvSpPr>
          <p:nvPr>
            <p:ph type="sldNum" sz="quarter" idx="15"/>
          </p:nvPr>
        </p:nvSpPr>
        <p:spPr/>
        <p:txBody>
          <a:bodyPr/>
          <a:lstStyle/>
          <a:p>
            <a:fld id="{72A83A2B-3358-44F8-83A0-4598795D8FB5}" type="slidenum">
              <a:rPr lang="en-GB" smtClean="0"/>
              <a:pPr/>
              <a:t>28</a:t>
            </a:fld>
            <a:endParaRPr lang="en-GB"/>
          </a:p>
        </p:txBody>
      </p:sp>
      <p:sp>
        <p:nvSpPr>
          <p:cNvPr id="2" name="Title 1">
            <a:extLst>
              <a:ext uri="{FF2B5EF4-FFF2-40B4-BE49-F238E27FC236}">
                <a16:creationId xmlns:a16="http://schemas.microsoft.com/office/drawing/2014/main" id="{653AB02D-F149-4BF9-8C99-EE1EC282991D}"/>
              </a:ext>
            </a:extLst>
          </p:cNvPr>
          <p:cNvSpPr>
            <a:spLocks noGrp="1"/>
          </p:cNvSpPr>
          <p:nvPr>
            <p:ph type="title"/>
          </p:nvPr>
        </p:nvSpPr>
        <p:spPr/>
        <p:txBody>
          <a:bodyPr/>
          <a:lstStyle/>
          <a:p>
            <a:r>
              <a:rPr lang="en-GB"/>
              <a:t>How to update the Feature in P2D</a:t>
            </a:r>
          </a:p>
        </p:txBody>
      </p:sp>
      <p:sp>
        <p:nvSpPr>
          <p:cNvPr id="10" name="TextBox 9">
            <a:extLst>
              <a:ext uri="{FF2B5EF4-FFF2-40B4-BE49-F238E27FC236}">
                <a16:creationId xmlns:a16="http://schemas.microsoft.com/office/drawing/2014/main" id="{56C544F1-3312-3ECF-9678-903AA8CBAA33}"/>
              </a:ext>
            </a:extLst>
          </p:cNvPr>
          <p:cNvSpPr txBox="1"/>
          <p:nvPr/>
        </p:nvSpPr>
        <p:spPr>
          <a:xfrm>
            <a:off x="2494483" y="2443277"/>
            <a:ext cx="914400" cy="914400"/>
          </a:xfrm>
          <a:prstGeom prst="rect">
            <a:avLst/>
          </a:prstGeom>
        </p:spPr>
        <p:txBody>
          <a:bodyPr wrap="none" lIns="0" tIns="0" rIns="0" bIns="0" rtlCol="0">
            <a:noAutofit/>
          </a:bodyPr>
          <a:lstStyle/>
          <a:p>
            <a:pPr marL="0" indent="0">
              <a:buFont typeface="Arial" pitchFamily="34" charset="0"/>
              <a:buNone/>
            </a:pPr>
            <a:endParaRPr lang="en-GB">
              <a:latin typeface="Vodafone Rg" pitchFamily="34" charset="0"/>
            </a:endParaRPr>
          </a:p>
        </p:txBody>
      </p:sp>
      <p:grpSp>
        <p:nvGrpSpPr>
          <p:cNvPr id="7" name="Group 6">
            <a:extLst>
              <a:ext uri="{FF2B5EF4-FFF2-40B4-BE49-F238E27FC236}">
                <a16:creationId xmlns:a16="http://schemas.microsoft.com/office/drawing/2014/main" id="{57A219F3-D499-6AFE-57C1-E5E296D5B91E}"/>
              </a:ext>
            </a:extLst>
          </p:cNvPr>
          <p:cNvGrpSpPr/>
          <p:nvPr/>
        </p:nvGrpSpPr>
        <p:grpSpPr>
          <a:xfrm>
            <a:off x="8627580" y="31445"/>
            <a:ext cx="482962" cy="523771"/>
            <a:chOff x="6569557" y="106178"/>
            <a:chExt cx="482962" cy="523771"/>
          </a:xfrm>
        </p:grpSpPr>
        <p:pic>
          <p:nvPicPr>
            <p:cNvPr id="6" name="Picture 5">
              <a:extLst>
                <a:ext uri="{FF2B5EF4-FFF2-40B4-BE49-F238E27FC236}">
                  <a16:creationId xmlns:a16="http://schemas.microsoft.com/office/drawing/2014/main" id="{8DAF88EB-549F-0476-5224-807C5547A51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6626388" y="106178"/>
              <a:ext cx="369301" cy="369301"/>
            </a:xfrm>
            <a:prstGeom prst="rect">
              <a:avLst/>
            </a:prstGeom>
          </p:spPr>
        </p:pic>
        <p:sp>
          <p:nvSpPr>
            <p:cNvPr id="8" name="TextBox 7">
              <a:extLst>
                <a:ext uri="{FF2B5EF4-FFF2-40B4-BE49-F238E27FC236}">
                  <a16:creationId xmlns:a16="http://schemas.microsoft.com/office/drawing/2014/main" id="{FA927FFA-240A-F8C8-54D8-198A010C011D}"/>
                </a:ext>
              </a:extLst>
            </p:cNvPr>
            <p:cNvSpPr txBox="1"/>
            <p:nvPr/>
          </p:nvSpPr>
          <p:spPr>
            <a:xfrm>
              <a:off x="6569557" y="436922"/>
              <a:ext cx="482962" cy="193027"/>
            </a:xfrm>
            <a:prstGeom prst="rect">
              <a:avLst/>
            </a:prstGeom>
            <a:noFill/>
          </p:spPr>
          <p:txBody>
            <a:bodyPr wrap="square" lIns="27000" tIns="27000" rIns="27000" bIns="27000" rtlCol="0">
              <a:spAutoFit/>
            </a:bodyPr>
            <a:lstStyle/>
            <a:p>
              <a:r>
                <a:rPr lang="en-GB" sz="900" b="1" dirty="0"/>
                <a:t>Feature</a:t>
              </a:r>
            </a:p>
          </p:txBody>
        </p:sp>
      </p:grpSp>
      <p:sp>
        <p:nvSpPr>
          <p:cNvPr id="24" name="TextBox 23">
            <a:extLst>
              <a:ext uri="{FF2B5EF4-FFF2-40B4-BE49-F238E27FC236}">
                <a16:creationId xmlns:a16="http://schemas.microsoft.com/office/drawing/2014/main" id="{3FCA28F8-68A7-F9ED-28FB-477040F650B4}"/>
              </a:ext>
            </a:extLst>
          </p:cNvPr>
          <p:cNvSpPr txBox="1"/>
          <p:nvPr/>
        </p:nvSpPr>
        <p:spPr>
          <a:xfrm>
            <a:off x="6923565" y="4126271"/>
            <a:ext cx="1945496" cy="616155"/>
          </a:xfrm>
          <a:prstGeom prst="rect">
            <a:avLst/>
          </a:prstGeom>
          <a:solidFill>
            <a:schemeClr val="accent2">
              <a:lumMod val="20000"/>
              <a:lumOff val="80000"/>
            </a:schemeClr>
          </a:solidFill>
        </p:spPr>
        <p:txBody>
          <a:bodyPr wrap="square" lIns="36000" tIns="36000" rIns="36000" bIns="36000" rtlCol="0" anchor="ctr">
            <a:noAutofit/>
          </a:bodyPr>
          <a:lstStyle/>
          <a:p>
            <a:pPr marL="0" indent="0">
              <a:buFont typeface="Arial" pitchFamily="34" charset="0"/>
              <a:buNone/>
            </a:pPr>
            <a:r>
              <a:rPr lang="en-GB" sz="900" dirty="0">
                <a:latin typeface="Vodafone Rg" pitchFamily="34" charset="0"/>
              </a:rPr>
              <a:t>Select the </a:t>
            </a:r>
            <a:r>
              <a:rPr lang="en-GB" sz="900" b="1" dirty="0">
                <a:latin typeface="Vodafone Rg" pitchFamily="34" charset="0"/>
              </a:rPr>
              <a:t>Target Release </a:t>
            </a:r>
            <a:r>
              <a:rPr lang="en-GB" sz="900" dirty="0">
                <a:latin typeface="Vodafone Rg" pitchFamily="34" charset="0"/>
              </a:rPr>
              <a:t>for this feature</a:t>
            </a:r>
            <a:br>
              <a:rPr lang="en-GB" sz="900" dirty="0">
                <a:latin typeface="Vodafone Rg" pitchFamily="34" charset="0"/>
              </a:rPr>
            </a:br>
            <a:endParaRPr lang="en-GB" sz="900" dirty="0">
              <a:latin typeface="Vodafone Rg" pitchFamily="34" charset="0"/>
            </a:endParaRPr>
          </a:p>
          <a:p>
            <a:pPr marL="0" indent="0">
              <a:buFont typeface="Arial" pitchFamily="34" charset="0"/>
              <a:buNone/>
            </a:pPr>
            <a:r>
              <a:rPr lang="en-GB" sz="900" i="1" dirty="0">
                <a:latin typeface="Vodafone Rg" pitchFamily="34" charset="0"/>
              </a:rPr>
              <a:t>Where a Feature spans releases, this must be the final Go-Live release.</a:t>
            </a:r>
          </a:p>
        </p:txBody>
      </p:sp>
      <p:sp>
        <p:nvSpPr>
          <p:cNvPr id="25" name="TextBox 24">
            <a:extLst>
              <a:ext uri="{FF2B5EF4-FFF2-40B4-BE49-F238E27FC236}">
                <a16:creationId xmlns:a16="http://schemas.microsoft.com/office/drawing/2014/main" id="{764F47AF-1E8A-15A5-36BE-0823FB989724}"/>
              </a:ext>
            </a:extLst>
          </p:cNvPr>
          <p:cNvSpPr txBox="1"/>
          <p:nvPr/>
        </p:nvSpPr>
        <p:spPr>
          <a:xfrm>
            <a:off x="6923565" y="2274380"/>
            <a:ext cx="1704015" cy="343814"/>
          </a:xfrm>
          <a:prstGeom prst="rect">
            <a:avLst/>
          </a:prstGeom>
          <a:solidFill>
            <a:schemeClr val="accent2">
              <a:lumMod val="20000"/>
              <a:lumOff val="80000"/>
            </a:schemeClr>
          </a:solidFill>
        </p:spPr>
        <p:txBody>
          <a:bodyPr wrap="square" lIns="36000" tIns="36000" rIns="36000" bIns="36000" rtlCol="0" anchor="ctr">
            <a:noAutofit/>
          </a:bodyPr>
          <a:lstStyle/>
          <a:p>
            <a:pPr marL="0" indent="0">
              <a:buFont typeface="Arial" pitchFamily="34" charset="0"/>
              <a:buNone/>
            </a:pPr>
            <a:r>
              <a:rPr lang="en-GB" sz="900" dirty="0">
                <a:latin typeface="Vodafone Rg" pitchFamily="34" charset="0"/>
              </a:rPr>
              <a:t>Update the </a:t>
            </a:r>
            <a:r>
              <a:rPr lang="en-GB" sz="900" b="1" dirty="0">
                <a:latin typeface="Vodafone Rg" pitchFamily="34" charset="0"/>
              </a:rPr>
              <a:t>Delivery Manager </a:t>
            </a:r>
            <a:r>
              <a:rPr lang="en-GB" sz="900" dirty="0">
                <a:latin typeface="Vodafone Rg" pitchFamily="34" charset="0"/>
              </a:rPr>
              <a:t>for this feature</a:t>
            </a:r>
          </a:p>
        </p:txBody>
      </p:sp>
      <p:sp>
        <p:nvSpPr>
          <p:cNvPr id="26" name="TextBox 25">
            <a:extLst>
              <a:ext uri="{FF2B5EF4-FFF2-40B4-BE49-F238E27FC236}">
                <a16:creationId xmlns:a16="http://schemas.microsoft.com/office/drawing/2014/main" id="{CB5E33EE-BA88-1CCF-F112-B18D1CAF4F03}"/>
              </a:ext>
            </a:extLst>
          </p:cNvPr>
          <p:cNvSpPr txBox="1"/>
          <p:nvPr/>
        </p:nvSpPr>
        <p:spPr>
          <a:xfrm>
            <a:off x="241328" y="1945108"/>
            <a:ext cx="1438942" cy="1125833"/>
          </a:xfrm>
          <a:prstGeom prst="rect">
            <a:avLst/>
          </a:prstGeom>
          <a:solidFill>
            <a:schemeClr val="accent2">
              <a:lumMod val="20000"/>
              <a:lumOff val="80000"/>
            </a:schemeClr>
          </a:solidFill>
        </p:spPr>
        <p:txBody>
          <a:bodyPr wrap="square" lIns="36000" tIns="36000" rIns="36000" bIns="36000" rtlCol="0" anchor="ctr">
            <a:noAutofit/>
          </a:bodyPr>
          <a:lstStyle/>
          <a:p>
            <a:pPr marL="0" indent="0">
              <a:buFont typeface="Arial" pitchFamily="34" charset="0"/>
              <a:buNone/>
            </a:pPr>
            <a:r>
              <a:rPr lang="en-GB" sz="900" dirty="0">
                <a:latin typeface="Vodafone Rg" pitchFamily="34" charset="0"/>
              </a:rPr>
              <a:t>Review and update the </a:t>
            </a:r>
            <a:r>
              <a:rPr lang="en-GB" sz="900" b="1" dirty="0">
                <a:latin typeface="Vodafone Rg" pitchFamily="34" charset="0"/>
              </a:rPr>
              <a:t>Description</a:t>
            </a:r>
            <a:r>
              <a:rPr lang="en-GB" sz="900" dirty="0">
                <a:latin typeface="Vodafone Rg" pitchFamily="34" charset="0"/>
              </a:rPr>
              <a:t> and </a:t>
            </a:r>
            <a:r>
              <a:rPr lang="en-GB" sz="900" b="1" dirty="0">
                <a:latin typeface="Vodafone Rg" pitchFamily="34" charset="0"/>
              </a:rPr>
              <a:t>Business Acceptance Criteria</a:t>
            </a:r>
            <a:r>
              <a:rPr lang="en-GB" sz="900" dirty="0">
                <a:latin typeface="Vodafone Rg" pitchFamily="34" charset="0"/>
              </a:rPr>
              <a:t> for the feature.</a:t>
            </a:r>
          </a:p>
          <a:p>
            <a:pPr marL="0" indent="0">
              <a:buFont typeface="Arial" pitchFamily="34" charset="0"/>
              <a:buNone/>
            </a:pPr>
            <a:endParaRPr lang="en-GB" sz="900" dirty="0">
              <a:latin typeface="Vodafone Rg" pitchFamily="34" charset="0"/>
            </a:endParaRPr>
          </a:p>
          <a:p>
            <a:pPr marL="0" indent="0">
              <a:buFont typeface="Arial" pitchFamily="34" charset="0"/>
              <a:buNone/>
            </a:pPr>
            <a:r>
              <a:rPr lang="en-GB" sz="900" dirty="0">
                <a:latin typeface="Vodafone Rg" pitchFamily="34" charset="0"/>
              </a:rPr>
              <a:t>Then Review and Update the </a:t>
            </a:r>
            <a:r>
              <a:rPr lang="en-GB" sz="900" b="1" dirty="0">
                <a:latin typeface="Vodafone Rg" pitchFamily="34" charset="0"/>
              </a:rPr>
              <a:t>Planning</a:t>
            </a:r>
            <a:r>
              <a:rPr lang="en-GB" sz="900" dirty="0">
                <a:latin typeface="Vodafone Rg" pitchFamily="34" charset="0"/>
              </a:rPr>
              <a:t> Fields</a:t>
            </a:r>
          </a:p>
        </p:txBody>
      </p:sp>
      <p:pic>
        <p:nvPicPr>
          <p:cNvPr id="17" name="Picture 16">
            <a:extLst>
              <a:ext uri="{FF2B5EF4-FFF2-40B4-BE49-F238E27FC236}">
                <a16:creationId xmlns:a16="http://schemas.microsoft.com/office/drawing/2014/main" id="{C5A0AF8A-6376-173C-34BB-6EB6DD253991}"/>
              </a:ext>
            </a:extLst>
          </p:cNvPr>
          <p:cNvPicPr>
            <a:picLocks noChangeAspect="1"/>
          </p:cNvPicPr>
          <p:nvPr/>
        </p:nvPicPr>
        <p:blipFill>
          <a:blip r:embed="rId5"/>
          <a:stretch>
            <a:fillRect/>
          </a:stretch>
        </p:blipFill>
        <p:spPr>
          <a:xfrm>
            <a:off x="1986174" y="1519958"/>
            <a:ext cx="4764024" cy="3480816"/>
          </a:xfrm>
          <a:prstGeom prst="rect">
            <a:avLst/>
          </a:prstGeom>
        </p:spPr>
      </p:pic>
      <p:cxnSp>
        <p:nvCxnSpPr>
          <p:cNvPr id="28" name="Straight Arrow Connector 27">
            <a:extLst>
              <a:ext uri="{FF2B5EF4-FFF2-40B4-BE49-F238E27FC236}">
                <a16:creationId xmlns:a16="http://schemas.microsoft.com/office/drawing/2014/main" id="{BF2A576E-FD1A-DBC6-E188-D315BCA8D19E}"/>
              </a:ext>
            </a:extLst>
          </p:cNvPr>
          <p:cNvCxnSpPr>
            <a:cxnSpLocks/>
            <a:stCxn id="25" idx="2"/>
          </p:cNvCxnSpPr>
          <p:nvPr/>
        </p:nvCxnSpPr>
        <p:spPr>
          <a:xfrm flipH="1">
            <a:off x="6417945" y="2618194"/>
            <a:ext cx="1357628" cy="553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52DE32A-5213-C530-8BFD-24E609D6ED69}"/>
              </a:ext>
            </a:extLst>
          </p:cNvPr>
          <p:cNvCxnSpPr>
            <a:cxnSpLocks/>
          </p:cNvCxnSpPr>
          <p:nvPr/>
        </p:nvCxnSpPr>
        <p:spPr>
          <a:xfrm flipH="1">
            <a:off x="4778705" y="4385507"/>
            <a:ext cx="1971772" cy="198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F17541C-7FB6-D3AD-EA0F-455D57890A49}"/>
              </a:ext>
            </a:extLst>
          </p:cNvPr>
          <p:cNvCxnSpPr>
            <a:cxnSpLocks/>
            <a:stCxn id="26" idx="2"/>
            <a:endCxn id="17" idx="1"/>
          </p:cNvCxnSpPr>
          <p:nvPr/>
        </p:nvCxnSpPr>
        <p:spPr>
          <a:xfrm>
            <a:off x="960799" y="3070941"/>
            <a:ext cx="1025375" cy="1894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503CA15-BF7E-DA60-46EA-D59DEC8F8406}"/>
              </a:ext>
            </a:extLst>
          </p:cNvPr>
          <p:cNvCxnSpPr>
            <a:cxnSpLocks/>
            <a:stCxn id="26" idx="2"/>
          </p:cNvCxnSpPr>
          <p:nvPr/>
        </p:nvCxnSpPr>
        <p:spPr>
          <a:xfrm flipV="1">
            <a:off x="960799" y="2636351"/>
            <a:ext cx="1019978" cy="4345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24776AD9-31CB-EA0E-EADE-243D7CE86521}"/>
              </a:ext>
            </a:extLst>
          </p:cNvPr>
          <p:cNvSpPr/>
          <p:nvPr/>
        </p:nvSpPr>
        <p:spPr>
          <a:xfrm>
            <a:off x="4362678" y="2403649"/>
            <a:ext cx="1130277" cy="1834631"/>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cxnSp>
        <p:nvCxnSpPr>
          <p:cNvPr id="43" name="Straight Arrow Connector 42">
            <a:extLst>
              <a:ext uri="{FF2B5EF4-FFF2-40B4-BE49-F238E27FC236}">
                <a16:creationId xmlns:a16="http://schemas.microsoft.com/office/drawing/2014/main" id="{759199F9-03DC-C483-BD69-561919D01E96}"/>
              </a:ext>
            </a:extLst>
          </p:cNvPr>
          <p:cNvCxnSpPr>
            <a:cxnSpLocks/>
            <a:stCxn id="26" idx="2"/>
          </p:cNvCxnSpPr>
          <p:nvPr/>
        </p:nvCxnSpPr>
        <p:spPr>
          <a:xfrm flipV="1">
            <a:off x="960799" y="2729390"/>
            <a:ext cx="3409309" cy="341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6626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5641229-7803-4393-A880-310E059CA712}"/>
              </a:ext>
            </a:extLst>
          </p:cNvPr>
          <p:cNvSpPr>
            <a:spLocks noGrp="1"/>
          </p:cNvSpPr>
          <p:nvPr>
            <p:ph sz="quarter" idx="13"/>
          </p:nvPr>
        </p:nvSpPr>
        <p:spPr/>
        <p:txBody>
          <a:bodyPr/>
          <a:lstStyle/>
          <a:p>
            <a:pPr algn="l" rtl="0" fontAlgn="base">
              <a:buFont typeface="+mj-lt"/>
              <a:buAutoNum type="arabicPeriod"/>
            </a:pPr>
            <a:r>
              <a:rPr lang="en-GB" sz="1000" b="0" i="0" u="none" strike="noStrike" dirty="0">
                <a:solidFill>
                  <a:srgbClr val="000000"/>
                </a:solidFill>
                <a:effectLst/>
                <a:latin typeface="+mn-lt"/>
              </a:rPr>
              <a:t>Move the Feature from the P2D ADO to the RM ADO, via the ‘Move to Release Management ADO Project’ button on the P2D Feature form</a:t>
            </a:r>
            <a:r>
              <a:rPr lang="en-GB" sz="1000" b="0" i="0" dirty="0">
                <a:solidFill>
                  <a:srgbClr val="000000"/>
                </a:solidFill>
                <a:effectLst/>
                <a:latin typeface="+mn-lt"/>
              </a:rPr>
              <a:t>​</a:t>
            </a:r>
          </a:p>
          <a:p>
            <a:pPr algn="l" rtl="0" fontAlgn="base">
              <a:buFont typeface="+mj-lt"/>
              <a:buAutoNum type="arabicPeriod"/>
            </a:pPr>
            <a:r>
              <a:rPr lang="en-GB" sz="1000" b="0" i="0" u="none" strike="noStrike" dirty="0">
                <a:solidFill>
                  <a:srgbClr val="000000"/>
                </a:solidFill>
                <a:effectLst/>
                <a:latin typeface="+mn-lt"/>
              </a:rPr>
              <a:t>Save and after </a:t>
            </a:r>
            <a:r>
              <a:rPr lang="en-GB" sz="1000" b="0" i="0" u="none" strike="noStrike" dirty="0" err="1">
                <a:solidFill>
                  <a:srgbClr val="000000"/>
                </a:solidFill>
                <a:effectLst/>
                <a:latin typeface="+mn-lt"/>
              </a:rPr>
              <a:t>approx</a:t>
            </a:r>
            <a:r>
              <a:rPr lang="en-GB" sz="1000" b="0" i="0" u="none" strike="noStrike" dirty="0">
                <a:solidFill>
                  <a:srgbClr val="000000"/>
                </a:solidFill>
                <a:effectLst/>
                <a:latin typeface="+mn-lt"/>
              </a:rPr>
              <a:t> 5 mins when the area path changes, update the Feature’s State &amp; E2E HLD fields</a:t>
            </a:r>
            <a:r>
              <a:rPr lang="en-US" sz="1000" b="0" i="0" dirty="0">
                <a:solidFill>
                  <a:srgbClr val="000000"/>
                </a:solidFill>
                <a:effectLst/>
                <a:latin typeface="+mn-lt"/>
              </a:rPr>
              <a:t>​ (Next Slide)</a:t>
            </a:r>
          </a:p>
          <a:p>
            <a:pPr algn="l" rtl="0" fontAlgn="base">
              <a:buFont typeface="+mj-lt"/>
              <a:buAutoNum type="arabicPeriod"/>
            </a:pPr>
            <a:r>
              <a:rPr lang="en-US" sz="1000" u="none" strike="noStrike" dirty="0">
                <a:solidFill>
                  <a:srgbClr val="000000"/>
                </a:solidFill>
                <a:latin typeface="+mn-lt"/>
              </a:rPr>
              <a:t>T</a:t>
            </a:r>
            <a:r>
              <a:rPr lang="en-GB" sz="1000" b="0" u="none" strike="noStrike" dirty="0">
                <a:solidFill>
                  <a:srgbClr val="000000"/>
                </a:solidFill>
                <a:effectLst/>
                <a:latin typeface="+mn-lt"/>
              </a:rPr>
              <a:t>o be sure you’re looking at the RM ADO instance of a Feature, which is different, click the Feature Number (Top Left) and check that the URL </a:t>
            </a:r>
            <a:r>
              <a:rPr lang="en-GB" sz="1000" dirty="0">
                <a:solidFill>
                  <a:srgbClr val="000000"/>
                </a:solidFill>
                <a:latin typeface="+mn-lt"/>
              </a:rPr>
              <a:t>Changes to </a:t>
            </a:r>
            <a:br>
              <a:rPr lang="en-GB" sz="1000" dirty="0">
                <a:solidFill>
                  <a:srgbClr val="000000"/>
                </a:solidFill>
                <a:latin typeface="+mn-lt"/>
              </a:rPr>
            </a:br>
            <a:r>
              <a:rPr lang="en-GB" sz="1000" dirty="0">
                <a:solidFill>
                  <a:srgbClr val="000000"/>
                </a:solidFill>
                <a:latin typeface="+mn-lt"/>
                <a:hlinkClick r:id="rId3"/>
              </a:rPr>
              <a:t>https://dev.azure.com/vfuk-digital/VF%20UK%20IT%20-%20Release%20Management</a:t>
            </a:r>
            <a:endParaRPr lang="en-GB" dirty="0"/>
          </a:p>
        </p:txBody>
      </p:sp>
      <p:sp>
        <p:nvSpPr>
          <p:cNvPr id="3" name="Date Placeholder 2">
            <a:extLst>
              <a:ext uri="{FF2B5EF4-FFF2-40B4-BE49-F238E27FC236}">
                <a16:creationId xmlns:a16="http://schemas.microsoft.com/office/drawing/2014/main" id="{A31317F4-29EA-4673-9C4D-023C177A9271}"/>
              </a:ext>
            </a:extLst>
          </p:cNvPr>
          <p:cNvSpPr>
            <a:spLocks noGrp="1"/>
          </p:cNvSpPr>
          <p:nvPr>
            <p:ph type="dt" sz="half" idx="14"/>
          </p:nvPr>
        </p:nvSpPr>
        <p:spPr/>
        <p:txBody>
          <a:bodyPr/>
          <a:lstStyle/>
          <a:p>
            <a:fld id="{307368F5-E43E-7644-B2C0-CD46918E1917}" type="datetime4">
              <a:rPr lang="en-GB" smtClean="0"/>
              <a:t>23 June 2026</a:t>
            </a:fld>
            <a:endParaRPr lang="en-GB"/>
          </a:p>
        </p:txBody>
      </p:sp>
      <p:sp>
        <p:nvSpPr>
          <p:cNvPr id="4" name="Slide Number Placeholder 3">
            <a:extLst>
              <a:ext uri="{FF2B5EF4-FFF2-40B4-BE49-F238E27FC236}">
                <a16:creationId xmlns:a16="http://schemas.microsoft.com/office/drawing/2014/main" id="{603F4F1D-AE1D-4712-AC52-3E20552F0727}"/>
              </a:ext>
            </a:extLst>
          </p:cNvPr>
          <p:cNvSpPr>
            <a:spLocks noGrp="1"/>
          </p:cNvSpPr>
          <p:nvPr>
            <p:ph type="sldNum" sz="quarter" idx="15"/>
          </p:nvPr>
        </p:nvSpPr>
        <p:spPr/>
        <p:txBody>
          <a:bodyPr/>
          <a:lstStyle/>
          <a:p>
            <a:fld id="{72A83A2B-3358-44F8-83A0-4598795D8FB5}" type="slidenum">
              <a:rPr lang="en-GB" smtClean="0"/>
              <a:pPr/>
              <a:t>29</a:t>
            </a:fld>
            <a:endParaRPr lang="en-GB"/>
          </a:p>
        </p:txBody>
      </p:sp>
      <p:sp>
        <p:nvSpPr>
          <p:cNvPr id="2" name="Title 1">
            <a:extLst>
              <a:ext uri="{FF2B5EF4-FFF2-40B4-BE49-F238E27FC236}">
                <a16:creationId xmlns:a16="http://schemas.microsoft.com/office/drawing/2014/main" id="{653AB02D-F149-4BF9-8C99-EE1EC282991D}"/>
              </a:ext>
            </a:extLst>
          </p:cNvPr>
          <p:cNvSpPr>
            <a:spLocks noGrp="1"/>
          </p:cNvSpPr>
          <p:nvPr>
            <p:ph type="title"/>
          </p:nvPr>
        </p:nvSpPr>
        <p:spPr/>
        <p:txBody>
          <a:bodyPr/>
          <a:lstStyle/>
          <a:p>
            <a:r>
              <a:rPr lang="en-GB" dirty="0"/>
              <a:t>How to Move a Feature from P2D to RM ADO</a:t>
            </a:r>
          </a:p>
        </p:txBody>
      </p:sp>
      <p:sp>
        <p:nvSpPr>
          <p:cNvPr id="10" name="TextBox 9">
            <a:extLst>
              <a:ext uri="{FF2B5EF4-FFF2-40B4-BE49-F238E27FC236}">
                <a16:creationId xmlns:a16="http://schemas.microsoft.com/office/drawing/2014/main" id="{56C544F1-3312-3ECF-9678-903AA8CBAA33}"/>
              </a:ext>
            </a:extLst>
          </p:cNvPr>
          <p:cNvSpPr txBox="1"/>
          <p:nvPr/>
        </p:nvSpPr>
        <p:spPr>
          <a:xfrm>
            <a:off x="2494483" y="1900352"/>
            <a:ext cx="914400" cy="914400"/>
          </a:xfrm>
          <a:prstGeom prst="rect">
            <a:avLst/>
          </a:prstGeom>
        </p:spPr>
        <p:txBody>
          <a:bodyPr wrap="none" lIns="0" tIns="0" rIns="0" bIns="0" rtlCol="0">
            <a:noAutofit/>
          </a:bodyPr>
          <a:lstStyle/>
          <a:p>
            <a:pPr marL="0" indent="0">
              <a:buFont typeface="Arial" pitchFamily="34" charset="0"/>
              <a:buNone/>
            </a:pPr>
            <a:endParaRPr lang="en-GB">
              <a:latin typeface="Vodafone Rg" pitchFamily="34" charset="0"/>
            </a:endParaRPr>
          </a:p>
        </p:txBody>
      </p:sp>
      <p:sp>
        <p:nvSpPr>
          <p:cNvPr id="23" name="TextBox 22">
            <a:extLst>
              <a:ext uri="{FF2B5EF4-FFF2-40B4-BE49-F238E27FC236}">
                <a16:creationId xmlns:a16="http://schemas.microsoft.com/office/drawing/2014/main" id="{32E3D106-C2C2-80EC-3BF1-676D08560070}"/>
              </a:ext>
            </a:extLst>
          </p:cNvPr>
          <p:cNvSpPr txBox="1"/>
          <p:nvPr/>
        </p:nvSpPr>
        <p:spPr>
          <a:xfrm>
            <a:off x="7059561" y="3461463"/>
            <a:ext cx="1752669" cy="523799"/>
          </a:xfrm>
          <a:prstGeom prst="rect">
            <a:avLst/>
          </a:prstGeom>
          <a:solidFill>
            <a:schemeClr val="accent2">
              <a:lumMod val="20000"/>
              <a:lumOff val="80000"/>
            </a:schemeClr>
          </a:solidFill>
        </p:spPr>
        <p:txBody>
          <a:bodyPr wrap="square" lIns="36000" tIns="36000" rIns="36000" bIns="36000" rtlCol="0" anchor="ctr">
            <a:noAutofit/>
          </a:bodyPr>
          <a:lstStyle/>
          <a:p>
            <a:pPr marL="0" indent="0">
              <a:buFont typeface="Arial" pitchFamily="34" charset="0"/>
              <a:buNone/>
            </a:pPr>
            <a:r>
              <a:rPr lang="en-GB" sz="900" dirty="0">
                <a:latin typeface="Vodafone Rg" pitchFamily="34" charset="0"/>
              </a:rPr>
              <a:t>Set the Toggle to True and Save, to move the feature from Plan to Deliver to RM ADO.</a:t>
            </a:r>
          </a:p>
        </p:txBody>
      </p:sp>
      <p:grpSp>
        <p:nvGrpSpPr>
          <p:cNvPr id="7" name="Group 6">
            <a:extLst>
              <a:ext uri="{FF2B5EF4-FFF2-40B4-BE49-F238E27FC236}">
                <a16:creationId xmlns:a16="http://schemas.microsoft.com/office/drawing/2014/main" id="{493F0087-EA2A-5C12-AA61-6133274815C6}"/>
              </a:ext>
            </a:extLst>
          </p:cNvPr>
          <p:cNvGrpSpPr/>
          <p:nvPr/>
        </p:nvGrpSpPr>
        <p:grpSpPr>
          <a:xfrm>
            <a:off x="8627580" y="31445"/>
            <a:ext cx="482962" cy="523771"/>
            <a:chOff x="6569557" y="106178"/>
            <a:chExt cx="482962" cy="523771"/>
          </a:xfrm>
        </p:grpSpPr>
        <p:pic>
          <p:nvPicPr>
            <p:cNvPr id="9" name="Picture 8">
              <a:extLst>
                <a:ext uri="{FF2B5EF4-FFF2-40B4-BE49-F238E27FC236}">
                  <a16:creationId xmlns:a16="http://schemas.microsoft.com/office/drawing/2014/main" id="{D549D38E-E8E1-0C8B-3F74-0282128EF6D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6626388" y="106178"/>
              <a:ext cx="369301" cy="369301"/>
            </a:xfrm>
            <a:prstGeom prst="rect">
              <a:avLst/>
            </a:prstGeom>
          </p:spPr>
        </p:pic>
        <p:sp>
          <p:nvSpPr>
            <p:cNvPr id="11" name="TextBox 10">
              <a:extLst>
                <a:ext uri="{FF2B5EF4-FFF2-40B4-BE49-F238E27FC236}">
                  <a16:creationId xmlns:a16="http://schemas.microsoft.com/office/drawing/2014/main" id="{C3A93583-8A21-2E15-715F-FAC4C713801F}"/>
                </a:ext>
              </a:extLst>
            </p:cNvPr>
            <p:cNvSpPr txBox="1"/>
            <p:nvPr/>
          </p:nvSpPr>
          <p:spPr>
            <a:xfrm>
              <a:off x="6569557" y="436922"/>
              <a:ext cx="482962" cy="193027"/>
            </a:xfrm>
            <a:prstGeom prst="rect">
              <a:avLst/>
            </a:prstGeom>
            <a:noFill/>
          </p:spPr>
          <p:txBody>
            <a:bodyPr wrap="square" lIns="27000" tIns="27000" rIns="27000" bIns="27000" rtlCol="0">
              <a:spAutoFit/>
            </a:bodyPr>
            <a:lstStyle/>
            <a:p>
              <a:r>
                <a:rPr lang="en-GB" sz="900" b="1" dirty="0"/>
                <a:t>Feature</a:t>
              </a:r>
            </a:p>
          </p:txBody>
        </p:sp>
      </p:grpSp>
      <p:pic>
        <p:nvPicPr>
          <p:cNvPr id="26" name="Picture 25">
            <a:extLst>
              <a:ext uri="{FF2B5EF4-FFF2-40B4-BE49-F238E27FC236}">
                <a16:creationId xmlns:a16="http://schemas.microsoft.com/office/drawing/2014/main" id="{1B1DC23F-4098-BBE5-8B16-085002179EAF}"/>
              </a:ext>
            </a:extLst>
          </p:cNvPr>
          <p:cNvPicPr>
            <a:picLocks noChangeAspect="1"/>
          </p:cNvPicPr>
          <p:nvPr/>
        </p:nvPicPr>
        <p:blipFill>
          <a:blip r:embed="rId6"/>
          <a:stretch>
            <a:fillRect/>
          </a:stretch>
        </p:blipFill>
        <p:spPr>
          <a:xfrm>
            <a:off x="1765009" y="1448639"/>
            <a:ext cx="4956430" cy="3622861"/>
          </a:xfrm>
          <a:prstGeom prst="rect">
            <a:avLst/>
          </a:prstGeom>
        </p:spPr>
      </p:pic>
      <p:cxnSp>
        <p:nvCxnSpPr>
          <p:cNvPr id="17" name="Straight Arrow Connector 16">
            <a:extLst>
              <a:ext uri="{FF2B5EF4-FFF2-40B4-BE49-F238E27FC236}">
                <a16:creationId xmlns:a16="http://schemas.microsoft.com/office/drawing/2014/main" id="{B4A623CF-68DA-DCA0-8DEE-7DF04486B8A0}"/>
              </a:ext>
            </a:extLst>
          </p:cNvPr>
          <p:cNvCxnSpPr>
            <a:cxnSpLocks/>
          </p:cNvCxnSpPr>
          <p:nvPr/>
        </p:nvCxnSpPr>
        <p:spPr>
          <a:xfrm flipH="1">
            <a:off x="2452029" y="1379794"/>
            <a:ext cx="1559532" cy="112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2A9F3F5-03D8-7467-4C20-9EE363512236}"/>
              </a:ext>
            </a:extLst>
          </p:cNvPr>
          <p:cNvCxnSpPr>
            <a:cxnSpLocks/>
            <a:stCxn id="23" idx="1"/>
          </p:cNvCxnSpPr>
          <p:nvPr/>
        </p:nvCxnSpPr>
        <p:spPr>
          <a:xfrm flipH="1">
            <a:off x="4736098" y="3723363"/>
            <a:ext cx="2323463" cy="1238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09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5641229-7803-4393-A880-310E059CA712}"/>
              </a:ext>
            </a:extLst>
          </p:cNvPr>
          <p:cNvSpPr>
            <a:spLocks noGrp="1"/>
          </p:cNvSpPr>
          <p:nvPr>
            <p:ph sz="quarter" idx="13"/>
          </p:nvPr>
        </p:nvSpPr>
        <p:spPr>
          <a:xfrm>
            <a:off x="180000" y="540000"/>
            <a:ext cx="8784000" cy="932539"/>
          </a:xfrm>
        </p:spPr>
        <p:txBody>
          <a:bodyPr/>
          <a:lstStyle/>
          <a:p>
            <a:pPr marL="0" indent="0">
              <a:buNone/>
            </a:pPr>
            <a:r>
              <a:rPr lang="en-GB" sz="1600" b="1" dirty="0"/>
              <a:t>These key fields are critical for RM and other stakeholders to assess your Feature and work with it</a:t>
            </a:r>
          </a:p>
          <a:p>
            <a:r>
              <a:rPr lang="en-GB" sz="1400" dirty="0">
                <a:solidFill>
                  <a:srgbClr val="FF0000"/>
                </a:solidFill>
              </a:rPr>
              <a:t>Where these fields are not completed, your feature is likely to be </a:t>
            </a:r>
            <a:r>
              <a:rPr lang="en-GB" sz="1400" dirty="0" err="1">
                <a:solidFill>
                  <a:srgbClr val="FF0000"/>
                </a:solidFill>
              </a:rPr>
              <a:t>RAG’d</a:t>
            </a:r>
            <a:r>
              <a:rPr lang="en-GB" sz="1400" dirty="0">
                <a:solidFill>
                  <a:srgbClr val="FF0000"/>
                </a:solidFill>
              </a:rPr>
              <a:t> Red at CP0 and moved out of the release</a:t>
            </a:r>
          </a:p>
          <a:p>
            <a:r>
              <a:rPr lang="en-GB" sz="1400" dirty="0">
                <a:solidFill>
                  <a:srgbClr val="FF0000"/>
                </a:solidFill>
              </a:rPr>
              <a:t>As E2E HLDs are C3 which is not allowed in ADO, only provide links, do not attach E2E HLDs</a:t>
            </a:r>
          </a:p>
          <a:p>
            <a:pPr marL="0" indent="0">
              <a:buNone/>
            </a:pPr>
            <a:endParaRPr lang="en-GB" sz="1400" dirty="0">
              <a:solidFill>
                <a:srgbClr val="FF0000"/>
              </a:solidFill>
            </a:endParaRPr>
          </a:p>
          <a:p>
            <a:pPr marL="0" indent="0">
              <a:buNone/>
            </a:pPr>
            <a:endParaRPr lang="en-GB" sz="1400" dirty="0"/>
          </a:p>
          <a:p>
            <a:pPr marL="0" indent="0">
              <a:buNone/>
            </a:pPr>
            <a:endParaRPr lang="en-GB" sz="1400" dirty="0"/>
          </a:p>
          <a:p>
            <a:pPr marL="0" indent="0">
              <a:buNone/>
            </a:pPr>
            <a:endParaRPr lang="en-GB" sz="1400" i="1" dirty="0"/>
          </a:p>
          <a:p>
            <a:pPr marL="0" indent="0">
              <a:buNone/>
            </a:pPr>
            <a:endParaRPr lang="en-GB" sz="1400" dirty="0"/>
          </a:p>
          <a:p>
            <a:pPr marL="0" indent="0">
              <a:buNone/>
            </a:pPr>
            <a:endParaRPr lang="en-GB" sz="1400" dirty="0"/>
          </a:p>
          <a:p>
            <a:pPr marL="0" indent="0">
              <a:buNone/>
            </a:pPr>
            <a:endParaRPr lang="en-GB" sz="1400" dirty="0"/>
          </a:p>
          <a:p>
            <a:pPr marL="0" indent="0">
              <a:buNone/>
            </a:pPr>
            <a:endParaRPr lang="en-GB" sz="1400" dirty="0"/>
          </a:p>
          <a:p>
            <a:pPr marL="0" indent="0">
              <a:buNone/>
            </a:pPr>
            <a:endParaRPr lang="en-GB" sz="1400" dirty="0"/>
          </a:p>
          <a:p>
            <a:pPr marL="0" indent="0">
              <a:buNone/>
            </a:pPr>
            <a:endParaRPr lang="en-GB" sz="1400" dirty="0"/>
          </a:p>
          <a:p>
            <a:pPr marL="0" indent="0">
              <a:buNone/>
            </a:pPr>
            <a:endParaRPr lang="en-GB" sz="1400" dirty="0"/>
          </a:p>
          <a:p>
            <a:pPr marL="0" indent="0">
              <a:buNone/>
            </a:pPr>
            <a:endParaRPr lang="en-GB" sz="1400" dirty="0"/>
          </a:p>
          <a:p>
            <a:pPr marL="0" indent="0">
              <a:buNone/>
            </a:pPr>
            <a:endParaRPr lang="en-GB" sz="1400" dirty="0"/>
          </a:p>
          <a:p>
            <a:pPr marL="0" indent="0">
              <a:buNone/>
            </a:pPr>
            <a:endParaRPr lang="en-GB" sz="1400" dirty="0"/>
          </a:p>
          <a:p>
            <a:endParaRPr lang="en-GB" sz="1400" dirty="0"/>
          </a:p>
          <a:p>
            <a:endParaRPr lang="en-GB" sz="1400" dirty="0"/>
          </a:p>
          <a:p>
            <a:endParaRPr lang="en-GB" sz="1400" dirty="0"/>
          </a:p>
          <a:p>
            <a:pPr lvl="1"/>
            <a:endParaRPr lang="en-GB" dirty="0"/>
          </a:p>
          <a:p>
            <a:pPr lvl="1"/>
            <a:endParaRPr lang="en-GB" dirty="0"/>
          </a:p>
          <a:p>
            <a:endParaRPr lang="en-GB" dirty="0"/>
          </a:p>
        </p:txBody>
      </p:sp>
      <p:sp>
        <p:nvSpPr>
          <p:cNvPr id="2" name="Title 1">
            <a:extLst>
              <a:ext uri="{FF2B5EF4-FFF2-40B4-BE49-F238E27FC236}">
                <a16:creationId xmlns:a16="http://schemas.microsoft.com/office/drawing/2014/main" id="{653AB02D-F149-4BF9-8C99-EE1EC282991D}"/>
              </a:ext>
            </a:extLst>
          </p:cNvPr>
          <p:cNvSpPr>
            <a:spLocks noGrp="1"/>
          </p:cNvSpPr>
          <p:nvPr>
            <p:ph type="title"/>
          </p:nvPr>
        </p:nvSpPr>
        <p:spPr/>
        <p:txBody>
          <a:bodyPr/>
          <a:lstStyle/>
          <a:p>
            <a:r>
              <a:rPr lang="en-GB" dirty="0"/>
              <a:t>Updating a Feature in RM ADO || </a:t>
            </a:r>
            <a:r>
              <a:rPr lang="en-GB" b="0" dirty="0"/>
              <a:t>Key Fields – Details &amp; Design Tabs</a:t>
            </a:r>
          </a:p>
        </p:txBody>
      </p:sp>
      <p:sp>
        <p:nvSpPr>
          <p:cNvPr id="23" name="TextBox 22">
            <a:extLst>
              <a:ext uri="{FF2B5EF4-FFF2-40B4-BE49-F238E27FC236}">
                <a16:creationId xmlns:a16="http://schemas.microsoft.com/office/drawing/2014/main" id="{9975B256-F84C-EBD6-28AA-146D9F145604}"/>
              </a:ext>
            </a:extLst>
          </p:cNvPr>
          <p:cNvSpPr txBox="1"/>
          <p:nvPr/>
        </p:nvSpPr>
        <p:spPr>
          <a:xfrm>
            <a:off x="1769806" y="1700058"/>
            <a:ext cx="1865502" cy="308985"/>
          </a:xfrm>
          <a:prstGeom prst="rect">
            <a:avLst/>
          </a:prstGeom>
          <a:solidFill>
            <a:schemeClr val="accent2">
              <a:lumMod val="20000"/>
              <a:lumOff val="80000"/>
            </a:schemeClr>
          </a:solidFill>
        </p:spPr>
        <p:txBody>
          <a:bodyPr wrap="square" lIns="36000" tIns="36000" rIns="36000" bIns="36000" rtlCol="0">
            <a:noAutofit/>
          </a:bodyPr>
          <a:lstStyle/>
          <a:p>
            <a:pPr marL="0" indent="0">
              <a:buFont typeface="Arial" pitchFamily="34" charset="0"/>
              <a:buNone/>
            </a:pPr>
            <a:r>
              <a:rPr lang="en-GB" sz="900" dirty="0">
                <a:latin typeface="Vodafone Rg" pitchFamily="34" charset="0"/>
              </a:rPr>
              <a:t>Update the E2E HLD Status and Dates</a:t>
            </a:r>
          </a:p>
          <a:p>
            <a:pPr marL="0" indent="0">
              <a:buFont typeface="Arial" pitchFamily="34" charset="0"/>
              <a:buNone/>
            </a:pPr>
            <a:endParaRPr lang="en-GB" sz="900" dirty="0">
              <a:latin typeface="Vodafone Rg" pitchFamily="34" charset="0"/>
            </a:endParaRPr>
          </a:p>
        </p:txBody>
      </p:sp>
      <p:grpSp>
        <p:nvGrpSpPr>
          <p:cNvPr id="3" name="Group 2">
            <a:extLst>
              <a:ext uri="{FF2B5EF4-FFF2-40B4-BE49-F238E27FC236}">
                <a16:creationId xmlns:a16="http://schemas.microsoft.com/office/drawing/2014/main" id="{388B4D85-1BCC-EDE5-F36A-0728EBDFEBAD}"/>
              </a:ext>
            </a:extLst>
          </p:cNvPr>
          <p:cNvGrpSpPr/>
          <p:nvPr/>
        </p:nvGrpSpPr>
        <p:grpSpPr>
          <a:xfrm>
            <a:off x="8627580" y="31445"/>
            <a:ext cx="482962" cy="523771"/>
            <a:chOff x="6569557" y="106178"/>
            <a:chExt cx="482962" cy="523771"/>
          </a:xfrm>
        </p:grpSpPr>
        <p:pic>
          <p:nvPicPr>
            <p:cNvPr id="4" name="Picture 3">
              <a:extLst>
                <a:ext uri="{FF2B5EF4-FFF2-40B4-BE49-F238E27FC236}">
                  <a16:creationId xmlns:a16="http://schemas.microsoft.com/office/drawing/2014/main" id="{43F046E7-2ED7-DB43-607B-66A86079DA3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6626388" y="106178"/>
              <a:ext cx="369301" cy="369301"/>
            </a:xfrm>
            <a:prstGeom prst="rect">
              <a:avLst/>
            </a:prstGeom>
          </p:spPr>
        </p:pic>
        <p:sp>
          <p:nvSpPr>
            <p:cNvPr id="12" name="TextBox 11">
              <a:extLst>
                <a:ext uri="{FF2B5EF4-FFF2-40B4-BE49-F238E27FC236}">
                  <a16:creationId xmlns:a16="http://schemas.microsoft.com/office/drawing/2014/main" id="{AADCF927-73EE-D23C-AC52-0DC0C1BE10C7}"/>
                </a:ext>
              </a:extLst>
            </p:cNvPr>
            <p:cNvSpPr txBox="1"/>
            <p:nvPr/>
          </p:nvSpPr>
          <p:spPr>
            <a:xfrm>
              <a:off x="6569557" y="436922"/>
              <a:ext cx="482962" cy="193027"/>
            </a:xfrm>
            <a:prstGeom prst="rect">
              <a:avLst/>
            </a:prstGeom>
            <a:noFill/>
          </p:spPr>
          <p:txBody>
            <a:bodyPr wrap="square" lIns="27000" tIns="27000" rIns="27000" bIns="27000" rtlCol="0">
              <a:spAutoFit/>
            </a:bodyPr>
            <a:lstStyle/>
            <a:p>
              <a:r>
                <a:rPr lang="en-GB" sz="900" b="1" dirty="0"/>
                <a:t>Feature</a:t>
              </a:r>
            </a:p>
          </p:txBody>
        </p:sp>
      </p:grpSp>
      <p:pic>
        <p:nvPicPr>
          <p:cNvPr id="50" name="Picture 49">
            <a:extLst>
              <a:ext uri="{FF2B5EF4-FFF2-40B4-BE49-F238E27FC236}">
                <a16:creationId xmlns:a16="http://schemas.microsoft.com/office/drawing/2014/main" id="{4EDA3FCF-1133-276E-2DE0-87F9C1DF1E29}"/>
              </a:ext>
            </a:extLst>
          </p:cNvPr>
          <p:cNvPicPr>
            <a:picLocks noChangeAspect="1"/>
          </p:cNvPicPr>
          <p:nvPr/>
        </p:nvPicPr>
        <p:blipFill>
          <a:blip r:embed="rId5"/>
          <a:stretch>
            <a:fillRect/>
          </a:stretch>
        </p:blipFill>
        <p:spPr>
          <a:xfrm>
            <a:off x="80946" y="1902175"/>
            <a:ext cx="4195655" cy="3169325"/>
          </a:xfrm>
          <a:prstGeom prst="rect">
            <a:avLst/>
          </a:prstGeom>
        </p:spPr>
      </p:pic>
      <p:sp>
        <p:nvSpPr>
          <p:cNvPr id="15" name="Rectangle 14">
            <a:extLst>
              <a:ext uri="{FF2B5EF4-FFF2-40B4-BE49-F238E27FC236}">
                <a16:creationId xmlns:a16="http://schemas.microsoft.com/office/drawing/2014/main" id="{0B5F67C7-08D0-6125-08AF-061B0B78E69A}"/>
              </a:ext>
            </a:extLst>
          </p:cNvPr>
          <p:cNvSpPr/>
          <p:nvPr/>
        </p:nvSpPr>
        <p:spPr>
          <a:xfrm>
            <a:off x="3201684" y="2789619"/>
            <a:ext cx="1009801" cy="1314956"/>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cxnSp>
        <p:nvCxnSpPr>
          <p:cNvPr id="25" name="Straight Arrow Connector 24">
            <a:extLst>
              <a:ext uri="{FF2B5EF4-FFF2-40B4-BE49-F238E27FC236}">
                <a16:creationId xmlns:a16="http://schemas.microsoft.com/office/drawing/2014/main" id="{70EA1428-7ED5-21F1-B149-1352A6D04933}"/>
              </a:ext>
            </a:extLst>
          </p:cNvPr>
          <p:cNvCxnSpPr>
            <a:cxnSpLocks/>
          </p:cNvCxnSpPr>
          <p:nvPr/>
        </p:nvCxnSpPr>
        <p:spPr>
          <a:xfrm flipH="1" flipV="1">
            <a:off x="3762477" y="4655426"/>
            <a:ext cx="239252" cy="107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5164653-719E-32FB-6FED-ECC92C7626B1}"/>
              </a:ext>
            </a:extLst>
          </p:cNvPr>
          <p:cNvCxnSpPr>
            <a:cxnSpLocks/>
          </p:cNvCxnSpPr>
          <p:nvPr/>
        </p:nvCxnSpPr>
        <p:spPr>
          <a:xfrm>
            <a:off x="3227396" y="1902175"/>
            <a:ext cx="479188" cy="8614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C1D0F32-41CC-6116-8584-DA3186DA1EF4}"/>
              </a:ext>
            </a:extLst>
          </p:cNvPr>
          <p:cNvSpPr txBox="1"/>
          <p:nvPr/>
        </p:nvSpPr>
        <p:spPr>
          <a:xfrm>
            <a:off x="954343" y="3066378"/>
            <a:ext cx="1347788" cy="312640"/>
          </a:xfrm>
          <a:prstGeom prst="rect">
            <a:avLst/>
          </a:prstGeom>
          <a:solidFill>
            <a:schemeClr val="accent2">
              <a:lumMod val="20000"/>
              <a:lumOff val="80000"/>
            </a:schemeClr>
          </a:solidFill>
        </p:spPr>
        <p:txBody>
          <a:bodyPr wrap="square" lIns="36000" tIns="36000" rIns="36000" bIns="36000" rtlCol="0" anchor="ctr">
            <a:noAutofit/>
          </a:bodyPr>
          <a:lstStyle/>
          <a:p>
            <a:pPr marL="0" indent="0" algn="ctr">
              <a:buFont typeface="Arial" pitchFamily="34" charset="0"/>
              <a:buNone/>
            </a:pPr>
            <a:r>
              <a:rPr lang="en-GB" sz="900" dirty="0">
                <a:latin typeface="Vodafone Rg" pitchFamily="34" charset="0"/>
              </a:rPr>
              <a:t>Verify the Target Release</a:t>
            </a:r>
          </a:p>
        </p:txBody>
      </p:sp>
      <p:cxnSp>
        <p:nvCxnSpPr>
          <p:cNvPr id="19" name="Straight Arrow Connector 18">
            <a:extLst>
              <a:ext uri="{FF2B5EF4-FFF2-40B4-BE49-F238E27FC236}">
                <a16:creationId xmlns:a16="http://schemas.microsoft.com/office/drawing/2014/main" id="{CE0035F7-1104-232D-03C0-520CDC8057AD}"/>
              </a:ext>
            </a:extLst>
          </p:cNvPr>
          <p:cNvCxnSpPr>
            <a:cxnSpLocks/>
            <a:stCxn id="11" idx="2"/>
          </p:cNvCxnSpPr>
          <p:nvPr/>
        </p:nvCxnSpPr>
        <p:spPr>
          <a:xfrm flipH="1">
            <a:off x="570271" y="3379018"/>
            <a:ext cx="1057966" cy="5768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A97CEEE-3AC5-7F42-7749-26B3F374AC07}"/>
              </a:ext>
            </a:extLst>
          </p:cNvPr>
          <p:cNvSpPr txBox="1"/>
          <p:nvPr/>
        </p:nvSpPr>
        <p:spPr>
          <a:xfrm>
            <a:off x="3227396" y="4763426"/>
            <a:ext cx="1467832" cy="308985"/>
          </a:xfrm>
          <a:prstGeom prst="rect">
            <a:avLst/>
          </a:prstGeom>
          <a:solidFill>
            <a:schemeClr val="accent2">
              <a:lumMod val="20000"/>
              <a:lumOff val="80000"/>
            </a:schemeClr>
          </a:solidFill>
        </p:spPr>
        <p:txBody>
          <a:bodyPr wrap="square" lIns="36000" tIns="36000" rIns="36000" bIns="36000" rtlCol="0">
            <a:noAutofit/>
          </a:bodyPr>
          <a:lstStyle/>
          <a:p>
            <a:pPr marL="0" indent="0">
              <a:buFont typeface="Arial" pitchFamily="34" charset="0"/>
              <a:buNone/>
            </a:pPr>
            <a:r>
              <a:rPr lang="en-GB" sz="900" dirty="0">
                <a:latin typeface="Vodafone Rg" pitchFamily="34" charset="0"/>
              </a:rPr>
              <a:t>Verify the Delivery Manager</a:t>
            </a:r>
            <a:endParaRPr lang="en-GB" sz="900" i="1" dirty="0">
              <a:latin typeface="Vodafone Rg" pitchFamily="34" charset="0"/>
            </a:endParaRPr>
          </a:p>
        </p:txBody>
      </p:sp>
      <p:grpSp>
        <p:nvGrpSpPr>
          <p:cNvPr id="70" name="Group 69">
            <a:extLst>
              <a:ext uri="{FF2B5EF4-FFF2-40B4-BE49-F238E27FC236}">
                <a16:creationId xmlns:a16="http://schemas.microsoft.com/office/drawing/2014/main" id="{F243962F-E684-DB3E-D60D-D3C21F11A3B0}"/>
              </a:ext>
            </a:extLst>
          </p:cNvPr>
          <p:cNvGrpSpPr/>
          <p:nvPr/>
        </p:nvGrpSpPr>
        <p:grpSpPr>
          <a:xfrm>
            <a:off x="5187037" y="2009043"/>
            <a:ext cx="3809522" cy="3014215"/>
            <a:chOff x="4670250" y="1714090"/>
            <a:chExt cx="4293750" cy="3288481"/>
          </a:xfrm>
        </p:grpSpPr>
        <p:pic>
          <p:nvPicPr>
            <p:cNvPr id="71" name="Picture 70">
              <a:extLst>
                <a:ext uri="{FF2B5EF4-FFF2-40B4-BE49-F238E27FC236}">
                  <a16:creationId xmlns:a16="http://schemas.microsoft.com/office/drawing/2014/main" id="{94964910-909A-0386-692E-A5A2F7D4EC30}"/>
                </a:ext>
              </a:extLst>
            </p:cNvPr>
            <p:cNvPicPr>
              <a:picLocks noChangeAspect="1"/>
            </p:cNvPicPr>
            <p:nvPr/>
          </p:nvPicPr>
          <p:blipFill>
            <a:blip r:embed="rId6"/>
            <a:stretch>
              <a:fillRect/>
            </a:stretch>
          </p:blipFill>
          <p:spPr>
            <a:xfrm>
              <a:off x="5159120" y="1714090"/>
              <a:ext cx="3804880" cy="3288481"/>
            </a:xfrm>
            <a:prstGeom prst="rect">
              <a:avLst/>
            </a:prstGeom>
          </p:spPr>
        </p:pic>
        <p:sp>
          <p:nvSpPr>
            <p:cNvPr id="72" name="TextBox 71">
              <a:extLst>
                <a:ext uri="{FF2B5EF4-FFF2-40B4-BE49-F238E27FC236}">
                  <a16:creationId xmlns:a16="http://schemas.microsoft.com/office/drawing/2014/main" id="{6F7B91AC-0512-57EB-E153-17BCA9784DCB}"/>
                </a:ext>
              </a:extLst>
            </p:cNvPr>
            <p:cNvSpPr txBox="1"/>
            <p:nvPr/>
          </p:nvSpPr>
          <p:spPr>
            <a:xfrm>
              <a:off x="4670250" y="3253009"/>
              <a:ext cx="1347788" cy="312640"/>
            </a:xfrm>
            <a:prstGeom prst="rect">
              <a:avLst/>
            </a:prstGeom>
            <a:solidFill>
              <a:schemeClr val="accent2">
                <a:lumMod val="20000"/>
                <a:lumOff val="80000"/>
              </a:schemeClr>
            </a:solidFill>
          </p:spPr>
          <p:txBody>
            <a:bodyPr wrap="square" lIns="36000" tIns="36000" rIns="36000" bIns="36000" rtlCol="0" anchor="ctr">
              <a:noAutofit/>
            </a:bodyPr>
            <a:lstStyle/>
            <a:p>
              <a:pPr marL="0" indent="0">
                <a:buFont typeface="Arial" pitchFamily="34" charset="0"/>
                <a:buNone/>
              </a:pPr>
              <a:r>
                <a:rPr lang="en-GB" sz="900" dirty="0">
                  <a:latin typeface="Vodafone Rg" pitchFamily="34" charset="0"/>
                </a:rPr>
                <a:t>ITDA and E2E HLD</a:t>
              </a:r>
            </a:p>
          </p:txBody>
        </p:sp>
        <p:sp>
          <p:nvSpPr>
            <p:cNvPr id="73" name="Rectangle 72">
              <a:extLst>
                <a:ext uri="{FF2B5EF4-FFF2-40B4-BE49-F238E27FC236}">
                  <a16:creationId xmlns:a16="http://schemas.microsoft.com/office/drawing/2014/main" id="{9C0387DB-62FF-66C1-3AD2-DEBAE944B8F7}"/>
                </a:ext>
              </a:extLst>
            </p:cNvPr>
            <p:cNvSpPr/>
            <p:nvPr/>
          </p:nvSpPr>
          <p:spPr>
            <a:xfrm>
              <a:off x="6707749" y="2358358"/>
              <a:ext cx="1151503" cy="1017384"/>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cxnSp>
          <p:nvCxnSpPr>
            <p:cNvPr id="74" name="Straight Arrow Connector 73">
              <a:extLst>
                <a:ext uri="{FF2B5EF4-FFF2-40B4-BE49-F238E27FC236}">
                  <a16:creationId xmlns:a16="http://schemas.microsoft.com/office/drawing/2014/main" id="{E85E4D9E-334C-B87C-531C-D400A4AC6A54}"/>
                </a:ext>
              </a:extLst>
            </p:cNvPr>
            <p:cNvCxnSpPr>
              <a:cxnSpLocks/>
              <a:stCxn id="72" idx="3"/>
              <a:endCxn id="73" idx="1"/>
            </p:cNvCxnSpPr>
            <p:nvPr/>
          </p:nvCxnSpPr>
          <p:spPr>
            <a:xfrm flipV="1">
              <a:off x="6018038" y="2867050"/>
              <a:ext cx="689711" cy="542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918757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5641229-7803-4393-A880-310E059CA712}"/>
              </a:ext>
            </a:extLst>
          </p:cNvPr>
          <p:cNvSpPr>
            <a:spLocks noGrp="1"/>
          </p:cNvSpPr>
          <p:nvPr>
            <p:ph sz="quarter" idx="13"/>
          </p:nvPr>
        </p:nvSpPr>
        <p:spPr>
          <a:xfrm>
            <a:off x="180000" y="540000"/>
            <a:ext cx="8784000" cy="1308465"/>
          </a:xfrm>
        </p:spPr>
        <p:txBody>
          <a:bodyPr/>
          <a:lstStyle/>
          <a:p>
            <a:pPr marL="0" indent="0">
              <a:buNone/>
            </a:pPr>
            <a:r>
              <a:rPr lang="en-GB" sz="1600" b="1" dirty="0"/>
              <a:t>Where Features target CCS 25.1 onwards, several fields are locked</a:t>
            </a:r>
          </a:p>
          <a:p>
            <a:r>
              <a:rPr lang="en-GB" sz="1400" dirty="0"/>
              <a:t>The </a:t>
            </a:r>
            <a:r>
              <a:rPr lang="en-GB" sz="1400" b="1" dirty="0"/>
              <a:t>Delivery</a:t>
            </a:r>
            <a:r>
              <a:rPr lang="en-GB" sz="1400" dirty="0"/>
              <a:t> work item now tracks several fields which were added to the </a:t>
            </a:r>
            <a:r>
              <a:rPr lang="en-GB" sz="1400" b="1" dirty="0"/>
              <a:t>Feature</a:t>
            </a:r>
            <a:r>
              <a:rPr lang="en-GB" sz="1400" dirty="0"/>
              <a:t> when it moved from P2D to RM ADO</a:t>
            </a:r>
          </a:p>
          <a:p>
            <a:r>
              <a:rPr lang="en-GB" sz="1400" dirty="0"/>
              <a:t>Those fields are needed for </a:t>
            </a:r>
            <a:r>
              <a:rPr lang="en-GB" sz="1400" b="1" dirty="0"/>
              <a:t>Features</a:t>
            </a:r>
            <a:r>
              <a:rPr lang="en-GB" sz="1400" dirty="0"/>
              <a:t> up to CCS 24.12 and will be unlocked/available for those releases</a:t>
            </a:r>
          </a:p>
          <a:p>
            <a:r>
              <a:rPr lang="en-GB" sz="1400" dirty="0"/>
              <a:t>From CCS 25.1 onwards, as a </a:t>
            </a:r>
            <a:r>
              <a:rPr lang="en-GB" sz="1400" b="1" dirty="0"/>
              <a:t>Delivery</a:t>
            </a:r>
            <a:r>
              <a:rPr lang="en-GB" sz="1400" dirty="0"/>
              <a:t> is required (which contains these fields), these fields are locked in the </a:t>
            </a:r>
            <a:r>
              <a:rPr lang="en-GB" sz="1400" b="1" dirty="0"/>
              <a:t>Feature</a:t>
            </a:r>
          </a:p>
          <a:p>
            <a:endParaRPr lang="en-GB" sz="1400" dirty="0"/>
          </a:p>
          <a:p>
            <a:endParaRPr lang="en-GB" sz="1400" dirty="0"/>
          </a:p>
          <a:p>
            <a:endParaRPr lang="en-GB" sz="1400" dirty="0"/>
          </a:p>
          <a:p>
            <a:endParaRPr lang="en-GB" sz="1400" dirty="0"/>
          </a:p>
          <a:p>
            <a:endParaRPr lang="en-GB" sz="1400" dirty="0"/>
          </a:p>
          <a:p>
            <a:endParaRPr lang="en-GB" sz="1400" dirty="0"/>
          </a:p>
          <a:p>
            <a:pPr lvl="1"/>
            <a:endParaRPr lang="en-GB" dirty="0"/>
          </a:p>
          <a:p>
            <a:pPr lvl="1"/>
            <a:endParaRPr lang="en-GB" dirty="0"/>
          </a:p>
          <a:p>
            <a:endParaRPr lang="en-GB" dirty="0"/>
          </a:p>
        </p:txBody>
      </p:sp>
      <p:sp>
        <p:nvSpPr>
          <p:cNvPr id="3" name="Date Placeholder 2">
            <a:extLst>
              <a:ext uri="{FF2B5EF4-FFF2-40B4-BE49-F238E27FC236}">
                <a16:creationId xmlns:a16="http://schemas.microsoft.com/office/drawing/2014/main" id="{A31317F4-29EA-4673-9C4D-023C177A9271}"/>
              </a:ext>
            </a:extLst>
          </p:cNvPr>
          <p:cNvSpPr>
            <a:spLocks noGrp="1"/>
          </p:cNvSpPr>
          <p:nvPr>
            <p:ph type="dt" sz="half" idx="14"/>
          </p:nvPr>
        </p:nvSpPr>
        <p:spPr/>
        <p:txBody>
          <a:bodyPr/>
          <a:lstStyle/>
          <a:p>
            <a:fld id="{307368F5-E43E-7644-B2C0-CD46918E1917}" type="datetime4">
              <a:rPr lang="en-GB" smtClean="0"/>
              <a:t>23 June 2026</a:t>
            </a:fld>
            <a:endParaRPr lang="en-GB"/>
          </a:p>
        </p:txBody>
      </p:sp>
      <p:sp>
        <p:nvSpPr>
          <p:cNvPr id="4" name="Slide Number Placeholder 3">
            <a:extLst>
              <a:ext uri="{FF2B5EF4-FFF2-40B4-BE49-F238E27FC236}">
                <a16:creationId xmlns:a16="http://schemas.microsoft.com/office/drawing/2014/main" id="{603F4F1D-AE1D-4712-AC52-3E20552F0727}"/>
              </a:ext>
            </a:extLst>
          </p:cNvPr>
          <p:cNvSpPr>
            <a:spLocks noGrp="1"/>
          </p:cNvSpPr>
          <p:nvPr>
            <p:ph type="sldNum" sz="quarter" idx="15"/>
          </p:nvPr>
        </p:nvSpPr>
        <p:spPr/>
        <p:txBody>
          <a:bodyPr/>
          <a:lstStyle/>
          <a:p>
            <a:fld id="{72A83A2B-3358-44F8-83A0-4598795D8FB5}" type="slidenum">
              <a:rPr lang="en-GB" smtClean="0"/>
              <a:pPr/>
              <a:t>31</a:t>
            </a:fld>
            <a:endParaRPr lang="en-GB"/>
          </a:p>
        </p:txBody>
      </p:sp>
      <p:sp>
        <p:nvSpPr>
          <p:cNvPr id="2" name="Title 1">
            <a:extLst>
              <a:ext uri="{FF2B5EF4-FFF2-40B4-BE49-F238E27FC236}">
                <a16:creationId xmlns:a16="http://schemas.microsoft.com/office/drawing/2014/main" id="{653AB02D-F149-4BF9-8C99-EE1EC282991D}"/>
              </a:ext>
            </a:extLst>
          </p:cNvPr>
          <p:cNvSpPr>
            <a:spLocks noGrp="1"/>
          </p:cNvSpPr>
          <p:nvPr>
            <p:ph type="title"/>
          </p:nvPr>
        </p:nvSpPr>
        <p:spPr/>
        <p:txBody>
          <a:bodyPr/>
          <a:lstStyle/>
          <a:p>
            <a:r>
              <a:rPr lang="en-GB" dirty="0"/>
              <a:t>Updating a Feature in RM ADO || </a:t>
            </a:r>
            <a:r>
              <a:rPr lang="en-GB" b="0" dirty="0"/>
              <a:t>Locked Fields are </a:t>
            </a:r>
            <a:r>
              <a:rPr lang="en-GB" b="0" dirty="0">
                <a:sym typeface="Wingdings" panose="05000000000000000000" pitchFamily="2" charset="2"/>
              </a:rPr>
              <a:t>Now in Delivery</a:t>
            </a:r>
            <a:endParaRPr lang="en-GB" b="0" dirty="0"/>
          </a:p>
        </p:txBody>
      </p:sp>
      <p:grpSp>
        <p:nvGrpSpPr>
          <p:cNvPr id="20" name="Group 19">
            <a:extLst>
              <a:ext uri="{FF2B5EF4-FFF2-40B4-BE49-F238E27FC236}">
                <a16:creationId xmlns:a16="http://schemas.microsoft.com/office/drawing/2014/main" id="{CB73CB07-5330-4E60-6377-263AD132F8BB}"/>
              </a:ext>
            </a:extLst>
          </p:cNvPr>
          <p:cNvGrpSpPr/>
          <p:nvPr/>
        </p:nvGrpSpPr>
        <p:grpSpPr>
          <a:xfrm>
            <a:off x="8627580" y="31445"/>
            <a:ext cx="482962" cy="523771"/>
            <a:chOff x="6569557" y="106178"/>
            <a:chExt cx="482962" cy="523771"/>
          </a:xfrm>
        </p:grpSpPr>
        <p:pic>
          <p:nvPicPr>
            <p:cNvPr id="22" name="Picture 21">
              <a:extLst>
                <a:ext uri="{FF2B5EF4-FFF2-40B4-BE49-F238E27FC236}">
                  <a16:creationId xmlns:a16="http://schemas.microsoft.com/office/drawing/2014/main" id="{818CE647-0A6F-E0C0-FBFC-1DC9CF96129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6626388" y="106178"/>
              <a:ext cx="369301" cy="369301"/>
            </a:xfrm>
            <a:prstGeom prst="rect">
              <a:avLst/>
            </a:prstGeom>
          </p:spPr>
        </p:pic>
        <p:sp>
          <p:nvSpPr>
            <p:cNvPr id="23" name="TextBox 22">
              <a:extLst>
                <a:ext uri="{FF2B5EF4-FFF2-40B4-BE49-F238E27FC236}">
                  <a16:creationId xmlns:a16="http://schemas.microsoft.com/office/drawing/2014/main" id="{3F8494AE-F494-5B22-14E7-E87C63EC04AC}"/>
                </a:ext>
              </a:extLst>
            </p:cNvPr>
            <p:cNvSpPr txBox="1"/>
            <p:nvPr/>
          </p:nvSpPr>
          <p:spPr>
            <a:xfrm>
              <a:off x="6569557" y="436922"/>
              <a:ext cx="482962" cy="193027"/>
            </a:xfrm>
            <a:prstGeom prst="rect">
              <a:avLst/>
            </a:prstGeom>
            <a:noFill/>
          </p:spPr>
          <p:txBody>
            <a:bodyPr wrap="square" lIns="27000" tIns="27000" rIns="27000" bIns="27000" rtlCol="0">
              <a:spAutoFit/>
            </a:bodyPr>
            <a:lstStyle/>
            <a:p>
              <a:r>
                <a:rPr lang="en-GB" sz="900" b="1" dirty="0"/>
                <a:t>Feature</a:t>
              </a:r>
            </a:p>
          </p:txBody>
        </p:sp>
      </p:grpSp>
      <p:pic>
        <p:nvPicPr>
          <p:cNvPr id="42" name="Picture 41">
            <a:extLst>
              <a:ext uri="{FF2B5EF4-FFF2-40B4-BE49-F238E27FC236}">
                <a16:creationId xmlns:a16="http://schemas.microsoft.com/office/drawing/2014/main" id="{05496B41-E1DB-9172-85C0-A40E29AF650B}"/>
              </a:ext>
            </a:extLst>
          </p:cNvPr>
          <p:cNvPicPr>
            <a:picLocks noChangeAspect="1"/>
          </p:cNvPicPr>
          <p:nvPr/>
        </p:nvPicPr>
        <p:blipFill>
          <a:blip r:embed="rId5"/>
          <a:stretch>
            <a:fillRect/>
          </a:stretch>
        </p:blipFill>
        <p:spPr>
          <a:xfrm>
            <a:off x="8302" y="2251586"/>
            <a:ext cx="4498150" cy="2891914"/>
          </a:xfrm>
          <a:prstGeom prst="rect">
            <a:avLst/>
          </a:prstGeom>
        </p:spPr>
      </p:pic>
      <p:pic>
        <p:nvPicPr>
          <p:cNvPr id="46" name="Picture 45">
            <a:extLst>
              <a:ext uri="{FF2B5EF4-FFF2-40B4-BE49-F238E27FC236}">
                <a16:creationId xmlns:a16="http://schemas.microsoft.com/office/drawing/2014/main" id="{DB435F74-E501-58AB-F4D8-5790C8BE375C}"/>
              </a:ext>
            </a:extLst>
          </p:cNvPr>
          <p:cNvPicPr>
            <a:picLocks noChangeAspect="1"/>
          </p:cNvPicPr>
          <p:nvPr/>
        </p:nvPicPr>
        <p:blipFill>
          <a:blip r:embed="rId6"/>
          <a:stretch>
            <a:fillRect/>
          </a:stretch>
        </p:blipFill>
        <p:spPr>
          <a:xfrm>
            <a:off x="4506452" y="2250458"/>
            <a:ext cx="4574227" cy="2893042"/>
          </a:xfrm>
          <a:prstGeom prst="rect">
            <a:avLst/>
          </a:prstGeom>
        </p:spPr>
      </p:pic>
    </p:spTree>
    <p:extLst>
      <p:ext uri="{BB962C8B-B14F-4D97-AF65-F5344CB8AC3E}">
        <p14:creationId xmlns:p14="http://schemas.microsoft.com/office/powerpoint/2010/main" val="15440158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04D1542-70BE-1388-70E1-ED756419F2DE}"/>
              </a:ext>
            </a:extLst>
          </p:cNvPr>
          <p:cNvSpPr>
            <a:spLocks noGrp="1"/>
          </p:cNvSpPr>
          <p:nvPr>
            <p:ph type="ctrTitle"/>
          </p:nvPr>
        </p:nvSpPr>
        <p:spPr/>
        <p:txBody>
          <a:bodyPr/>
          <a:lstStyle/>
          <a:p>
            <a:r>
              <a:rPr lang="en-GB" dirty="0"/>
              <a:t>Delivery work item</a:t>
            </a:r>
          </a:p>
        </p:txBody>
      </p:sp>
      <p:sp>
        <p:nvSpPr>
          <p:cNvPr id="4" name="Slide Number Placeholder 3">
            <a:extLst>
              <a:ext uri="{FF2B5EF4-FFF2-40B4-BE49-F238E27FC236}">
                <a16:creationId xmlns:a16="http://schemas.microsoft.com/office/drawing/2014/main" id="{574ED55A-3206-A6AB-16EF-80DBD05EDA14}"/>
              </a:ext>
            </a:extLst>
          </p:cNvPr>
          <p:cNvSpPr>
            <a:spLocks noGrp="1"/>
          </p:cNvSpPr>
          <p:nvPr>
            <p:ph type="sldNum" sz="quarter" idx="11"/>
          </p:nvPr>
        </p:nvSpPr>
        <p:spPr/>
        <p:txBody>
          <a:bodyPr/>
          <a:lstStyle/>
          <a:p>
            <a:fld id="{72A83A2B-3358-44F8-83A0-4598795D8FB5}" type="slidenum">
              <a:rPr lang="en-GB" smtClean="0"/>
              <a:pPr/>
              <a:t>32</a:t>
            </a:fld>
            <a:endParaRPr lang="en-GB"/>
          </a:p>
        </p:txBody>
      </p:sp>
    </p:spTree>
    <p:extLst>
      <p:ext uri="{BB962C8B-B14F-4D97-AF65-F5344CB8AC3E}">
        <p14:creationId xmlns:p14="http://schemas.microsoft.com/office/powerpoint/2010/main" val="17233235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BAC5FE4-B09E-942F-C0BE-3F7217B3B928}"/>
              </a:ext>
            </a:extLst>
          </p:cNvPr>
          <p:cNvSpPr>
            <a:spLocks noGrp="1"/>
          </p:cNvSpPr>
          <p:nvPr>
            <p:ph type="dt" sz="half" idx="14"/>
          </p:nvPr>
        </p:nvSpPr>
        <p:spPr/>
        <p:txBody>
          <a:bodyPr/>
          <a:lstStyle/>
          <a:p>
            <a:fld id="{30F0E956-AEC0-6E47-82BA-82F9A6FC1D28}" type="datetime4">
              <a:rPr lang="en-GB" smtClean="0"/>
              <a:t>23 June 2026</a:t>
            </a:fld>
            <a:endParaRPr lang="en-GB"/>
          </a:p>
        </p:txBody>
      </p:sp>
      <p:sp>
        <p:nvSpPr>
          <p:cNvPr id="3" name="Slide Number Placeholder 2">
            <a:extLst>
              <a:ext uri="{FF2B5EF4-FFF2-40B4-BE49-F238E27FC236}">
                <a16:creationId xmlns:a16="http://schemas.microsoft.com/office/drawing/2014/main" id="{4B3DF2CD-C66A-5A80-BA91-1EBC4E8A634C}"/>
              </a:ext>
            </a:extLst>
          </p:cNvPr>
          <p:cNvSpPr>
            <a:spLocks noGrp="1"/>
          </p:cNvSpPr>
          <p:nvPr>
            <p:ph type="sldNum" sz="quarter" idx="15"/>
          </p:nvPr>
        </p:nvSpPr>
        <p:spPr/>
        <p:txBody>
          <a:bodyPr/>
          <a:lstStyle/>
          <a:p>
            <a:fld id="{72A83A2B-3358-44F8-83A0-4598795D8FB5}" type="slidenum">
              <a:rPr lang="en-GB" smtClean="0"/>
              <a:pPr/>
              <a:t>33</a:t>
            </a:fld>
            <a:endParaRPr lang="en-GB"/>
          </a:p>
        </p:txBody>
      </p:sp>
      <p:sp>
        <p:nvSpPr>
          <p:cNvPr id="7" name="Title 6">
            <a:extLst>
              <a:ext uri="{FF2B5EF4-FFF2-40B4-BE49-F238E27FC236}">
                <a16:creationId xmlns:a16="http://schemas.microsoft.com/office/drawing/2014/main" id="{790B3C06-6E31-FA71-C92D-8231A8A6FBFE}"/>
              </a:ext>
            </a:extLst>
          </p:cNvPr>
          <p:cNvSpPr>
            <a:spLocks noGrp="1"/>
          </p:cNvSpPr>
          <p:nvPr>
            <p:ph type="title"/>
          </p:nvPr>
        </p:nvSpPr>
        <p:spPr/>
        <p:txBody>
          <a:bodyPr/>
          <a:lstStyle/>
          <a:p>
            <a:r>
              <a:rPr lang="en-GB" dirty="0"/>
              <a:t>Creating a Delivery</a:t>
            </a:r>
          </a:p>
        </p:txBody>
      </p:sp>
      <p:pic>
        <p:nvPicPr>
          <p:cNvPr id="9" name="Picture 8">
            <a:extLst>
              <a:ext uri="{FF2B5EF4-FFF2-40B4-BE49-F238E27FC236}">
                <a16:creationId xmlns:a16="http://schemas.microsoft.com/office/drawing/2014/main" id="{D1F5DC22-A5A3-ED40-E58F-882F87B9D59C}"/>
              </a:ext>
            </a:extLst>
          </p:cNvPr>
          <p:cNvPicPr>
            <a:picLocks noChangeAspect="1"/>
          </p:cNvPicPr>
          <p:nvPr/>
        </p:nvPicPr>
        <p:blipFill>
          <a:blip r:embed="rId3"/>
          <a:stretch>
            <a:fillRect/>
          </a:stretch>
        </p:blipFill>
        <p:spPr>
          <a:xfrm>
            <a:off x="709888" y="3715394"/>
            <a:ext cx="3800665" cy="1207078"/>
          </a:xfrm>
          <a:prstGeom prst="rect">
            <a:avLst/>
          </a:prstGeom>
        </p:spPr>
      </p:pic>
      <p:pic>
        <p:nvPicPr>
          <p:cNvPr id="11" name="Picture 10">
            <a:extLst>
              <a:ext uri="{FF2B5EF4-FFF2-40B4-BE49-F238E27FC236}">
                <a16:creationId xmlns:a16="http://schemas.microsoft.com/office/drawing/2014/main" id="{EA901843-D152-0111-39B5-C5A93CD3D299}"/>
              </a:ext>
            </a:extLst>
          </p:cNvPr>
          <p:cNvPicPr>
            <a:picLocks noChangeAspect="1"/>
          </p:cNvPicPr>
          <p:nvPr/>
        </p:nvPicPr>
        <p:blipFill>
          <a:blip r:embed="rId4"/>
          <a:stretch>
            <a:fillRect/>
          </a:stretch>
        </p:blipFill>
        <p:spPr>
          <a:xfrm>
            <a:off x="6202416" y="1542526"/>
            <a:ext cx="2626295" cy="3560506"/>
          </a:xfrm>
          <a:prstGeom prst="rect">
            <a:avLst/>
          </a:prstGeom>
        </p:spPr>
      </p:pic>
      <p:pic>
        <p:nvPicPr>
          <p:cNvPr id="13" name="Picture 12">
            <a:extLst>
              <a:ext uri="{FF2B5EF4-FFF2-40B4-BE49-F238E27FC236}">
                <a16:creationId xmlns:a16="http://schemas.microsoft.com/office/drawing/2014/main" id="{283F5F85-2612-8F6B-7D5E-B04FA17BEC87}"/>
              </a:ext>
            </a:extLst>
          </p:cNvPr>
          <p:cNvPicPr>
            <a:picLocks noChangeAspect="1"/>
          </p:cNvPicPr>
          <p:nvPr/>
        </p:nvPicPr>
        <p:blipFill>
          <a:blip r:embed="rId5"/>
          <a:stretch>
            <a:fillRect/>
          </a:stretch>
        </p:blipFill>
        <p:spPr>
          <a:xfrm>
            <a:off x="219587" y="1484663"/>
            <a:ext cx="4290966" cy="1838116"/>
          </a:xfrm>
          <a:prstGeom prst="rect">
            <a:avLst/>
          </a:prstGeom>
        </p:spPr>
      </p:pic>
      <p:sp>
        <p:nvSpPr>
          <p:cNvPr id="14" name="Content Placeholder 4">
            <a:extLst>
              <a:ext uri="{FF2B5EF4-FFF2-40B4-BE49-F238E27FC236}">
                <a16:creationId xmlns:a16="http://schemas.microsoft.com/office/drawing/2014/main" id="{34946ED5-4250-2832-1CA3-C2C34450DC62}"/>
              </a:ext>
            </a:extLst>
          </p:cNvPr>
          <p:cNvSpPr txBox="1">
            <a:spLocks/>
          </p:cNvSpPr>
          <p:nvPr/>
        </p:nvSpPr>
        <p:spPr>
          <a:xfrm>
            <a:off x="180000" y="540000"/>
            <a:ext cx="8784000" cy="899833"/>
          </a:xfrm>
          <a:prstGeom prst="rect">
            <a:avLst/>
          </a:prstGeom>
        </p:spPr>
        <p:txBody>
          <a:bodyPr/>
          <a:lstStyle>
            <a:lvl1pPr marL="138113" indent="-138113" algn="l" defTabSz="914400" rtl="0" eaLnBrk="1" latinLnBrk="0" hangingPunct="1">
              <a:spcBef>
                <a:spcPts val="0"/>
              </a:spcBef>
              <a:spcAft>
                <a:spcPts val="600"/>
              </a:spcAft>
              <a:buClr>
                <a:schemeClr val="accent1"/>
              </a:buClr>
              <a:buFont typeface="Arial" pitchFamily="34" charset="0"/>
              <a:buChar char="•"/>
              <a:defRPr sz="1800" kern="1200">
                <a:solidFill>
                  <a:schemeClr val="tx1"/>
                </a:solidFill>
                <a:latin typeface="Vodafone Rg" pitchFamily="34" charset="0"/>
                <a:ea typeface="+mn-ea"/>
                <a:cs typeface="+mn-cs"/>
              </a:defRPr>
            </a:lvl1pPr>
            <a:lvl2pPr marL="347663" indent="-147638" algn="l" defTabSz="914400" rtl="0" eaLnBrk="1" latinLnBrk="0" hangingPunct="1">
              <a:spcBef>
                <a:spcPts val="0"/>
              </a:spcBef>
              <a:spcAft>
                <a:spcPts val="300"/>
              </a:spcAft>
              <a:buClr>
                <a:schemeClr val="accent1"/>
              </a:buClr>
              <a:buFont typeface="Calibri" pitchFamily="34" charset="0"/>
              <a:buChar char="–"/>
              <a:defRPr sz="1400" kern="1200">
                <a:solidFill>
                  <a:schemeClr val="tx1"/>
                </a:solidFill>
                <a:latin typeface="Vodafone Rg" pitchFamily="34" charset="0"/>
                <a:ea typeface="+mn-ea"/>
                <a:cs typeface="+mn-cs"/>
              </a:defRPr>
            </a:lvl2pPr>
            <a:lvl3pPr marL="385763" indent="146050" algn="l" defTabSz="914400" rtl="0" eaLnBrk="1" latinLnBrk="0" hangingPunct="1">
              <a:spcBef>
                <a:spcPts val="0"/>
              </a:spcBef>
              <a:spcAft>
                <a:spcPts val="300"/>
              </a:spcAft>
              <a:buClr>
                <a:schemeClr val="accent1"/>
              </a:buClr>
              <a:buFont typeface="Calibri" pitchFamily="34" charset="0"/>
              <a:buChar char="–"/>
              <a:defRPr sz="1400" kern="1200">
                <a:solidFill>
                  <a:schemeClr val="tx1"/>
                </a:solidFill>
                <a:latin typeface="Vodafone Rg" pitchFamily="34" charset="0"/>
                <a:ea typeface="+mn-ea"/>
                <a:cs typeface="+mn-cs"/>
              </a:defRPr>
            </a:lvl3pPr>
            <a:lvl4pPr marL="717550" indent="-150813" algn="l" defTabSz="914400" rtl="0" eaLnBrk="1" latinLnBrk="0" hangingPunct="1">
              <a:spcBef>
                <a:spcPct val="20000"/>
              </a:spcBef>
              <a:buClr>
                <a:schemeClr val="accent1"/>
              </a:buClr>
              <a:buFont typeface="Calibri" pitchFamily="34" charset="0"/>
              <a:buChar char="–"/>
              <a:defRPr sz="1200" kern="1200">
                <a:solidFill>
                  <a:schemeClr val="tx1"/>
                </a:solidFill>
                <a:latin typeface="+mn-lt"/>
                <a:ea typeface="+mn-ea"/>
                <a:cs typeface="+mn-cs"/>
              </a:defRPr>
            </a:lvl4pPr>
            <a:lvl5pPr marL="914400" indent="-161925" algn="l" defTabSz="914400" rtl="0" eaLnBrk="1" latinLnBrk="0" hangingPunct="1">
              <a:spcBef>
                <a:spcPct val="20000"/>
              </a:spcBef>
              <a:buClr>
                <a:schemeClr val="accent1"/>
              </a:buClr>
              <a:buFont typeface="Calibri" pitchFamily="34" charset="0"/>
              <a:buChar char="–"/>
              <a:defRPr sz="12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1600" b="1" dirty="0"/>
              <a:t>Once in the RM ADO, add a child Delivery to your Feature via the Details Tab or the Links Tab</a:t>
            </a:r>
          </a:p>
          <a:p>
            <a:r>
              <a:rPr lang="en-GB" sz="1400" dirty="0"/>
              <a:t>Enter a title which makes it easy to identify. E.G ‘EECC - One Touch Switch’, or ‘FMW - Docker Replacement Ph1</a:t>
            </a:r>
          </a:p>
          <a:p>
            <a:r>
              <a:rPr lang="en-GB" sz="1400" dirty="0"/>
              <a:t>Then click </a:t>
            </a:r>
            <a:r>
              <a:rPr lang="en-GB" sz="1400" b="1" dirty="0">
                <a:solidFill>
                  <a:srgbClr val="0070C0"/>
                </a:solidFill>
              </a:rPr>
              <a:t>Add Link </a:t>
            </a:r>
            <a:r>
              <a:rPr lang="en-GB" sz="1400" dirty="0"/>
              <a:t>which will create the Delivery, which you then edit and </a:t>
            </a:r>
            <a:r>
              <a:rPr lang="en-GB" sz="1400" b="1" dirty="0"/>
              <a:t>Save</a:t>
            </a:r>
          </a:p>
          <a:p>
            <a:endParaRPr lang="en-GB" sz="1400" dirty="0"/>
          </a:p>
          <a:p>
            <a:endParaRPr lang="en-GB" sz="1400" dirty="0"/>
          </a:p>
          <a:p>
            <a:pPr lvl="1"/>
            <a:endParaRPr lang="en-GB" dirty="0"/>
          </a:p>
          <a:p>
            <a:pPr lvl="1"/>
            <a:endParaRPr lang="en-GB" dirty="0"/>
          </a:p>
          <a:p>
            <a:endParaRPr lang="en-GB" dirty="0"/>
          </a:p>
        </p:txBody>
      </p:sp>
      <p:sp>
        <p:nvSpPr>
          <p:cNvPr id="15" name="TextBox 14">
            <a:extLst>
              <a:ext uri="{FF2B5EF4-FFF2-40B4-BE49-F238E27FC236}">
                <a16:creationId xmlns:a16="http://schemas.microsoft.com/office/drawing/2014/main" id="{70A74086-C90F-B36C-BC32-BF9A5A9CC1D9}"/>
              </a:ext>
            </a:extLst>
          </p:cNvPr>
          <p:cNvSpPr txBox="1"/>
          <p:nvPr/>
        </p:nvSpPr>
        <p:spPr>
          <a:xfrm>
            <a:off x="4640103" y="2109187"/>
            <a:ext cx="1347788" cy="312640"/>
          </a:xfrm>
          <a:prstGeom prst="rect">
            <a:avLst/>
          </a:prstGeom>
          <a:solidFill>
            <a:schemeClr val="accent2">
              <a:lumMod val="20000"/>
              <a:lumOff val="80000"/>
            </a:schemeClr>
          </a:solidFill>
        </p:spPr>
        <p:txBody>
          <a:bodyPr wrap="square" lIns="36000" tIns="36000" rIns="36000" bIns="36000" rtlCol="0" anchor="ctr">
            <a:noAutofit/>
          </a:bodyPr>
          <a:lstStyle/>
          <a:p>
            <a:pPr marL="0" indent="0">
              <a:buFont typeface="Arial" pitchFamily="34" charset="0"/>
              <a:buNone/>
            </a:pPr>
            <a:r>
              <a:rPr lang="en-GB" sz="900" b="1" dirty="0">
                <a:latin typeface="Vodafone Rg" pitchFamily="34" charset="0"/>
              </a:rPr>
              <a:t>#1 Via Details Tab</a:t>
            </a:r>
          </a:p>
          <a:p>
            <a:pPr marL="0" indent="0">
              <a:buFont typeface="Arial" pitchFamily="34" charset="0"/>
              <a:buNone/>
            </a:pPr>
            <a:r>
              <a:rPr lang="en-GB" sz="900" dirty="0">
                <a:latin typeface="Vodafone Rg" pitchFamily="34" charset="0"/>
              </a:rPr>
              <a:t>Add Link &gt; New Item</a:t>
            </a:r>
          </a:p>
        </p:txBody>
      </p:sp>
      <p:sp>
        <p:nvSpPr>
          <p:cNvPr id="16" name="Rectangle 15">
            <a:extLst>
              <a:ext uri="{FF2B5EF4-FFF2-40B4-BE49-F238E27FC236}">
                <a16:creationId xmlns:a16="http://schemas.microsoft.com/office/drawing/2014/main" id="{F9B4510F-C592-A8B6-EFB8-567FD2715726}"/>
              </a:ext>
            </a:extLst>
          </p:cNvPr>
          <p:cNvSpPr/>
          <p:nvPr/>
        </p:nvSpPr>
        <p:spPr>
          <a:xfrm>
            <a:off x="2099196" y="1890867"/>
            <a:ext cx="286771" cy="193563"/>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17" name="Rectangle 16">
            <a:extLst>
              <a:ext uri="{FF2B5EF4-FFF2-40B4-BE49-F238E27FC236}">
                <a16:creationId xmlns:a16="http://schemas.microsoft.com/office/drawing/2014/main" id="{BBC21F30-7450-744F-BF66-75F84103CEC2}"/>
              </a:ext>
            </a:extLst>
          </p:cNvPr>
          <p:cNvSpPr/>
          <p:nvPr/>
        </p:nvSpPr>
        <p:spPr>
          <a:xfrm>
            <a:off x="3887026" y="4118608"/>
            <a:ext cx="286771" cy="193563"/>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18" name="TextBox 17">
            <a:extLst>
              <a:ext uri="{FF2B5EF4-FFF2-40B4-BE49-F238E27FC236}">
                <a16:creationId xmlns:a16="http://schemas.microsoft.com/office/drawing/2014/main" id="{28CF2FF2-87E8-9D38-22F3-FB8ADE57FE13}"/>
              </a:ext>
            </a:extLst>
          </p:cNvPr>
          <p:cNvSpPr txBox="1"/>
          <p:nvPr/>
        </p:nvSpPr>
        <p:spPr>
          <a:xfrm>
            <a:off x="152840" y="3449398"/>
            <a:ext cx="1347788" cy="312640"/>
          </a:xfrm>
          <a:prstGeom prst="rect">
            <a:avLst/>
          </a:prstGeom>
          <a:solidFill>
            <a:schemeClr val="accent2">
              <a:lumMod val="20000"/>
              <a:lumOff val="80000"/>
            </a:schemeClr>
          </a:solidFill>
        </p:spPr>
        <p:txBody>
          <a:bodyPr wrap="square" lIns="36000" tIns="36000" rIns="36000" bIns="36000" rtlCol="0" anchor="ctr">
            <a:noAutofit/>
          </a:bodyPr>
          <a:lstStyle/>
          <a:p>
            <a:pPr marL="0" indent="0">
              <a:buFont typeface="Arial" pitchFamily="34" charset="0"/>
              <a:buNone/>
            </a:pPr>
            <a:r>
              <a:rPr lang="en-GB" sz="900" b="1" dirty="0">
                <a:latin typeface="Vodafone Rg" pitchFamily="34" charset="0"/>
              </a:rPr>
              <a:t>#1 Via Links Tab</a:t>
            </a:r>
          </a:p>
          <a:p>
            <a:pPr marL="0" indent="0">
              <a:buFont typeface="Arial" pitchFamily="34" charset="0"/>
              <a:buNone/>
            </a:pPr>
            <a:r>
              <a:rPr lang="en-GB" sz="900" dirty="0">
                <a:latin typeface="Vodafone Rg" pitchFamily="34" charset="0"/>
              </a:rPr>
              <a:t>Add Link &gt; New Item</a:t>
            </a:r>
          </a:p>
        </p:txBody>
      </p:sp>
      <p:cxnSp>
        <p:nvCxnSpPr>
          <p:cNvPr id="19" name="Straight Arrow Connector 18">
            <a:extLst>
              <a:ext uri="{FF2B5EF4-FFF2-40B4-BE49-F238E27FC236}">
                <a16:creationId xmlns:a16="http://schemas.microsoft.com/office/drawing/2014/main" id="{1EA18FE2-C6AF-33F5-7BE2-46120362AFF0}"/>
              </a:ext>
            </a:extLst>
          </p:cNvPr>
          <p:cNvCxnSpPr>
            <a:cxnSpLocks/>
            <a:stCxn id="15" idx="1"/>
          </p:cNvCxnSpPr>
          <p:nvPr/>
        </p:nvCxnSpPr>
        <p:spPr>
          <a:xfrm flipH="1">
            <a:off x="3841135" y="2265507"/>
            <a:ext cx="798968" cy="675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B88F01C-5C55-6601-6B12-C5FE45E8C374}"/>
              </a:ext>
            </a:extLst>
          </p:cNvPr>
          <p:cNvCxnSpPr>
            <a:cxnSpLocks/>
            <a:stCxn id="18" idx="2"/>
          </p:cNvCxnSpPr>
          <p:nvPr/>
        </p:nvCxnSpPr>
        <p:spPr>
          <a:xfrm>
            <a:off x="826734" y="3762038"/>
            <a:ext cx="251537" cy="881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BBC9C49-D93C-5F7C-853A-0AE0982643EC}"/>
              </a:ext>
            </a:extLst>
          </p:cNvPr>
          <p:cNvSpPr txBox="1"/>
          <p:nvPr/>
        </p:nvSpPr>
        <p:spPr>
          <a:xfrm>
            <a:off x="7512568" y="1386206"/>
            <a:ext cx="1347788" cy="312640"/>
          </a:xfrm>
          <a:prstGeom prst="rect">
            <a:avLst/>
          </a:prstGeom>
          <a:solidFill>
            <a:schemeClr val="accent5">
              <a:lumMod val="20000"/>
              <a:lumOff val="80000"/>
            </a:schemeClr>
          </a:solidFill>
        </p:spPr>
        <p:txBody>
          <a:bodyPr wrap="square" lIns="36000" tIns="36000" rIns="36000" bIns="36000" rtlCol="0" anchor="ctr">
            <a:noAutofit/>
          </a:bodyPr>
          <a:lstStyle/>
          <a:p>
            <a:pPr marL="0" indent="0">
              <a:buFont typeface="Arial" pitchFamily="34" charset="0"/>
              <a:buNone/>
            </a:pPr>
            <a:r>
              <a:rPr lang="en-GB" sz="900" b="1" dirty="0">
                <a:latin typeface="Vodafone Rg" pitchFamily="34" charset="0"/>
              </a:rPr>
              <a:t>#2 Add Link Dialog</a:t>
            </a:r>
          </a:p>
        </p:txBody>
      </p:sp>
      <p:sp>
        <p:nvSpPr>
          <p:cNvPr id="29" name="TextBox 28">
            <a:extLst>
              <a:ext uri="{FF2B5EF4-FFF2-40B4-BE49-F238E27FC236}">
                <a16:creationId xmlns:a16="http://schemas.microsoft.com/office/drawing/2014/main" id="{55C48210-BB81-3CC1-A0BE-7145B7B69C55}"/>
              </a:ext>
            </a:extLst>
          </p:cNvPr>
          <p:cNvSpPr txBox="1"/>
          <p:nvPr/>
        </p:nvSpPr>
        <p:spPr>
          <a:xfrm>
            <a:off x="7652198" y="2368481"/>
            <a:ext cx="1192335" cy="234651"/>
          </a:xfrm>
          <a:prstGeom prst="rect">
            <a:avLst/>
          </a:prstGeom>
          <a:solidFill>
            <a:schemeClr val="accent2">
              <a:lumMod val="20000"/>
              <a:lumOff val="80000"/>
            </a:schemeClr>
          </a:solidFill>
        </p:spPr>
        <p:txBody>
          <a:bodyPr wrap="square" lIns="36000" tIns="36000" rIns="36000" bIns="36000" rtlCol="0" anchor="ctr">
            <a:noAutofit/>
          </a:bodyPr>
          <a:lstStyle/>
          <a:p>
            <a:pPr marL="0" indent="0">
              <a:buFont typeface="Arial" pitchFamily="34" charset="0"/>
              <a:buNone/>
            </a:pPr>
            <a:r>
              <a:rPr lang="en-GB" sz="900" b="1" dirty="0">
                <a:latin typeface="Vodafone Rg" pitchFamily="34" charset="0"/>
              </a:rPr>
              <a:t>Type = Child</a:t>
            </a:r>
          </a:p>
        </p:txBody>
      </p:sp>
      <p:sp>
        <p:nvSpPr>
          <p:cNvPr id="2" name="TextBox 1">
            <a:extLst>
              <a:ext uri="{FF2B5EF4-FFF2-40B4-BE49-F238E27FC236}">
                <a16:creationId xmlns:a16="http://schemas.microsoft.com/office/drawing/2014/main" id="{2311A219-8440-9EC7-2ADA-DCB001EEDF4A}"/>
              </a:ext>
            </a:extLst>
          </p:cNvPr>
          <p:cNvSpPr txBox="1"/>
          <p:nvPr/>
        </p:nvSpPr>
        <p:spPr>
          <a:xfrm>
            <a:off x="7652198" y="2786368"/>
            <a:ext cx="1164908" cy="234651"/>
          </a:xfrm>
          <a:prstGeom prst="rect">
            <a:avLst/>
          </a:prstGeom>
          <a:solidFill>
            <a:schemeClr val="accent2">
              <a:lumMod val="20000"/>
              <a:lumOff val="80000"/>
            </a:schemeClr>
          </a:solidFill>
        </p:spPr>
        <p:txBody>
          <a:bodyPr wrap="square" lIns="36000" tIns="36000" rIns="36000" bIns="36000" rtlCol="0" anchor="ctr">
            <a:noAutofit/>
          </a:bodyPr>
          <a:lstStyle/>
          <a:p>
            <a:pPr marL="0" indent="0">
              <a:buFont typeface="Arial" pitchFamily="34" charset="0"/>
              <a:buNone/>
            </a:pPr>
            <a:r>
              <a:rPr lang="en-GB" sz="900" b="1" dirty="0">
                <a:latin typeface="Vodafone Rg" pitchFamily="34" charset="0"/>
              </a:rPr>
              <a:t>Work Item = Delivery</a:t>
            </a:r>
          </a:p>
        </p:txBody>
      </p:sp>
    </p:spTree>
    <p:extLst>
      <p:ext uri="{BB962C8B-B14F-4D97-AF65-F5344CB8AC3E}">
        <p14:creationId xmlns:p14="http://schemas.microsoft.com/office/powerpoint/2010/main" val="372882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3DF2CD-C66A-5A80-BA91-1EBC4E8A634C}"/>
              </a:ext>
            </a:extLst>
          </p:cNvPr>
          <p:cNvSpPr>
            <a:spLocks noGrp="1"/>
          </p:cNvSpPr>
          <p:nvPr>
            <p:ph type="sldNum" sz="quarter" idx="15"/>
          </p:nvPr>
        </p:nvSpPr>
        <p:spPr/>
        <p:txBody>
          <a:bodyPr/>
          <a:lstStyle/>
          <a:p>
            <a:fld id="{72A83A2B-3358-44F8-83A0-4598795D8FB5}" type="slidenum">
              <a:rPr lang="en-GB" smtClean="0"/>
              <a:pPr/>
              <a:t>34</a:t>
            </a:fld>
            <a:endParaRPr lang="en-GB"/>
          </a:p>
        </p:txBody>
      </p:sp>
      <p:sp>
        <p:nvSpPr>
          <p:cNvPr id="7" name="Title 6">
            <a:extLst>
              <a:ext uri="{FF2B5EF4-FFF2-40B4-BE49-F238E27FC236}">
                <a16:creationId xmlns:a16="http://schemas.microsoft.com/office/drawing/2014/main" id="{790B3C06-6E31-FA71-C92D-8231A8A6FBFE}"/>
              </a:ext>
            </a:extLst>
          </p:cNvPr>
          <p:cNvSpPr>
            <a:spLocks noGrp="1"/>
          </p:cNvSpPr>
          <p:nvPr>
            <p:ph type="title"/>
          </p:nvPr>
        </p:nvSpPr>
        <p:spPr/>
        <p:txBody>
          <a:bodyPr/>
          <a:lstStyle/>
          <a:p>
            <a:r>
              <a:rPr lang="en-GB" dirty="0"/>
              <a:t>Updating a Delivery || </a:t>
            </a:r>
            <a:r>
              <a:rPr lang="en-GB" b="0" dirty="0"/>
              <a:t>Key Fields </a:t>
            </a:r>
          </a:p>
        </p:txBody>
      </p:sp>
      <p:sp>
        <p:nvSpPr>
          <p:cNvPr id="14" name="Content Placeholder 4">
            <a:extLst>
              <a:ext uri="{FF2B5EF4-FFF2-40B4-BE49-F238E27FC236}">
                <a16:creationId xmlns:a16="http://schemas.microsoft.com/office/drawing/2014/main" id="{34946ED5-4250-2832-1CA3-C2C34450DC62}"/>
              </a:ext>
            </a:extLst>
          </p:cNvPr>
          <p:cNvSpPr txBox="1">
            <a:spLocks/>
          </p:cNvSpPr>
          <p:nvPr/>
        </p:nvSpPr>
        <p:spPr>
          <a:xfrm>
            <a:off x="180000" y="540000"/>
            <a:ext cx="8784000" cy="1102712"/>
          </a:xfrm>
          <a:prstGeom prst="rect">
            <a:avLst/>
          </a:prstGeom>
        </p:spPr>
        <p:txBody>
          <a:bodyPr/>
          <a:lstStyle>
            <a:lvl1pPr marL="138113" indent="-138113" algn="l" defTabSz="914400" rtl="0" eaLnBrk="1" latinLnBrk="0" hangingPunct="1">
              <a:spcBef>
                <a:spcPts val="0"/>
              </a:spcBef>
              <a:spcAft>
                <a:spcPts val="600"/>
              </a:spcAft>
              <a:buClr>
                <a:schemeClr val="accent1"/>
              </a:buClr>
              <a:buFont typeface="Arial" pitchFamily="34" charset="0"/>
              <a:buChar char="•"/>
              <a:defRPr sz="1800" kern="1200">
                <a:solidFill>
                  <a:schemeClr val="tx1"/>
                </a:solidFill>
                <a:latin typeface="Vodafone Rg" pitchFamily="34" charset="0"/>
                <a:ea typeface="+mn-ea"/>
                <a:cs typeface="+mn-cs"/>
              </a:defRPr>
            </a:lvl1pPr>
            <a:lvl2pPr marL="347663" indent="-147638" algn="l" defTabSz="914400" rtl="0" eaLnBrk="1" latinLnBrk="0" hangingPunct="1">
              <a:spcBef>
                <a:spcPts val="0"/>
              </a:spcBef>
              <a:spcAft>
                <a:spcPts val="300"/>
              </a:spcAft>
              <a:buClr>
                <a:schemeClr val="accent1"/>
              </a:buClr>
              <a:buFont typeface="Calibri" pitchFamily="34" charset="0"/>
              <a:buChar char="–"/>
              <a:defRPr sz="1400" kern="1200">
                <a:solidFill>
                  <a:schemeClr val="tx1"/>
                </a:solidFill>
                <a:latin typeface="Vodafone Rg" pitchFamily="34" charset="0"/>
                <a:ea typeface="+mn-ea"/>
                <a:cs typeface="+mn-cs"/>
              </a:defRPr>
            </a:lvl2pPr>
            <a:lvl3pPr marL="385763" indent="146050" algn="l" defTabSz="914400" rtl="0" eaLnBrk="1" latinLnBrk="0" hangingPunct="1">
              <a:spcBef>
                <a:spcPts val="0"/>
              </a:spcBef>
              <a:spcAft>
                <a:spcPts val="300"/>
              </a:spcAft>
              <a:buClr>
                <a:schemeClr val="accent1"/>
              </a:buClr>
              <a:buFont typeface="Calibri" pitchFamily="34" charset="0"/>
              <a:buChar char="–"/>
              <a:defRPr sz="1400" kern="1200">
                <a:solidFill>
                  <a:schemeClr val="tx1"/>
                </a:solidFill>
                <a:latin typeface="Vodafone Rg" pitchFamily="34" charset="0"/>
                <a:ea typeface="+mn-ea"/>
                <a:cs typeface="+mn-cs"/>
              </a:defRPr>
            </a:lvl3pPr>
            <a:lvl4pPr marL="717550" indent="-150813" algn="l" defTabSz="914400" rtl="0" eaLnBrk="1" latinLnBrk="0" hangingPunct="1">
              <a:spcBef>
                <a:spcPct val="20000"/>
              </a:spcBef>
              <a:buClr>
                <a:schemeClr val="accent1"/>
              </a:buClr>
              <a:buFont typeface="Calibri" pitchFamily="34" charset="0"/>
              <a:buChar char="–"/>
              <a:defRPr sz="1200" kern="1200">
                <a:solidFill>
                  <a:schemeClr val="tx1"/>
                </a:solidFill>
                <a:latin typeface="+mn-lt"/>
                <a:ea typeface="+mn-ea"/>
                <a:cs typeface="+mn-cs"/>
              </a:defRPr>
            </a:lvl4pPr>
            <a:lvl5pPr marL="914400" indent="-161925" algn="l" defTabSz="914400" rtl="0" eaLnBrk="1" latinLnBrk="0" hangingPunct="1">
              <a:spcBef>
                <a:spcPct val="20000"/>
              </a:spcBef>
              <a:buClr>
                <a:schemeClr val="accent1"/>
              </a:buClr>
              <a:buFont typeface="Calibri" pitchFamily="34" charset="0"/>
              <a:buChar char="–"/>
              <a:defRPr sz="12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Aft>
                <a:spcPts val="0"/>
              </a:spcAft>
              <a:buFont typeface="Arial" pitchFamily="34" charset="0"/>
              <a:buNone/>
            </a:pPr>
            <a:r>
              <a:rPr lang="en-GB" sz="1600" b="1" dirty="0"/>
              <a:t>Several Delivery fields are completed by other teams, these are the key fields for TDMs to complete</a:t>
            </a:r>
          </a:p>
          <a:p>
            <a:pPr>
              <a:spcAft>
                <a:spcPts val="0"/>
              </a:spcAft>
            </a:pPr>
            <a:r>
              <a:rPr lang="en-GB" sz="1400" b="1" dirty="0"/>
              <a:t>Details </a:t>
            </a:r>
            <a:r>
              <a:rPr lang="en-GB" sz="1400" dirty="0"/>
              <a:t>Tab: Target Release, Test Managers – SIT &amp; UAT</a:t>
            </a:r>
          </a:p>
          <a:p>
            <a:pPr>
              <a:spcAft>
                <a:spcPts val="0"/>
              </a:spcAft>
            </a:pPr>
            <a:r>
              <a:rPr lang="en-GB" sz="1400" b="1" dirty="0"/>
              <a:t>Test, Env </a:t>
            </a:r>
            <a:r>
              <a:rPr lang="en-GB" sz="1400" dirty="0"/>
              <a:t>Tab: VATs </a:t>
            </a:r>
            <a:r>
              <a:rPr lang="en-GB" sz="1400" dirty="0" err="1"/>
              <a:t>Req</a:t>
            </a:r>
            <a:r>
              <a:rPr lang="en-GB" sz="1400" dirty="0"/>
              <a:t> ID, EQF Status, New Interface, PAT Impact Status, EDW Impact Status</a:t>
            </a:r>
          </a:p>
          <a:p>
            <a:pPr>
              <a:spcAft>
                <a:spcPts val="0"/>
              </a:spcAft>
            </a:pPr>
            <a:r>
              <a:rPr lang="en-GB" sz="1400" b="1" dirty="0"/>
              <a:t>Deployment</a:t>
            </a:r>
            <a:r>
              <a:rPr lang="en-GB" sz="1400" dirty="0"/>
              <a:t> Tab: Consumption Plan</a:t>
            </a:r>
          </a:p>
          <a:p>
            <a:endParaRPr lang="en-GB" sz="1400" dirty="0"/>
          </a:p>
          <a:p>
            <a:endParaRPr lang="en-GB" sz="1400" dirty="0"/>
          </a:p>
          <a:p>
            <a:pPr lvl="1"/>
            <a:endParaRPr lang="en-GB" dirty="0"/>
          </a:p>
          <a:p>
            <a:pPr lvl="1"/>
            <a:endParaRPr lang="en-GB" dirty="0"/>
          </a:p>
          <a:p>
            <a:endParaRPr lang="en-GB" dirty="0"/>
          </a:p>
        </p:txBody>
      </p:sp>
      <p:pic>
        <p:nvPicPr>
          <p:cNvPr id="5" name="Picture 4">
            <a:extLst>
              <a:ext uri="{FF2B5EF4-FFF2-40B4-BE49-F238E27FC236}">
                <a16:creationId xmlns:a16="http://schemas.microsoft.com/office/drawing/2014/main" id="{CF3580E6-A489-8FF9-4CA9-2B6C61B2E6CE}"/>
              </a:ext>
            </a:extLst>
          </p:cNvPr>
          <p:cNvPicPr>
            <a:picLocks noChangeAspect="1"/>
          </p:cNvPicPr>
          <p:nvPr/>
        </p:nvPicPr>
        <p:blipFill>
          <a:blip r:embed="rId3"/>
          <a:stretch>
            <a:fillRect/>
          </a:stretch>
        </p:blipFill>
        <p:spPr>
          <a:xfrm>
            <a:off x="241684" y="1941999"/>
            <a:ext cx="3818364" cy="1978485"/>
          </a:xfrm>
          <a:prstGeom prst="rect">
            <a:avLst/>
          </a:prstGeom>
        </p:spPr>
      </p:pic>
      <p:pic>
        <p:nvPicPr>
          <p:cNvPr id="8" name="Picture 7">
            <a:extLst>
              <a:ext uri="{FF2B5EF4-FFF2-40B4-BE49-F238E27FC236}">
                <a16:creationId xmlns:a16="http://schemas.microsoft.com/office/drawing/2014/main" id="{1E805C90-F472-9B7B-7E7D-92725E8D459A}"/>
              </a:ext>
            </a:extLst>
          </p:cNvPr>
          <p:cNvPicPr>
            <a:picLocks noChangeAspect="1"/>
          </p:cNvPicPr>
          <p:nvPr/>
        </p:nvPicPr>
        <p:blipFill>
          <a:blip r:embed="rId4"/>
          <a:stretch>
            <a:fillRect/>
          </a:stretch>
        </p:blipFill>
        <p:spPr>
          <a:xfrm>
            <a:off x="4413205" y="1947388"/>
            <a:ext cx="2567443" cy="1797805"/>
          </a:xfrm>
          <a:prstGeom prst="rect">
            <a:avLst/>
          </a:prstGeom>
        </p:spPr>
      </p:pic>
      <p:pic>
        <p:nvPicPr>
          <p:cNvPr id="10" name="Picture 9">
            <a:extLst>
              <a:ext uri="{FF2B5EF4-FFF2-40B4-BE49-F238E27FC236}">
                <a16:creationId xmlns:a16="http://schemas.microsoft.com/office/drawing/2014/main" id="{DA74045F-2076-2680-C486-3D9211492530}"/>
              </a:ext>
            </a:extLst>
          </p:cNvPr>
          <p:cNvPicPr>
            <a:picLocks noChangeAspect="1"/>
          </p:cNvPicPr>
          <p:nvPr/>
        </p:nvPicPr>
        <p:blipFill>
          <a:blip r:embed="rId5"/>
          <a:stretch>
            <a:fillRect/>
          </a:stretch>
        </p:blipFill>
        <p:spPr>
          <a:xfrm>
            <a:off x="7212112" y="1959318"/>
            <a:ext cx="1679888" cy="1725378"/>
          </a:xfrm>
          <a:prstGeom prst="rect">
            <a:avLst/>
          </a:prstGeom>
        </p:spPr>
      </p:pic>
      <p:sp>
        <p:nvSpPr>
          <p:cNvPr id="11" name="Rectangle 10">
            <a:extLst>
              <a:ext uri="{FF2B5EF4-FFF2-40B4-BE49-F238E27FC236}">
                <a16:creationId xmlns:a16="http://schemas.microsoft.com/office/drawing/2014/main" id="{4BD49DDA-0FFF-AD82-7A90-88169F94A3CD}"/>
              </a:ext>
            </a:extLst>
          </p:cNvPr>
          <p:cNvSpPr/>
          <p:nvPr/>
        </p:nvSpPr>
        <p:spPr>
          <a:xfrm>
            <a:off x="2163352" y="2762450"/>
            <a:ext cx="461136" cy="186089"/>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12" name="Rectangle 11">
            <a:extLst>
              <a:ext uri="{FF2B5EF4-FFF2-40B4-BE49-F238E27FC236}">
                <a16:creationId xmlns:a16="http://schemas.microsoft.com/office/drawing/2014/main" id="{DD98D552-9E3A-4D1F-A88F-3A9DB24EC079}"/>
              </a:ext>
            </a:extLst>
          </p:cNvPr>
          <p:cNvSpPr/>
          <p:nvPr/>
        </p:nvSpPr>
        <p:spPr>
          <a:xfrm>
            <a:off x="3136929" y="2762450"/>
            <a:ext cx="623340" cy="362552"/>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13" name="Rectangle 12">
            <a:extLst>
              <a:ext uri="{FF2B5EF4-FFF2-40B4-BE49-F238E27FC236}">
                <a16:creationId xmlns:a16="http://schemas.microsoft.com/office/drawing/2014/main" id="{22826DBE-F984-A53A-5DC9-C1AAC8FE7F7F}"/>
              </a:ext>
            </a:extLst>
          </p:cNvPr>
          <p:cNvSpPr/>
          <p:nvPr/>
        </p:nvSpPr>
        <p:spPr>
          <a:xfrm>
            <a:off x="4483770" y="2322904"/>
            <a:ext cx="765208" cy="152400"/>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16" name="Rectangle 15">
            <a:extLst>
              <a:ext uri="{FF2B5EF4-FFF2-40B4-BE49-F238E27FC236}">
                <a16:creationId xmlns:a16="http://schemas.microsoft.com/office/drawing/2014/main" id="{5FCFBFDD-FA2E-7976-6DE9-1A81046EF042}"/>
              </a:ext>
            </a:extLst>
          </p:cNvPr>
          <p:cNvSpPr/>
          <p:nvPr/>
        </p:nvSpPr>
        <p:spPr>
          <a:xfrm>
            <a:off x="5704567" y="2322904"/>
            <a:ext cx="765208" cy="152400"/>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20" name="Rectangle 19">
            <a:extLst>
              <a:ext uri="{FF2B5EF4-FFF2-40B4-BE49-F238E27FC236}">
                <a16:creationId xmlns:a16="http://schemas.microsoft.com/office/drawing/2014/main" id="{3DCA9481-43A0-E72F-44A9-B6010AAEFE87}"/>
              </a:ext>
            </a:extLst>
          </p:cNvPr>
          <p:cNvSpPr/>
          <p:nvPr/>
        </p:nvSpPr>
        <p:spPr>
          <a:xfrm>
            <a:off x="5704567" y="2571547"/>
            <a:ext cx="765208" cy="152400"/>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21" name="Rectangle 20">
            <a:extLst>
              <a:ext uri="{FF2B5EF4-FFF2-40B4-BE49-F238E27FC236}">
                <a16:creationId xmlns:a16="http://schemas.microsoft.com/office/drawing/2014/main" id="{CCCCBE81-F684-6EEF-5E0C-32BE27761B69}"/>
              </a:ext>
            </a:extLst>
          </p:cNvPr>
          <p:cNvSpPr/>
          <p:nvPr/>
        </p:nvSpPr>
        <p:spPr>
          <a:xfrm>
            <a:off x="5704567" y="3075275"/>
            <a:ext cx="765208" cy="152400"/>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22" name="Rectangle 21">
            <a:extLst>
              <a:ext uri="{FF2B5EF4-FFF2-40B4-BE49-F238E27FC236}">
                <a16:creationId xmlns:a16="http://schemas.microsoft.com/office/drawing/2014/main" id="{59332160-92C1-A64F-D06F-348B3C20600A}"/>
              </a:ext>
            </a:extLst>
          </p:cNvPr>
          <p:cNvSpPr/>
          <p:nvPr/>
        </p:nvSpPr>
        <p:spPr>
          <a:xfrm>
            <a:off x="5704567" y="3319113"/>
            <a:ext cx="765208" cy="152400"/>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24" name="Rectangle 23">
            <a:extLst>
              <a:ext uri="{FF2B5EF4-FFF2-40B4-BE49-F238E27FC236}">
                <a16:creationId xmlns:a16="http://schemas.microsoft.com/office/drawing/2014/main" id="{D6E6284D-7193-A402-5CCE-8FDEC1A964F8}"/>
              </a:ext>
            </a:extLst>
          </p:cNvPr>
          <p:cNvSpPr/>
          <p:nvPr/>
        </p:nvSpPr>
        <p:spPr>
          <a:xfrm>
            <a:off x="7236589" y="2822007"/>
            <a:ext cx="765208" cy="152400"/>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Tree>
    <p:extLst>
      <p:ext uri="{BB962C8B-B14F-4D97-AF65-F5344CB8AC3E}">
        <p14:creationId xmlns:p14="http://schemas.microsoft.com/office/powerpoint/2010/main" val="28219690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2510C9C-5124-4A92-BD35-C1C3D3D33F62}"/>
              </a:ext>
            </a:extLst>
          </p:cNvPr>
          <p:cNvSpPr>
            <a:spLocks noGrp="1"/>
          </p:cNvSpPr>
          <p:nvPr>
            <p:ph sz="quarter" idx="13"/>
          </p:nvPr>
        </p:nvSpPr>
        <p:spPr>
          <a:xfrm>
            <a:off x="180000" y="540001"/>
            <a:ext cx="8712000" cy="507404"/>
          </a:xfrm>
        </p:spPr>
        <p:txBody>
          <a:bodyPr/>
          <a:lstStyle/>
          <a:p>
            <a:pPr marL="0" indent="0">
              <a:buNone/>
            </a:pPr>
            <a:r>
              <a:rPr lang="en-GB" sz="1100" dirty="0"/>
              <a:t>The consumption plan field in ADO guides stakeholders on the Project’s </a:t>
            </a:r>
            <a:r>
              <a:rPr lang="en-GB" sz="1100" b="1" dirty="0"/>
              <a:t>intent </a:t>
            </a:r>
            <a:r>
              <a:rPr lang="en-GB" sz="1100" dirty="0"/>
              <a:t>for the state of the </a:t>
            </a:r>
            <a:r>
              <a:rPr lang="en-GB" sz="1100" b="1" dirty="0"/>
              <a:t>Delivery</a:t>
            </a:r>
            <a:r>
              <a:rPr lang="en-GB" sz="1100" dirty="0"/>
              <a:t> at Release Go-Live.</a:t>
            </a:r>
          </a:p>
          <a:p>
            <a:pPr marL="0" indent="0">
              <a:buNone/>
            </a:pPr>
            <a:r>
              <a:rPr lang="en-GB" sz="1100" dirty="0"/>
              <a:t>The application impacts (ADO Functions) also include Switches (Next Slide), which are set independently of the Feature, to compliment as needed</a:t>
            </a:r>
          </a:p>
          <a:p>
            <a:endParaRPr lang="en-GB" sz="1100" dirty="0"/>
          </a:p>
        </p:txBody>
      </p:sp>
      <p:sp>
        <p:nvSpPr>
          <p:cNvPr id="6" name="Title 5">
            <a:extLst>
              <a:ext uri="{FF2B5EF4-FFF2-40B4-BE49-F238E27FC236}">
                <a16:creationId xmlns:a16="http://schemas.microsoft.com/office/drawing/2014/main" id="{5A528FC0-B7D2-4159-AE9F-F34580B8E655}"/>
              </a:ext>
            </a:extLst>
          </p:cNvPr>
          <p:cNvSpPr>
            <a:spLocks noGrp="1"/>
          </p:cNvSpPr>
          <p:nvPr>
            <p:ph type="title"/>
          </p:nvPr>
        </p:nvSpPr>
        <p:spPr/>
        <p:txBody>
          <a:bodyPr/>
          <a:lstStyle/>
          <a:p>
            <a:r>
              <a:rPr lang="en-GB" dirty="0"/>
              <a:t>ADO || </a:t>
            </a:r>
            <a:r>
              <a:rPr lang="en-GB" b="0" dirty="0"/>
              <a:t>Delivery Consumption Plans</a:t>
            </a:r>
            <a:endParaRPr lang="en-GB" dirty="0"/>
          </a:p>
        </p:txBody>
      </p:sp>
      <p:sp>
        <p:nvSpPr>
          <p:cNvPr id="5" name="Slide Number Placeholder 4">
            <a:extLst>
              <a:ext uri="{FF2B5EF4-FFF2-40B4-BE49-F238E27FC236}">
                <a16:creationId xmlns:a16="http://schemas.microsoft.com/office/drawing/2014/main" id="{A1F56E32-9E34-42C6-BA69-93F73F45AC0B}"/>
              </a:ext>
            </a:extLst>
          </p:cNvPr>
          <p:cNvSpPr>
            <a:spLocks noGrp="1"/>
          </p:cNvSpPr>
          <p:nvPr>
            <p:ph type="sldNum" sz="quarter" idx="15"/>
          </p:nvPr>
        </p:nvSpPr>
        <p:spPr/>
        <p:txBody>
          <a:bodyPr/>
          <a:lstStyle/>
          <a:p>
            <a:fld id="{72A83A2B-3358-44F8-83A0-4598795D8FB5}" type="slidenum">
              <a:rPr lang="en-GB" smtClean="0"/>
              <a:pPr/>
              <a:t>35</a:t>
            </a:fld>
            <a:endParaRPr lang="en-GB" dirty="0"/>
          </a:p>
        </p:txBody>
      </p:sp>
      <p:graphicFrame>
        <p:nvGraphicFramePr>
          <p:cNvPr id="10" name="Table 10">
            <a:extLst>
              <a:ext uri="{FF2B5EF4-FFF2-40B4-BE49-F238E27FC236}">
                <a16:creationId xmlns:a16="http://schemas.microsoft.com/office/drawing/2014/main" id="{593FC942-826D-4AC3-8FBD-30C00659EACF}"/>
              </a:ext>
            </a:extLst>
          </p:cNvPr>
          <p:cNvGraphicFramePr>
            <a:graphicFrameLocks noGrp="1"/>
          </p:cNvGraphicFramePr>
          <p:nvPr/>
        </p:nvGraphicFramePr>
        <p:xfrm>
          <a:off x="444731" y="1047405"/>
          <a:ext cx="8254537" cy="3627120"/>
        </p:xfrm>
        <a:graphic>
          <a:graphicData uri="http://schemas.openxmlformats.org/drawingml/2006/table">
            <a:tbl>
              <a:tblPr firstRow="1" bandRow="1">
                <a:tableStyleId>{5C22544A-7EE6-4342-B048-85BDC9FD1C3A}</a:tableStyleId>
              </a:tblPr>
              <a:tblGrid>
                <a:gridCol w="2020491">
                  <a:extLst>
                    <a:ext uri="{9D8B030D-6E8A-4147-A177-3AD203B41FA5}">
                      <a16:colId xmlns:a16="http://schemas.microsoft.com/office/drawing/2014/main" val="633423574"/>
                    </a:ext>
                  </a:extLst>
                </a:gridCol>
                <a:gridCol w="6234046">
                  <a:extLst>
                    <a:ext uri="{9D8B030D-6E8A-4147-A177-3AD203B41FA5}">
                      <a16:colId xmlns:a16="http://schemas.microsoft.com/office/drawing/2014/main" val="1012801005"/>
                    </a:ext>
                  </a:extLst>
                </a:gridCol>
              </a:tblGrid>
              <a:tr h="0">
                <a:tc>
                  <a:txBody>
                    <a:bodyPr/>
                    <a:lstStyle/>
                    <a:p>
                      <a:r>
                        <a:rPr lang="en-GB" sz="1000" dirty="0"/>
                        <a:t>Value</a:t>
                      </a:r>
                    </a:p>
                  </a:txBody>
                  <a:tcPr/>
                </a:tc>
                <a:tc>
                  <a:txBody>
                    <a:bodyPr/>
                    <a:lstStyle/>
                    <a:p>
                      <a:r>
                        <a:rPr lang="en-GB" sz="1000" dirty="0"/>
                        <a:t>Description</a:t>
                      </a:r>
                    </a:p>
                  </a:txBody>
                  <a:tcPr/>
                </a:tc>
                <a:extLst>
                  <a:ext uri="{0D108BD9-81ED-4DB2-BD59-A6C34878D82A}">
                    <a16:rowId xmlns:a16="http://schemas.microsoft.com/office/drawing/2014/main" val="18228712"/>
                  </a:ext>
                </a:extLst>
              </a:tr>
              <a:tr h="0">
                <a:tc>
                  <a:txBody>
                    <a:bodyPr/>
                    <a:lstStyle/>
                    <a:p>
                      <a:pPr>
                        <a:spcAft>
                          <a:spcPts val="0"/>
                        </a:spcAft>
                      </a:pPr>
                      <a:r>
                        <a:rPr lang="en-GB" sz="900" b="1" dirty="0"/>
                        <a:t>With Release</a:t>
                      </a:r>
                    </a:p>
                  </a:txBody>
                  <a:tcPr/>
                </a:tc>
                <a:tc>
                  <a:txBody>
                    <a:bodyPr/>
                    <a:lstStyle/>
                    <a:p>
                      <a:r>
                        <a:rPr lang="en-GB" sz="900" dirty="0"/>
                        <a:t>A normal deployment, going live to agents and customers</a:t>
                      </a:r>
                    </a:p>
                  </a:txBody>
                  <a:tcPr/>
                </a:tc>
                <a:extLst>
                  <a:ext uri="{0D108BD9-81ED-4DB2-BD59-A6C34878D82A}">
                    <a16:rowId xmlns:a16="http://schemas.microsoft.com/office/drawing/2014/main" val="1317425772"/>
                  </a:ext>
                </a:extLst>
              </a:tr>
              <a:tr h="0">
                <a:tc>
                  <a:txBody>
                    <a:bodyPr/>
                    <a:lstStyle/>
                    <a:p>
                      <a:pPr>
                        <a:spcAft>
                          <a:spcPts val="0"/>
                        </a:spcAft>
                      </a:pPr>
                      <a:r>
                        <a:rPr lang="en-GB" sz="900" b="1" dirty="0"/>
                        <a:t>FUT</a:t>
                      </a:r>
                    </a:p>
                  </a:txBody>
                  <a:tcPr/>
                </a:tc>
                <a:tc>
                  <a:txBody>
                    <a:bodyPr/>
                    <a:lstStyle/>
                    <a:p>
                      <a:r>
                        <a:rPr lang="en-GB" sz="900" dirty="0"/>
                        <a:t>Friendly User Trial - Available to selected agents or internal/external customers</a:t>
                      </a:r>
                    </a:p>
                  </a:txBody>
                  <a:tcPr/>
                </a:tc>
                <a:extLst>
                  <a:ext uri="{0D108BD9-81ED-4DB2-BD59-A6C34878D82A}">
                    <a16:rowId xmlns:a16="http://schemas.microsoft.com/office/drawing/2014/main" val="3289895107"/>
                  </a:ext>
                </a:extLst>
              </a:tr>
              <a:tr h="0">
                <a:tc>
                  <a:txBody>
                    <a:bodyPr/>
                    <a:lstStyle/>
                    <a:p>
                      <a:pPr>
                        <a:spcAft>
                          <a:spcPts val="0"/>
                        </a:spcAft>
                      </a:pPr>
                      <a:r>
                        <a:rPr lang="en-GB" sz="900" b="1" dirty="0"/>
                        <a:t>Switched-Off</a:t>
                      </a:r>
                    </a:p>
                  </a:txBody>
                  <a:tcPr/>
                </a:tc>
                <a:tc>
                  <a:txBody>
                    <a:bodyPr/>
                    <a:lstStyle/>
                    <a:p>
                      <a:r>
                        <a:rPr lang="en-GB" sz="900" dirty="0"/>
                        <a:t>This functionality is in production, switched off, not available to agents and customers. </a:t>
                      </a:r>
                    </a:p>
                  </a:txBody>
                  <a:tcPr/>
                </a:tc>
                <a:extLst>
                  <a:ext uri="{0D108BD9-81ED-4DB2-BD59-A6C34878D82A}">
                    <a16:rowId xmlns:a16="http://schemas.microsoft.com/office/drawing/2014/main" val="344482157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dirty="0"/>
                        <a:t>Dormant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dirty="0"/>
                        <a:t>This functionality is in production, but not used until another system, app or service implements or calls it at a later date</a:t>
                      </a:r>
                    </a:p>
                  </a:txBody>
                  <a:tcPr/>
                </a:tc>
                <a:extLst>
                  <a:ext uri="{0D108BD9-81ED-4DB2-BD59-A6C34878D82A}">
                    <a16:rowId xmlns:a16="http://schemas.microsoft.com/office/drawing/2014/main" val="2874145299"/>
                  </a:ext>
                </a:extLst>
              </a:tr>
              <a:tr h="0">
                <a:tc>
                  <a:txBody>
                    <a:bodyPr/>
                    <a:lstStyle/>
                    <a:p>
                      <a:pPr>
                        <a:spcAft>
                          <a:spcPts val="0"/>
                        </a:spcAft>
                      </a:pPr>
                      <a:r>
                        <a:rPr lang="en-GB" sz="900" b="1" dirty="0"/>
                        <a:t>Rolled Back</a:t>
                      </a:r>
                    </a:p>
                  </a:txBody>
                  <a:tcPr/>
                </a:tc>
                <a:tc>
                  <a:txBody>
                    <a:bodyPr/>
                    <a:lstStyle/>
                    <a:p>
                      <a:r>
                        <a:rPr lang="en-GB" sz="900" dirty="0"/>
                        <a:t>The code changes will be rolled back from this release</a:t>
                      </a:r>
                    </a:p>
                  </a:txBody>
                  <a:tcPr/>
                </a:tc>
                <a:extLst>
                  <a:ext uri="{0D108BD9-81ED-4DB2-BD59-A6C34878D82A}">
                    <a16:rowId xmlns:a16="http://schemas.microsoft.com/office/drawing/2014/main" val="9512665"/>
                  </a:ext>
                </a:extLst>
              </a:tr>
              <a:tr h="0">
                <a:tc>
                  <a:txBody>
                    <a:bodyPr/>
                    <a:lstStyle/>
                    <a:p>
                      <a:pPr>
                        <a:spcAft>
                          <a:spcPts val="0"/>
                        </a:spcAft>
                      </a:pPr>
                      <a:r>
                        <a:rPr lang="en-GB" sz="900" b="1" dirty="0"/>
                        <a:t>Design/Build/Support Only</a:t>
                      </a:r>
                    </a:p>
                  </a:txBody>
                  <a:tcPr/>
                </a:tc>
                <a:tc>
                  <a:txBody>
                    <a:bodyPr/>
                    <a:lstStyle/>
                    <a:p>
                      <a:r>
                        <a:rPr lang="en-GB" sz="900" dirty="0"/>
                        <a:t>Will be designed and/or built in dev environment only, not deployed to production, OR consultancy type of support</a:t>
                      </a:r>
                    </a:p>
                  </a:txBody>
                  <a:tcPr/>
                </a:tc>
                <a:extLst>
                  <a:ext uri="{0D108BD9-81ED-4DB2-BD59-A6C34878D82A}">
                    <a16:rowId xmlns:a16="http://schemas.microsoft.com/office/drawing/2014/main" val="2267073565"/>
                  </a:ext>
                </a:extLst>
              </a:tr>
              <a:tr h="0">
                <a:tc>
                  <a:txBody>
                    <a:bodyPr/>
                    <a:lstStyle/>
                    <a:p>
                      <a:pPr>
                        <a:spcAft>
                          <a:spcPts val="0"/>
                        </a:spcAft>
                      </a:pPr>
                      <a:r>
                        <a:rPr lang="en-GB" sz="900" b="1" strike="sngStrike" dirty="0">
                          <a:solidFill>
                            <a:srgbClr val="FF0000"/>
                          </a:solidFill>
                        </a:rPr>
                        <a:t>Descoped</a:t>
                      </a:r>
                    </a:p>
                  </a:txBody>
                  <a:tcPr/>
                </a:tc>
                <a:tc>
                  <a:txBody>
                    <a:bodyPr/>
                    <a:lstStyle/>
                    <a:p>
                      <a:r>
                        <a:rPr lang="en-GB" sz="900" strike="sngStrike" dirty="0">
                          <a:solidFill>
                            <a:srgbClr val="FF0000"/>
                          </a:solidFill>
                        </a:rPr>
                        <a:t>Will be removed, and recorded as Flux-Out </a:t>
                      </a:r>
                    </a:p>
                  </a:txBody>
                  <a:tcPr/>
                </a:tc>
                <a:extLst>
                  <a:ext uri="{0D108BD9-81ED-4DB2-BD59-A6C34878D82A}">
                    <a16:rowId xmlns:a16="http://schemas.microsoft.com/office/drawing/2014/main" val="4192264789"/>
                  </a:ext>
                </a:extLst>
              </a:tr>
              <a:tr h="0">
                <a:tc>
                  <a:txBody>
                    <a:bodyPr/>
                    <a:lstStyle/>
                    <a:p>
                      <a:pPr>
                        <a:spcAft>
                          <a:spcPts val="0"/>
                        </a:spcAft>
                      </a:pPr>
                      <a:r>
                        <a:rPr lang="en-GB" sz="900" b="1" dirty="0"/>
                        <a:t>Post-Release Future Deployment</a:t>
                      </a:r>
                    </a:p>
                  </a:txBody>
                  <a:tcPr/>
                </a:tc>
                <a:tc>
                  <a:txBody>
                    <a:bodyPr/>
                    <a:lstStyle/>
                    <a:p>
                      <a:r>
                        <a:rPr lang="en-GB" sz="900" dirty="0">
                          <a:solidFill>
                            <a:schemeClr val="tx1"/>
                          </a:solidFill>
                        </a:rPr>
                        <a:t>Deployed after this release and before the next release</a:t>
                      </a:r>
                    </a:p>
                  </a:txBody>
                  <a:tcPr/>
                </a:tc>
                <a:extLst>
                  <a:ext uri="{0D108BD9-81ED-4DB2-BD59-A6C34878D82A}">
                    <a16:rowId xmlns:a16="http://schemas.microsoft.com/office/drawing/2014/main" val="3190428829"/>
                  </a:ext>
                </a:extLst>
              </a:tr>
              <a:tr h="0">
                <a:tc>
                  <a:txBody>
                    <a:bodyPr/>
                    <a:lstStyle/>
                    <a:p>
                      <a:pPr>
                        <a:spcAft>
                          <a:spcPts val="0"/>
                        </a:spcAft>
                      </a:pPr>
                      <a:r>
                        <a:rPr lang="en-GB" sz="900" b="1" dirty="0"/>
                        <a:t>Pre-Release</a:t>
                      </a:r>
                    </a:p>
                  </a:txBody>
                  <a:tcPr/>
                </a:tc>
                <a:tc>
                  <a:txBody>
                    <a:bodyPr/>
                    <a:lstStyle/>
                    <a:p>
                      <a:r>
                        <a:rPr lang="en-GB" sz="900" dirty="0">
                          <a:solidFill>
                            <a:schemeClr val="tx1"/>
                          </a:solidFill>
                        </a:rPr>
                        <a:t>Deployed before the main release Go-Live - Mainly 3rd party applications</a:t>
                      </a:r>
                      <a:endParaRPr lang="en-GB" sz="900" dirty="0">
                        <a:solidFill>
                          <a:schemeClr val="tx1"/>
                        </a:solidFill>
                        <a:highlight>
                          <a:srgbClr val="FFFF00"/>
                        </a:highlight>
                      </a:endParaRPr>
                    </a:p>
                  </a:txBody>
                  <a:tcPr/>
                </a:tc>
                <a:extLst>
                  <a:ext uri="{0D108BD9-81ED-4DB2-BD59-A6C34878D82A}">
                    <a16:rowId xmlns:a16="http://schemas.microsoft.com/office/drawing/2014/main" val="962872865"/>
                  </a:ext>
                </a:extLst>
              </a:tr>
              <a:tr h="0">
                <a:tc>
                  <a:txBody>
                    <a:bodyPr/>
                    <a:lstStyle/>
                    <a:p>
                      <a:pPr>
                        <a:spcAft>
                          <a:spcPts val="0"/>
                        </a:spcAft>
                      </a:pPr>
                      <a:r>
                        <a:rPr lang="en-GB" sz="900" b="1" dirty="0"/>
                        <a:t>DVT Only</a:t>
                      </a:r>
                    </a:p>
                  </a:txBody>
                  <a:tcPr/>
                </a:tc>
                <a:tc>
                  <a:txBody>
                    <a:bodyPr/>
                    <a:lstStyle/>
                    <a:p>
                      <a:r>
                        <a:rPr lang="en-GB" sz="900" dirty="0"/>
                        <a:t>Deployment Verification Testing only - Will not be deployed</a:t>
                      </a:r>
                    </a:p>
                  </a:txBody>
                  <a:tcPr/>
                </a:tc>
                <a:extLst>
                  <a:ext uri="{0D108BD9-81ED-4DB2-BD59-A6C34878D82A}">
                    <a16:rowId xmlns:a16="http://schemas.microsoft.com/office/drawing/2014/main" val="366484648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dirty="0"/>
                        <a:t>POC Only</a:t>
                      </a:r>
                    </a:p>
                  </a:txBody>
                  <a:tcPr/>
                </a:tc>
                <a:tc>
                  <a:txBody>
                    <a:bodyPr/>
                    <a:lstStyle/>
                    <a:p>
                      <a:r>
                        <a:rPr lang="en-GB" sz="900" dirty="0"/>
                        <a:t>Proof of Concepts are not deployed to production.  </a:t>
                      </a:r>
                    </a:p>
                    <a:p>
                      <a:r>
                        <a:rPr lang="en-GB" sz="900" dirty="0"/>
                        <a:t>They are built in a dev environment only, and only available to internal users</a:t>
                      </a:r>
                    </a:p>
                  </a:txBody>
                  <a:tcPr/>
                </a:tc>
                <a:extLst>
                  <a:ext uri="{0D108BD9-81ED-4DB2-BD59-A6C34878D82A}">
                    <a16:rowId xmlns:a16="http://schemas.microsoft.com/office/drawing/2014/main" val="241843285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dirty="0"/>
                        <a:t>Test Only</a:t>
                      </a:r>
                    </a:p>
                  </a:txBody>
                  <a:tcPr/>
                </a:tc>
                <a:tc>
                  <a:txBody>
                    <a:bodyPr/>
                    <a:lstStyle/>
                    <a:p>
                      <a:r>
                        <a:rPr lang="en-GB" sz="900" dirty="0"/>
                        <a:t>There is no new functionality delivered; signifies continuation of testing for features already delivered in previous releases (no roll-forward/no switch-on required)</a:t>
                      </a:r>
                    </a:p>
                  </a:txBody>
                  <a:tcPr/>
                </a:tc>
                <a:extLst>
                  <a:ext uri="{0D108BD9-81ED-4DB2-BD59-A6C34878D82A}">
                    <a16:rowId xmlns:a16="http://schemas.microsoft.com/office/drawing/2014/main" val="76606316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dirty="0"/>
                        <a:t>Test Support Only</a:t>
                      </a:r>
                    </a:p>
                  </a:txBody>
                  <a:tcPr/>
                </a:tc>
                <a:tc>
                  <a:txBody>
                    <a:bodyPr/>
                    <a:lstStyle/>
                    <a:p>
                      <a:r>
                        <a:rPr lang="en-GB" sz="900" b="0" u="none" dirty="0"/>
                        <a:t>Test Support provided by CCS SIT team for testing being carried out by external Teams </a:t>
                      </a:r>
                      <a:r>
                        <a:rPr lang="en-GB" sz="900" dirty="0"/>
                        <a:t>(Digital &amp; 3</a:t>
                      </a:r>
                      <a:r>
                        <a:rPr lang="en-GB" sz="900" baseline="30000" dirty="0"/>
                        <a:t>rd</a:t>
                      </a:r>
                      <a:r>
                        <a:rPr lang="en-GB" sz="900" dirty="0"/>
                        <a:t> Party), and may involve providing test data or extracting/sharing logs out to external teams</a:t>
                      </a:r>
                    </a:p>
                  </a:txBody>
                  <a:tcPr/>
                </a:tc>
                <a:extLst>
                  <a:ext uri="{0D108BD9-81ED-4DB2-BD59-A6C34878D82A}">
                    <a16:rowId xmlns:a16="http://schemas.microsoft.com/office/drawing/2014/main" val="2305551355"/>
                  </a:ext>
                </a:extLst>
              </a:tr>
            </a:tbl>
          </a:graphicData>
        </a:graphic>
      </p:graphicFrame>
    </p:spTree>
    <p:extLst>
      <p:ext uri="{BB962C8B-B14F-4D97-AF65-F5344CB8AC3E}">
        <p14:creationId xmlns:p14="http://schemas.microsoft.com/office/powerpoint/2010/main" val="39374896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2510C9C-5124-4A92-BD35-C1C3D3D33F62}"/>
              </a:ext>
            </a:extLst>
          </p:cNvPr>
          <p:cNvSpPr>
            <a:spLocks noGrp="1"/>
          </p:cNvSpPr>
          <p:nvPr>
            <p:ph sz="quarter" idx="13"/>
          </p:nvPr>
        </p:nvSpPr>
        <p:spPr>
          <a:xfrm>
            <a:off x="180000" y="540001"/>
            <a:ext cx="4886270" cy="1714312"/>
          </a:xfrm>
        </p:spPr>
        <p:txBody>
          <a:bodyPr/>
          <a:lstStyle/>
          <a:p>
            <a:pPr marL="0" indent="0">
              <a:buNone/>
            </a:pPr>
            <a:r>
              <a:rPr lang="en-GB" sz="1100" b="1" dirty="0"/>
              <a:t>These switches are set by the domain, in consultation with Demand &amp; Release</a:t>
            </a:r>
          </a:p>
          <a:p>
            <a:pPr marL="0" indent="0">
              <a:buNone/>
            </a:pPr>
            <a:r>
              <a:rPr lang="en-GB" sz="1100" dirty="0"/>
              <a:t>Domains may have differing switch fields in their ADO Project to suit their applications</a:t>
            </a:r>
          </a:p>
          <a:p>
            <a:pPr marL="0" indent="0">
              <a:buNone/>
            </a:pPr>
            <a:r>
              <a:rPr lang="en-GB" sz="1100" dirty="0"/>
              <a:t>The </a:t>
            </a:r>
            <a:r>
              <a:rPr lang="en-GB" sz="1100" b="1" dirty="0"/>
              <a:t>Switch</a:t>
            </a:r>
            <a:r>
              <a:rPr lang="en-GB" sz="1100" dirty="0"/>
              <a:t> field determines whether this code is enabled - Yes/No or restricted.</a:t>
            </a:r>
          </a:p>
          <a:p>
            <a:pPr marL="0" indent="0">
              <a:buNone/>
            </a:pPr>
            <a:r>
              <a:rPr lang="en-GB" sz="1100" dirty="0"/>
              <a:t>The </a:t>
            </a:r>
            <a:r>
              <a:rPr lang="en-GB" sz="1100" b="1" dirty="0"/>
              <a:t>Switch Reference </a:t>
            </a:r>
            <a:r>
              <a:rPr lang="en-GB" sz="1100" dirty="0"/>
              <a:t>drop down contains switch variable names which are defined by the build team to determine the behaviour of a sub-set of code.  An example of their use would be running a specific routine when the switch value is true.</a:t>
            </a:r>
          </a:p>
          <a:p>
            <a:endParaRPr lang="en-GB" sz="1100" dirty="0"/>
          </a:p>
        </p:txBody>
      </p:sp>
      <p:sp>
        <p:nvSpPr>
          <p:cNvPr id="6" name="Title 5">
            <a:extLst>
              <a:ext uri="{FF2B5EF4-FFF2-40B4-BE49-F238E27FC236}">
                <a16:creationId xmlns:a16="http://schemas.microsoft.com/office/drawing/2014/main" id="{5A528FC0-B7D2-4159-AE9F-F34580B8E655}"/>
              </a:ext>
            </a:extLst>
          </p:cNvPr>
          <p:cNvSpPr>
            <a:spLocks noGrp="1"/>
          </p:cNvSpPr>
          <p:nvPr>
            <p:ph type="title"/>
          </p:nvPr>
        </p:nvSpPr>
        <p:spPr/>
        <p:txBody>
          <a:bodyPr/>
          <a:lstStyle/>
          <a:p>
            <a:r>
              <a:rPr lang="en-GB" dirty="0"/>
              <a:t>ADO || </a:t>
            </a:r>
            <a:r>
              <a:rPr lang="en-GB" b="0" dirty="0"/>
              <a:t>Application (Function) Switches</a:t>
            </a:r>
            <a:endParaRPr lang="en-GB" dirty="0"/>
          </a:p>
        </p:txBody>
      </p:sp>
      <p:sp>
        <p:nvSpPr>
          <p:cNvPr id="5" name="Slide Number Placeholder 4">
            <a:extLst>
              <a:ext uri="{FF2B5EF4-FFF2-40B4-BE49-F238E27FC236}">
                <a16:creationId xmlns:a16="http://schemas.microsoft.com/office/drawing/2014/main" id="{A1F56E32-9E34-42C6-BA69-93F73F45AC0B}"/>
              </a:ext>
            </a:extLst>
          </p:cNvPr>
          <p:cNvSpPr>
            <a:spLocks noGrp="1"/>
          </p:cNvSpPr>
          <p:nvPr>
            <p:ph type="sldNum" sz="quarter" idx="15"/>
          </p:nvPr>
        </p:nvSpPr>
        <p:spPr/>
        <p:txBody>
          <a:bodyPr/>
          <a:lstStyle/>
          <a:p>
            <a:fld id="{72A83A2B-3358-44F8-83A0-4598795D8FB5}" type="slidenum">
              <a:rPr lang="en-GB" smtClean="0"/>
              <a:pPr/>
              <a:t>36</a:t>
            </a:fld>
            <a:endParaRPr lang="en-GB" dirty="0"/>
          </a:p>
        </p:txBody>
      </p:sp>
      <p:graphicFrame>
        <p:nvGraphicFramePr>
          <p:cNvPr id="3" name="Table 8">
            <a:extLst>
              <a:ext uri="{FF2B5EF4-FFF2-40B4-BE49-F238E27FC236}">
                <a16:creationId xmlns:a16="http://schemas.microsoft.com/office/drawing/2014/main" id="{9834B8B3-3397-4660-B124-13DBF13C84BA}"/>
              </a:ext>
            </a:extLst>
          </p:cNvPr>
          <p:cNvGraphicFramePr>
            <a:graphicFrameLocks noGrp="1"/>
          </p:cNvGraphicFramePr>
          <p:nvPr/>
        </p:nvGraphicFramePr>
        <p:xfrm>
          <a:off x="346550" y="3157020"/>
          <a:ext cx="4867999" cy="1554480"/>
        </p:xfrm>
        <a:graphic>
          <a:graphicData uri="http://schemas.openxmlformats.org/drawingml/2006/table">
            <a:tbl>
              <a:tblPr firstRow="1" bandRow="1">
                <a:tableStyleId>{5C22544A-7EE6-4342-B048-85BDC9FD1C3A}</a:tableStyleId>
              </a:tblPr>
              <a:tblGrid>
                <a:gridCol w="861231">
                  <a:extLst>
                    <a:ext uri="{9D8B030D-6E8A-4147-A177-3AD203B41FA5}">
                      <a16:colId xmlns:a16="http://schemas.microsoft.com/office/drawing/2014/main" val="2889566581"/>
                    </a:ext>
                  </a:extLst>
                </a:gridCol>
                <a:gridCol w="4006768">
                  <a:extLst>
                    <a:ext uri="{9D8B030D-6E8A-4147-A177-3AD203B41FA5}">
                      <a16:colId xmlns:a16="http://schemas.microsoft.com/office/drawing/2014/main" val="2530740965"/>
                    </a:ext>
                  </a:extLst>
                </a:gridCol>
              </a:tblGrid>
              <a:tr h="176533">
                <a:tc>
                  <a:txBody>
                    <a:bodyPr/>
                    <a:lstStyle/>
                    <a:p>
                      <a:r>
                        <a:rPr lang="en-GB" sz="1200"/>
                        <a:t>Value</a:t>
                      </a:r>
                      <a:endParaRPr lang="en-GB" sz="1200" dirty="0"/>
                    </a:p>
                  </a:txBody>
                  <a:tcPr/>
                </a:tc>
                <a:tc>
                  <a:txBody>
                    <a:bodyPr/>
                    <a:lstStyle/>
                    <a:p>
                      <a:r>
                        <a:rPr lang="en-GB" sz="1200"/>
                        <a:t>Description</a:t>
                      </a:r>
                      <a:endParaRPr lang="en-GB" sz="1200" dirty="0"/>
                    </a:p>
                  </a:txBody>
                  <a:tcPr/>
                </a:tc>
                <a:extLst>
                  <a:ext uri="{0D108BD9-81ED-4DB2-BD59-A6C34878D82A}">
                    <a16:rowId xmlns:a16="http://schemas.microsoft.com/office/drawing/2014/main" val="1255334699"/>
                  </a:ext>
                </a:extLst>
              </a:tr>
              <a:tr h="176533">
                <a:tc>
                  <a:txBody>
                    <a:bodyPr/>
                    <a:lstStyle/>
                    <a:p>
                      <a:r>
                        <a:rPr lang="en-GB" sz="1200"/>
                        <a:t>None</a:t>
                      </a:r>
                      <a:endParaRPr lang="en-GB" sz="1200" dirty="0"/>
                    </a:p>
                  </a:txBody>
                  <a:tcPr/>
                </a:tc>
                <a:tc>
                  <a:txBody>
                    <a:bodyPr/>
                    <a:lstStyle/>
                    <a:p>
                      <a:r>
                        <a:rPr lang="en-GB" sz="1200"/>
                        <a:t>Value not set</a:t>
                      </a:r>
                      <a:endParaRPr lang="en-GB" sz="1200" dirty="0"/>
                    </a:p>
                  </a:txBody>
                  <a:tcPr/>
                </a:tc>
                <a:extLst>
                  <a:ext uri="{0D108BD9-81ED-4DB2-BD59-A6C34878D82A}">
                    <a16:rowId xmlns:a16="http://schemas.microsoft.com/office/drawing/2014/main" val="506582404"/>
                  </a:ext>
                </a:extLst>
              </a:tr>
              <a:tr h="176533">
                <a:tc>
                  <a:txBody>
                    <a:bodyPr/>
                    <a:lstStyle/>
                    <a:p>
                      <a:r>
                        <a:rPr lang="en-GB" sz="1200"/>
                        <a:t>On</a:t>
                      </a:r>
                      <a:endParaRPr lang="en-GB" sz="1200" dirty="0"/>
                    </a:p>
                  </a:txBody>
                  <a:tcPr/>
                </a:tc>
                <a:tc>
                  <a:txBody>
                    <a:bodyPr/>
                    <a:lstStyle/>
                    <a:p>
                      <a:r>
                        <a:rPr lang="en-GB" sz="1200"/>
                        <a:t>The code is enabled which is the default behaviour where this switch is not set</a:t>
                      </a:r>
                      <a:endParaRPr lang="en-GB" sz="1200" dirty="0"/>
                    </a:p>
                  </a:txBody>
                  <a:tcPr/>
                </a:tc>
                <a:extLst>
                  <a:ext uri="{0D108BD9-81ED-4DB2-BD59-A6C34878D82A}">
                    <a16:rowId xmlns:a16="http://schemas.microsoft.com/office/drawing/2014/main" val="2476289893"/>
                  </a:ext>
                </a:extLst>
              </a:tr>
              <a:tr h="176533">
                <a:tc>
                  <a:txBody>
                    <a:bodyPr/>
                    <a:lstStyle/>
                    <a:p>
                      <a:r>
                        <a:rPr lang="en-GB" sz="1200"/>
                        <a:t>Off</a:t>
                      </a:r>
                      <a:endParaRPr lang="en-GB" sz="1200" dirty="0"/>
                    </a:p>
                  </a:txBody>
                  <a:tcPr/>
                </a:tc>
                <a:tc>
                  <a:txBody>
                    <a:bodyPr/>
                    <a:lstStyle/>
                    <a:p>
                      <a:r>
                        <a:rPr lang="en-GB" sz="1200"/>
                        <a:t>The code is disabled, in that its present but not run</a:t>
                      </a:r>
                      <a:endParaRPr lang="en-GB" sz="1200" dirty="0"/>
                    </a:p>
                  </a:txBody>
                  <a:tcPr/>
                </a:tc>
                <a:extLst>
                  <a:ext uri="{0D108BD9-81ED-4DB2-BD59-A6C34878D82A}">
                    <a16:rowId xmlns:a16="http://schemas.microsoft.com/office/drawing/2014/main" val="2317157586"/>
                  </a:ext>
                </a:extLst>
              </a:tr>
              <a:tr h="176533">
                <a:tc>
                  <a:txBody>
                    <a:bodyPr/>
                    <a:lstStyle/>
                    <a:p>
                      <a:r>
                        <a:rPr lang="en-GB" sz="1200"/>
                        <a:t>Restricted</a:t>
                      </a:r>
                      <a:endParaRPr lang="en-GB" sz="1200" dirty="0"/>
                    </a:p>
                  </a:txBody>
                  <a:tcPr/>
                </a:tc>
                <a:tc>
                  <a:txBody>
                    <a:bodyPr/>
                    <a:lstStyle/>
                    <a:p>
                      <a:r>
                        <a:rPr lang="en-GB" sz="1200" dirty="0">
                          <a:solidFill>
                            <a:schemeClr val="tx1"/>
                          </a:solidFill>
                        </a:rPr>
                        <a:t>Only available to a subset of users, mainly to do FUT</a:t>
                      </a:r>
                      <a:endParaRPr lang="en-GB" sz="1200" dirty="0">
                        <a:solidFill>
                          <a:schemeClr val="tx1"/>
                        </a:solidFill>
                        <a:highlight>
                          <a:srgbClr val="FFFF00"/>
                        </a:highlight>
                      </a:endParaRPr>
                    </a:p>
                  </a:txBody>
                  <a:tcPr/>
                </a:tc>
                <a:extLst>
                  <a:ext uri="{0D108BD9-81ED-4DB2-BD59-A6C34878D82A}">
                    <a16:rowId xmlns:a16="http://schemas.microsoft.com/office/drawing/2014/main" val="1351667556"/>
                  </a:ext>
                </a:extLst>
              </a:tr>
            </a:tbl>
          </a:graphicData>
        </a:graphic>
      </p:graphicFrame>
      <p:pic>
        <p:nvPicPr>
          <p:cNvPr id="11" name="Picture 10">
            <a:extLst>
              <a:ext uri="{FF2B5EF4-FFF2-40B4-BE49-F238E27FC236}">
                <a16:creationId xmlns:a16="http://schemas.microsoft.com/office/drawing/2014/main" id="{5A41F7A8-A84A-7466-A9CE-DF3C4F687461}"/>
              </a:ext>
            </a:extLst>
          </p:cNvPr>
          <p:cNvPicPr>
            <a:picLocks noChangeAspect="1"/>
          </p:cNvPicPr>
          <p:nvPr/>
        </p:nvPicPr>
        <p:blipFill>
          <a:blip r:embed="rId2"/>
          <a:stretch>
            <a:fillRect/>
          </a:stretch>
        </p:blipFill>
        <p:spPr>
          <a:xfrm>
            <a:off x="5649901" y="540001"/>
            <a:ext cx="3242099" cy="1618422"/>
          </a:xfrm>
          <a:prstGeom prst="rect">
            <a:avLst/>
          </a:prstGeom>
        </p:spPr>
      </p:pic>
    </p:spTree>
    <p:extLst>
      <p:ext uri="{BB962C8B-B14F-4D97-AF65-F5344CB8AC3E}">
        <p14:creationId xmlns:p14="http://schemas.microsoft.com/office/powerpoint/2010/main" val="41587496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908BCA-52DD-43A5-BA4C-0859D1E9939E}"/>
              </a:ext>
            </a:extLst>
          </p:cNvPr>
          <p:cNvSpPr>
            <a:spLocks noGrp="1"/>
          </p:cNvSpPr>
          <p:nvPr>
            <p:ph sz="quarter" idx="13"/>
          </p:nvPr>
        </p:nvSpPr>
        <p:spPr/>
        <p:txBody>
          <a:bodyPr/>
          <a:lstStyle/>
          <a:p>
            <a:pPr marL="0" indent="0">
              <a:buNone/>
            </a:pPr>
            <a:r>
              <a:rPr lang="en-GB" dirty="0"/>
              <a:t>See the </a:t>
            </a:r>
            <a:r>
              <a:rPr lang="en-GB" dirty="0">
                <a:hlinkClick r:id="rId2"/>
              </a:rPr>
              <a:t>https://vodafone.sharepoint.com/sites/CCSXpress</a:t>
            </a:r>
            <a:r>
              <a:rPr lang="en-GB" dirty="0"/>
              <a:t> SharePoint for links to other teams.</a:t>
            </a:r>
          </a:p>
          <a:p>
            <a:pPr marL="0" indent="0">
              <a:buNone/>
            </a:pPr>
            <a:r>
              <a:rPr lang="en-GB" dirty="0"/>
              <a:t>It is for those teams to document their engagement processes, but briefly:</a:t>
            </a:r>
          </a:p>
          <a:p>
            <a:r>
              <a:rPr lang="en-GB" dirty="0"/>
              <a:t>Raise your engagement requests via their forms at the start of release readiness, before CP0</a:t>
            </a:r>
          </a:p>
          <a:p>
            <a:r>
              <a:rPr lang="en-GB" dirty="0"/>
              <a:t>This is when your E2E HLD should be at least draft status and ideally approved</a:t>
            </a:r>
          </a:p>
          <a:p>
            <a:r>
              <a:rPr lang="en-GB" dirty="0"/>
              <a:t>Where dates, delivery plans and final impacts are not confirmed, enter your estimates and add a comment to inform the team, stating when you expect to know and updating accordingly once confirmed.</a:t>
            </a:r>
          </a:p>
          <a:p>
            <a:r>
              <a:rPr lang="en-GB" dirty="0"/>
              <a:t>The most common external (Non-Dev) teams to engage are:</a:t>
            </a:r>
          </a:p>
          <a:p>
            <a:pPr lvl="1"/>
            <a:r>
              <a:rPr lang="en-GB" dirty="0"/>
              <a:t>SIT (VATs)</a:t>
            </a:r>
          </a:p>
          <a:p>
            <a:pPr lvl="1"/>
            <a:r>
              <a:rPr lang="en-GB" dirty="0"/>
              <a:t>Environments (VES)</a:t>
            </a:r>
          </a:p>
          <a:p>
            <a:pPr lvl="1"/>
            <a:r>
              <a:rPr lang="en-GB" dirty="0"/>
              <a:t>PAT</a:t>
            </a:r>
          </a:p>
          <a:p>
            <a:pPr lvl="1"/>
            <a:r>
              <a:rPr lang="en-GB" dirty="0"/>
              <a:t>Operational Readiness</a:t>
            </a:r>
          </a:p>
          <a:p>
            <a:endParaRPr lang="en-GB" dirty="0"/>
          </a:p>
          <a:p>
            <a:endParaRPr lang="en-GB" dirty="0"/>
          </a:p>
          <a:p>
            <a:endParaRPr lang="en-GB" dirty="0"/>
          </a:p>
        </p:txBody>
      </p:sp>
      <p:sp>
        <p:nvSpPr>
          <p:cNvPr id="3" name="Title 2">
            <a:extLst>
              <a:ext uri="{FF2B5EF4-FFF2-40B4-BE49-F238E27FC236}">
                <a16:creationId xmlns:a16="http://schemas.microsoft.com/office/drawing/2014/main" id="{E7FF3C4E-94C5-426E-9C01-B36A05E98370}"/>
              </a:ext>
            </a:extLst>
          </p:cNvPr>
          <p:cNvSpPr>
            <a:spLocks noGrp="1"/>
          </p:cNvSpPr>
          <p:nvPr>
            <p:ph type="title"/>
          </p:nvPr>
        </p:nvSpPr>
        <p:spPr/>
        <p:txBody>
          <a:bodyPr/>
          <a:lstStyle/>
          <a:p>
            <a:r>
              <a:rPr lang="en-GB" dirty="0"/>
              <a:t>Engaging with Other (Non-Dev) Teams || </a:t>
            </a:r>
            <a:r>
              <a:rPr lang="en-GB" b="0" dirty="0"/>
              <a:t>SIT, VES, PAT, etc.</a:t>
            </a:r>
            <a:endParaRPr lang="en-GB" dirty="0"/>
          </a:p>
        </p:txBody>
      </p:sp>
      <p:sp>
        <p:nvSpPr>
          <p:cNvPr id="5" name="Slide Number Placeholder 4">
            <a:extLst>
              <a:ext uri="{FF2B5EF4-FFF2-40B4-BE49-F238E27FC236}">
                <a16:creationId xmlns:a16="http://schemas.microsoft.com/office/drawing/2014/main" id="{AE3637B0-252B-4C67-A9E2-5BBF350FCEB0}"/>
              </a:ext>
            </a:extLst>
          </p:cNvPr>
          <p:cNvSpPr>
            <a:spLocks noGrp="1"/>
          </p:cNvSpPr>
          <p:nvPr>
            <p:ph type="sldNum" sz="quarter" idx="15"/>
          </p:nvPr>
        </p:nvSpPr>
        <p:spPr/>
        <p:txBody>
          <a:bodyPr/>
          <a:lstStyle/>
          <a:p>
            <a:fld id="{72A83A2B-3358-44F8-83A0-4598795D8FB5}" type="slidenum">
              <a:rPr lang="en-GB" smtClean="0"/>
              <a:pPr/>
              <a:t>37</a:t>
            </a:fld>
            <a:endParaRPr lang="en-GB" dirty="0"/>
          </a:p>
        </p:txBody>
      </p:sp>
    </p:spTree>
    <p:extLst>
      <p:ext uri="{BB962C8B-B14F-4D97-AF65-F5344CB8AC3E}">
        <p14:creationId xmlns:p14="http://schemas.microsoft.com/office/powerpoint/2010/main" val="31309107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04D1542-70BE-1388-70E1-ED756419F2DE}"/>
              </a:ext>
            </a:extLst>
          </p:cNvPr>
          <p:cNvSpPr>
            <a:spLocks noGrp="1"/>
          </p:cNvSpPr>
          <p:nvPr>
            <p:ph type="ctrTitle"/>
          </p:nvPr>
        </p:nvSpPr>
        <p:spPr/>
        <p:txBody>
          <a:bodyPr/>
          <a:lstStyle/>
          <a:p>
            <a:r>
              <a:rPr lang="en-GB" dirty="0"/>
              <a:t>Functions</a:t>
            </a:r>
          </a:p>
        </p:txBody>
      </p:sp>
      <p:sp>
        <p:nvSpPr>
          <p:cNvPr id="4" name="Slide Number Placeholder 3">
            <a:extLst>
              <a:ext uri="{FF2B5EF4-FFF2-40B4-BE49-F238E27FC236}">
                <a16:creationId xmlns:a16="http://schemas.microsoft.com/office/drawing/2014/main" id="{574ED55A-3206-A6AB-16EF-80DBD05EDA14}"/>
              </a:ext>
            </a:extLst>
          </p:cNvPr>
          <p:cNvSpPr>
            <a:spLocks noGrp="1"/>
          </p:cNvSpPr>
          <p:nvPr>
            <p:ph type="sldNum" sz="quarter" idx="11"/>
          </p:nvPr>
        </p:nvSpPr>
        <p:spPr/>
        <p:txBody>
          <a:bodyPr/>
          <a:lstStyle/>
          <a:p>
            <a:fld id="{72A83A2B-3358-44F8-83A0-4598795D8FB5}" type="slidenum">
              <a:rPr lang="en-GB" smtClean="0"/>
              <a:pPr/>
              <a:t>38</a:t>
            </a:fld>
            <a:endParaRPr lang="en-GB"/>
          </a:p>
        </p:txBody>
      </p:sp>
    </p:spTree>
    <p:extLst>
      <p:ext uri="{BB962C8B-B14F-4D97-AF65-F5344CB8AC3E}">
        <p14:creationId xmlns:p14="http://schemas.microsoft.com/office/powerpoint/2010/main" val="26983424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3DF2CD-C66A-5A80-BA91-1EBC4E8A634C}"/>
              </a:ext>
            </a:extLst>
          </p:cNvPr>
          <p:cNvSpPr>
            <a:spLocks noGrp="1"/>
          </p:cNvSpPr>
          <p:nvPr>
            <p:ph type="sldNum" sz="quarter" idx="15"/>
          </p:nvPr>
        </p:nvSpPr>
        <p:spPr/>
        <p:txBody>
          <a:bodyPr/>
          <a:lstStyle/>
          <a:p>
            <a:fld id="{72A83A2B-3358-44F8-83A0-4598795D8FB5}" type="slidenum">
              <a:rPr lang="en-GB" smtClean="0"/>
              <a:pPr/>
              <a:t>39</a:t>
            </a:fld>
            <a:endParaRPr lang="en-GB"/>
          </a:p>
        </p:txBody>
      </p:sp>
      <p:sp>
        <p:nvSpPr>
          <p:cNvPr id="7" name="Title 6">
            <a:extLst>
              <a:ext uri="{FF2B5EF4-FFF2-40B4-BE49-F238E27FC236}">
                <a16:creationId xmlns:a16="http://schemas.microsoft.com/office/drawing/2014/main" id="{790B3C06-6E31-FA71-C92D-8231A8A6FBFE}"/>
              </a:ext>
            </a:extLst>
          </p:cNvPr>
          <p:cNvSpPr>
            <a:spLocks noGrp="1"/>
          </p:cNvSpPr>
          <p:nvPr>
            <p:ph type="title"/>
          </p:nvPr>
        </p:nvSpPr>
        <p:spPr/>
        <p:txBody>
          <a:bodyPr/>
          <a:lstStyle/>
          <a:p>
            <a:r>
              <a:rPr lang="en-GB" dirty="0"/>
              <a:t>Functions || </a:t>
            </a:r>
            <a:r>
              <a:rPr lang="en-GB" b="0" dirty="0"/>
              <a:t>Key Fields </a:t>
            </a:r>
          </a:p>
        </p:txBody>
      </p:sp>
      <p:sp>
        <p:nvSpPr>
          <p:cNvPr id="14" name="Content Placeholder 4">
            <a:extLst>
              <a:ext uri="{FF2B5EF4-FFF2-40B4-BE49-F238E27FC236}">
                <a16:creationId xmlns:a16="http://schemas.microsoft.com/office/drawing/2014/main" id="{34946ED5-4250-2832-1CA3-C2C34450DC62}"/>
              </a:ext>
            </a:extLst>
          </p:cNvPr>
          <p:cNvSpPr txBox="1">
            <a:spLocks/>
          </p:cNvSpPr>
          <p:nvPr/>
        </p:nvSpPr>
        <p:spPr>
          <a:xfrm>
            <a:off x="180000" y="537094"/>
            <a:ext cx="8784000" cy="1211016"/>
          </a:xfrm>
          <a:prstGeom prst="rect">
            <a:avLst/>
          </a:prstGeom>
        </p:spPr>
        <p:txBody>
          <a:bodyPr/>
          <a:lstStyle>
            <a:lvl1pPr marL="138113" indent="-138113" algn="l" defTabSz="914400" rtl="0" eaLnBrk="1" latinLnBrk="0" hangingPunct="1">
              <a:spcBef>
                <a:spcPts val="0"/>
              </a:spcBef>
              <a:spcAft>
                <a:spcPts val="600"/>
              </a:spcAft>
              <a:buClr>
                <a:schemeClr val="accent1"/>
              </a:buClr>
              <a:buFont typeface="Arial" pitchFamily="34" charset="0"/>
              <a:buChar char="•"/>
              <a:defRPr sz="1800" kern="1200">
                <a:solidFill>
                  <a:schemeClr val="tx1"/>
                </a:solidFill>
                <a:latin typeface="Vodafone Rg" pitchFamily="34" charset="0"/>
                <a:ea typeface="+mn-ea"/>
                <a:cs typeface="+mn-cs"/>
              </a:defRPr>
            </a:lvl1pPr>
            <a:lvl2pPr marL="347663" indent="-147638" algn="l" defTabSz="914400" rtl="0" eaLnBrk="1" latinLnBrk="0" hangingPunct="1">
              <a:spcBef>
                <a:spcPts val="0"/>
              </a:spcBef>
              <a:spcAft>
                <a:spcPts val="300"/>
              </a:spcAft>
              <a:buClr>
                <a:schemeClr val="accent1"/>
              </a:buClr>
              <a:buFont typeface="Calibri" pitchFamily="34" charset="0"/>
              <a:buChar char="–"/>
              <a:defRPr sz="1400" kern="1200">
                <a:solidFill>
                  <a:schemeClr val="tx1"/>
                </a:solidFill>
                <a:latin typeface="Vodafone Rg" pitchFamily="34" charset="0"/>
                <a:ea typeface="+mn-ea"/>
                <a:cs typeface="+mn-cs"/>
              </a:defRPr>
            </a:lvl2pPr>
            <a:lvl3pPr marL="385763" indent="146050" algn="l" defTabSz="914400" rtl="0" eaLnBrk="1" latinLnBrk="0" hangingPunct="1">
              <a:spcBef>
                <a:spcPts val="0"/>
              </a:spcBef>
              <a:spcAft>
                <a:spcPts val="300"/>
              </a:spcAft>
              <a:buClr>
                <a:schemeClr val="accent1"/>
              </a:buClr>
              <a:buFont typeface="Calibri" pitchFamily="34" charset="0"/>
              <a:buChar char="–"/>
              <a:defRPr sz="1400" kern="1200">
                <a:solidFill>
                  <a:schemeClr val="tx1"/>
                </a:solidFill>
                <a:latin typeface="Vodafone Rg" pitchFamily="34" charset="0"/>
                <a:ea typeface="+mn-ea"/>
                <a:cs typeface="+mn-cs"/>
              </a:defRPr>
            </a:lvl3pPr>
            <a:lvl4pPr marL="717550" indent="-150813" algn="l" defTabSz="914400" rtl="0" eaLnBrk="1" latinLnBrk="0" hangingPunct="1">
              <a:spcBef>
                <a:spcPct val="20000"/>
              </a:spcBef>
              <a:buClr>
                <a:schemeClr val="accent1"/>
              </a:buClr>
              <a:buFont typeface="Calibri" pitchFamily="34" charset="0"/>
              <a:buChar char="–"/>
              <a:defRPr sz="1200" kern="1200">
                <a:solidFill>
                  <a:schemeClr val="tx1"/>
                </a:solidFill>
                <a:latin typeface="+mn-lt"/>
                <a:ea typeface="+mn-ea"/>
                <a:cs typeface="+mn-cs"/>
              </a:defRPr>
            </a:lvl4pPr>
            <a:lvl5pPr marL="914400" indent="-161925" algn="l" defTabSz="914400" rtl="0" eaLnBrk="1" latinLnBrk="0" hangingPunct="1">
              <a:spcBef>
                <a:spcPct val="20000"/>
              </a:spcBef>
              <a:buClr>
                <a:schemeClr val="accent1"/>
              </a:buClr>
              <a:buFont typeface="Calibri" pitchFamily="34" charset="0"/>
              <a:buChar char="–"/>
              <a:defRPr sz="12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Aft>
                <a:spcPts val="0"/>
              </a:spcAft>
              <a:buFont typeface="Arial" pitchFamily="34" charset="0"/>
              <a:buNone/>
            </a:pPr>
            <a:r>
              <a:rPr lang="en-GB" sz="1600" b="1" dirty="0"/>
              <a:t>After adding child Functions to your Deliveries, these are the key fields for TDMs to complete</a:t>
            </a:r>
            <a:endParaRPr lang="en-GB" sz="1400" dirty="0"/>
          </a:p>
          <a:p>
            <a:pPr>
              <a:spcAft>
                <a:spcPts val="0"/>
              </a:spcAft>
            </a:pPr>
            <a:r>
              <a:rPr lang="en-GB" sz="1400" b="1" dirty="0"/>
              <a:t>Description</a:t>
            </a:r>
            <a:r>
              <a:rPr lang="en-GB" sz="1400" dirty="0"/>
              <a:t> which may start basic, then expand as you work with the domain</a:t>
            </a:r>
          </a:p>
          <a:p>
            <a:pPr>
              <a:spcAft>
                <a:spcPts val="0"/>
              </a:spcAft>
            </a:pPr>
            <a:r>
              <a:rPr lang="en-GB" sz="1400" b="1" dirty="0"/>
              <a:t>Impacted Domain</a:t>
            </a:r>
            <a:r>
              <a:rPr lang="en-GB" sz="1400" dirty="0"/>
              <a:t>, which will then filter which applications/services you can choose in the </a:t>
            </a:r>
            <a:r>
              <a:rPr lang="en-GB" sz="1400" b="1" dirty="0"/>
              <a:t>Impacted Application </a:t>
            </a:r>
            <a:r>
              <a:rPr lang="en-GB" sz="1400" dirty="0"/>
              <a:t>Field</a:t>
            </a:r>
          </a:p>
          <a:p>
            <a:pPr>
              <a:spcAft>
                <a:spcPts val="0"/>
              </a:spcAft>
            </a:pPr>
            <a:r>
              <a:rPr lang="en-GB" sz="1400" b="1" dirty="0"/>
              <a:t>Impacted Application</a:t>
            </a:r>
            <a:endParaRPr lang="en-GB" sz="1400" dirty="0"/>
          </a:p>
          <a:p>
            <a:pPr>
              <a:spcAft>
                <a:spcPts val="0"/>
              </a:spcAft>
            </a:pPr>
            <a:r>
              <a:rPr lang="en-GB" sz="1400" b="1" dirty="0"/>
              <a:t>Function Type</a:t>
            </a:r>
          </a:p>
          <a:p>
            <a:pPr lvl="1"/>
            <a:endParaRPr lang="en-GB" dirty="0"/>
          </a:p>
          <a:p>
            <a:pPr lvl="1"/>
            <a:endParaRPr lang="en-GB" dirty="0"/>
          </a:p>
          <a:p>
            <a:endParaRPr lang="en-GB" dirty="0"/>
          </a:p>
        </p:txBody>
      </p:sp>
      <p:pic>
        <p:nvPicPr>
          <p:cNvPr id="6" name="Picture 5">
            <a:extLst>
              <a:ext uri="{FF2B5EF4-FFF2-40B4-BE49-F238E27FC236}">
                <a16:creationId xmlns:a16="http://schemas.microsoft.com/office/drawing/2014/main" id="{9FDB054D-D9CF-58F6-CAFE-A40FCE68655D}"/>
              </a:ext>
            </a:extLst>
          </p:cNvPr>
          <p:cNvPicPr>
            <a:picLocks noChangeAspect="1"/>
          </p:cNvPicPr>
          <p:nvPr/>
        </p:nvPicPr>
        <p:blipFill>
          <a:blip r:embed="rId3"/>
          <a:stretch>
            <a:fillRect/>
          </a:stretch>
        </p:blipFill>
        <p:spPr>
          <a:xfrm>
            <a:off x="4007318" y="1702897"/>
            <a:ext cx="4623895" cy="2714920"/>
          </a:xfrm>
          <a:prstGeom prst="rect">
            <a:avLst/>
          </a:prstGeom>
        </p:spPr>
      </p:pic>
      <p:sp>
        <p:nvSpPr>
          <p:cNvPr id="24" name="Rectangle 23">
            <a:extLst>
              <a:ext uri="{FF2B5EF4-FFF2-40B4-BE49-F238E27FC236}">
                <a16:creationId xmlns:a16="http://schemas.microsoft.com/office/drawing/2014/main" id="{D6E6284D-7193-A402-5CCE-8FDEC1A964F8}"/>
              </a:ext>
            </a:extLst>
          </p:cNvPr>
          <p:cNvSpPr/>
          <p:nvPr/>
        </p:nvSpPr>
        <p:spPr>
          <a:xfrm>
            <a:off x="4041808" y="3019006"/>
            <a:ext cx="1996439" cy="343417"/>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17" name="Rectangle 16">
            <a:extLst>
              <a:ext uri="{FF2B5EF4-FFF2-40B4-BE49-F238E27FC236}">
                <a16:creationId xmlns:a16="http://schemas.microsoft.com/office/drawing/2014/main" id="{902DF00D-E341-3D5E-9728-16DBBF647548}"/>
              </a:ext>
            </a:extLst>
          </p:cNvPr>
          <p:cNvSpPr/>
          <p:nvPr/>
        </p:nvSpPr>
        <p:spPr>
          <a:xfrm>
            <a:off x="6396790" y="3152955"/>
            <a:ext cx="765208" cy="209469"/>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18" name="Rectangle 17">
            <a:extLst>
              <a:ext uri="{FF2B5EF4-FFF2-40B4-BE49-F238E27FC236}">
                <a16:creationId xmlns:a16="http://schemas.microsoft.com/office/drawing/2014/main" id="{3F16538F-733E-4173-7ADE-307798E004DC}"/>
              </a:ext>
            </a:extLst>
          </p:cNvPr>
          <p:cNvSpPr/>
          <p:nvPr/>
        </p:nvSpPr>
        <p:spPr>
          <a:xfrm>
            <a:off x="6396790" y="3398399"/>
            <a:ext cx="765208" cy="209469"/>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19" name="Rectangle 18">
            <a:extLst>
              <a:ext uri="{FF2B5EF4-FFF2-40B4-BE49-F238E27FC236}">
                <a16:creationId xmlns:a16="http://schemas.microsoft.com/office/drawing/2014/main" id="{AF68C0A5-0C3C-792E-11AA-8006EF5C20B2}"/>
              </a:ext>
            </a:extLst>
          </p:cNvPr>
          <p:cNvSpPr/>
          <p:nvPr/>
        </p:nvSpPr>
        <p:spPr>
          <a:xfrm>
            <a:off x="6396790" y="3847578"/>
            <a:ext cx="765208" cy="209469"/>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23" name="TextBox 22">
            <a:extLst>
              <a:ext uri="{FF2B5EF4-FFF2-40B4-BE49-F238E27FC236}">
                <a16:creationId xmlns:a16="http://schemas.microsoft.com/office/drawing/2014/main" id="{42079A3E-505D-8AC2-A543-EE5B260343DC}"/>
              </a:ext>
            </a:extLst>
          </p:cNvPr>
          <p:cNvSpPr txBox="1"/>
          <p:nvPr/>
        </p:nvSpPr>
        <p:spPr>
          <a:xfrm>
            <a:off x="298383" y="2085474"/>
            <a:ext cx="3317508" cy="2847042"/>
          </a:xfrm>
          <a:prstGeom prst="rect">
            <a:avLst/>
          </a:prstGeom>
          <a:ln>
            <a:solidFill>
              <a:srgbClr val="00B050"/>
            </a:solidFill>
            <a:prstDash val="dash"/>
          </a:ln>
        </p:spPr>
        <p:txBody>
          <a:bodyPr wrap="square" lIns="36000" tIns="36000" rIns="36000" bIns="36000" rtlCol="0">
            <a:noAutofit/>
          </a:bodyPr>
          <a:lstStyle/>
          <a:p>
            <a:pPr marL="0" indent="0">
              <a:buFont typeface="Arial" pitchFamily="34" charset="0"/>
              <a:buNone/>
            </a:pPr>
            <a:r>
              <a:rPr lang="en-GB" sz="1050" dirty="0">
                <a:latin typeface="Vodafone Rg" pitchFamily="34" charset="0"/>
              </a:rPr>
              <a:t>Each Application / Service is ‘Hosted’ in an ADO Project and if its domain contains a Function work item, Release team automatically move it to their ADO Project:</a:t>
            </a:r>
          </a:p>
          <a:p>
            <a:pPr marL="171450" indent="-171450">
              <a:buFont typeface="Arial" panose="020B0604020202020204" pitchFamily="34" charset="0"/>
              <a:buChar char="•"/>
            </a:pPr>
            <a:r>
              <a:rPr lang="en-GB" sz="1050" dirty="0">
                <a:latin typeface="Vodafone Rg" pitchFamily="34" charset="0"/>
              </a:rPr>
              <a:t>If Release team do move it, the Area Path will change to the Domain’s ADO Project and the Domain will maintain it</a:t>
            </a:r>
          </a:p>
          <a:p>
            <a:pPr marL="171450" indent="-171450">
              <a:buFont typeface="Arial" panose="020B0604020202020204" pitchFamily="34" charset="0"/>
              <a:buChar char="•"/>
            </a:pPr>
            <a:r>
              <a:rPr lang="en-GB" sz="1050" dirty="0">
                <a:latin typeface="Vodafone Rg" pitchFamily="34" charset="0"/>
              </a:rPr>
              <a:t>If Release team do not move it, the Area Path will remain as </a:t>
            </a:r>
            <a:r>
              <a:rPr lang="en-GB" sz="1050" b="1" dirty="0">
                <a:latin typeface="Vodafone Rg" pitchFamily="34" charset="0"/>
              </a:rPr>
              <a:t>VF UK IT - Release Management</a:t>
            </a:r>
            <a:r>
              <a:rPr lang="en-GB" sz="1050" dirty="0">
                <a:latin typeface="Vodafone Rg" pitchFamily="34" charset="0"/>
              </a:rPr>
              <a:t> and the TDM maintains with support from the domain/team/partner</a:t>
            </a:r>
          </a:p>
          <a:p>
            <a:pPr marL="0" indent="0">
              <a:buFont typeface="Arial" pitchFamily="34" charset="0"/>
              <a:buNone/>
            </a:pPr>
            <a:endParaRPr lang="en-GB" sz="1050" dirty="0">
              <a:latin typeface="Vodafone Rg" pitchFamily="34" charset="0"/>
            </a:endParaRPr>
          </a:p>
          <a:p>
            <a:pPr marL="0" indent="0">
              <a:buFont typeface="Arial" pitchFamily="34" charset="0"/>
              <a:buNone/>
            </a:pPr>
            <a:endParaRPr lang="en-GB" sz="1050" dirty="0">
              <a:latin typeface="Vodafone Rg" pitchFamily="34" charset="0"/>
            </a:endParaRPr>
          </a:p>
          <a:p>
            <a:pPr marL="0" indent="0">
              <a:buFont typeface="Arial" pitchFamily="34" charset="0"/>
              <a:buNone/>
            </a:pPr>
            <a:r>
              <a:rPr lang="en-GB" sz="1050" dirty="0">
                <a:latin typeface="Vodafone Rg" pitchFamily="34" charset="0"/>
              </a:rPr>
              <a:t>If you cannot find your application, check the </a:t>
            </a:r>
            <a:r>
              <a:rPr lang="en-GB" sz="1050" b="1" dirty="0">
                <a:latin typeface="Vodafone Rg" pitchFamily="34" charset="0"/>
              </a:rPr>
              <a:t>ADO How To </a:t>
            </a:r>
            <a:r>
              <a:rPr lang="en-GB" sz="1050" dirty="0">
                <a:latin typeface="Vodafone Rg" pitchFamily="34" charset="0"/>
              </a:rPr>
              <a:t>SharePoint Page </a:t>
            </a:r>
            <a:r>
              <a:rPr lang="en-GB" sz="1050" dirty="0">
                <a:latin typeface="Vodafone Rg" pitchFamily="34" charset="0"/>
                <a:hlinkClick r:id="rId4"/>
              </a:rPr>
              <a:t>https://vodafone.sharepoint.com/sites/CCSXpress/SitePages/Azure%20Dev%20Ops%20(ADO).aspx</a:t>
            </a:r>
            <a:r>
              <a:rPr lang="en-GB" sz="1050" dirty="0">
                <a:latin typeface="Vodafone Rg" pitchFamily="34" charset="0"/>
              </a:rPr>
              <a:t> which:</a:t>
            </a:r>
          </a:p>
          <a:p>
            <a:pPr marL="171450" indent="-171450">
              <a:buFont typeface="Arial" panose="020B0604020202020204" pitchFamily="34" charset="0"/>
              <a:buChar char="•"/>
            </a:pPr>
            <a:r>
              <a:rPr lang="en-GB" sz="1050" dirty="0">
                <a:latin typeface="Vodafone Rg" pitchFamily="34" charset="0"/>
              </a:rPr>
              <a:t>Contains an XLS which is easier to search</a:t>
            </a:r>
          </a:p>
          <a:p>
            <a:pPr marL="171450" indent="-171450">
              <a:buFont typeface="Arial" panose="020B0604020202020204" pitchFamily="34" charset="0"/>
              <a:buChar char="•"/>
            </a:pPr>
            <a:r>
              <a:rPr lang="en-GB" sz="1050" dirty="0">
                <a:latin typeface="Vodafone Rg" pitchFamily="34" charset="0"/>
              </a:rPr>
              <a:t>Instructions on how Release team add missing items</a:t>
            </a:r>
          </a:p>
          <a:p>
            <a:pPr marL="0" indent="0">
              <a:buFont typeface="Arial" pitchFamily="34" charset="0"/>
              <a:buNone/>
            </a:pPr>
            <a:endParaRPr lang="en-GB" sz="1050" dirty="0">
              <a:latin typeface="Vodafone Rg" pitchFamily="34" charset="0"/>
            </a:endParaRPr>
          </a:p>
        </p:txBody>
      </p:sp>
    </p:spTree>
    <p:extLst>
      <p:ext uri="{BB962C8B-B14F-4D97-AF65-F5344CB8AC3E}">
        <p14:creationId xmlns:p14="http://schemas.microsoft.com/office/powerpoint/2010/main" val="31749357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04D1542-70BE-1388-70E1-ED756419F2DE}"/>
              </a:ext>
            </a:extLst>
          </p:cNvPr>
          <p:cNvSpPr>
            <a:spLocks noGrp="1"/>
          </p:cNvSpPr>
          <p:nvPr>
            <p:ph type="ctrTitle"/>
          </p:nvPr>
        </p:nvSpPr>
        <p:spPr/>
        <p:txBody>
          <a:bodyPr/>
          <a:lstStyle/>
          <a:p>
            <a:r>
              <a:rPr lang="en-GB" dirty="0"/>
              <a:t>How to be committed into a release?</a:t>
            </a:r>
            <a:br>
              <a:rPr lang="en-GB" dirty="0"/>
            </a:br>
            <a:endParaRPr lang="en-GB" sz="1200" dirty="0"/>
          </a:p>
        </p:txBody>
      </p:sp>
      <p:sp>
        <p:nvSpPr>
          <p:cNvPr id="4" name="Slide Number Placeholder 3">
            <a:extLst>
              <a:ext uri="{FF2B5EF4-FFF2-40B4-BE49-F238E27FC236}">
                <a16:creationId xmlns:a16="http://schemas.microsoft.com/office/drawing/2014/main" id="{574ED55A-3206-A6AB-16EF-80DBD05EDA14}"/>
              </a:ext>
            </a:extLst>
          </p:cNvPr>
          <p:cNvSpPr>
            <a:spLocks noGrp="1"/>
          </p:cNvSpPr>
          <p:nvPr>
            <p:ph type="sldNum" sz="quarter" idx="11"/>
          </p:nvPr>
        </p:nvSpPr>
        <p:spPr/>
        <p:txBody>
          <a:bodyPr/>
          <a:lstStyle/>
          <a:p>
            <a:fld id="{72A83A2B-3358-44F8-83A0-4598795D8FB5}" type="slidenum">
              <a:rPr lang="en-GB" smtClean="0"/>
              <a:pPr/>
              <a:t>40</a:t>
            </a:fld>
            <a:endParaRPr lang="en-GB"/>
          </a:p>
        </p:txBody>
      </p:sp>
    </p:spTree>
    <p:extLst>
      <p:ext uri="{BB962C8B-B14F-4D97-AF65-F5344CB8AC3E}">
        <p14:creationId xmlns:p14="http://schemas.microsoft.com/office/powerpoint/2010/main" val="28668072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p:txBody>
          <a:bodyPr/>
          <a:lstStyle/>
          <a:p>
            <a:pPr>
              <a:spcBef>
                <a:spcPts val="600"/>
              </a:spcBef>
              <a:spcAft>
                <a:spcPts val="0"/>
              </a:spcAft>
            </a:pPr>
            <a:r>
              <a:rPr lang="en-GB" sz="1600" dirty="0"/>
              <a:t>The Release Readiness calls are usually Monday, Tuesday &amp; Thursday, starting 2 weeks before Check Point Zero, ending  the week after RPM and before Build starts</a:t>
            </a:r>
          </a:p>
          <a:p>
            <a:pPr lvl="1"/>
            <a:r>
              <a:rPr lang="en-GB" sz="1200" dirty="0"/>
              <a:t>Invites are sent to IT Delivery Domains/Teams, TDMs and the creators of those </a:t>
            </a:r>
            <a:r>
              <a:rPr lang="en-GB" sz="1200" b="1" dirty="0"/>
              <a:t>Features</a:t>
            </a:r>
            <a:r>
              <a:rPr lang="en-GB" sz="1200" dirty="0"/>
              <a:t> &amp; </a:t>
            </a:r>
            <a:r>
              <a:rPr lang="en-GB" sz="1200" b="1" dirty="0"/>
              <a:t>Deliveries</a:t>
            </a:r>
            <a:r>
              <a:rPr lang="en-GB" sz="1200" dirty="0"/>
              <a:t> targeting the release</a:t>
            </a:r>
          </a:p>
          <a:p>
            <a:pPr lvl="1"/>
            <a:r>
              <a:rPr lang="en-GB" sz="1200" dirty="0"/>
              <a:t>Delivery Managers are expected to attend at least weekly to provide updates, feedback, support, correctly documented &amp; release ready</a:t>
            </a:r>
          </a:p>
          <a:p>
            <a:pPr lvl="1"/>
            <a:r>
              <a:rPr lang="en-GB" sz="1200" dirty="0"/>
              <a:t>Due to release phases overlapping, the readiness, CP0 &amp; RPM calls are usually at different times, typically 13:00 &amp; 14:00</a:t>
            </a:r>
          </a:p>
          <a:p>
            <a:pPr>
              <a:spcBef>
                <a:spcPts val="600"/>
              </a:spcBef>
              <a:spcAft>
                <a:spcPts val="0"/>
              </a:spcAft>
            </a:pPr>
            <a:r>
              <a:rPr lang="en-GB" sz="1600" dirty="0"/>
              <a:t>The aim of these calls is to work with the TDMs to understand the scope and status of the project’s feature(s) and then to steer and support that project’s deliverables into the release</a:t>
            </a:r>
          </a:p>
          <a:p>
            <a:pPr>
              <a:spcBef>
                <a:spcPts val="600"/>
              </a:spcBef>
              <a:spcAft>
                <a:spcPts val="0"/>
              </a:spcAft>
            </a:pPr>
            <a:r>
              <a:rPr lang="en-GB" sz="1600" dirty="0"/>
              <a:t>Release team also need visibility of the following:</a:t>
            </a:r>
          </a:p>
        </p:txBody>
      </p:sp>
      <p:sp>
        <p:nvSpPr>
          <p:cNvPr id="6" name="Title 5"/>
          <p:cNvSpPr>
            <a:spLocks noGrp="1"/>
          </p:cNvSpPr>
          <p:nvPr>
            <p:ph type="title"/>
          </p:nvPr>
        </p:nvSpPr>
        <p:spPr/>
        <p:txBody>
          <a:bodyPr/>
          <a:lstStyle/>
          <a:p>
            <a:r>
              <a:rPr lang="en-GB" dirty="0"/>
              <a:t>Project Scope &amp; Status || </a:t>
            </a:r>
            <a:r>
              <a:rPr lang="en-GB" b="0" dirty="0"/>
              <a:t>Key Info</a:t>
            </a:r>
          </a:p>
        </p:txBody>
      </p:sp>
      <p:sp>
        <p:nvSpPr>
          <p:cNvPr id="5" name="Slide Number Placeholder 4"/>
          <p:cNvSpPr>
            <a:spLocks noGrp="1"/>
          </p:cNvSpPr>
          <p:nvPr>
            <p:ph type="sldNum" sz="quarter" idx="15"/>
          </p:nvPr>
        </p:nvSpPr>
        <p:spPr>
          <a:xfrm>
            <a:off x="4365295" y="4968000"/>
            <a:ext cx="413410" cy="180000"/>
          </a:xfrm>
        </p:spPr>
        <p:txBody>
          <a:bodyPr/>
          <a:lstStyle/>
          <a:p>
            <a:fld id="{72A83A2B-3358-44F8-83A0-4598795D8FB5}" type="slidenum">
              <a:rPr lang="en-GB" smtClean="0"/>
              <a:pPr/>
              <a:t>41</a:t>
            </a:fld>
            <a:endParaRPr lang="en-GB" dirty="0"/>
          </a:p>
        </p:txBody>
      </p:sp>
      <p:graphicFrame>
        <p:nvGraphicFramePr>
          <p:cNvPr id="8" name="Table 7"/>
          <p:cNvGraphicFramePr>
            <a:graphicFrameLocks noGrp="1"/>
          </p:cNvGraphicFramePr>
          <p:nvPr/>
        </p:nvGraphicFramePr>
        <p:xfrm>
          <a:off x="445270" y="2688960"/>
          <a:ext cx="8253460" cy="2225040"/>
        </p:xfrm>
        <a:graphic>
          <a:graphicData uri="http://schemas.openxmlformats.org/drawingml/2006/table">
            <a:tbl>
              <a:tblPr firstRow="1" bandRow="1">
                <a:tableStyleId>{5C22544A-7EE6-4342-B048-85BDC9FD1C3A}</a:tableStyleId>
              </a:tblPr>
              <a:tblGrid>
                <a:gridCol w="1725158">
                  <a:extLst>
                    <a:ext uri="{9D8B030D-6E8A-4147-A177-3AD203B41FA5}">
                      <a16:colId xmlns:a16="http://schemas.microsoft.com/office/drawing/2014/main" val="2218143419"/>
                    </a:ext>
                  </a:extLst>
                </a:gridCol>
                <a:gridCol w="6528302">
                  <a:extLst>
                    <a:ext uri="{9D8B030D-6E8A-4147-A177-3AD203B41FA5}">
                      <a16:colId xmlns:a16="http://schemas.microsoft.com/office/drawing/2014/main" val="1735878312"/>
                    </a:ext>
                  </a:extLst>
                </a:gridCol>
              </a:tblGrid>
              <a:tr h="295890">
                <a:tc>
                  <a:txBody>
                    <a:bodyPr/>
                    <a:lstStyle/>
                    <a:p>
                      <a:r>
                        <a:rPr lang="en-GB" sz="1400" dirty="0"/>
                        <a:t>Item</a:t>
                      </a:r>
                    </a:p>
                  </a:txBody>
                  <a:tcPr/>
                </a:tc>
                <a:tc>
                  <a:txBody>
                    <a:bodyPr/>
                    <a:lstStyle/>
                    <a:p>
                      <a:r>
                        <a:rPr lang="en-GB" sz="1400" dirty="0"/>
                        <a:t>Info /</a:t>
                      </a:r>
                      <a:r>
                        <a:rPr lang="en-GB" sz="1400" baseline="0" dirty="0"/>
                        <a:t> Examples</a:t>
                      </a:r>
                      <a:endParaRPr lang="en-GB" sz="1400" dirty="0"/>
                    </a:p>
                  </a:txBody>
                  <a:tcPr/>
                </a:tc>
                <a:extLst>
                  <a:ext uri="{0D108BD9-81ED-4DB2-BD59-A6C34878D82A}">
                    <a16:rowId xmlns:a16="http://schemas.microsoft.com/office/drawing/2014/main" val="812459722"/>
                  </a:ext>
                </a:extLst>
              </a:tr>
              <a:tr h="266301">
                <a:tc>
                  <a:txBody>
                    <a:bodyPr/>
                    <a:lstStyle/>
                    <a:p>
                      <a:r>
                        <a:rPr lang="en-GB" sz="1200" b="1" dirty="0"/>
                        <a:t>Work Item Codes</a:t>
                      </a:r>
                    </a:p>
                  </a:txBody>
                  <a:tcPr/>
                </a:tc>
                <a:tc>
                  <a:txBody>
                    <a:bodyPr/>
                    <a:lstStyle/>
                    <a:p>
                      <a:r>
                        <a:rPr lang="en-GB" sz="1100" baseline="0" dirty="0">
                          <a:solidFill>
                            <a:schemeClr val="tx1"/>
                          </a:solidFill>
                        </a:rPr>
                        <a:t>ADO Work IDs, ADO URLs (Preferred), VATS, VES engagement IDs, etc.</a:t>
                      </a:r>
                      <a:endParaRPr lang="en-GB" sz="1100" dirty="0">
                        <a:solidFill>
                          <a:schemeClr val="tx1"/>
                        </a:solidFill>
                      </a:endParaRPr>
                    </a:p>
                  </a:txBody>
                  <a:tcPr/>
                </a:tc>
                <a:extLst>
                  <a:ext uri="{0D108BD9-81ED-4DB2-BD59-A6C34878D82A}">
                    <a16:rowId xmlns:a16="http://schemas.microsoft.com/office/drawing/2014/main" val="2136935673"/>
                  </a:ext>
                </a:extLst>
              </a:tr>
              <a:tr h="266301">
                <a:tc>
                  <a:txBody>
                    <a:bodyPr/>
                    <a:lstStyle/>
                    <a:p>
                      <a:r>
                        <a:rPr lang="en-GB" sz="1200" b="1" dirty="0"/>
                        <a:t>Stakeholders</a:t>
                      </a:r>
                    </a:p>
                  </a:txBody>
                  <a:tcPr/>
                </a:tc>
                <a:tc>
                  <a:txBody>
                    <a:bodyPr/>
                    <a:lstStyle/>
                    <a:p>
                      <a:r>
                        <a:rPr lang="en-GB" sz="1100" dirty="0"/>
                        <a:t>Portfolio </a:t>
                      </a:r>
                      <a:r>
                        <a:rPr lang="en-GB" sz="1100" baseline="0" dirty="0"/>
                        <a:t>Manager, Technical Deliver Manager, Solution Architect &amp; Test Manager, PAT, etc.</a:t>
                      </a:r>
                      <a:endParaRPr lang="en-GB" sz="1100" dirty="0"/>
                    </a:p>
                  </a:txBody>
                  <a:tcPr/>
                </a:tc>
                <a:extLst>
                  <a:ext uri="{0D108BD9-81ED-4DB2-BD59-A6C34878D82A}">
                    <a16:rowId xmlns:a16="http://schemas.microsoft.com/office/drawing/2014/main" val="3034837786"/>
                  </a:ext>
                </a:extLst>
              </a:tr>
              <a:tr h="266301">
                <a:tc>
                  <a:txBody>
                    <a:bodyPr/>
                    <a:lstStyle/>
                    <a:p>
                      <a:r>
                        <a:rPr lang="en-GB" sz="1200" b="1" dirty="0"/>
                        <a:t>Status</a:t>
                      </a:r>
                    </a:p>
                  </a:txBody>
                  <a:tcPr/>
                </a:tc>
                <a:tc>
                  <a:txBody>
                    <a:bodyPr/>
                    <a:lstStyle/>
                    <a:p>
                      <a:r>
                        <a:rPr lang="en-GB" sz="1100" dirty="0"/>
                        <a:t>The E2E HLD Status and approval dates, due or </a:t>
                      </a:r>
                      <a:r>
                        <a:rPr lang="en-GB" sz="1100" baseline="0" dirty="0">
                          <a:hlinkClick r:id="rId3" action="ppaction://hlinksldjump"/>
                        </a:rPr>
                        <a:t>Key Deliverables</a:t>
                      </a:r>
                      <a:endParaRPr lang="en-GB" sz="1100" dirty="0"/>
                    </a:p>
                  </a:txBody>
                  <a:tcPr/>
                </a:tc>
                <a:extLst>
                  <a:ext uri="{0D108BD9-81ED-4DB2-BD59-A6C34878D82A}">
                    <a16:rowId xmlns:a16="http://schemas.microsoft.com/office/drawing/2014/main" val="474661529"/>
                  </a:ext>
                </a:extLst>
              </a:tr>
              <a:tr h="266301">
                <a:tc>
                  <a:txBody>
                    <a:bodyPr/>
                    <a:lstStyle/>
                    <a:p>
                      <a:r>
                        <a:rPr lang="en-GB" sz="1200" b="1" dirty="0"/>
                        <a:t>Impacted</a:t>
                      </a:r>
                      <a:r>
                        <a:rPr lang="en-GB" sz="1200" b="1" baseline="0" dirty="0"/>
                        <a:t> Apps</a:t>
                      </a:r>
                      <a:endParaRPr lang="en-GB" sz="1200" b="1" dirty="0"/>
                    </a:p>
                  </a:txBody>
                  <a:tcPr/>
                </a:tc>
                <a:tc>
                  <a:txBody>
                    <a:bodyPr/>
                    <a:lstStyle/>
                    <a:p>
                      <a:r>
                        <a:rPr lang="en-GB" sz="1100" dirty="0"/>
                        <a:t>Which</a:t>
                      </a:r>
                      <a:r>
                        <a:rPr lang="en-GB" sz="1100" baseline="0" dirty="0"/>
                        <a:t> Apps are impacted – Usually from the ITA and E2E HLD and sometimes the Business Case</a:t>
                      </a:r>
                      <a:endParaRPr lang="en-GB" sz="1100" dirty="0"/>
                    </a:p>
                  </a:txBody>
                  <a:tcPr/>
                </a:tc>
                <a:extLst>
                  <a:ext uri="{0D108BD9-81ED-4DB2-BD59-A6C34878D82A}">
                    <a16:rowId xmlns:a16="http://schemas.microsoft.com/office/drawing/2014/main" val="1127762977"/>
                  </a:ext>
                </a:extLst>
              </a:tr>
              <a:tr h="266301">
                <a:tc>
                  <a:txBody>
                    <a:bodyPr/>
                    <a:lstStyle/>
                    <a:p>
                      <a:r>
                        <a:rPr lang="en-GB" sz="1200" b="1" dirty="0"/>
                        <a:t>Size of Impact</a:t>
                      </a:r>
                    </a:p>
                  </a:txBody>
                  <a:tcPr/>
                </a:tc>
                <a:tc>
                  <a:txBody>
                    <a:bodyPr/>
                    <a:lstStyle/>
                    <a:p>
                      <a:r>
                        <a:rPr lang="en-GB" sz="1100" dirty="0"/>
                        <a:t>The size of the impact,</a:t>
                      </a:r>
                      <a:r>
                        <a:rPr lang="en-GB" sz="1100" baseline="0" dirty="0"/>
                        <a:t> and if too large (See </a:t>
                      </a:r>
                      <a:r>
                        <a:rPr lang="en-GB" sz="1100" baseline="0" dirty="0">
                          <a:hlinkClick r:id="rId4" action="ppaction://hlinksldjump"/>
                        </a:rPr>
                        <a:t>Size &amp; Complexity</a:t>
                      </a:r>
                      <a:r>
                        <a:rPr lang="en-GB" sz="1100" baseline="0" dirty="0"/>
                        <a:t>) what options do we have, actions needed</a:t>
                      </a:r>
                      <a:endParaRPr lang="en-GB" sz="1100" dirty="0"/>
                    </a:p>
                  </a:txBody>
                  <a:tcPr/>
                </a:tc>
                <a:extLst>
                  <a:ext uri="{0D108BD9-81ED-4DB2-BD59-A6C34878D82A}">
                    <a16:rowId xmlns:a16="http://schemas.microsoft.com/office/drawing/2014/main" val="1836229735"/>
                  </a:ext>
                </a:extLst>
              </a:tr>
              <a:tr h="266301">
                <a:tc>
                  <a:txBody>
                    <a:bodyPr/>
                    <a:lstStyle/>
                    <a:p>
                      <a:pPr marL="0" algn="l" defTabSz="914400" rtl="0" eaLnBrk="1" latinLnBrk="0" hangingPunct="1"/>
                      <a:r>
                        <a:rPr lang="en-GB" sz="1200" b="1" kern="1200" dirty="0">
                          <a:solidFill>
                            <a:schemeClr val="dk1"/>
                          </a:solidFill>
                          <a:latin typeface="+mn-lt"/>
                          <a:ea typeface="+mn-ea"/>
                          <a:cs typeface="+mn-cs"/>
                        </a:rPr>
                        <a:t>Schedules</a:t>
                      </a:r>
                    </a:p>
                  </a:txBody>
                  <a:tcPr/>
                </a:tc>
                <a:tc>
                  <a:txBody>
                    <a:bodyPr/>
                    <a:lstStyle/>
                    <a:p>
                      <a:r>
                        <a:rPr lang="en-GB" sz="1100" dirty="0"/>
                        <a:t>Is</a:t>
                      </a:r>
                      <a:r>
                        <a:rPr lang="en-GB" sz="1100" baseline="0" dirty="0"/>
                        <a:t> there a deadline for delivery and can it be split across releases</a:t>
                      </a:r>
                      <a:endParaRPr lang="en-GB" sz="1100" dirty="0"/>
                    </a:p>
                  </a:txBody>
                  <a:tcPr/>
                </a:tc>
                <a:extLst>
                  <a:ext uri="{0D108BD9-81ED-4DB2-BD59-A6C34878D82A}">
                    <a16:rowId xmlns:a16="http://schemas.microsoft.com/office/drawing/2014/main" val="20988104"/>
                  </a:ext>
                </a:extLst>
              </a:tr>
              <a:tr h="266301">
                <a:tc>
                  <a:txBody>
                    <a:bodyPr/>
                    <a:lstStyle/>
                    <a:p>
                      <a:r>
                        <a:rPr lang="en-GB" sz="1200" b="1" dirty="0"/>
                        <a:t>Dependencies</a:t>
                      </a:r>
                    </a:p>
                  </a:txBody>
                  <a:tcPr/>
                </a:tc>
                <a:tc>
                  <a:txBody>
                    <a:bodyPr/>
                    <a:lstStyle/>
                    <a:p>
                      <a:r>
                        <a:rPr lang="en-GB" sz="1100" dirty="0"/>
                        <a:t>Is</a:t>
                      </a:r>
                      <a:r>
                        <a:rPr lang="en-GB" sz="1100" baseline="0" dirty="0"/>
                        <a:t> this dependant on something else going live or are there other items dependant on this</a:t>
                      </a:r>
                      <a:endParaRPr lang="en-GB" sz="1100" dirty="0"/>
                    </a:p>
                  </a:txBody>
                  <a:tcPr/>
                </a:tc>
                <a:extLst>
                  <a:ext uri="{0D108BD9-81ED-4DB2-BD59-A6C34878D82A}">
                    <a16:rowId xmlns:a16="http://schemas.microsoft.com/office/drawing/2014/main" val="2760225984"/>
                  </a:ext>
                </a:extLst>
              </a:tr>
            </a:tbl>
          </a:graphicData>
        </a:graphic>
      </p:graphicFrame>
    </p:spTree>
    <p:extLst>
      <p:ext uri="{BB962C8B-B14F-4D97-AF65-F5344CB8AC3E}">
        <p14:creationId xmlns:p14="http://schemas.microsoft.com/office/powerpoint/2010/main" val="27961095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180000" y="540000"/>
            <a:ext cx="8712000" cy="4428000"/>
          </a:xfrm>
        </p:spPr>
        <p:txBody>
          <a:bodyPr/>
          <a:lstStyle/>
          <a:p>
            <a:pPr marL="0" indent="0">
              <a:buNone/>
            </a:pPr>
            <a:r>
              <a:rPr lang="en-GB" b="1" dirty="0"/>
              <a:t>As well as the key deliverables, here is a guide to how RM review ADO in order to commit</a:t>
            </a:r>
          </a:p>
          <a:p>
            <a:pPr>
              <a:spcBef>
                <a:spcPts val="600"/>
              </a:spcBef>
              <a:spcAft>
                <a:spcPts val="0"/>
              </a:spcAft>
            </a:pPr>
            <a:r>
              <a:rPr lang="en-GB" b="1" dirty="0">
                <a:solidFill>
                  <a:srgbClr val="0070C0"/>
                </a:solidFill>
              </a:rPr>
              <a:t>Functions – 1</a:t>
            </a:r>
            <a:r>
              <a:rPr lang="en-GB" b="1" baseline="30000" dirty="0">
                <a:solidFill>
                  <a:srgbClr val="0070C0"/>
                </a:solidFill>
              </a:rPr>
              <a:t>st</a:t>
            </a:r>
            <a:r>
              <a:rPr lang="en-GB" b="1" dirty="0">
                <a:solidFill>
                  <a:srgbClr val="0070C0"/>
                </a:solidFill>
              </a:rPr>
              <a:t> they check the following:</a:t>
            </a:r>
          </a:p>
          <a:p>
            <a:pPr lvl="1"/>
            <a:r>
              <a:rPr lang="en-GB" dirty="0"/>
              <a:t>The State and Sub-State are as expected – At Least Design in Progress</a:t>
            </a:r>
          </a:p>
          <a:p>
            <a:pPr lvl="1"/>
            <a:r>
              <a:rPr lang="en-GB" dirty="0"/>
              <a:t>Application VROM approved by the App. Designer &amp; then financially approved by the Delivery Manager / Budget Owner</a:t>
            </a:r>
          </a:p>
          <a:p>
            <a:pPr lvl="1"/>
            <a:r>
              <a:rPr lang="en-GB" dirty="0"/>
              <a:t>Delivery Plan present and the dates fit within the release</a:t>
            </a:r>
          </a:p>
          <a:p>
            <a:pPr lvl="1"/>
            <a:r>
              <a:rPr lang="en-GB" dirty="0"/>
              <a:t>VROM PAD &amp; BTD efforts are as expected</a:t>
            </a:r>
            <a:endParaRPr lang="en-GB" dirty="0">
              <a:highlight>
                <a:srgbClr val="FFFF00"/>
              </a:highlight>
            </a:endParaRPr>
          </a:p>
          <a:p>
            <a:pPr lvl="1"/>
            <a:r>
              <a:rPr lang="en-GB" dirty="0"/>
              <a:t>If these or other key values are not correct, it cannot progress until the relevant owner (TDM or Domain) actions</a:t>
            </a:r>
          </a:p>
          <a:p>
            <a:pPr lvl="1"/>
            <a:r>
              <a:rPr lang="en-GB" b="1" dirty="0"/>
              <a:t>If any one Function is not correct or ready, the Delivery cannot be committed</a:t>
            </a:r>
          </a:p>
          <a:p>
            <a:pPr>
              <a:spcBef>
                <a:spcPts val="600"/>
              </a:spcBef>
              <a:spcAft>
                <a:spcPts val="0"/>
              </a:spcAft>
            </a:pPr>
            <a:r>
              <a:rPr lang="en-GB" b="1" dirty="0">
                <a:solidFill>
                  <a:srgbClr val="00B050"/>
                </a:solidFill>
              </a:rPr>
              <a:t>Deliveries &amp; Features</a:t>
            </a:r>
          </a:p>
          <a:p>
            <a:pPr lvl="1"/>
            <a:r>
              <a:rPr lang="en-GB" dirty="0"/>
              <a:t>Key fields such as States, E2E HLD (Feature), Consumption Plan, Test Managers – See the Cheat Sheet</a:t>
            </a:r>
          </a:p>
          <a:p>
            <a:pPr lvl="1"/>
            <a:r>
              <a:rPr lang="en-GB" dirty="0"/>
              <a:t>Release team check that SIT have confirmed capacity with SIT to be completed within the release schedule dates</a:t>
            </a:r>
          </a:p>
          <a:p>
            <a:pPr lvl="1"/>
            <a:r>
              <a:rPr lang="en-GB" dirty="0"/>
              <a:t>Is there a parent Epic which provides Project level information, such as Portfolio, finance &amp; delivery manager</a:t>
            </a:r>
          </a:p>
          <a:p>
            <a:pPr lvl="1"/>
            <a:r>
              <a:rPr lang="en-GB" dirty="0"/>
              <a:t>If the above are present &amp; correct:</a:t>
            </a:r>
          </a:p>
          <a:p>
            <a:pPr lvl="2"/>
            <a:r>
              <a:rPr lang="en-GB" dirty="0"/>
              <a:t>Release team complete the </a:t>
            </a:r>
            <a:r>
              <a:rPr lang="en-GB" b="1" dirty="0"/>
              <a:t>Delivery’s</a:t>
            </a:r>
            <a:r>
              <a:rPr lang="en-GB" dirty="0"/>
              <a:t> Committed Release, Release Committed Date and any Flux values</a:t>
            </a:r>
          </a:p>
          <a:p>
            <a:pPr lvl="2"/>
            <a:r>
              <a:rPr lang="en-GB" dirty="0"/>
              <a:t>Release team change the State to ‘Committed to Release’</a:t>
            </a:r>
          </a:p>
          <a:p>
            <a:pPr lvl="2"/>
            <a:r>
              <a:rPr lang="en-GB" dirty="0"/>
              <a:t>Suggested Comment “</a:t>
            </a:r>
            <a:r>
              <a:rPr lang="en-GB" i="1" dirty="0"/>
              <a:t>Committed to Release @ dd </a:t>
            </a:r>
            <a:r>
              <a:rPr lang="en-GB" i="1" dirty="0" err="1"/>
              <a:t>Mmm</a:t>
            </a:r>
            <a:r>
              <a:rPr lang="en-GB" i="1" dirty="0"/>
              <a:t> </a:t>
            </a:r>
            <a:r>
              <a:rPr lang="en-GB" i="1" dirty="0" err="1"/>
              <a:t>yyyy</a:t>
            </a:r>
            <a:r>
              <a:rPr lang="en-GB" dirty="0"/>
              <a:t>”</a:t>
            </a:r>
          </a:p>
        </p:txBody>
      </p:sp>
      <p:sp>
        <p:nvSpPr>
          <p:cNvPr id="3" name="Title 2"/>
          <p:cNvSpPr>
            <a:spLocks noGrp="1"/>
          </p:cNvSpPr>
          <p:nvPr>
            <p:ph type="title"/>
          </p:nvPr>
        </p:nvSpPr>
        <p:spPr/>
        <p:txBody>
          <a:bodyPr/>
          <a:lstStyle/>
          <a:p>
            <a:r>
              <a:rPr lang="en-GB" dirty="0"/>
              <a:t>ADO || </a:t>
            </a:r>
            <a:r>
              <a:rPr lang="en-GB" b="0" dirty="0"/>
              <a:t>Committing Candidates into a Release</a:t>
            </a:r>
          </a:p>
        </p:txBody>
      </p:sp>
      <p:sp>
        <p:nvSpPr>
          <p:cNvPr id="6" name="Slide Number Placeholder 5"/>
          <p:cNvSpPr>
            <a:spLocks noGrp="1"/>
          </p:cNvSpPr>
          <p:nvPr>
            <p:ph type="sldNum" sz="quarter" idx="15"/>
          </p:nvPr>
        </p:nvSpPr>
        <p:spPr>
          <a:xfrm>
            <a:off x="4365295" y="4968000"/>
            <a:ext cx="413410" cy="180000"/>
          </a:xfrm>
        </p:spPr>
        <p:txBody>
          <a:bodyPr/>
          <a:lstStyle/>
          <a:p>
            <a:fld id="{72A83A2B-3358-44F8-83A0-4598795D8FB5}" type="slidenum">
              <a:rPr lang="en-GB" smtClean="0"/>
              <a:pPr/>
              <a:t>42</a:t>
            </a:fld>
            <a:endParaRPr lang="en-GB" dirty="0"/>
          </a:p>
        </p:txBody>
      </p:sp>
    </p:spTree>
    <p:extLst>
      <p:ext uri="{BB962C8B-B14F-4D97-AF65-F5344CB8AC3E}">
        <p14:creationId xmlns:p14="http://schemas.microsoft.com/office/powerpoint/2010/main" val="1757242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6AF3AF6C-3130-4580-AD44-DF0CFFBD06F2}"/>
              </a:ext>
            </a:extLst>
          </p:cNvPr>
          <p:cNvSpPr txBox="1">
            <a:spLocks/>
          </p:cNvSpPr>
          <p:nvPr/>
        </p:nvSpPr>
        <p:spPr>
          <a:xfrm>
            <a:off x="90031" y="131990"/>
            <a:ext cx="8963938" cy="524408"/>
          </a:xfrm>
          <a:prstGeom prst="rect">
            <a:avLst/>
          </a:prstGeom>
        </p:spPr>
        <p:txBody>
          <a:bodyPr vert="horz" lIns="0" tIns="34290" rIns="0" bIns="0" rtlCol="0" anchor="t" anchorCtr="0">
            <a:normAutofit/>
          </a:bodyPr>
          <a:lstStyle>
            <a:lvl1pPr marL="0" indent="0" algn="l" defTabSz="914377" rtl="0" eaLnBrk="1" latinLnBrk="0" hangingPunct="1">
              <a:lnSpc>
                <a:spcPct val="70000"/>
              </a:lnSpc>
              <a:spcBef>
                <a:spcPct val="0"/>
              </a:spcBef>
              <a:buNone/>
              <a:defRPr sz="4000" b="1" kern="1200" cap="all" baseline="0">
                <a:solidFill>
                  <a:schemeClr val="tx1"/>
                </a:solidFill>
                <a:latin typeface="+mj-lt"/>
                <a:ea typeface="+mj-ea"/>
                <a:cs typeface="+mj-cs"/>
              </a:defRPr>
            </a:lvl1pPr>
          </a:lstStyle>
          <a:p>
            <a:pPr>
              <a:defRPr/>
            </a:pPr>
            <a:r>
              <a:rPr lang="en-US" sz="1875">
                <a:solidFill>
                  <a:sysClr val="windowText" lastClr="000000"/>
                </a:solidFill>
                <a:latin typeface="Graphik"/>
              </a:rPr>
              <a:t>CCSXpress ‘Cheat Sheet’ – </a:t>
            </a:r>
            <a:r>
              <a:rPr lang="en-US" sz="1875">
                <a:solidFill>
                  <a:srgbClr val="FF0000"/>
                </a:solidFill>
                <a:latin typeface="Graphik"/>
              </a:rPr>
              <a:t>Release Readiness for RPM</a:t>
            </a:r>
            <a:endParaRPr lang="en-US" sz="1875">
              <a:solidFill>
                <a:srgbClr val="595959"/>
              </a:solidFill>
              <a:latin typeface="Graphik"/>
            </a:endParaRPr>
          </a:p>
          <a:p>
            <a:pPr defTabSz="685783">
              <a:defRPr/>
            </a:pPr>
            <a:endParaRPr lang="en-US" sz="1875">
              <a:solidFill>
                <a:sysClr val="windowText" lastClr="000000"/>
              </a:solidFill>
              <a:latin typeface="Graphik"/>
            </a:endParaRPr>
          </a:p>
        </p:txBody>
      </p:sp>
      <p:sp>
        <p:nvSpPr>
          <p:cNvPr id="3" name="Content Placeholder 2">
            <a:extLst>
              <a:ext uri="{FF2B5EF4-FFF2-40B4-BE49-F238E27FC236}">
                <a16:creationId xmlns:a16="http://schemas.microsoft.com/office/drawing/2014/main" id="{5E7426FD-EF8F-4E97-8EA2-461E4CF052C0}"/>
              </a:ext>
            </a:extLst>
          </p:cNvPr>
          <p:cNvSpPr>
            <a:spLocks noGrp="1"/>
          </p:cNvSpPr>
          <p:nvPr>
            <p:ph idx="1"/>
          </p:nvPr>
        </p:nvSpPr>
        <p:spPr>
          <a:xfrm>
            <a:off x="809370" y="361588"/>
            <a:ext cx="7790478" cy="660424"/>
          </a:xfrm>
        </p:spPr>
        <p:txBody>
          <a:bodyPr vert="horz" lIns="68580" tIns="34290" rIns="68580" bIns="34290" rtlCol="0" anchor="t" anchorCtr="0">
            <a:noAutofit/>
          </a:bodyPr>
          <a:lstStyle/>
          <a:p>
            <a:pPr marL="0" indent="0">
              <a:buNone/>
            </a:pPr>
            <a:r>
              <a:rPr lang="en-GB" sz="900" b="1" dirty="0"/>
              <a:t>Objective: </a:t>
            </a:r>
            <a:r>
              <a:rPr lang="en-GB" sz="900" dirty="0"/>
              <a:t>This ‘cheat sheet’ aims to assist delivery managers in preparing for RPM, where their scope is targeting the upcoming </a:t>
            </a:r>
            <a:r>
              <a:rPr lang="en-GB" sz="900" dirty="0" err="1"/>
              <a:t>CCSXpress</a:t>
            </a:r>
            <a:r>
              <a:rPr lang="en-GB" sz="900" dirty="0"/>
              <a:t> Releases. </a:t>
            </a:r>
            <a:r>
              <a:rPr lang="en-GB" sz="900" dirty="0" err="1"/>
              <a:t>CCSXpress</a:t>
            </a:r>
            <a:r>
              <a:rPr lang="en-GB" sz="900" dirty="0"/>
              <a:t> Governance is documented in the </a:t>
            </a:r>
            <a:r>
              <a:rPr lang="en-GB" sz="900" dirty="0" err="1">
                <a:hlinkClick r:id="rId3"/>
              </a:rPr>
              <a:t>CCSXpress</a:t>
            </a:r>
            <a:r>
              <a:rPr lang="en-GB" sz="900" dirty="0">
                <a:hlinkClick r:id="rId3"/>
              </a:rPr>
              <a:t> SharePoint</a:t>
            </a:r>
            <a:endParaRPr lang="en-GB" sz="900" dirty="0"/>
          </a:p>
          <a:p>
            <a:pPr marL="0" indent="0">
              <a:buNone/>
            </a:pPr>
            <a:endParaRPr lang="en-GB" sz="900" dirty="0">
              <a:solidFill>
                <a:srgbClr val="FF0000"/>
              </a:solidFill>
            </a:endParaRPr>
          </a:p>
          <a:p>
            <a:pPr marL="0" indent="0">
              <a:buNone/>
            </a:pPr>
            <a:endParaRPr lang="en-GB" sz="900" b="1" dirty="0"/>
          </a:p>
          <a:p>
            <a:pPr marL="0" indent="0">
              <a:buNone/>
            </a:pPr>
            <a:r>
              <a:rPr lang="en-GB" sz="900" b="1" dirty="0"/>
              <a:t>            </a:t>
            </a:r>
            <a:endParaRPr lang="en-GB" sz="900" dirty="0">
              <a:solidFill>
                <a:srgbClr val="FF0000"/>
              </a:solidFill>
            </a:endParaRPr>
          </a:p>
        </p:txBody>
      </p:sp>
      <p:pic>
        <p:nvPicPr>
          <p:cNvPr id="9" name="Graphic 8" descr="Bullseye">
            <a:extLst>
              <a:ext uri="{FF2B5EF4-FFF2-40B4-BE49-F238E27FC236}">
                <a16:creationId xmlns:a16="http://schemas.microsoft.com/office/drawing/2014/main" id="{F53E0987-7A67-425D-AAF5-BCACDC784AC6}"/>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1708" y="467063"/>
            <a:ext cx="464447" cy="451750"/>
          </a:xfrm>
          <a:prstGeom prst="rect">
            <a:avLst/>
          </a:prstGeom>
        </p:spPr>
      </p:pic>
      <p:pic>
        <p:nvPicPr>
          <p:cNvPr id="11" name="Graphic 10" descr="Checklist RTL">
            <a:extLst>
              <a:ext uri="{FF2B5EF4-FFF2-40B4-BE49-F238E27FC236}">
                <a16:creationId xmlns:a16="http://schemas.microsoft.com/office/drawing/2014/main" id="{0AE338AB-6BD2-4003-9D62-FB87587E27F2}"/>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5895" y="1031823"/>
            <a:ext cx="444125" cy="444125"/>
          </a:xfrm>
          <a:prstGeom prst="rect">
            <a:avLst/>
          </a:prstGeom>
        </p:spPr>
      </p:pic>
      <p:sp>
        <p:nvSpPr>
          <p:cNvPr id="12" name="Rectangle 11">
            <a:extLst>
              <a:ext uri="{FF2B5EF4-FFF2-40B4-BE49-F238E27FC236}">
                <a16:creationId xmlns:a16="http://schemas.microsoft.com/office/drawing/2014/main" id="{E2E532AF-A3C1-4150-A996-284726C30C6D}"/>
              </a:ext>
            </a:extLst>
          </p:cNvPr>
          <p:cNvSpPr/>
          <p:nvPr/>
        </p:nvSpPr>
        <p:spPr>
          <a:xfrm>
            <a:off x="875948" y="1150842"/>
            <a:ext cx="256740" cy="2474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solidFill>
              <a:latin typeface="Vodafone Rg" panose="020B0606080202020204" pitchFamily="34" charset="0"/>
            </a:endParaRPr>
          </a:p>
        </p:txBody>
      </p:sp>
      <p:sp>
        <p:nvSpPr>
          <p:cNvPr id="13" name="Rectangle 12">
            <a:extLst>
              <a:ext uri="{FF2B5EF4-FFF2-40B4-BE49-F238E27FC236}">
                <a16:creationId xmlns:a16="http://schemas.microsoft.com/office/drawing/2014/main" id="{F984238F-CD64-426C-B7E1-711DFFD99035}"/>
              </a:ext>
            </a:extLst>
          </p:cNvPr>
          <p:cNvSpPr/>
          <p:nvPr/>
        </p:nvSpPr>
        <p:spPr>
          <a:xfrm>
            <a:off x="1171398" y="1469866"/>
            <a:ext cx="4572000" cy="253916"/>
          </a:xfrm>
          <a:prstGeom prst="rect">
            <a:avLst/>
          </a:prstGeom>
        </p:spPr>
        <p:txBody>
          <a:bodyPr>
            <a:spAutoFit/>
          </a:bodyPr>
          <a:lstStyle/>
          <a:p>
            <a:pPr lvl="0">
              <a:defRPr/>
            </a:pPr>
            <a:r>
              <a:rPr lang="en-GB" sz="1050">
                <a:solidFill>
                  <a:srgbClr val="000000"/>
                </a:solidFill>
                <a:latin typeface="Vodafone Rg" panose="020B0606080202020204" pitchFamily="34" charset="0"/>
              </a:rPr>
              <a:t>Project ITDA, Business case and E2E HLD signed off</a:t>
            </a:r>
            <a:endParaRPr lang="en-GB" sz="1050" b="1">
              <a:latin typeface="Vodafone Rg" panose="020B0606080202020204" pitchFamily="34" charset="0"/>
            </a:endParaRPr>
          </a:p>
        </p:txBody>
      </p:sp>
      <p:sp>
        <p:nvSpPr>
          <p:cNvPr id="14" name="Rectangle 13">
            <a:extLst>
              <a:ext uri="{FF2B5EF4-FFF2-40B4-BE49-F238E27FC236}">
                <a16:creationId xmlns:a16="http://schemas.microsoft.com/office/drawing/2014/main" id="{3A4239F1-2D22-471C-B0A2-C31732D068AC}"/>
              </a:ext>
            </a:extLst>
          </p:cNvPr>
          <p:cNvSpPr/>
          <p:nvPr/>
        </p:nvSpPr>
        <p:spPr>
          <a:xfrm>
            <a:off x="875948" y="1459778"/>
            <a:ext cx="256740" cy="2474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solidFill>
              <a:latin typeface="Vodafone Rg" panose="020B0606080202020204" pitchFamily="34" charset="0"/>
            </a:endParaRPr>
          </a:p>
        </p:txBody>
      </p:sp>
      <p:sp>
        <p:nvSpPr>
          <p:cNvPr id="15" name="Rectangle 14">
            <a:extLst>
              <a:ext uri="{FF2B5EF4-FFF2-40B4-BE49-F238E27FC236}">
                <a16:creationId xmlns:a16="http://schemas.microsoft.com/office/drawing/2014/main" id="{E47C9606-CAC6-4E64-B361-20086CE4F571}"/>
              </a:ext>
            </a:extLst>
          </p:cNvPr>
          <p:cNvSpPr/>
          <p:nvPr/>
        </p:nvSpPr>
        <p:spPr>
          <a:xfrm>
            <a:off x="1171398" y="1782000"/>
            <a:ext cx="6525350" cy="253916"/>
          </a:xfrm>
          <a:prstGeom prst="rect">
            <a:avLst/>
          </a:prstGeom>
        </p:spPr>
        <p:txBody>
          <a:bodyPr wrap="square">
            <a:spAutoFit/>
          </a:bodyPr>
          <a:lstStyle/>
          <a:p>
            <a:pPr lvl="0">
              <a:defRPr/>
            </a:pPr>
            <a:r>
              <a:rPr lang="en-GB" sz="1050" dirty="0">
                <a:latin typeface="Vodafone Rg" panose="020B0606080202020204" pitchFamily="34" charset="0"/>
              </a:rPr>
              <a:t>From your project epic in P2D ADO &gt; Created Feature &gt; Move to RM ADO &gt; Create Functions (App impacts)</a:t>
            </a:r>
            <a:endParaRPr lang="en-GB" sz="1050" b="1" dirty="0">
              <a:latin typeface="Vodafone Rg" panose="020B0606080202020204" pitchFamily="34" charset="0"/>
            </a:endParaRPr>
          </a:p>
        </p:txBody>
      </p:sp>
      <p:sp>
        <p:nvSpPr>
          <p:cNvPr id="16" name="Rectangle 15">
            <a:extLst>
              <a:ext uri="{FF2B5EF4-FFF2-40B4-BE49-F238E27FC236}">
                <a16:creationId xmlns:a16="http://schemas.microsoft.com/office/drawing/2014/main" id="{D00CB6ED-6305-4E55-8B1D-6217D62F1C8D}"/>
              </a:ext>
            </a:extLst>
          </p:cNvPr>
          <p:cNvSpPr/>
          <p:nvPr/>
        </p:nvSpPr>
        <p:spPr>
          <a:xfrm>
            <a:off x="875948" y="1768715"/>
            <a:ext cx="256740" cy="2474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solidFill>
              <a:latin typeface="Vodafone Rg" panose="020B0606080202020204" pitchFamily="34" charset="0"/>
            </a:endParaRPr>
          </a:p>
        </p:txBody>
      </p:sp>
      <p:sp>
        <p:nvSpPr>
          <p:cNvPr id="17" name="Rectangle 16">
            <a:extLst>
              <a:ext uri="{FF2B5EF4-FFF2-40B4-BE49-F238E27FC236}">
                <a16:creationId xmlns:a16="http://schemas.microsoft.com/office/drawing/2014/main" id="{59B2850A-54FC-4295-938E-E6FBAB9ADAE4}"/>
              </a:ext>
            </a:extLst>
          </p:cNvPr>
          <p:cNvSpPr/>
          <p:nvPr/>
        </p:nvSpPr>
        <p:spPr>
          <a:xfrm>
            <a:off x="1171398" y="3021976"/>
            <a:ext cx="7074717" cy="253916"/>
          </a:xfrm>
          <a:prstGeom prst="rect">
            <a:avLst/>
          </a:prstGeom>
        </p:spPr>
        <p:txBody>
          <a:bodyPr wrap="square">
            <a:spAutoFit/>
          </a:bodyPr>
          <a:lstStyle/>
          <a:p>
            <a:pPr lvl="0">
              <a:defRPr/>
            </a:pPr>
            <a:r>
              <a:rPr lang="en-GB" sz="1050" dirty="0">
                <a:latin typeface="Vodafone Rg" panose="020B0606080202020204" pitchFamily="34" charset="0"/>
              </a:rPr>
              <a:t>VROMS split into independently testable drops by Domain and approved by Factory</a:t>
            </a:r>
            <a:endParaRPr lang="en-GB" sz="1050" b="1" dirty="0">
              <a:latin typeface="Vodafone Rg" panose="020B0606080202020204" pitchFamily="34" charset="0"/>
            </a:endParaRPr>
          </a:p>
        </p:txBody>
      </p:sp>
      <p:sp>
        <p:nvSpPr>
          <p:cNvPr id="18" name="Rectangle 17">
            <a:extLst>
              <a:ext uri="{FF2B5EF4-FFF2-40B4-BE49-F238E27FC236}">
                <a16:creationId xmlns:a16="http://schemas.microsoft.com/office/drawing/2014/main" id="{EEC0966B-95CC-499D-9989-2170A4CA6977}"/>
              </a:ext>
            </a:extLst>
          </p:cNvPr>
          <p:cNvSpPr/>
          <p:nvPr/>
        </p:nvSpPr>
        <p:spPr>
          <a:xfrm>
            <a:off x="875948" y="2077651"/>
            <a:ext cx="256740" cy="2474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solidFill>
              <a:latin typeface="Vodafone Rg" panose="020B0606080202020204" pitchFamily="34" charset="0"/>
            </a:endParaRPr>
          </a:p>
        </p:txBody>
      </p:sp>
      <p:sp>
        <p:nvSpPr>
          <p:cNvPr id="19" name="Rectangle 18">
            <a:extLst>
              <a:ext uri="{FF2B5EF4-FFF2-40B4-BE49-F238E27FC236}">
                <a16:creationId xmlns:a16="http://schemas.microsoft.com/office/drawing/2014/main" id="{D1D6A8B8-94EF-4856-AED2-E8543E655C5D}"/>
              </a:ext>
            </a:extLst>
          </p:cNvPr>
          <p:cNvSpPr/>
          <p:nvPr/>
        </p:nvSpPr>
        <p:spPr>
          <a:xfrm>
            <a:off x="1171398" y="2094134"/>
            <a:ext cx="7074717" cy="253916"/>
          </a:xfrm>
          <a:prstGeom prst="rect">
            <a:avLst/>
          </a:prstGeom>
        </p:spPr>
        <p:txBody>
          <a:bodyPr wrap="square">
            <a:spAutoFit/>
          </a:bodyPr>
          <a:lstStyle/>
          <a:p>
            <a:pPr lvl="0">
              <a:defRPr/>
            </a:pPr>
            <a:r>
              <a:rPr lang="en-GB" sz="1050">
                <a:latin typeface="Vodafone Rg" panose="020B0606080202020204" pitchFamily="34" charset="0"/>
              </a:rPr>
              <a:t>UX requirements identified, Halo design complete</a:t>
            </a:r>
            <a:endParaRPr lang="en-GB" sz="1050" b="1">
              <a:latin typeface="Vodafone Rg" panose="020B0606080202020204" pitchFamily="34" charset="0"/>
            </a:endParaRPr>
          </a:p>
        </p:txBody>
      </p:sp>
      <p:sp>
        <p:nvSpPr>
          <p:cNvPr id="20" name="Rectangle 19">
            <a:extLst>
              <a:ext uri="{FF2B5EF4-FFF2-40B4-BE49-F238E27FC236}">
                <a16:creationId xmlns:a16="http://schemas.microsoft.com/office/drawing/2014/main" id="{43DE2E8B-FCC8-4F43-9AAC-9D2761D93699}"/>
              </a:ext>
            </a:extLst>
          </p:cNvPr>
          <p:cNvSpPr/>
          <p:nvPr/>
        </p:nvSpPr>
        <p:spPr>
          <a:xfrm>
            <a:off x="875948" y="2386587"/>
            <a:ext cx="256740" cy="2474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solidFill>
              <a:latin typeface="Vodafone Rg" panose="020B0606080202020204" pitchFamily="34" charset="0"/>
            </a:endParaRPr>
          </a:p>
        </p:txBody>
      </p:sp>
      <p:sp>
        <p:nvSpPr>
          <p:cNvPr id="21" name="Rectangle 20">
            <a:extLst>
              <a:ext uri="{FF2B5EF4-FFF2-40B4-BE49-F238E27FC236}">
                <a16:creationId xmlns:a16="http://schemas.microsoft.com/office/drawing/2014/main" id="{354C8D4A-C1FD-4F48-A550-E0CE3DE5FCEC}"/>
              </a:ext>
            </a:extLst>
          </p:cNvPr>
          <p:cNvSpPr/>
          <p:nvPr/>
        </p:nvSpPr>
        <p:spPr>
          <a:xfrm>
            <a:off x="1171398" y="2406269"/>
            <a:ext cx="7809303" cy="253916"/>
          </a:xfrm>
          <a:prstGeom prst="rect">
            <a:avLst/>
          </a:prstGeom>
        </p:spPr>
        <p:txBody>
          <a:bodyPr wrap="square">
            <a:spAutoFit/>
          </a:bodyPr>
          <a:lstStyle/>
          <a:p>
            <a:pPr lvl="0">
              <a:defRPr/>
            </a:pPr>
            <a:r>
              <a:rPr lang="en-GB" sz="1050" dirty="0">
                <a:latin typeface="Vodafone Rg" panose="020B0606080202020204" pitchFamily="34" charset="0"/>
              </a:rPr>
              <a:t>Ensure catalogue/config subtasks are raised in line with WR in ADO</a:t>
            </a:r>
            <a:r>
              <a:rPr lang="en-GB" sz="1050">
                <a:latin typeface="Vodafone Rg" panose="020B0606080202020204" pitchFamily="34" charset="0"/>
              </a:rPr>
              <a:t>, with delivery </a:t>
            </a:r>
            <a:r>
              <a:rPr lang="en-GB" sz="1050" dirty="0">
                <a:latin typeface="Vodafone Rg" panose="020B0606080202020204" pitchFamily="34" charset="0"/>
              </a:rPr>
              <a:t>plan available in ADO Function</a:t>
            </a:r>
            <a:endParaRPr lang="en-GB" sz="1050" b="1" dirty="0">
              <a:latin typeface="Vodafone Rg" panose="020B0606080202020204" pitchFamily="34" charset="0"/>
            </a:endParaRPr>
          </a:p>
        </p:txBody>
      </p:sp>
      <p:sp>
        <p:nvSpPr>
          <p:cNvPr id="22" name="Rectangle 21">
            <a:extLst>
              <a:ext uri="{FF2B5EF4-FFF2-40B4-BE49-F238E27FC236}">
                <a16:creationId xmlns:a16="http://schemas.microsoft.com/office/drawing/2014/main" id="{374F7019-09A5-4199-B93B-0027A619778D}"/>
              </a:ext>
            </a:extLst>
          </p:cNvPr>
          <p:cNvSpPr/>
          <p:nvPr/>
        </p:nvSpPr>
        <p:spPr>
          <a:xfrm>
            <a:off x="875948" y="2695523"/>
            <a:ext cx="256740" cy="2474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solidFill>
              <a:latin typeface="Vodafone Rg" panose="020B0606080202020204" pitchFamily="34" charset="0"/>
            </a:endParaRPr>
          </a:p>
        </p:txBody>
      </p:sp>
      <p:sp>
        <p:nvSpPr>
          <p:cNvPr id="23" name="Rectangle 22">
            <a:extLst>
              <a:ext uri="{FF2B5EF4-FFF2-40B4-BE49-F238E27FC236}">
                <a16:creationId xmlns:a16="http://schemas.microsoft.com/office/drawing/2014/main" id="{341EC595-0F6B-4F21-8908-35FD5F630D9C}"/>
              </a:ext>
            </a:extLst>
          </p:cNvPr>
          <p:cNvSpPr/>
          <p:nvPr/>
        </p:nvSpPr>
        <p:spPr>
          <a:xfrm>
            <a:off x="1171398" y="2718403"/>
            <a:ext cx="7074717" cy="253916"/>
          </a:xfrm>
          <a:prstGeom prst="rect">
            <a:avLst/>
          </a:prstGeom>
        </p:spPr>
        <p:txBody>
          <a:bodyPr wrap="square">
            <a:spAutoFit/>
          </a:bodyPr>
          <a:lstStyle/>
          <a:p>
            <a:pPr lvl="0">
              <a:defRPr/>
            </a:pPr>
            <a:r>
              <a:rPr lang="en-GB" sz="1050" dirty="0">
                <a:latin typeface="Vodafone Rg" panose="020B0606080202020204" pitchFamily="34" charset="0"/>
              </a:rPr>
              <a:t>TIL delivery plan available in ADO Function and design complete</a:t>
            </a:r>
            <a:endParaRPr lang="en-GB" sz="1050" b="1" dirty="0">
              <a:latin typeface="Vodafone Rg" panose="020B0606080202020204" pitchFamily="34" charset="0"/>
            </a:endParaRPr>
          </a:p>
        </p:txBody>
      </p:sp>
      <p:sp>
        <p:nvSpPr>
          <p:cNvPr id="26" name="Rectangle 25">
            <a:extLst>
              <a:ext uri="{FF2B5EF4-FFF2-40B4-BE49-F238E27FC236}">
                <a16:creationId xmlns:a16="http://schemas.microsoft.com/office/drawing/2014/main" id="{934721A0-5367-4993-BC40-2DEB93103DBB}"/>
              </a:ext>
            </a:extLst>
          </p:cNvPr>
          <p:cNvSpPr/>
          <p:nvPr/>
        </p:nvSpPr>
        <p:spPr>
          <a:xfrm>
            <a:off x="875948" y="2992700"/>
            <a:ext cx="256740" cy="2474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solidFill>
              <a:latin typeface="Vodafone Rg" panose="020B0606080202020204" pitchFamily="34" charset="0"/>
            </a:endParaRPr>
          </a:p>
        </p:txBody>
      </p:sp>
      <p:sp>
        <p:nvSpPr>
          <p:cNvPr id="27" name="Rectangle 26">
            <a:extLst>
              <a:ext uri="{FF2B5EF4-FFF2-40B4-BE49-F238E27FC236}">
                <a16:creationId xmlns:a16="http://schemas.microsoft.com/office/drawing/2014/main" id="{2C669891-FC92-44C9-A05A-642BB1FCD3DC}"/>
              </a:ext>
            </a:extLst>
          </p:cNvPr>
          <p:cNvSpPr/>
          <p:nvPr/>
        </p:nvSpPr>
        <p:spPr>
          <a:xfrm>
            <a:off x="1171398" y="3334110"/>
            <a:ext cx="7074717" cy="253916"/>
          </a:xfrm>
          <a:prstGeom prst="rect">
            <a:avLst/>
          </a:prstGeom>
        </p:spPr>
        <p:txBody>
          <a:bodyPr wrap="square">
            <a:spAutoFit/>
          </a:bodyPr>
          <a:lstStyle/>
          <a:p>
            <a:pPr>
              <a:defRPr/>
            </a:pPr>
            <a:r>
              <a:rPr lang="en-GB" sz="1050" dirty="0">
                <a:solidFill>
                  <a:srgbClr val="000000"/>
                </a:solidFill>
                <a:latin typeface="Vodafone Rg" panose="020B0606080202020204" pitchFamily="34" charset="0"/>
              </a:rPr>
              <a:t>Factory delivery plans available in ADO Functions and designs complete </a:t>
            </a:r>
            <a:endParaRPr lang="en-GB" sz="1050" b="1" dirty="0">
              <a:latin typeface="Vodafone Rg" panose="020B0606080202020204" pitchFamily="34" charset="0"/>
            </a:endParaRPr>
          </a:p>
        </p:txBody>
      </p:sp>
      <p:sp>
        <p:nvSpPr>
          <p:cNvPr id="28" name="Rectangle 27">
            <a:extLst>
              <a:ext uri="{FF2B5EF4-FFF2-40B4-BE49-F238E27FC236}">
                <a16:creationId xmlns:a16="http://schemas.microsoft.com/office/drawing/2014/main" id="{FA740845-2E4F-43C9-BDD8-82F7B9A210C9}"/>
              </a:ext>
            </a:extLst>
          </p:cNvPr>
          <p:cNvSpPr/>
          <p:nvPr/>
        </p:nvSpPr>
        <p:spPr>
          <a:xfrm>
            <a:off x="875948" y="3301637"/>
            <a:ext cx="256740" cy="2474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solidFill>
              <a:latin typeface="Vodafone Rg" panose="020B0606080202020204" pitchFamily="34" charset="0"/>
            </a:endParaRPr>
          </a:p>
        </p:txBody>
      </p:sp>
      <p:sp>
        <p:nvSpPr>
          <p:cNvPr id="29" name="Rectangle 28">
            <a:extLst>
              <a:ext uri="{FF2B5EF4-FFF2-40B4-BE49-F238E27FC236}">
                <a16:creationId xmlns:a16="http://schemas.microsoft.com/office/drawing/2014/main" id="{5592FC7E-1855-4D74-9FCA-3B0910E04FD4}"/>
              </a:ext>
            </a:extLst>
          </p:cNvPr>
          <p:cNvSpPr/>
          <p:nvPr/>
        </p:nvSpPr>
        <p:spPr>
          <a:xfrm>
            <a:off x="1171398" y="3966940"/>
            <a:ext cx="7074717" cy="253916"/>
          </a:xfrm>
          <a:prstGeom prst="rect">
            <a:avLst/>
          </a:prstGeom>
        </p:spPr>
        <p:txBody>
          <a:bodyPr wrap="square">
            <a:spAutoFit/>
          </a:bodyPr>
          <a:lstStyle/>
          <a:p>
            <a:pPr>
              <a:defRPr/>
            </a:pPr>
            <a:r>
              <a:rPr lang="en-GB" sz="1050" dirty="0">
                <a:latin typeface="Vodafone Rg" panose="020B0606080202020204" pitchFamily="34" charset="0"/>
              </a:rPr>
              <a:t>Production Consumption Plan available in your </a:t>
            </a:r>
            <a:r>
              <a:rPr lang="en-GB" sz="1050" b="1" dirty="0">
                <a:latin typeface="Vodafone Rg" panose="020B0606080202020204" pitchFamily="34" charset="0"/>
              </a:rPr>
              <a:t>ADO Feature </a:t>
            </a:r>
            <a:r>
              <a:rPr lang="en-GB" sz="1050" dirty="0">
                <a:latin typeface="Vodafone Rg" panose="020B0606080202020204" pitchFamily="34" charset="0"/>
              </a:rPr>
              <a:t>(Up to CCS 24.12) or </a:t>
            </a:r>
            <a:r>
              <a:rPr lang="en-GB" sz="1050" b="1" dirty="0">
                <a:latin typeface="Vodafone Rg" panose="020B0606080202020204" pitchFamily="34" charset="0"/>
              </a:rPr>
              <a:t>Delivery </a:t>
            </a:r>
            <a:r>
              <a:rPr lang="en-GB" sz="1050" dirty="0">
                <a:latin typeface="Vodafone Rg" panose="020B0606080202020204" pitchFamily="34" charset="0"/>
              </a:rPr>
              <a:t>(From CCS 25.1)</a:t>
            </a:r>
          </a:p>
        </p:txBody>
      </p:sp>
      <p:sp>
        <p:nvSpPr>
          <p:cNvPr id="31" name="Rectangle 30">
            <a:extLst>
              <a:ext uri="{FF2B5EF4-FFF2-40B4-BE49-F238E27FC236}">
                <a16:creationId xmlns:a16="http://schemas.microsoft.com/office/drawing/2014/main" id="{5EF05281-1816-4B8E-8381-68A9C8BF4228}"/>
              </a:ext>
            </a:extLst>
          </p:cNvPr>
          <p:cNvSpPr/>
          <p:nvPr/>
        </p:nvSpPr>
        <p:spPr>
          <a:xfrm>
            <a:off x="404370" y="1140343"/>
            <a:ext cx="405000" cy="230832"/>
          </a:xfrm>
          <a:prstGeom prst="rect">
            <a:avLst/>
          </a:prstGeom>
        </p:spPr>
        <p:txBody>
          <a:bodyPr wrap="square">
            <a:spAutoFit/>
          </a:bodyPr>
          <a:lstStyle/>
          <a:p>
            <a:pPr algn="r">
              <a:defRPr/>
            </a:pPr>
            <a:r>
              <a:rPr lang="en-GB" sz="900" b="1">
                <a:solidFill>
                  <a:srgbClr val="000000"/>
                </a:solidFill>
                <a:latin typeface="Vodafone Rg" panose="020B0606080202020204" pitchFamily="34" charset="0"/>
              </a:rPr>
              <a:t>1</a:t>
            </a:r>
            <a:endParaRPr lang="en-GB" sz="900" b="1">
              <a:latin typeface="Vodafone Rg" panose="020B0606080202020204" pitchFamily="34" charset="0"/>
            </a:endParaRPr>
          </a:p>
        </p:txBody>
      </p:sp>
      <p:sp>
        <p:nvSpPr>
          <p:cNvPr id="32" name="Rectangle 31">
            <a:extLst>
              <a:ext uri="{FF2B5EF4-FFF2-40B4-BE49-F238E27FC236}">
                <a16:creationId xmlns:a16="http://schemas.microsoft.com/office/drawing/2014/main" id="{D5E3AFB0-51B6-4041-97D8-93E31D5B75E9}"/>
              </a:ext>
            </a:extLst>
          </p:cNvPr>
          <p:cNvSpPr/>
          <p:nvPr/>
        </p:nvSpPr>
        <p:spPr>
          <a:xfrm>
            <a:off x="404370" y="1449173"/>
            <a:ext cx="405000" cy="230832"/>
          </a:xfrm>
          <a:prstGeom prst="rect">
            <a:avLst/>
          </a:prstGeom>
        </p:spPr>
        <p:txBody>
          <a:bodyPr wrap="square">
            <a:spAutoFit/>
          </a:bodyPr>
          <a:lstStyle/>
          <a:p>
            <a:pPr algn="r">
              <a:defRPr/>
            </a:pPr>
            <a:r>
              <a:rPr lang="en-GB" sz="900" b="1">
                <a:solidFill>
                  <a:srgbClr val="000000"/>
                </a:solidFill>
                <a:latin typeface="Vodafone Rg" panose="020B0606080202020204" pitchFamily="34" charset="0"/>
              </a:rPr>
              <a:t>2</a:t>
            </a:r>
            <a:endParaRPr lang="en-GB" sz="900" b="1">
              <a:latin typeface="Vodafone Rg" panose="020B0606080202020204" pitchFamily="34" charset="0"/>
            </a:endParaRPr>
          </a:p>
        </p:txBody>
      </p:sp>
      <p:sp>
        <p:nvSpPr>
          <p:cNvPr id="33" name="Rectangle 32">
            <a:extLst>
              <a:ext uri="{FF2B5EF4-FFF2-40B4-BE49-F238E27FC236}">
                <a16:creationId xmlns:a16="http://schemas.microsoft.com/office/drawing/2014/main" id="{0CD3B093-ADDC-47EA-A023-ADA645C82AFB}"/>
              </a:ext>
            </a:extLst>
          </p:cNvPr>
          <p:cNvSpPr/>
          <p:nvPr/>
        </p:nvSpPr>
        <p:spPr>
          <a:xfrm>
            <a:off x="404370" y="1758002"/>
            <a:ext cx="405000" cy="230832"/>
          </a:xfrm>
          <a:prstGeom prst="rect">
            <a:avLst/>
          </a:prstGeom>
        </p:spPr>
        <p:txBody>
          <a:bodyPr wrap="square">
            <a:spAutoFit/>
          </a:bodyPr>
          <a:lstStyle/>
          <a:p>
            <a:pPr algn="r">
              <a:defRPr/>
            </a:pPr>
            <a:r>
              <a:rPr lang="en-GB" sz="900" b="1">
                <a:latin typeface="Vodafone Rg" panose="020B0606080202020204" pitchFamily="34" charset="0"/>
              </a:rPr>
              <a:t>3</a:t>
            </a:r>
          </a:p>
        </p:txBody>
      </p:sp>
      <p:sp>
        <p:nvSpPr>
          <p:cNvPr id="34" name="Rectangle 33">
            <a:extLst>
              <a:ext uri="{FF2B5EF4-FFF2-40B4-BE49-F238E27FC236}">
                <a16:creationId xmlns:a16="http://schemas.microsoft.com/office/drawing/2014/main" id="{2C9E62E6-88FB-4B39-9717-88959E5B710D}"/>
              </a:ext>
            </a:extLst>
          </p:cNvPr>
          <p:cNvSpPr/>
          <p:nvPr/>
        </p:nvSpPr>
        <p:spPr>
          <a:xfrm>
            <a:off x="404370" y="2066832"/>
            <a:ext cx="405000" cy="230832"/>
          </a:xfrm>
          <a:prstGeom prst="rect">
            <a:avLst/>
          </a:prstGeom>
        </p:spPr>
        <p:txBody>
          <a:bodyPr wrap="square">
            <a:spAutoFit/>
          </a:bodyPr>
          <a:lstStyle/>
          <a:p>
            <a:pPr algn="r">
              <a:defRPr/>
            </a:pPr>
            <a:r>
              <a:rPr lang="en-GB" sz="900" b="1">
                <a:latin typeface="Vodafone Rg" panose="020B0606080202020204" pitchFamily="34" charset="0"/>
              </a:rPr>
              <a:t>4</a:t>
            </a:r>
          </a:p>
        </p:txBody>
      </p:sp>
      <p:sp>
        <p:nvSpPr>
          <p:cNvPr id="35" name="Rectangle 34">
            <a:extLst>
              <a:ext uri="{FF2B5EF4-FFF2-40B4-BE49-F238E27FC236}">
                <a16:creationId xmlns:a16="http://schemas.microsoft.com/office/drawing/2014/main" id="{02082B1E-9E74-4266-B8CD-0CF232CD9FD8}"/>
              </a:ext>
            </a:extLst>
          </p:cNvPr>
          <p:cNvSpPr/>
          <p:nvPr/>
        </p:nvSpPr>
        <p:spPr>
          <a:xfrm>
            <a:off x="404370" y="2375662"/>
            <a:ext cx="405000" cy="230832"/>
          </a:xfrm>
          <a:prstGeom prst="rect">
            <a:avLst/>
          </a:prstGeom>
        </p:spPr>
        <p:txBody>
          <a:bodyPr wrap="square">
            <a:spAutoFit/>
          </a:bodyPr>
          <a:lstStyle/>
          <a:p>
            <a:pPr algn="r">
              <a:defRPr/>
            </a:pPr>
            <a:r>
              <a:rPr lang="en-GB" sz="900" b="1">
                <a:latin typeface="Vodafone Rg" panose="020B0606080202020204" pitchFamily="34" charset="0"/>
              </a:rPr>
              <a:t>5</a:t>
            </a:r>
          </a:p>
        </p:txBody>
      </p:sp>
      <p:sp>
        <p:nvSpPr>
          <p:cNvPr id="36" name="Rectangle 35">
            <a:extLst>
              <a:ext uri="{FF2B5EF4-FFF2-40B4-BE49-F238E27FC236}">
                <a16:creationId xmlns:a16="http://schemas.microsoft.com/office/drawing/2014/main" id="{FA760C85-D222-4055-A946-4438EF2BD0BD}"/>
              </a:ext>
            </a:extLst>
          </p:cNvPr>
          <p:cNvSpPr/>
          <p:nvPr/>
        </p:nvSpPr>
        <p:spPr>
          <a:xfrm>
            <a:off x="404370" y="2684492"/>
            <a:ext cx="405000" cy="230832"/>
          </a:xfrm>
          <a:prstGeom prst="rect">
            <a:avLst/>
          </a:prstGeom>
        </p:spPr>
        <p:txBody>
          <a:bodyPr wrap="square">
            <a:spAutoFit/>
          </a:bodyPr>
          <a:lstStyle/>
          <a:p>
            <a:pPr algn="r">
              <a:defRPr/>
            </a:pPr>
            <a:r>
              <a:rPr lang="en-GB" sz="900" b="1">
                <a:latin typeface="Vodafone Rg" panose="020B0606080202020204" pitchFamily="34" charset="0"/>
              </a:rPr>
              <a:t>6</a:t>
            </a:r>
          </a:p>
        </p:txBody>
      </p:sp>
      <p:sp>
        <p:nvSpPr>
          <p:cNvPr id="37" name="Rectangle 36">
            <a:extLst>
              <a:ext uri="{FF2B5EF4-FFF2-40B4-BE49-F238E27FC236}">
                <a16:creationId xmlns:a16="http://schemas.microsoft.com/office/drawing/2014/main" id="{93807491-C592-41C6-9C74-AB8E2C554CF9}"/>
              </a:ext>
            </a:extLst>
          </p:cNvPr>
          <p:cNvSpPr/>
          <p:nvPr/>
        </p:nvSpPr>
        <p:spPr>
          <a:xfrm>
            <a:off x="404370" y="2993321"/>
            <a:ext cx="405000" cy="230832"/>
          </a:xfrm>
          <a:prstGeom prst="rect">
            <a:avLst/>
          </a:prstGeom>
        </p:spPr>
        <p:txBody>
          <a:bodyPr wrap="square">
            <a:spAutoFit/>
          </a:bodyPr>
          <a:lstStyle/>
          <a:p>
            <a:pPr algn="r">
              <a:defRPr/>
            </a:pPr>
            <a:r>
              <a:rPr lang="en-GB" sz="900" b="1">
                <a:latin typeface="Vodafone Rg" panose="020B0606080202020204" pitchFamily="34" charset="0"/>
              </a:rPr>
              <a:t>7</a:t>
            </a:r>
          </a:p>
        </p:txBody>
      </p:sp>
      <p:sp>
        <p:nvSpPr>
          <p:cNvPr id="38" name="Rectangle 37">
            <a:extLst>
              <a:ext uri="{FF2B5EF4-FFF2-40B4-BE49-F238E27FC236}">
                <a16:creationId xmlns:a16="http://schemas.microsoft.com/office/drawing/2014/main" id="{89B87907-E66C-4363-88F0-497BB5152ADB}"/>
              </a:ext>
            </a:extLst>
          </p:cNvPr>
          <p:cNvSpPr/>
          <p:nvPr/>
        </p:nvSpPr>
        <p:spPr>
          <a:xfrm>
            <a:off x="404370" y="3302151"/>
            <a:ext cx="405000" cy="230832"/>
          </a:xfrm>
          <a:prstGeom prst="rect">
            <a:avLst/>
          </a:prstGeom>
        </p:spPr>
        <p:txBody>
          <a:bodyPr wrap="square">
            <a:spAutoFit/>
          </a:bodyPr>
          <a:lstStyle/>
          <a:p>
            <a:pPr algn="r">
              <a:defRPr/>
            </a:pPr>
            <a:r>
              <a:rPr lang="en-GB" sz="900" b="1">
                <a:latin typeface="Vodafone Rg" panose="020B0606080202020204" pitchFamily="34" charset="0"/>
              </a:rPr>
              <a:t>8</a:t>
            </a:r>
          </a:p>
        </p:txBody>
      </p:sp>
      <p:sp>
        <p:nvSpPr>
          <p:cNvPr id="39" name="Rectangle 38">
            <a:extLst>
              <a:ext uri="{FF2B5EF4-FFF2-40B4-BE49-F238E27FC236}">
                <a16:creationId xmlns:a16="http://schemas.microsoft.com/office/drawing/2014/main" id="{EDF2CE8E-D1B3-4D70-8FAE-599B2DD117D0}"/>
              </a:ext>
            </a:extLst>
          </p:cNvPr>
          <p:cNvSpPr/>
          <p:nvPr/>
        </p:nvSpPr>
        <p:spPr>
          <a:xfrm>
            <a:off x="404370" y="3610981"/>
            <a:ext cx="405000" cy="230832"/>
          </a:xfrm>
          <a:prstGeom prst="rect">
            <a:avLst/>
          </a:prstGeom>
        </p:spPr>
        <p:txBody>
          <a:bodyPr wrap="square">
            <a:spAutoFit/>
          </a:bodyPr>
          <a:lstStyle/>
          <a:p>
            <a:pPr algn="r">
              <a:defRPr/>
            </a:pPr>
            <a:r>
              <a:rPr lang="en-GB" sz="900" b="1">
                <a:latin typeface="Vodafone Rg" panose="020B0606080202020204" pitchFamily="34" charset="0"/>
              </a:rPr>
              <a:t>9</a:t>
            </a:r>
          </a:p>
        </p:txBody>
      </p:sp>
      <p:sp>
        <p:nvSpPr>
          <p:cNvPr id="40" name="Rectangle 39">
            <a:extLst>
              <a:ext uri="{FF2B5EF4-FFF2-40B4-BE49-F238E27FC236}">
                <a16:creationId xmlns:a16="http://schemas.microsoft.com/office/drawing/2014/main" id="{3D458F41-7D8F-4F42-9ABA-772CB0FC6A20}"/>
              </a:ext>
            </a:extLst>
          </p:cNvPr>
          <p:cNvSpPr/>
          <p:nvPr/>
        </p:nvSpPr>
        <p:spPr>
          <a:xfrm>
            <a:off x="875948" y="3931268"/>
            <a:ext cx="256740" cy="2474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solidFill>
              <a:latin typeface="Vodafone Rg" panose="020B0606080202020204" pitchFamily="34" charset="0"/>
            </a:endParaRPr>
          </a:p>
        </p:txBody>
      </p:sp>
      <p:sp>
        <p:nvSpPr>
          <p:cNvPr id="41" name="Rectangle 40">
            <a:extLst>
              <a:ext uri="{FF2B5EF4-FFF2-40B4-BE49-F238E27FC236}">
                <a16:creationId xmlns:a16="http://schemas.microsoft.com/office/drawing/2014/main" id="{6358A3FE-E3B3-4EC7-B774-24B5C15AB425}"/>
              </a:ext>
            </a:extLst>
          </p:cNvPr>
          <p:cNvSpPr/>
          <p:nvPr/>
        </p:nvSpPr>
        <p:spPr>
          <a:xfrm>
            <a:off x="1171398" y="4279074"/>
            <a:ext cx="7074717" cy="230832"/>
          </a:xfrm>
          <a:prstGeom prst="rect">
            <a:avLst/>
          </a:prstGeom>
        </p:spPr>
        <p:txBody>
          <a:bodyPr wrap="square" lIns="68580" tIns="34290" rIns="68580" bIns="34290" anchor="t">
            <a:spAutoFit/>
          </a:bodyPr>
          <a:lstStyle/>
          <a:p>
            <a:pPr>
              <a:defRPr/>
            </a:pPr>
            <a:r>
              <a:rPr lang="en-GB" sz="1050">
                <a:latin typeface="Vodafone Rg" panose="020B0606080202020204" pitchFamily="34" charset="0"/>
              </a:rPr>
              <a:t>Test team engaged and assessment complete (including PAT Assessment, "Only ST Sufficient" Assessment)</a:t>
            </a:r>
          </a:p>
        </p:txBody>
      </p:sp>
      <p:sp>
        <p:nvSpPr>
          <p:cNvPr id="42" name="Rectangle 41">
            <a:extLst>
              <a:ext uri="{FF2B5EF4-FFF2-40B4-BE49-F238E27FC236}">
                <a16:creationId xmlns:a16="http://schemas.microsoft.com/office/drawing/2014/main" id="{E71B8B59-4D3B-469B-9A8C-9488A4728A79}"/>
              </a:ext>
            </a:extLst>
          </p:cNvPr>
          <p:cNvSpPr/>
          <p:nvPr/>
        </p:nvSpPr>
        <p:spPr>
          <a:xfrm>
            <a:off x="404370" y="3919811"/>
            <a:ext cx="405000" cy="230832"/>
          </a:xfrm>
          <a:prstGeom prst="rect">
            <a:avLst/>
          </a:prstGeom>
        </p:spPr>
        <p:txBody>
          <a:bodyPr wrap="square">
            <a:spAutoFit/>
          </a:bodyPr>
          <a:lstStyle/>
          <a:p>
            <a:pPr algn="r">
              <a:defRPr/>
            </a:pPr>
            <a:r>
              <a:rPr lang="en-GB" sz="900" b="1">
                <a:latin typeface="Vodafone Rg" panose="020B0606080202020204" pitchFamily="34" charset="0"/>
              </a:rPr>
              <a:t>10</a:t>
            </a:r>
          </a:p>
        </p:txBody>
      </p:sp>
      <p:sp>
        <p:nvSpPr>
          <p:cNvPr id="43" name="Rectangle 42">
            <a:extLst>
              <a:ext uri="{FF2B5EF4-FFF2-40B4-BE49-F238E27FC236}">
                <a16:creationId xmlns:a16="http://schemas.microsoft.com/office/drawing/2014/main" id="{9F9D0DFF-A2EA-4BAB-8DE7-BC388713EB3E}"/>
              </a:ext>
            </a:extLst>
          </p:cNvPr>
          <p:cNvSpPr/>
          <p:nvPr/>
        </p:nvSpPr>
        <p:spPr>
          <a:xfrm>
            <a:off x="875948" y="4240205"/>
            <a:ext cx="256740" cy="2474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solidFill>
              <a:latin typeface="Vodafone Rg" panose="020B0606080202020204" pitchFamily="34" charset="0"/>
            </a:endParaRPr>
          </a:p>
        </p:txBody>
      </p:sp>
      <p:sp>
        <p:nvSpPr>
          <p:cNvPr id="44" name="Rectangle 43">
            <a:extLst>
              <a:ext uri="{FF2B5EF4-FFF2-40B4-BE49-F238E27FC236}">
                <a16:creationId xmlns:a16="http://schemas.microsoft.com/office/drawing/2014/main" id="{A0140598-F138-4DA5-BB57-2ADCFC1498D7}"/>
              </a:ext>
            </a:extLst>
          </p:cNvPr>
          <p:cNvSpPr/>
          <p:nvPr/>
        </p:nvSpPr>
        <p:spPr>
          <a:xfrm>
            <a:off x="404370" y="4228640"/>
            <a:ext cx="405000" cy="230832"/>
          </a:xfrm>
          <a:prstGeom prst="rect">
            <a:avLst/>
          </a:prstGeom>
        </p:spPr>
        <p:txBody>
          <a:bodyPr wrap="square">
            <a:spAutoFit/>
          </a:bodyPr>
          <a:lstStyle/>
          <a:p>
            <a:pPr algn="r">
              <a:defRPr/>
            </a:pPr>
            <a:r>
              <a:rPr lang="en-GB" sz="900" b="1">
                <a:latin typeface="Vodafone Rg" panose="020B0606080202020204" pitchFamily="34" charset="0"/>
              </a:rPr>
              <a:t>11</a:t>
            </a:r>
          </a:p>
        </p:txBody>
      </p:sp>
      <p:sp>
        <p:nvSpPr>
          <p:cNvPr id="45" name="Rectangle 44">
            <a:extLst>
              <a:ext uri="{FF2B5EF4-FFF2-40B4-BE49-F238E27FC236}">
                <a16:creationId xmlns:a16="http://schemas.microsoft.com/office/drawing/2014/main" id="{C375AE5B-86FD-4367-BF4D-B9E7118497BD}"/>
              </a:ext>
            </a:extLst>
          </p:cNvPr>
          <p:cNvSpPr/>
          <p:nvPr/>
        </p:nvSpPr>
        <p:spPr>
          <a:xfrm>
            <a:off x="1150591" y="1158074"/>
            <a:ext cx="7830110" cy="253916"/>
          </a:xfrm>
          <a:prstGeom prst="rect">
            <a:avLst/>
          </a:prstGeom>
        </p:spPr>
        <p:txBody>
          <a:bodyPr wrap="square" anchor="t">
            <a:spAutoFit/>
          </a:bodyPr>
          <a:lstStyle/>
          <a:p>
            <a:pPr>
              <a:defRPr/>
            </a:pPr>
            <a:r>
              <a:rPr lang="en-GB" sz="1050" dirty="0">
                <a:latin typeface="Vodafone Rg" panose="020B0606080202020204" pitchFamily="34" charset="0"/>
              </a:rPr>
              <a:t>Identify whether any new env connectivity is required and raise to VES team at least 7 weeks before SIT start </a:t>
            </a:r>
            <a:r>
              <a:rPr lang="en-GB" sz="1050" dirty="0" err="1">
                <a:latin typeface="Vodafone Rg" panose="020B0606080202020204" pitchFamily="34" charset="0"/>
              </a:rPr>
              <a:t>incl</a:t>
            </a:r>
            <a:r>
              <a:rPr lang="en-GB" sz="1050" dirty="0">
                <a:latin typeface="Vodafone Rg" panose="020B0606080202020204" pitchFamily="34" charset="0"/>
              </a:rPr>
              <a:t> any new TIL stub in PAT Env.</a:t>
            </a:r>
          </a:p>
        </p:txBody>
      </p:sp>
      <p:grpSp>
        <p:nvGrpSpPr>
          <p:cNvPr id="2" name="Group 1">
            <a:extLst>
              <a:ext uri="{FF2B5EF4-FFF2-40B4-BE49-F238E27FC236}">
                <a16:creationId xmlns:a16="http://schemas.microsoft.com/office/drawing/2014/main" id="{31F5493C-84A7-AE73-3FFB-B1A17A9172CE}"/>
              </a:ext>
            </a:extLst>
          </p:cNvPr>
          <p:cNvGrpSpPr/>
          <p:nvPr/>
        </p:nvGrpSpPr>
        <p:grpSpPr>
          <a:xfrm>
            <a:off x="875947" y="3616765"/>
            <a:ext cx="7370168" cy="279995"/>
            <a:chOff x="1167930" y="4005946"/>
            <a:chExt cx="9826890" cy="373326"/>
          </a:xfrm>
        </p:grpSpPr>
        <p:sp>
          <p:nvSpPr>
            <p:cNvPr id="24" name="Rectangle 23">
              <a:extLst>
                <a:ext uri="{FF2B5EF4-FFF2-40B4-BE49-F238E27FC236}">
                  <a16:creationId xmlns:a16="http://schemas.microsoft.com/office/drawing/2014/main" id="{C5FD6634-53C6-4121-B70E-4CA250C16F3B}"/>
                </a:ext>
              </a:extLst>
            </p:cNvPr>
            <p:cNvSpPr/>
            <p:nvPr/>
          </p:nvSpPr>
          <p:spPr>
            <a:xfrm>
              <a:off x="1167930" y="4005946"/>
              <a:ext cx="342320" cy="329924"/>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solidFill>
                <a:latin typeface="Vodafone Rg" panose="020B0606080202020204" pitchFamily="34" charset="0"/>
              </a:endParaRPr>
            </a:p>
          </p:txBody>
        </p:sp>
        <p:sp>
          <p:nvSpPr>
            <p:cNvPr id="46" name="Rectangle 45">
              <a:extLst>
                <a:ext uri="{FF2B5EF4-FFF2-40B4-BE49-F238E27FC236}">
                  <a16:creationId xmlns:a16="http://schemas.microsoft.com/office/drawing/2014/main" id="{7E6FD65E-3618-4E96-810E-A620BB95CB04}"/>
                </a:ext>
              </a:extLst>
            </p:cNvPr>
            <p:cNvSpPr/>
            <p:nvPr/>
          </p:nvSpPr>
          <p:spPr>
            <a:xfrm>
              <a:off x="1561865" y="4040717"/>
              <a:ext cx="9432955" cy="338555"/>
            </a:xfrm>
            <a:prstGeom prst="rect">
              <a:avLst/>
            </a:prstGeom>
          </p:spPr>
          <p:txBody>
            <a:bodyPr wrap="square">
              <a:spAutoFit/>
            </a:bodyPr>
            <a:lstStyle/>
            <a:p>
              <a:pPr lvl="0">
                <a:defRPr/>
              </a:pPr>
              <a:r>
                <a:rPr lang="en-GB" sz="1050" dirty="0">
                  <a:latin typeface="Vodafone Rg" panose="020B0606080202020204" pitchFamily="34" charset="0"/>
                </a:rPr>
                <a:t>Ensure you have met the dependency management requirements listed </a:t>
              </a:r>
              <a:r>
                <a:rPr lang="en-GB" sz="1050" dirty="0">
                  <a:solidFill>
                    <a:srgbClr val="FF0000"/>
                  </a:solidFill>
                  <a:latin typeface="Vodafone Rg" panose="020B0606080202020204" pitchFamily="34" charset="0"/>
                  <a:hlinkClick r:id="rId6">
                    <a:extLst>
                      <a:ext uri="{A12FA001-AC4F-418D-AE19-62706E023703}">
                        <ahyp:hlinkClr xmlns:ahyp="http://schemas.microsoft.com/office/drawing/2018/hyperlinkcolor" val="tx"/>
                      </a:ext>
                    </a:extLst>
                  </a:hlinkClick>
                </a:rPr>
                <a:t>here</a:t>
              </a:r>
              <a:endParaRPr lang="en-GB" sz="1050" b="1" dirty="0">
                <a:latin typeface="Vodafone Rg" panose="020B0606080202020204" pitchFamily="34" charset="0"/>
              </a:endParaRPr>
            </a:p>
          </p:txBody>
        </p:sp>
      </p:grpSp>
      <p:sp>
        <p:nvSpPr>
          <p:cNvPr id="47" name="Rectangle 46">
            <a:extLst>
              <a:ext uri="{FF2B5EF4-FFF2-40B4-BE49-F238E27FC236}">
                <a16:creationId xmlns:a16="http://schemas.microsoft.com/office/drawing/2014/main" id="{6358A3FE-E3B3-4EC7-B774-24B5C15AB425}"/>
              </a:ext>
            </a:extLst>
          </p:cNvPr>
          <p:cNvSpPr/>
          <p:nvPr/>
        </p:nvSpPr>
        <p:spPr>
          <a:xfrm>
            <a:off x="1171398" y="4591208"/>
            <a:ext cx="7074717" cy="253916"/>
          </a:xfrm>
          <a:prstGeom prst="rect">
            <a:avLst/>
          </a:prstGeom>
        </p:spPr>
        <p:txBody>
          <a:bodyPr wrap="square">
            <a:spAutoFit/>
          </a:bodyPr>
          <a:lstStyle/>
          <a:p>
            <a:pPr>
              <a:defRPr/>
            </a:pPr>
            <a:r>
              <a:rPr lang="en-GB" sz="1050">
                <a:latin typeface="Vodafone Rg" panose="020B0606080202020204" pitchFamily="34" charset="0"/>
              </a:rPr>
              <a:t>Requirements around Migrations, Patching and UIM Migrations agreed with Migrations Team.</a:t>
            </a:r>
          </a:p>
        </p:txBody>
      </p:sp>
      <p:sp>
        <p:nvSpPr>
          <p:cNvPr id="48" name="Rectangle 47">
            <a:extLst>
              <a:ext uri="{FF2B5EF4-FFF2-40B4-BE49-F238E27FC236}">
                <a16:creationId xmlns:a16="http://schemas.microsoft.com/office/drawing/2014/main" id="{9F9D0DFF-A2EA-4BAB-8DE7-BC388713EB3E}"/>
              </a:ext>
            </a:extLst>
          </p:cNvPr>
          <p:cNvSpPr/>
          <p:nvPr/>
        </p:nvSpPr>
        <p:spPr>
          <a:xfrm>
            <a:off x="875948" y="4549141"/>
            <a:ext cx="256740" cy="2474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solidFill>
              <a:latin typeface="Vodafone Rg" panose="020B0606080202020204" pitchFamily="34" charset="0"/>
            </a:endParaRPr>
          </a:p>
        </p:txBody>
      </p:sp>
      <p:sp>
        <p:nvSpPr>
          <p:cNvPr id="49" name="Rectangle 48">
            <a:extLst>
              <a:ext uri="{FF2B5EF4-FFF2-40B4-BE49-F238E27FC236}">
                <a16:creationId xmlns:a16="http://schemas.microsoft.com/office/drawing/2014/main" id="{A0140598-F138-4DA5-BB57-2ADCFC1498D7}"/>
              </a:ext>
            </a:extLst>
          </p:cNvPr>
          <p:cNvSpPr/>
          <p:nvPr/>
        </p:nvSpPr>
        <p:spPr>
          <a:xfrm>
            <a:off x="404370" y="4537470"/>
            <a:ext cx="405000" cy="230832"/>
          </a:xfrm>
          <a:prstGeom prst="rect">
            <a:avLst/>
          </a:prstGeom>
        </p:spPr>
        <p:txBody>
          <a:bodyPr wrap="square">
            <a:spAutoFit/>
          </a:bodyPr>
          <a:lstStyle/>
          <a:p>
            <a:pPr algn="r">
              <a:defRPr/>
            </a:pPr>
            <a:r>
              <a:rPr lang="en-GB" sz="900" b="1">
                <a:latin typeface="Vodafone Rg" panose="020B0606080202020204" pitchFamily="34" charset="0"/>
              </a:rPr>
              <a:t>12</a:t>
            </a:r>
          </a:p>
        </p:txBody>
      </p:sp>
      <p:sp>
        <p:nvSpPr>
          <p:cNvPr id="50" name="Rectangle 49">
            <a:extLst>
              <a:ext uri="{FF2B5EF4-FFF2-40B4-BE49-F238E27FC236}">
                <a16:creationId xmlns:a16="http://schemas.microsoft.com/office/drawing/2014/main" id="{A5E15DE1-CFEF-46F0-8E30-59D209907B01}"/>
              </a:ext>
            </a:extLst>
          </p:cNvPr>
          <p:cNvSpPr/>
          <p:nvPr/>
        </p:nvSpPr>
        <p:spPr>
          <a:xfrm>
            <a:off x="875948" y="4858079"/>
            <a:ext cx="256740" cy="24744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tx1"/>
              </a:solidFill>
              <a:latin typeface="Vodafone Rg" panose="020B0606080202020204" pitchFamily="34" charset="0"/>
            </a:endParaRPr>
          </a:p>
        </p:txBody>
      </p:sp>
      <p:sp>
        <p:nvSpPr>
          <p:cNvPr id="51" name="Rectangle 50">
            <a:extLst>
              <a:ext uri="{FF2B5EF4-FFF2-40B4-BE49-F238E27FC236}">
                <a16:creationId xmlns:a16="http://schemas.microsoft.com/office/drawing/2014/main" id="{0CB3BFDC-B9CD-4244-B016-E166C305C246}"/>
              </a:ext>
            </a:extLst>
          </p:cNvPr>
          <p:cNvSpPr/>
          <p:nvPr/>
        </p:nvSpPr>
        <p:spPr>
          <a:xfrm>
            <a:off x="404370" y="4846300"/>
            <a:ext cx="405000" cy="230832"/>
          </a:xfrm>
          <a:prstGeom prst="rect">
            <a:avLst/>
          </a:prstGeom>
        </p:spPr>
        <p:txBody>
          <a:bodyPr wrap="square">
            <a:spAutoFit/>
          </a:bodyPr>
          <a:lstStyle/>
          <a:p>
            <a:pPr algn="r">
              <a:defRPr/>
            </a:pPr>
            <a:r>
              <a:rPr lang="en-GB" sz="900" b="1">
                <a:latin typeface="Vodafone Rg" panose="020B0606080202020204" pitchFamily="34" charset="0"/>
              </a:rPr>
              <a:t>13</a:t>
            </a:r>
          </a:p>
        </p:txBody>
      </p:sp>
      <p:sp>
        <p:nvSpPr>
          <p:cNvPr id="52" name="Rectangle 51">
            <a:extLst>
              <a:ext uri="{FF2B5EF4-FFF2-40B4-BE49-F238E27FC236}">
                <a16:creationId xmlns:a16="http://schemas.microsoft.com/office/drawing/2014/main" id="{22958336-1500-4FD1-AB20-4814B5535A5C}"/>
              </a:ext>
            </a:extLst>
          </p:cNvPr>
          <p:cNvSpPr/>
          <p:nvPr/>
        </p:nvSpPr>
        <p:spPr>
          <a:xfrm>
            <a:off x="1171398" y="4903345"/>
            <a:ext cx="7074717" cy="253916"/>
          </a:xfrm>
          <a:prstGeom prst="rect">
            <a:avLst/>
          </a:prstGeom>
        </p:spPr>
        <p:txBody>
          <a:bodyPr wrap="square">
            <a:spAutoFit/>
          </a:bodyPr>
          <a:lstStyle/>
          <a:p>
            <a:pPr>
              <a:defRPr/>
            </a:pPr>
            <a:r>
              <a:rPr lang="en-GB" sz="1050" dirty="0">
                <a:latin typeface="Vodafone Rg" panose="020B0606080202020204" pitchFamily="34" charset="0"/>
              </a:rPr>
              <a:t>Ensure NFR, PAT requirement updated in your </a:t>
            </a:r>
            <a:r>
              <a:rPr lang="en-GB" sz="1050" b="1" dirty="0">
                <a:latin typeface="Vodafone Rg" panose="020B0606080202020204" pitchFamily="34" charset="0"/>
              </a:rPr>
              <a:t>ADO Feature </a:t>
            </a:r>
            <a:r>
              <a:rPr lang="en-GB" sz="1050" dirty="0">
                <a:latin typeface="Vodafone Rg" panose="020B0606080202020204" pitchFamily="34" charset="0"/>
              </a:rPr>
              <a:t>(Up to CCS 24.12) or </a:t>
            </a:r>
            <a:r>
              <a:rPr lang="en-GB" sz="1050" b="1" dirty="0">
                <a:latin typeface="Vodafone Rg" panose="020B0606080202020204" pitchFamily="34" charset="0"/>
              </a:rPr>
              <a:t>Delivery </a:t>
            </a:r>
            <a:r>
              <a:rPr lang="en-GB" sz="1050" dirty="0">
                <a:latin typeface="Vodafone Rg" panose="020B0606080202020204" pitchFamily="34" charset="0"/>
              </a:rPr>
              <a:t>(From CCS 25.1)</a:t>
            </a:r>
          </a:p>
        </p:txBody>
      </p:sp>
    </p:spTree>
    <p:extLst>
      <p:ext uri="{BB962C8B-B14F-4D97-AF65-F5344CB8AC3E}">
        <p14:creationId xmlns:p14="http://schemas.microsoft.com/office/powerpoint/2010/main" val="38493901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04D1542-70BE-1388-70E1-ED756419F2DE}"/>
              </a:ext>
            </a:extLst>
          </p:cNvPr>
          <p:cNvSpPr>
            <a:spLocks noGrp="1"/>
          </p:cNvSpPr>
          <p:nvPr>
            <p:ph type="ctrTitle"/>
          </p:nvPr>
        </p:nvSpPr>
        <p:spPr/>
        <p:txBody>
          <a:bodyPr/>
          <a:lstStyle/>
          <a:p>
            <a:r>
              <a:rPr lang="en-GB" dirty="0"/>
              <a:t>Change Requests</a:t>
            </a:r>
            <a:br>
              <a:rPr lang="en-GB" dirty="0"/>
            </a:br>
            <a:endParaRPr lang="en-GB" sz="1200" dirty="0"/>
          </a:p>
        </p:txBody>
      </p:sp>
      <p:sp>
        <p:nvSpPr>
          <p:cNvPr id="4" name="Slide Number Placeholder 3">
            <a:extLst>
              <a:ext uri="{FF2B5EF4-FFF2-40B4-BE49-F238E27FC236}">
                <a16:creationId xmlns:a16="http://schemas.microsoft.com/office/drawing/2014/main" id="{574ED55A-3206-A6AB-16EF-80DBD05EDA14}"/>
              </a:ext>
            </a:extLst>
          </p:cNvPr>
          <p:cNvSpPr>
            <a:spLocks noGrp="1"/>
          </p:cNvSpPr>
          <p:nvPr>
            <p:ph type="sldNum" sz="quarter" idx="11"/>
          </p:nvPr>
        </p:nvSpPr>
        <p:spPr/>
        <p:txBody>
          <a:bodyPr/>
          <a:lstStyle/>
          <a:p>
            <a:fld id="{72A83A2B-3358-44F8-83A0-4598795D8FB5}" type="slidenum">
              <a:rPr lang="en-GB" smtClean="0"/>
              <a:pPr/>
              <a:t>44</a:t>
            </a:fld>
            <a:endParaRPr lang="en-GB"/>
          </a:p>
        </p:txBody>
      </p:sp>
    </p:spTree>
    <p:extLst>
      <p:ext uri="{BB962C8B-B14F-4D97-AF65-F5344CB8AC3E}">
        <p14:creationId xmlns:p14="http://schemas.microsoft.com/office/powerpoint/2010/main" val="31427837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14"/>
          <p:cNvSpPr>
            <a:spLocks noGrp="1"/>
          </p:cNvSpPr>
          <p:nvPr>
            <p:ph sz="quarter" idx="13"/>
          </p:nvPr>
        </p:nvSpPr>
        <p:spPr/>
        <p:txBody>
          <a:bodyPr/>
          <a:lstStyle/>
          <a:p>
            <a:pPr marL="72000" lvl="1" indent="0" defTabSz="444500">
              <a:spcBef>
                <a:spcPts val="420"/>
              </a:spcBef>
              <a:buNone/>
            </a:pPr>
            <a:r>
              <a:rPr lang="en-GB" dirty="0">
                <a:solidFill>
                  <a:schemeClr val="tx1"/>
                </a:solidFill>
              </a:rPr>
              <a:t>Once the </a:t>
            </a:r>
            <a:r>
              <a:rPr lang="en-GB" b="1" dirty="0">
                <a:solidFill>
                  <a:schemeClr val="tx1"/>
                </a:solidFill>
              </a:rPr>
              <a:t>Release Planning Meeting</a:t>
            </a:r>
            <a:r>
              <a:rPr lang="en-GB" dirty="0">
                <a:solidFill>
                  <a:schemeClr val="tx1"/>
                </a:solidFill>
              </a:rPr>
              <a:t> (</a:t>
            </a:r>
            <a:r>
              <a:rPr lang="en-GB" b="1" dirty="0">
                <a:solidFill>
                  <a:schemeClr val="tx1"/>
                </a:solidFill>
              </a:rPr>
              <a:t>RPM</a:t>
            </a:r>
            <a:r>
              <a:rPr lang="en-GB" dirty="0">
                <a:solidFill>
                  <a:schemeClr val="tx1"/>
                </a:solidFill>
              </a:rPr>
              <a:t>) is concluded, release scope changes are restricted and controlled </a:t>
            </a:r>
            <a:r>
              <a:rPr lang="en-GB" dirty="0"/>
              <a:t>for all new candidates, and changes to confirmed candidates.  All such changes must be submitted via an ADO Change Request (</a:t>
            </a:r>
            <a:r>
              <a:rPr lang="en-GB" dirty="0" err="1"/>
              <a:t>linkd</a:t>
            </a:r>
            <a:r>
              <a:rPr lang="en-GB" dirty="0"/>
              <a:t> to the Delivery) that is then reviewed for approval by Release Management and other stakeholders</a:t>
            </a:r>
            <a:r>
              <a:rPr lang="en-GB" dirty="0">
                <a:solidFill>
                  <a:schemeClr val="tx1"/>
                </a:solidFill>
              </a:rPr>
              <a:t>.  This Change Request review considers several factors, including but not limited to:</a:t>
            </a:r>
          </a:p>
          <a:p>
            <a:pPr lvl="1"/>
            <a:r>
              <a:rPr lang="en-GB" sz="1050" dirty="0"/>
              <a:t>Whether this change is achievable, for example do we have enough time and/or resources</a:t>
            </a:r>
          </a:p>
          <a:p>
            <a:pPr lvl="1"/>
            <a:r>
              <a:rPr lang="en-GB" sz="1050" dirty="0"/>
              <a:t>It’s impact on other candidates in the release</a:t>
            </a:r>
          </a:p>
          <a:p>
            <a:pPr lvl="1"/>
            <a:r>
              <a:rPr lang="en-GB" sz="1050" dirty="0"/>
              <a:t>Customer impact and risks to quality</a:t>
            </a:r>
          </a:p>
          <a:p>
            <a:pPr marL="72000" lvl="1" indent="0" defTabSz="444500">
              <a:spcBef>
                <a:spcPts val="420"/>
              </a:spcBef>
              <a:buNone/>
            </a:pPr>
            <a:r>
              <a:rPr lang="en-GB" sz="1200" b="1" dirty="0">
                <a:solidFill>
                  <a:schemeClr val="tx1"/>
                </a:solidFill>
              </a:rPr>
              <a:t>Typical valid exceptions/reasons for a late scope change, post RPM include:</a:t>
            </a:r>
          </a:p>
          <a:p>
            <a:pPr lvl="1"/>
            <a:r>
              <a:rPr lang="en-GB" sz="1050" dirty="0"/>
              <a:t>Severe impact on this project</a:t>
            </a:r>
          </a:p>
          <a:p>
            <a:pPr lvl="1"/>
            <a:r>
              <a:rPr lang="en-GB" sz="1050" dirty="0"/>
              <a:t>Legal</a:t>
            </a:r>
          </a:p>
          <a:p>
            <a:pPr lvl="1"/>
            <a:r>
              <a:rPr lang="en-GB" sz="1050" dirty="0"/>
              <a:t>Financial</a:t>
            </a:r>
          </a:p>
          <a:p>
            <a:pPr lvl="1"/>
            <a:r>
              <a:rPr lang="en-GB" sz="1050" dirty="0"/>
              <a:t>Regulatory</a:t>
            </a:r>
          </a:p>
          <a:p>
            <a:pPr lvl="1"/>
            <a:r>
              <a:rPr lang="en-GB" sz="1050" dirty="0"/>
              <a:t>Company Strategy</a:t>
            </a:r>
          </a:p>
          <a:p>
            <a:pPr lvl="1"/>
            <a:r>
              <a:rPr lang="en-GB" sz="1050" dirty="0"/>
              <a:t>Customer Impact</a:t>
            </a:r>
          </a:p>
          <a:p>
            <a:pPr lvl="1"/>
            <a:endParaRPr lang="en-GB" sz="1050" dirty="0"/>
          </a:p>
          <a:p>
            <a:pPr marL="72000" lvl="1" indent="0" defTabSz="444500">
              <a:spcBef>
                <a:spcPts val="420"/>
              </a:spcBef>
              <a:buNone/>
            </a:pPr>
            <a:r>
              <a:rPr lang="en-GB" sz="1050" b="1" dirty="0"/>
              <a:t>The following reasons are not valid except in exceptional circumstances which must be justified in detail for review by management/portfolios:</a:t>
            </a:r>
            <a:endParaRPr lang="en-GB" sz="1050" b="1" dirty="0">
              <a:solidFill>
                <a:schemeClr val="tx1"/>
              </a:solidFill>
            </a:endParaRPr>
          </a:p>
          <a:p>
            <a:pPr lvl="1"/>
            <a:r>
              <a:rPr lang="en-GB" sz="900" dirty="0"/>
              <a:t>Being urgent or late, due to most change requests being urgent &amp; late, as they would otherwise target the next release.  </a:t>
            </a:r>
            <a:br>
              <a:rPr lang="en-GB" sz="900" dirty="0"/>
            </a:br>
            <a:r>
              <a:rPr lang="en-GB" sz="900" dirty="0"/>
              <a:t>If the issue falls within the above valid reasons, focus on those</a:t>
            </a:r>
          </a:p>
          <a:p>
            <a:pPr lvl="1"/>
            <a:r>
              <a:rPr lang="en-GB" sz="900" dirty="0"/>
              <a:t>Late decisions on issues known before RPM, especially those that were not shared earlier which could have been mitigated, planned or supported</a:t>
            </a:r>
          </a:p>
          <a:p>
            <a:pPr lvl="1"/>
            <a:r>
              <a:rPr lang="en-GB" sz="900" dirty="0"/>
              <a:t>Not understanding the process, as Release team have monthly new starter sessions, extensive documentation and dedicated support for several weeks prior to RPM</a:t>
            </a:r>
          </a:p>
          <a:p>
            <a:pPr lvl="1"/>
            <a:endParaRPr lang="en-GB" sz="900" dirty="0"/>
          </a:p>
          <a:p>
            <a:pPr lvl="1"/>
            <a:endParaRPr lang="en-GB" sz="1050" dirty="0"/>
          </a:p>
        </p:txBody>
      </p:sp>
      <p:sp>
        <p:nvSpPr>
          <p:cNvPr id="4" name="Title 3"/>
          <p:cNvSpPr>
            <a:spLocks noGrp="1"/>
          </p:cNvSpPr>
          <p:nvPr>
            <p:ph type="title"/>
          </p:nvPr>
        </p:nvSpPr>
        <p:spPr/>
        <p:txBody>
          <a:bodyPr/>
          <a:lstStyle/>
          <a:p>
            <a:r>
              <a:rPr lang="en-GB" dirty="0"/>
              <a:t>Change Requests &amp; Change Control ||</a:t>
            </a:r>
            <a:r>
              <a:rPr lang="en-GB" b="0" dirty="0"/>
              <a:t> Overview</a:t>
            </a:r>
            <a:br>
              <a:rPr lang="en-GB" dirty="0">
                <a:solidFill>
                  <a:srgbClr val="0070C0"/>
                </a:solidFill>
              </a:rPr>
            </a:br>
            <a:endParaRPr lang="en-GB" dirty="0"/>
          </a:p>
        </p:txBody>
      </p:sp>
      <p:sp>
        <p:nvSpPr>
          <p:cNvPr id="2" name="Slide Number Placeholder 1"/>
          <p:cNvSpPr>
            <a:spLocks noGrp="1"/>
          </p:cNvSpPr>
          <p:nvPr>
            <p:ph type="sldNum" sz="quarter" idx="4294967295"/>
          </p:nvPr>
        </p:nvSpPr>
        <p:spPr>
          <a:xfrm>
            <a:off x="0" y="4713288"/>
            <a:ext cx="412750" cy="238125"/>
          </a:xfrm>
          <a:prstGeom prst="rect">
            <a:avLst/>
          </a:prstGeom>
        </p:spPr>
        <p:txBody>
          <a:bodyPr vert="horz" lIns="0" tIns="0" rIns="0" bIns="0" rtlCol="0" anchor="b" anchorCtr="0"/>
          <a:lstStyle>
            <a:defPPr>
              <a:defRPr lang="en-US"/>
            </a:defPPr>
            <a:lvl1pPr marL="0" algn="ctr" defTabSz="914400" rtl="0" eaLnBrk="1" latinLnBrk="0" hangingPunct="1">
              <a:defRPr sz="800" kern="1200">
                <a:solidFill>
                  <a:schemeClr val="tx1"/>
                </a:solidFill>
                <a:latin typeface="Vodafone Lt" panose="020B060604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A83A2B-3358-44F8-83A0-4598795D8FB5}" type="slidenum">
              <a:rPr lang="en-GB" smtClean="0"/>
              <a:pPr/>
              <a:t>45</a:t>
            </a:fld>
            <a:endParaRPr lang="en-GB" dirty="0"/>
          </a:p>
        </p:txBody>
      </p:sp>
    </p:spTree>
    <p:extLst>
      <p:ext uri="{BB962C8B-B14F-4D97-AF65-F5344CB8AC3E}">
        <p14:creationId xmlns:p14="http://schemas.microsoft.com/office/powerpoint/2010/main" val="1551910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Change Requests &amp; Change Control ||</a:t>
            </a:r>
            <a:r>
              <a:rPr lang="en-GB" b="0" dirty="0"/>
              <a:t> Process</a:t>
            </a:r>
            <a:endParaRPr lang="en-GB" dirty="0"/>
          </a:p>
        </p:txBody>
      </p:sp>
      <p:sp>
        <p:nvSpPr>
          <p:cNvPr id="2" name="Slide Number Placeholder 1"/>
          <p:cNvSpPr>
            <a:spLocks noGrp="1"/>
          </p:cNvSpPr>
          <p:nvPr>
            <p:ph type="sldNum" sz="quarter" idx="15"/>
          </p:nvPr>
        </p:nvSpPr>
        <p:spPr>
          <a:prstGeom prst="rect">
            <a:avLst/>
          </a:prstGeom>
        </p:spPr>
        <p:txBody>
          <a:bodyPr vert="horz" lIns="0" tIns="0" rIns="0" bIns="0" rtlCol="0" anchor="b" anchorCtr="0"/>
          <a:lstStyle>
            <a:defPPr>
              <a:defRPr lang="en-US"/>
            </a:defPPr>
            <a:lvl1pPr marL="0" algn="ctr" defTabSz="914400" rtl="0" eaLnBrk="1" latinLnBrk="0" hangingPunct="1">
              <a:defRPr sz="800" kern="1200">
                <a:solidFill>
                  <a:schemeClr val="tx1"/>
                </a:solidFill>
                <a:latin typeface="Vodafone Lt" panose="020B060604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A83A2B-3358-44F8-83A0-4598795D8FB5}" type="slidenum">
              <a:rPr lang="en-GB" smtClean="0"/>
              <a:pPr/>
              <a:t>46</a:t>
            </a:fld>
            <a:endParaRPr lang="en-GB" dirty="0"/>
          </a:p>
        </p:txBody>
      </p:sp>
      <p:sp>
        <p:nvSpPr>
          <p:cNvPr id="5" name="TextBox 4">
            <a:extLst>
              <a:ext uri="{FF2B5EF4-FFF2-40B4-BE49-F238E27FC236}">
                <a16:creationId xmlns:a16="http://schemas.microsoft.com/office/drawing/2014/main" id="{3B08E2D9-04AD-C487-5E72-86B712371749}"/>
              </a:ext>
            </a:extLst>
          </p:cNvPr>
          <p:cNvSpPr txBox="1"/>
          <p:nvPr/>
        </p:nvSpPr>
        <p:spPr>
          <a:xfrm>
            <a:off x="2626322" y="763146"/>
            <a:ext cx="914400" cy="914400"/>
          </a:xfrm>
          <a:prstGeom prst="rect">
            <a:avLst/>
          </a:prstGeom>
        </p:spPr>
        <p:txBody>
          <a:bodyPr wrap="none" lIns="0" tIns="0" rIns="0" bIns="0" rtlCol="0">
            <a:noAutofit/>
          </a:bodyPr>
          <a:lstStyle/>
          <a:p>
            <a:pPr marL="0" indent="0">
              <a:buFont typeface="Arial" pitchFamily="34" charset="0"/>
              <a:buNone/>
            </a:pPr>
            <a:endParaRPr lang="en-GB" dirty="0">
              <a:latin typeface="Vodafone Rg" pitchFamily="34" charset="0"/>
            </a:endParaRPr>
          </a:p>
        </p:txBody>
      </p:sp>
      <p:sp>
        <p:nvSpPr>
          <p:cNvPr id="7" name="Content Placeholder 6">
            <a:extLst>
              <a:ext uri="{FF2B5EF4-FFF2-40B4-BE49-F238E27FC236}">
                <a16:creationId xmlns:a16="http://schemas.microsoft.com/office/drawing/2014/main" id="{636116A9-271F-C696-8582-4A2A6F3E723E}"/>
              </a:ext>
            </a:extLst>
          </p:cNvPr>
          <p:cNvSpPr>
            <a:spLocks noGrp="1"/>
          </p:cNvSpPr>
          <p:nvPr>
            <p:ph sz="quarter" idx="13"/>
          </p:nvPr>
        </p:nvSpPr>
        <p:spPr/>
        <p:txBody>
          <a:bodyPr/>
          <a:lstStyle/>
          <a:p>
            <a:pPr marL="72000" lvl="1" indent="0" defTabSz="444500">
              <a:spcBef>
                <a:spcPts val="420"/>
              </a:spcBef>
              <a:buNone/>
            </a:pPr>
            <a:r>
              <a:rPr lang="en-GB" sz="1200" b="1" dirty="0"/>
              <a:t>For post-RPM scope changes to Deliveries and Functions:</a:t>
            </a:r>
          </a:p>
          <a:p>
            <a:pPr marL="243450" lvl="1" indent="-171450" defTabSz="444500">
              <a:spcBef>
                <a:spcPts val="420"/>
              </a:spcBef>
              <a:buFont typeface="Arial" panose="020B0604020202020204" pitchFamily="34" charset="0"/>
              <a:buChar char="•"/>
            </a:pPr>
            <a:r>
              <a:rPr lang="en-GB" sz="1200" dirty="0"/>
              <a:t>The TDM raises an ADO </a:t>
            </a:r>
            <a:r>
              <a:rPr lang="en-GB" sz="1200" b="1" dirty="0"/>
              <a:t>Change Request </a:t>
            </a:r>
            <a:r>
              <a:rPr lang="en-GB" sz="1200" dirty="0"/>
              <a:t>(CR) within the Release Management ADO Project, as a </a:t>
            </a:r>
            <a:r>
              <a:rPr lang="en-GB" sz="1200" u="sng" dirty="0"/>
              <a:t>child</a:t>
            </a:r>
            <a:r>
              <a:rPr lang="en-GB" sz="1200" dirty="0"/>
              <a:t> of the item to the changed, which is usually the Delivery</a:t>
            </a:r>
          </a:p>
          <a:p>
            <a:pPr lvl="1"/>
            <a:r>
              <a:rPr lang="en-GB" sz="1100" dirty="0"/>
              <a:t>If unsure how to do this, refer to the Change Request Section within our </a:t>
            </a:r>
            <a:r>
              <a:rPr lang="en-GB" sz="1100" dirty="0">
                <a:hlinkClick r:id="rId3"/>
              </a:rPr>
              <a:t>ADO User Guide</a:t>
            </a:r>
            <a:endParaRPr lang="en-GB" sz="1100" dirty="0"/>
          </a:p>
          <a:p>
            <a:pPr lvl="1"/>
            <a:r>
              <a:rPr lang="en-GB" sz="1100" dirty="0"/>
              <a:t>If functions are to be added, removed or changed, still create the CR as a child of the Delivery, but also create a </a:t>
            </a:r>
            <a:r>
              <a:rPr lang="en-GB" sz="1100" u="sng" dirty="0"/>
              <a:t>Related link </a:t>
            </a:r>
            <a:r>
              <a:rPr lang="en-GB" sz="1100" dirty="0"/>
              <a:t>from the CR to those functions</a:t>
            </a:r>
          </a:p>
          <a:p>
            <a:pPr marL="243450" lvl="1" indent="-171450" defTabSz="444500">
              <a:spcBef>
                <a:spcPts val="600"/>
              </a:spcBef>
              <a:buFont typeface="Arial" panose="020B0604020202020204" pitchFamily="34" charset="0"/>
              <a:buChar char="•"/>
            </a:pPr>
            <a:r>
              <a:rPr lang="en-GB" sz="1200" b="1" dirty="0"/>
              <a:t>No CR’s </a:t>
            </a:r>
            <a:r>
              <a:rPr lang="en-GB" sz="1200" dirty="0"/>
              <a:t>are</a:t>
            </a:r>
            <a:r>
              <a:rPr lang="en-GB" sz="1200" b="1" dirty="0"/>
              <a:t> </a:t>
            </a:r>
            <a:r>
              <a:rPr lang="en-GB" sz="1200" dirty="0"/>
              <a:t>entertained/reviewed/accepted for the release post Check Point 2 </a:t>
            </a:r>
            <a:r>
              <a:rPr lang="en-GB" sz="1200" b="1" dirty="0"/>
              <a:t>(CP2) </a:t>
            </a:r>
          </a:p>
          <a:p>
            <a:pPr marL="243450" lvl="1" indent="-171450" defTabSz="444500">
              <a:spcBef>
                <a:spcPts val="600"/>
              </a:spcBef>
              <a:buFont typeface="Arial" panose="020B0604020202020204" pitchFamily="34" charset="0"/>
              <a:buChar char="•"/>
            </a:pPr>
            <a:r>
              <a:rPr lang="en-GB" sz="1200" dirty="0"/>
              <a:t>The TDM must ensure the </a:t>
            </a:r>
            <a:r>
              <a:rPr lang="en-GB" sz="1200" b="1" dirty="0"/>
              <a:t>Senior Portfolio manager signs-off an email</a:t>
            </a:r>
            <a:r>
              <a:rPr lang="en-GB" sz="1200" dirty="0"/>
              <a:t>, which is attached to the CR, providing justification and additional information (see below), which </a:t>
            </a:r>
            <a:r>
              <a:rPr lang="en-GB" sz="1200" b="1" dirty="0"/>
              <a:t>Release Management </a:t>
            </a:r>
            <a:r>
              <a:rPr lang="en-GB" sz="1200" dirty="0"/>
              <a:t>will review.  Please include each of these four points:</a:t>
            </a:r>
            <a:endParaRPr lang="en-GB" sz="1050" dirty="0"/>
          </a:p>
          <a:p>
            <a:pPr lvl="1"/>
            <a:r>
              <a:rPr lang="en-GB" sz="1050" dirty="0"/>
              <a:t>Why it must be in this release and cannot align to other releases for which readiness maybe ongoing – See examples on the previous slide</a:t>
            </a:r>
          </a:p>
          <a:p>
            <a:pPr lvl="1"/>
            <a:r>
              <a:rPr lang="en-GB" sz="1050" dirty="0"/>
              <a:t>Why it’s late and could not be ready in time, or not aligned to this Release during its Readiness phase ?</a:t>
            </a:r>
          </a:p>
          <a:p>
            <a:pPr lvl="1"/>
            <a:r>
              <a:rPr lang="en-GB" sz="1050" dirty="0"/>
              <a:t>What measures are being taken by Delivery Leadership to avoid this nature of Flux in the future?</a:t>
            </a:r>
          </a:p>
          <a:p>
            <a:pPr lvl="1"/>
            <a:r>
              <a:rPr lang="en-GB" sz="1050" dirty="0"/>
              <a:t>Negative impacts or risks </a:t>
            </a:r>
            <a:r>
              <a:rPr lang="en-GB" sz="1050" u="sng" dirty="0"/>
              <a:t>should this change proceed</a:t>
            </a:r>
          </a:p>
          <a:p>
            <a:pPr marL="243450" lvl="1" indent="-171450" defTabSz="444500">
              <a:spcBef>
                <a:spcPts val="600"/>
              </a:spcBef>
              <a:buFont typeface="Arial" panose="020B0604020202020204" pitchFamily="34" charset="0"/>
              <a:buChar char="•"/>
            </a:pPr>
            <a:r>
              <a:rPr lang="en-GB" sz="1200" dirty="0"/>
              <a:t>Providing all necessary information is included, Release team aim to respond within a week.  Should information be missing, that will delay the decision while Release team seek clarification and increase the risk of rejection as time and resources ‘run-out’</a:t>
            </a:r>
          </a:p>
          <a:p>
            <a:pPr marL="243450" lvl="1" indent="-171450" defTabSz="444500">
              <a:spcBef>
                <a:spcPts val="600"/>
              </a:spcBef>
              <a:buFont typeface="Arial" panose="020B0604020202020204" pitchFamily="34" charset="0"/>
              <a:buChar char="•"/>
            </a:pPr>
            <a:r>
              <a:rPr lang="en-GB" sz="1200" dirty="0">
                <a:solidFill>
                  <a:schemeClr val="tx1"/>
                </a:solidFill>
              </a:rPr>
              <a:t>Post review,  </a:t>
            </a:r>
            <a:r>
              <a:rPr lang="en-GB" sz="1200" b="1" dirty="0"/>
              <a:t>Release Management</a:t>
            </a:r>
            <a:r>
              <a:rPr lang="en-GB" sz="1200" b="1" dirty="0">
                <a:solidFill>
                  <a:schemeClr val="tx1"/>
                </a:solidFill>
              </a:rPr>
              <a:t> </a:t>
            </a:r>
            <a:r>
              <a:rPr lang="en-GB" sz="1200" dirty="0">
                <a:solidFill>
                  <a:schemeClr val="tx1"/>
                </a:solidFill>
              </a:rPr>
              <a:t>will confirm whether the </a:t>
            </a:r>
            <a:r>
              <a:rPr lang="en-GB" sz="1200" b="1" dirty="0">
                <a:solidFill>
                  <a:schemeClr val="tx1"/>
                </a:solidFill>
              </a:rPr>
              <a:t>CR </a:t>
            </a:r>
            <a:r>
              <a:rPr lang="en-GB" sz="1200" dirty="0">
                <a:solidFill>
                  <a:schemeClr val="tx1"/>
                </a:solidFill>
              </a:rPr>
              <a:t>is </a:t>
            </a:r>
            <a:r>
              <a:rPr lang="en-GB" sz="1200" b="1" dirty="0">
                <a:solidFill>
                  <a:schemeClr val="tx1"/>
                </a:solidFill>
              </a:rPr>
              <a:t>Accepted</a:t>
            </a:r>
            <a:r>
              <a:rPr lang="en-GB" sz="1200" dirty="0">
                <a:solidFill>
                  <a:schemeClr val="tx1"/>
                </a:solidFill>
              </a:rPr>
              <a:t> or </a:t>
            </a:r>
            <a:r>
              <a:rPr lang="en-GB" sz="1200" b="1" dirty="0">
                <a:solidFill>
                  <a:schemeClr val="tx1"/>
                </a:solidFill>
              </a:rPr>
              <a:t>Rejected</a:t>
            </a:r>
            <a:r>
              <a:rPr lang="en-GB" sz="1200" dirty="0">
                <a:solidFill>
                  <a:schemeClr val="tx1"/>
                </a:solidFill>
              </a:rPr>
              <a:t>, along with any guidance or conditions</a:t>
            </a:r>
          </a:p>
          <a:p>
            <a:pPr marL="72000" lvl="1" indent="0" defTabSz="444500">
              <a:spcBef>
                <a:spcPts val="1200"/>
              </a:spcBef>
              <a:spcAft>
                <a:spcPts val="0"/>
              </a:spcAft>
              <a:buNone/>
            </a:pPr>
            <a:r>
              <a:rPr lang="en-GB" sz="1200" dirty="0">
                <a:solidFill>
                  <a:schemeClr val="tx1"/>
                </a:solidFill>
              </a:rPr>
              <a:t>For your information - All new projects or scope changes which are aligned late after RPM are referred to as </a:t>
            </a:r>
            <a:r>
              <a:rPr lang="en-GB" sz="1200" b="1" dirty="0">
                <a:solidFill>
                  <a:schemeClr val="tx1"/>
                </a:solidFill>
              </a:rPr>
              <a:t>Flux-In</a:t>
            </a:r>
          </a:p>
          <a:p>
            <a:pPr marL="243450" lvl="1" indent="-171450" defTabSz="444500">
              <a:spcBef>
                <a:spcPts val="420"/>
              </a:spcBef>
              <a:spcAft>
                <a:spcPts val="0"/>
              </a:spcAft>
              <a:buFont typeface="Arial" panose="020B0604020202020204" pitchFamily="34" charset="0"/>
              <a:buChar char="•"/>
            </a:pPr>
            <a:r>
              <a:rPr lang="en-GB" sz="1200" dirty="0"/>
              <a:t>For each confirmed change, Release team capture the Flux-In reason for review and process improvement</a:t>
            </a:r>
          </a:p>
          <a:p>
            <a:pPr marL="243450" lvl="1" indent="-171450" defTabSz="444500">
              <a:spcBef>
                <a:spcPts val="420"/>
              </a:spcBef>
              <a:buFont typeface="Arial" panose="020B0604020202020204" pitchFamily="34" charset="0"/>
              <a:buChar char="•"/>
            </a:pPr>
            <a:r>
              <a:rPr lang="en-GB" sz="1200" dirty="0"/>
              <a:t>The count of </a:t>
            </a:r>
            <a:r>
              <a:rPr lang="en-GB" sz="1200" b="1" dirty="0"/>
              <a:t>CR’s </a:t>
            </a:r>
            <a:r>
              <a:rPr lang="en-GB" sz="1200" dirty="0"/>
              <a:t>is a direct indication of Flux-In and there is a clear intent and focus within Vodafone to reduce these, ideally down to Zero.</a:t>
            </a:r>
          </a:p>
          <a:p>
            <a:endParaRPr lang="en-GB" dirty="0"/>
          </a:p>
        </p:txBody>
      </p:sp>
    </p:spTree>
    <p:extLst>
      <p:ext uri="{BB962C8B-B14F-4D97-AF65-F5344CB8AC3E}">
        <p14:creationId xmlns:p14="http://schemas.microsoft.com/office/powerpoint/2010/main" val="274793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3F4F1D-AE1D-4712-AC52-3E20552F0727}"/>
              </a:ext>
            </a:extLst>
          </p:cNvPr>
          <p:cNvSpPr>
            <a:spLocks noGrp="1"/>
          </p:cNvSpPr>
          <p:nvPr>
            <p:ph type="sldNum" sz="quarter" idx="15"/>
          </p:nvPr>
        </p:nvSpPr>
        <p:spPr/>
        <p:txBody>
          <a:bodyPr/>
          <a:lstStyle/>
          <a:p>
            <a:fld id="{72A83A2B-3358-44F8-83A0-4598795D8FB5}" type="slidenum">
              <a:rPr lang="en-GB" smtClean="0"/>
              <a:pPr/>
              <a:t>47</a:t>
            </a:fld>
            <a:endParaRPr lang="en-GB"/>
          </a:p>
        </p:txBody>
      </p:sp>
      <p:sp>
        <p:nvSpPr>
          <p:cNvPr id="2" name="Title 1">
            <a:extLst>
              <a:ext uri="{FF2B5EF4-FFF2-40B4-BE49-F238E27FC236}">
                <a16:creationId xmlns:a16="http://schemas.microsoft.com/office/drawing/2014/main" id="{653AB02D-F149-4BF9-8C99-EE1EC282991D}"/>
              </a:ext>
            </a:extLst>
          </p:cNvPr>
          <p:cNvSpPr>
            <a:spLocks noGrp="1"/>
          </p:cNvSpPr>
          <p:nvPr>
            <p:ph type="title"/>
          </p:nvPr>
        </p:nvSpPr>
        <p:spPr/>
        <p:txBody>
          <a:bodyPr/>
          <a:lstStyle/>
          <a:p>
            <a:r>
              <a:rPr lang="en-GB"/>
              <a:t>How to create a Change Request #1</a:t>
            </a:r>
          </a:p>
        </p:txBody>
      </p:sp>
      <p:pic>
        <p:nvPicPr>
          <p:cNvPr id="18" name="Picture 17">
            <a:extLst>
              <a:ext uri="{FF2B5EF4-FFF2-40B4-BE49-F238E27FC236}">
                <a16:creationId xmlns:a16="http://schemas.microsoft.com/office/drawing/2014/main" id="{7CBAC69C-FD76-8F80-DEC0-FB8989204C48}"/>
              </a:ext>
            </a:extLst>
          </p:cNvPr>
          <p:cNvPicPr>
            <a:picLocks noChangeAspect="1"/>
          </p:cNvPicPr>
          <p:nvPr/>
        </p:nvPicPr>
        <p:blipFill>
          <a:blip r:embed="rId3"/>
          <a:stretch>
            <a:fillRect/>
          </a:stretch>
        </p:blipFill>
        <p:spPr>
          <a:xfrm>
            <a:off x="450077" y="1270349"/>
            <a:ext cx="2326279" cy="2822552"/>
          </a:xfrm>
          <a:prstGeom prst="rect">
            <a:avLst/>
          </a:prstGeom>
        </p:spPr>
      </p:pic>
      <p:sp>
        <p:nvSpPr>
          <p:cNvPr id="24" name="TextBox 23">
            <a:extLst>
              <a:ext uri="{FF2B5EF4-FFF2-40B4-BE49-F238E27FC236}">
                <a16:creationId xmlns:a16="http://schemas.microsoft.com/office/drawing/2014/main" id="{5183D758-D7DE-1301-E2F2-F3DEB1347E94}"/>
              </a:ext>
            </a:extLst>
          </p:cNvPr>
          <p:cNvSpPr txBox="1"/>
          <p:nvPr/>
        </p:nvSpPr>
        <p:spPr>
          <a:xfrm>
            <a:off x="292229" y="672613"/>
            <a:ext cx="8708080" cy="523220"/>
          </a:xfrm>
          <a:prstGeom prst="rect">
            <a:avLst/>
          </a:prstGeom>
          <a:noFill/>
        </p:spPr>
        <p:txBody>
          <a:bodyPr wrap="square">
            <a:spAutoFit/>
          </a:bodyPr>
          <a:lstStyle/>
          <a:p>
            <a:pPr marL="0" indent="0">
              <a:buNone/>
            </a:pPr>
            <a:r>
              <a:rPr lang="en-GB" sz="1400" dirty="0"/>
              <a:t>A Change Request can be a child of a Delivery or Function, as it may be used by Release Management or Domains.</a:t>
            </a:r>
          </a:p>
          <a:p>
            <a:pPr marL="0" indent="0">
              <a:buNone/>
            </a:pPr>
            <a:r>
              <a:rPr lang="en-GB" sz="1400" dirty="0"/>
              <a:t>For </a:t>
            </a:r>
            <a:r>
              <a:rPr lang="en-GB" sz="1400" u="sng" dirty="0"/>
              <a:t>Release Management</a:t>
            </a:r>
            <a:r>
              <a:rPr lang="en-GB" sz="1400" dirty="0"/>
              <a:t>,  it must be a child of a </a:t>
            </a:r>
            <a:r>
              <a:rPr lang="en-GB" sz="1400" u="sng" dirty="0"/>
              <a:t>Delivery</a:t>
            </a:r>
            <a:r>
              <a:rPr lang="en-GB" sz="1400" dirty="0"/>
              <a:t>, and optionally (Related) linked to a Function if appropriate</a:t>
            </a:r>
          </a:p>
        </p:txBody>
      </p:sp>
      <p:sp>
        <p:nvSpPr>
          <p:cNvPr id="26" name="Rectangle 25">
            <a:extLst>
              <a:ext uri="{FF2B5EF4-FFF2-40B4-BE49-F238E27FC236}">
                <a16:creationId xmlns:a16="http://schemas.microsoft.com/office/drawing/2014/main" id="{57931EB6-9E64-0D59-97F6-1C974F7FBB9B}"/>
              </a:ext>
            </a:extLst>
          </p:cNvPr>
          <p:cNvSpPr/>
          <p:nvPr/>
        </p:nvSpPr>
        <p:spPr>
          <a:xfrm flipH="1">
            <a:off x="1153885" y="3794036"/>
            <a:ext cx="602344" cy="166913"/>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27" name="TextBox 26">
            <a:extLst>
              <a:ext uri="{FF2B5EF4-FFF2-40B4-BE49-F238E27FC236}">
                <a16:creationId xmlns:a16="http://schemas.microsoft.com/office/drawing/2014/main" id="{600642D7-2FB3-438B-CC1A-A11A204E6869}"/>
              </a:ext>
            </a:extLst>
          </p:cNvPr>
          <p:cNvSpPr txBox="1"/>
          <p:nvPr/>
        </p:nvSpPr>
        <p:spPr>
          <a:xfrm>
            <a:off x="1423921" y="2223965"/>
            <a:ext cx="1929313" cy="455593"/>
          </a:xfrm>
          <a:prstGeom prst="rect">
            <a:avLst/>
          </a:prstGeom>
          <a:solidFill>
            <a:schemeClr val="accent2">
              <a:lumMod val="20000"/>
              <a:lumOff val="80000"/>
            </a:schemeClr>
          </a:solidFill>
        </p:spPr>
        <p:txBody>
          <a:bodyPr wrap="square" lIns="0" tIns="0" rIns="0" bIns="0" rtlCol="0">
            <a:noAutofit/>
          </a:bodyPr>
          <a:lstStyle/>
          <a:p>
            <a:pPr algn="just"/>
            <a:r>
              <a:rPr lang="en-GB" sz="900" dirty="0"/>
              <a:t>To create a new child change request, on the details tab in the Delivery, click on </a:t>
            </a:r>
            <a:r>
              <a:rPr lang="en-GB" sz="900" b="1" dirty="0"/>
              <a:t>Add Link </a:t>
            </a:r>
            <a:r>
              <a:rPr lang="en-GB" sz="900" dirty="0">
                <a:sym typeface="Wingdings" panose="05000000000000000000" pitchFamily="2" charset="2"/>
              </a:rPr>
              <a:t> </a:t>
            </a:r>
            <a:r>
              <a:rPr lang="en-GB" sz="900" b="1" dirty="0">
                <a:sym typeface="Wingdings" panose="05000000000000000000" pitchFamily="2" charset="2"/>
              </a:rPr>
              <a:t>New item</a:t>
            </a:r>
            <a:r>
              <a:rPr lang="en-GB" sz="900" dirty="0">
                <a:sym typeface="Wingdings" panose="05000000000000000000" pitchFamily="2" charset="2"/>
              </a:rPr>
              <a:t>. </a:t>
            </a:r>
            <a:endParaRPr lang="en-GB" sz="900" dirty="0"/>
          </a:p>
        </p:txBody>
      </p:sp>
      <p:cxnSp>
        <p:nvCxnSpPr>
          <p:cNvPr id="29" name="Straight Arrow Connector 28">
            <a:extLst>
              <a:ext uri="{FF2B5EF4-FFF2-40B4-BE49-F238E27FC236}">
                <a16:creationId xmlns:a16="http://schemas.microsoft.com/office/drawing/2014/main" id="{25159E2E-5633-B98F-F514-2A84D1E3681F}"/>
              </a:ext>
            </a:extLst>
          </p:cNvPr>
          <p:cNvCxnSpPr>
            <a:stCxn id="27" idx="2"/>
            <a:endCxn id="26" idx="0"/>
          </p:cNvCxnSpPr>
          <p:nvPr/>
        </p:nvCxnSpPr>
        <p:spPr>
          <a:xfrm flipH="1">
            <a:off x="1455057" y="2679558"/>
            <a:ext cx="933521" cy="11144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4393B18-9945-7FB1-6B28-604F206C2FB9}"/>
              </a:ext>
            </a:extLst>
          </p:cNvPr>
          <p:cNvSpPr txBox="1"/>
          <p:nvPr/>
        </p:nvSpPr>
        <p:spPr>
          <a:xfrm>
            <a:off x="6843602" y="1558603"/>
            <a:ext cx="1929313" cy="1546004"/>
          </a:xfrm>
          <a:prstGeom prst="rect">
            <a:avLst/>
          </a:prstGeom>
          <a:solidFill>
            <a:schemeClr val="accent2">
              <a:lumMod val="20000"/>
              <a:lumOff val="80000"/>
            </a:schemeClr>
          </a:solidFill>
        </p:spPr>
        <p:txBody>
          <a:bodyPr wrap="square" lIns="0" tIns="0" rIns="0" bIns="0" rtlCol="0">
            <a:noAutofit/>
          </a:bodyPr>
          <a:lstStyle/>
          <a:p>
            <a:pPr algn="just"/>
            <a:r>
              <a:rPr lang="en-GB" sz="900"/>
              <a:t>Select the options as below:</a:t>
            </a:r>
          </a:p>
          <a:p>
            <a:pPr algn="just"/>
            <a:endParaRPr lang="en-GB" sz="900"/>
          </a:p>
          <a:p>
            <a:pPr algn="just"/>
            <a:r>
              <a:rPr lang="en-GB" sz="900" b="1"/>
              <a:t>Link Type </a:t>
            </a:r>
            <a:r>
              <a:rPr lang="en-GB" sz="900"/>
              <a:t>: Child</a:t>
            </a:r>
          </a:p>
          <a:p>
            <a:pPr algn="just"/>
            <a:r>
              <a:rPr lang="en-GB" sz="900" b="1"/>
              <a:t>Work item type</a:t>
            </a:r>
            <a:r>
              <a:rPr lang="en-GB" sz="900"/>
              <a:t>: Change Request</a:t>
            </a:r>
          </a:p>
          <a:p>
            <a:pPr algn="just"/>
            <a:r>
              <a:rPr lang="en-GB" sz="900" b="1"/>
              <a:t>Title</a:t>
            </a:r>
            <a:r>
              <a:rPr lang="en-GB" sz="900"/>
              <a:t> : an appropriate title of your choice</a:t>
            </a:r>
          </a:p>
          <a:p>
            <a:pPr algn="just"/>
            <a:r>
              <a:rPr lang="en-GB" sz="900" b="1"/>
              <a:t>Comments</a:t>
            </a:r>
            <a:r>
              <a:rPr lang="en-GB" sz="900"/>
              <a:t> : (optional) any required comments</a:t>
            </a:r>
          </a:p>
          <a:p>
            <a:pPr algn="just"/>
            <a:endParaRPr lang="en-GB" sz="900"/>
          </a:p>
          <a:p>
            <a:pPr algn="just"/>
            <a:endParaRPr lang="en-GB" sz="900"/>
          </a:p>
          <a:p>
            <a:pPr algn="just"/>
            <a:r>
              <a:rPr lang="en-GB" sz="900"/>
              <a:t>Once ready, click </a:t>
            </a:r>
            <a:r>
              <a:rPr lang="en-GB" sz="900" b="1"/>
              <a:t>OK </a:t>
            </a:r>
            <a:r>
              <a:rPr lang="en-GB" sz="900"/>
              <a:t>button</a:t>
            </a:r>
          </a:p>
        </p:txBody>
      </p:sp>
      <p:pic>
        <p:nvPicPr>
          <p:cNvPr id="9" name="Picture 8">
            <a:extLst>
              <a:ext uri="{FF2B5EF4-FFF2-40B4-BE49-F238E27FC236}">
                <a16:creationId xmlns:a16="http://schemas.microsoft.com/office/drawing/2014/main" id="{C25320FD-BFC0-6AC4-FF01-39923A76ACA2}"/>
              </a:ext>
            </a:extLst>
          </p:cNvPr>
          <p:cNvPicPr>
            <a:picLocks noChangeAspect="1"/>
          </p:cNvPicPr>
          <p:nvPr/>
        </p:nvPicPr>
        <p:blipFill>
          <a:blip r:embed="rId4"/>
          <a:stretch>
            <a:fillRect/>
          </a:stretch>
        </p:blipFill>
        <p:spPr>
          <a:xfrm>
            <a:off x="3442858" y="1335852"/>
            <a:ext cx="3346880" cy="3448300"/>
          </a:xfrm>
          <a:prstGeom prst="rect">
            <a:avLst/>
          </a:prstGeom>
        </p:spPr>
      </p:pic>
      <p:grpSp>
        <p:nvGrpSpPr>
          <p:cNvPr id="17" name="Group 16">
            <a:extLst>
              <a:ext uri="{FF2B5EF4-FFF2-40B4-BE49-F238E27FC236}">
                <a16:creationId xmlns:a16="http://schemas.microsoft.com/office/drawing/2014/main" id="{8F4A2E87-4E63-EE16-0B02-11CE695EA532}"/>
              </a:ext>
            </a:extLst>
          </p:cNvPr>
          <p:cNvGrpSpPr/>
          <p:nvPr/>
        </p:nvGrpSpPr>
        <p:grpSpPr>
          <a:xfrm>
            <a:off x="7420077" y="5863"/>
            <a:ext cx="1723922" cy="613569"/>
            <a:chOff x="7420077" y="5863"/>
            <a:chExt cx="1723922" cy="613569"/>
          </a:xfrm>
        </p:grpSpPr>
        <p:sp>
          <p:nvSpPr>
            <p:cNvPr id="8" name="Rectangle 7">
              <a:extLst>
                <a:ext uri="{FF2B5EF4-FFF2-40B4-BE49-F238E27FC236}">
                  <a16:creationId xmlns:a16="http://schemas.microsoft.com/office/drawing/2014/main" id="{7440C434-A421-563E-E68A-229A89EF71C7}"/>
                </a:ext>
              </a:extLst>
            </p:cNvPr>
            <p:cNvSpPr/>
            <p:nvPr/>
          </p:nvSpPr>
          <p:spPr>
            <a:xfrm>
              <a:off x="7420077" y="5863"/>
              <a:ext cx="1723922" cy="613569"/>
            </a:xfrm>
            <a:prstGeom prst="rect">
              <a:avLst/>
            </a:prstGeom>
            <a:solidFill>
              <a:schemeClr val="bg1">
                <a:lumMod val="95000"/>
              </a:schemeClr>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grpSp>
          <p:nvGrpSpPr>
            <p:cNvPr id="11" name="Group 10">
              <a:extLst>
                <a:ext uri="{FF2B5EF4-FFF2-40B4-BE49-F238E27FC236}">
                  <a16:creationId xmlns:a16="http://schemas.microsoft.com/office/drawing/2014/main" id="{DBDC058B-00F9-0DD0-F388-A0CD23E1463A}"/>
                </a:ext>
              </a:extLst>
            </p:cNvPr>
            <p:cNvGrpSpPr/>
            <p:nvPr/>
          </p:nvGrpSpPr>
          <p:grpSpPr>
            <a:xfrm>
              <a:off x="7505384" y="16988"/>
              <a:ext cx="837923" cy="585709"/>
              <a:chOff x="7627652" y="8105"/>
              <a:chExt cx="837923" cy="585709"/>
            </a:xfrm>
          </p:grpSpPr>
          <p:sp>
            <p:nvSpPr>
              <p:cNvPr id="14" name="TextBox 13">
                <a:extLst>
                  <a:ext uri="{FF2B5EF4-FFF2-40B4-BE49-F238E27FC236}">
                    <a16:creationId xmlns:a16="http://schemas.microsoft.com/office/drawing/2014/main" id="{A3661C26-9FC2-2083-16B4-48209B36D391}"/>
                  </a:ext>
                </a:extLst>
              </p:cNvPr>
              <p:cNvSpPr txBox="1"/>
              <p:nvPr/>
            </p:nvSpPr>
            <p:spPr>
              <a:xfrm>
                <a:off x="7627652" y="400787"/>
                <a:ext cx="837923" cy="193027"/>
              </a:xfrm>
              <a:prstGeom prst="rect">
                <a:avLst/>
              </a:prstGeom>
              <a:noFill/>
            </p:spPr>
            <p:txBody>
              <a:bodyPr wrap="square" lIns="27000" tIns="27000" rIns="27000" bIns="27000" rtlCol="0">
                <a:spAutoFit/>
              </a:bodyPr>
              <a:lstStyle/>
              <a:p>
                <a:pPr algn="ctr"/>
                <a:r>
                  <a:rPr lang="en-GB" sz="900" b="1" dirty="0"/>
                  <a:t>Change Request</a:t>
                </a:r>
              </a:p>
            </p:txBody>
          </p:sp>
          <p:pic>
            <p:nvPicPr>
              <p:cNvPr id="13" name="Picture 12">
                <a:extLst>
                  <a:ext uri="{FF2B5EF4-FFF2-40B4-BE49-F238E27FC236}">
                    <a16:creationId xmlns:a16="http://schemas.microsoft.com/office/drawing/2014/main" id="{A10B22C7-DEAF-AE5B-D79E-2F069923D993}"/>
                  </a:ext>
                </a:extLst>
              </p:cNvPr>
              <p:cNvPicPr>
                <a:picLocks noChangeAspect="1"/>
              </p:cNvPicPr>
              <p:nvPr/>
            </p:nvPicPr>
            <p:blipFill>
              <a:blip r:embed="rId5"/>
              <a:stretch>
                <a:fillRect/>
              </a:stretch>
            </p:blipFill>
            <p:spPr>
              <a:xfrm>
                <a:off x="7809718" y="8105"/>
                <a:ext cx="473790" cy="380305"/>
              </a:xfrm>
              <a:prstGeom prst="rect">
                <a:avLst/>
              </a:prstGeom>
            </p:spPr>
          </p:pic>
        </p:grpSp>
        <p:sp>
          <p:nvSpPr>
            <p:cNvPr id="10" name="TextBox 9">
              <a:extLst>
                <a:ext uri="{FF2B5EF4-FFF2-40B4-BE49-F238E27FC236}">
                  <a16:creationId xmlns:a16="http://schemas.microsoft.com/office/drawing/2014/main" id="{0BD450EB-DDB7-DAC4-6ABE-CDE354DB8AE6}"/>
                </a:ext>
              </a:extLst>
            </p:cNvPr>
            <p:cNvSpPr txBox="1"/>
            <p:nvPr/>
          </p:nvSpPr>
          <p:spPr>
            <a:xfrm>
              <a:off x="8377085" y="9374"/>
              <a:ext cx="734142" cy="523220"/>
            </a:xfrm>
            <a:prstGeom prst="rect">
              <a:avLst/>
            </a:prstGeom>
          </p:spPr>
          <p:txBody>
            <a:bodyPr wrap="square" lIns="0" tIns="0" rIns="0" bIns="0" rtlCol="0">
              <a:noAutofit/>
            </a:bodyPr>
            <a:lstStyle/>
            <a:p>
              <a:pPr marL="0" indent="0">
                <a:buFont typeface="Arial" pitchFamily="34" charset="0"/>
                <a:buNone/>
              </a:pPr>
              <a:r>
                <a:rPr lang="en-GB" sz="1200" b="1" dirty="0">
                  <a:solidFill>
                    <a:srgbClr val="FF0000"/>
                  </a:solidFill>
                  <a:latin typeface="Vodafone Rg" pitchFamily="34" charset="0"/>
                </a:rPr>
                <a:t>Deliveries</a:t>
              </a:r>
            </a:p>
            <a:p>
              <a:pPr marL="0" indent="0">
                <a:buFont typeface="Arial" pitchFamily="34" charset="0"/>
                <a:buNone/>
              </a:pPr>
              <a:r>
                <a:rPr lang="en-GB" sz="1200" b="1" dirty="0">
                  <a:solidFill>
                    <a:srgbClr val="FF0000"/>
                  </a:solidFill>
                  <a:latin typeface="Vodafone Rg" pitchFamily="34" charset="0"/>
                </a:rPr>
                <a:t>Functions</a:t>
              </a:r>
            </a:p>
          </p:txBody>
        </p:sp>
      </p:grpSp>
    </p:spTree>
    <p:extLst>
      <p:ext uri="{BB962C8B-B14F-4D97-AF65-F5344CB8AC3E}">
        <p14:creationId xmlns:p14="http://schemas.microsoft.com/office/powerpoint/2010/main" val="9592291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97D2F4F-C1B8-A0FC-6405-4833CD57BCFF}"/>
              </a:ext>
            </a:extLst>
          </p:cNvPr>
          <p:cNvPicPr>
            <a:picLocks noChangeAspect="1"/>
          </p:cNvPicPr>
          <p:nvPr/>
        </p:nvPicPr>
        <p:blipFill>
          <a:blip r:embed="rId3"/>
          <a:stretch>
            <a:fillRect/>
          </a:stretch>
        </p:blipFill>
        <p:spPr>
          <a:xfrm>
            <a:off x="1472513" y="922870"/>
            <a:ext cx="6353124" cy="3414207"/>
          </a:xfrm>
          <a:prstGeom prst="rect">
            <a:avLst/>
          </a:prstGeom>
        </p:spPr>
      </p:pic>
      <p:sp>
        <p:nvSpPr>
          <p:cNvPr id="4" name="Slide Number Placeholder 3">
            <a:extLst>
              <a:ext uri="{FF2B5EF4-FFF2-40B4-BE49-F238E27FC236}">
                <a16:creationId xmlns:a16="http://schemas.microsoft.com/office/drawing/2014/main" id="{603F4F1D-AE1D-4712-AC52-3E20552F0727}"/>
              </a:ext>
            </a:extLst>
          </p:cNvPr>
          <p:cNvSpPr>
            <a:spLocks noGrp="1"/>
          </p:cNvSpPr>
          <p:nvPr>
            <p:ph type="sldNum" sz="quarter" idx="15"/>
          </p:nvPr>
        </p:nvSpPr>
        <p:spPr/>
        <p:txBody>
          <a:bodyPr/>
          <a:lstStyle/>
          <a:p>
            <a:fld id="{72A83A2B-3358-44F8-83A0-4598795D8FB5}" type="slidenum">
              <a:rPr lang="en-GB" smtClean="0"/>
              <a:pPr/>
              <a:t>48</a:t>
            </a:fld>
            <a:endParaRPr lang="en-GB"/>
          </a:p>
        </p:txBody>
      </p:sp>
      <p:sp>
        <p:nvSpPr>
          <p:cNvPr id="2" name="Title 1">
            <a:extLst>
              <a:ext uri="{FF2B5EF4-FFF2-40B4-BE49-F238E27FC236}">
                <a16:creationId xmlns:a16="http://schemas.microsoft.com/office/drawing/2014/main" id="{653AB02D-F149-4BF9-8C99-EE1EC282991D}"/>
              </a:ext>
            </a:extLst>
          </p:cNvPr>
          <p:cNvSpPr>
            <a:spLocks noGrp="1"/>
          </p:cNvSpPr>
          <p:nvPr>
            <p:ph type="title"/>
          </p:nvPr>
        </p:nvSpPr>
        <p:spPr/>
        <p:txBody>
          <a:bodyPr/>
          <a:lstStyle/>
          <a:p>
            <a:r>
              <a:rPr lang="en-GB"/>
              <a:t>How to create a Change Request #2</a:t>
            </a:r>
          </a:p>
        </p:txBody>
      </p:sp>
      <p:sp>
        <p:nvSpPr>
          <p:cNvPr id="11" name="Rectangle 10">
            <a:extLst>
              <a:ext uri="{FF2B5EF4-FFF2-40B4-BE49-F238E27FC236}">
                <a16:creationId xmlns:a16="http://schemas.microsoft.com/office/drawing/2014/main" id="{FFEF7721-F111-F1DC-1CCB-8241D202AF6F}"/>
              </a:ext>
            </a:extLst>
          </p:cNvPr>
          <p:cNvSpPr/>
          <p:nvPr/>
        </p:nvSpPr>
        <p:spPr>
          <a:xfrm>
            <a:off x="1472513" y="1758088"/>
            <a:ext cx="2281381" cy="2190161"/>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15" name="TextBox 14">
            <a:extLst>
              <a:ext uri="{FF2B5EF4-FFF2-40B4-BE49-F238E27FC236}">
                <a16:creationId xmlns:a16="http://schemas.microsoft.com/office/drawing/2014/main" id="{1F19C6B5-B9E2-EB1E-6AA7-65028EC6F83D}"/>
              </a:ext>
            </a:extLst>
          </p:cNvPr>
          <p:cNvSpPr txBox="1"/>
          <p:nvPr/>
        </p:nvSpPr>
        <p:spPr>
          <a:xfrm>
            <a:off x="81683" y="2242255"/>
            <a:ext cx="1327667" cy="1036522"/>
          </a:xfrm>
          <a:prstGeom prst="rect">
            <a:avLst/>
          </a:prstGeom>
          <a:solidFill>
            <a:schemeClr val="accent2">
              <a:lumMod val="20000"/>
              <a:lumOff val="80000"/>
            </a:schemeClr>
          </a:solidFill>
        </p:spPr>
        <p:txBody>
          <a:bodyPr wrap="square" lIns="36000" tIns="0" rIns="36000" bIns="0" rtlCol="0">
            <a:noAutofit/>
          </a:bodyPr>
          <a:lstStyle/>
          <a:p>
            <a:r>
              <a:rPr lang="en-GB" sz="900"/>
              <a:t>Review and update the </a:t>
            </a:r>
            <a:r>
              <a:rPr lang="en-GB" sz="900" b="1"/>
              <a:t>Description, Business Justification, Impact From not Proceeding </a:t>
            </a:r>
            <a:r>
              <a:rPr lang="en-GB" sz="900"/>
              <a:t>and other fields where appropriate</a:t>
            </a:r>
          </a:p>
        </p:txBody>
      </p:sp>
      <p:cxnSp>
        <p:nvCxnSpPr>
          <p:cNvPr id="17" name="Straight Arrow Connector 16">
            <a:extLst>
              <a:ext uri="{FF2B5EF4-FFF2-40B4-BE49-F238E27FC236}">
                <a16:creationId xmlns:a16="http://schemas.microsoft.com/office/drawing/2014/main" id="{CE5450BD-5200-90DB-BD89-7326AAF31942}"/>
              </a:ext>
            </a:extLst>
          </p:cNvPr>
          <p:cNvCxnSpPr>
            <a:cxnSpLocks/>
          </p:cNvCxnSpPr>
          <p:nvPr/>
        </p:nvCxnSpPr>
        <p:spPr>
          <a:xfrm flipV="1">
            <a:off x="1031846" y="1990583"/>
            <a:ext cx="590249" cy="2516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42F1421-C18B-D62E-432E-BFC5BBAA2BA9}"/>
              </a:ext>
            </a:extLst>
          </p:cNvPr>
          <p:cNvSpPr/>
          <p:nvPr/>
        </p:nvSpPr>
        <p:spPr>
          <a:xfrm>
            <a:off x="4664765" y="1758088"/>
            <a:ext cx="1302026" cy="922163"/>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22" name="TextBox 21">
            <a:extLst>
              <a:ext uri="{FF2B5EF4-FFF2-40B4-BE49-F238E27FC236}">
                <a16:creationId xmlns:a16="http://schemas.microsoft.com/office/drawing/2014/main" id="{6DA9E487-4CE0-3E2A-17EA-3CF89CE2B997}"/>
              </a:ext>
            </a:extLst>
          </p:cNvPr>
          <p:cNvSpPr txBox="1"/>
          <p:nvPr/>
        </p:nvSpPr>
        <p:spPr>
          <a:xfrm>
            <a:off x="7734650" y="1906353"/>
            <a:ext cx="1327667" cy="1099147"/>
          </a:xfrm>
          <a:prstGeom prst="rect">
            <a:avLst/>
          </a:prstGeom>
          <a:solidFill>
            <a:schemeClr val="accent2">
              <a:lumMod val="20000"/>
              <a:lumOff val="80000"/>
            </a:schemeClr>
          </a:solidFill>
        </p:spPr>
        <p:txBody>
          <a:bodyPr wrap="square" lIns="36000" tIns="0" rIns="36000" bIns="0" rtlCol="0">
            <a:noAutofit/>
          </a:bodyPr>
          <a:lstStyle/>
          <a:p>
            <a:r>
              <a:rPr lang="en-GB" sz="900" dirty="0"/>
              <a:t>Review and update the </a:t>
            </a:r>
            <a:r>
              <a:rPr lang="en-GB" sz="900" b="1" dirty="0"/>
              <a:t>Key details </a:t>
            </a:r>
            <a:r>
              <a:rPr lang="en-GB" sz="900" dirty="0"/>
              <a:t>fields.</a:t>
            </a:r>
          </a:p>
          <a:p>
            <a:r>
              <a:rPr lang="en-GB" sz="900" b="1" dirty="0"/>
              <a:t>Impacted Application </a:t>
            </a:r>
            <a:r>
              <a:rPr lang="en-GB" sz="900" dirty="0"/>
              <a:t>is a multi-selectable field (You can select more than 1 application)</a:t>
            </a:r>
          </a:p>
        </p:txBody>
      </p:sp>
      <p:cxnSp>
        <p:nvCxnSpPr>
          <p:cNvPr id="25" name="Straight Arrow Connector 24">
            <a:extLst>
              <a:ext uri="{FF2B5EF4-FFF2-40B4-BE49-F238E27FC236}">
                <a16:creationId xmlns:a16="http://schemas.microsoft.com/office/drawing/2014/main" id="{A69D4D42-C091-42FB-169C-4918F7B3E28E}"/>
              </a:ext>
            </a:extLst>
          </p:cNvPr>
          <p:cNvCxnSpPr>
            <a:cxnSpLocks/>
            <a:stCxn id="22" idx="1"/>
          </p:cNvCxnSpPr>
          <p:nvPr/>
        </p:nvCxnSpPr>
        <p:spPr>
          <a:xfrm flipH="1">
            <a:off x="5999922" y="2455927"/>
            <a:ext cx="17347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BFF600D-6468-4D9B-E317-DA117C11AF7C}"/>
              </a:ext>
            </a:extLst>
          </p:cNvPr>
          <p:cNvSpPr txBox="1"/>
          <p:nvPr/>
        </p:nvSpPr>
        <p:spPr>
          <a:xfrm>
            <a:off x="7854044" y="3556932"/>
            <a:ext cx="1169468" cy="823570"/>
          </a:xfrm>
          <a:prstGeom prst="rect">
            <a:avLst/>
          </a:prstGeom>
          <a:solidFill>
            <a:schemeClr val="accent2">
              <a:lumMod val="20000"/>
              <a:lumOff val="80000"/>
            </a:schemeClr>
          </a:solidFill>
        </p:spPr>
        <p:txBody>
          <a:bodyPr wrap="square" lIns="36000" tIns="0" rIns="36000" bIns="0" rtlCol="0">
            <a:noAutofit/>
          </a:bodyPr>
          <a:lstStyle/>
          <a:p>
            <a:pPr algn="just"/>
            <a:r>
              <a:rPr lang="en-GB" sz="900"/>
              <a:t>The Work Item group is automatically updated</a:t>
            </a:r>
          </a:p>
        </p:txBody>
      </p:sp>
      <p:sp>
        <p:nvSpPr>
          <p:cNvPr id="32" name="Rectangle 31">
            <a:extLst>
              <a:ext uri="{FF2B5EF4-FFF2-40B4-BE49-F238E27FC236}">
                <a16:creationId xmlns:a16="http://schemas.microsoft.com/office/drawing/2014/main" id="{DF26BC35-9ED3-D4BB-BA03-BFFDE32DAD4D}"/>
              </a:ext>
            </a:extLst>
          </p:cNvPr>
          <p:cNvSpPr/>
          <p:nvPr/>
        </p:nvSpPr>
        <p:spPr>
          <a:xfrm>
            <a:off x="6234997" y="3248864"/>
            <a:ext cx="1453868" cy="1131638"/>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cxnSp>
        <p:nvCxnSpPr>
          <p:cNvPr id="33" name="Straight Arrow Connector 32">
            <a:extLst>
              <a:ext uri="{FF2B5EF4-FFF2-40B4-BE49-F238E27FC236}">
                <a16:creationId xmlns:a16="http://schemas.microsoft.com/office/drawing/2014/main" id="{D385A460-15CB-FF35-578B-8745124E66EB}"/>
              </a:ext>
            </a:extLst>
          </p:cNvPr>
          <p:cNvCxnSpPr>
            <a:cxnSpLocks/>
          </p:cNvCxnSpPr>
          <p:nvPr/>
        </p:nvCxnSpPr>
        <p:spPr>
          <a:xfrm flipH="1" flipV="1">
            <a:off x="7504067" y="4053392"/>
            <a:ext cx="363889" cy="107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0815072-C0A4-F589-08E9-76E0EEAC5971}"/>
              </a:ext>
            </a:extLst>
          </p:cNvPr>
          <p:cNvSpPr/>
          <p:nvPr/>
        </p:nvSpPr>
        <p:spPr>
          <a:xfrm>
            <a:off x="4664765" y="2680251"/>
            <a:ext cx="1302026" cy="520150"/>
          </a:xfrm>
          <a:prstGeom prst="rect">
            <a:avLst/>
          </a:prstGeom>
          <a:no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sp>
        <p:nvSpPr>
          <p:cNvPr id="23" name="TextBox 22">
            <a:extLst>
              <a:ext uri="{FF2B5EF4-FFF2-40B4-BE49-F238E27FC236}">
                <a16:creationId xmlns:a16="http://schemas.microsoft.com/office/drawing/2014/main" id="{EC61F142-BD26-73EC-0FA9-CF5950FE86A7}"/>
              </a:ext>
            </a:extLst>
          </p:cNvPr>
          <p:cNvSpPr txBox="1"/>
          <p:nvPr/>
        </p:nvSpPr>
        <p:spPr>
          <a:xfrm>
            <a:off x="3987266" y="4058001"/>
            <a:ext cx="1396430" cy="823570"/>
          </a:xfrm>
          <a:prstGeom prst="rect">
            <a:avLst/>
          </a:prstGeom>
          <a:solidFill>
            <a:schemeClr val="accent2">
              <a:lumMod val="20000"/>
              <a:lumOff val="80000"/>
            </a:schemeClr>
          </a:solidFill>
        </p:spPr>
        <p:txBody>
          <a:bodyPr wrap="square" lIns="36000" tIns="0" rIns="36000" bIns="0" rtlCol="0">
            <a:noAutofit/>
          </a:bodyPr>
          <a:lstStyle/>
          <a:p>
            <a:pPr algn="just"/>
            <a:r>
              <a:rPr lang="en-GB" sz="900"/>
              <a:t>Select the </a:t>
            </a:r>
            <a:r>
              <a:rPr lang="en-GB" sz="900" b="1"/>
              <a:t>Source Release </a:t>
            </a:r>
            <a:r>
              <a:rPr lang="en-GB" sz="900"/>
              <a:t>or the </a:t>
            </a:r>
            <a:r>
              <a:rPr lang="en-GB" sz="900" b="1"/>
              <a:t>Target Release </a:t>
            </a:r>
            <a:r>
              <a:rPr lang="en-GB" sz="900"/>
              <a:t>as appropriate.</a:t>
            </a:r>
          </a:p>
        </p:txBody>
      </p:sp>
      <p:cxnSp>
        <p:nvCxnSpPr>
          <p:cNvPr id="24" name="Straight Arrow Connector 23">
            <a:extLst>
              <a:ext uri="{FF2B5EF4-FFF2-40B4-BE49-F238E27FC236}">
                <a16:creationId xmlns:a16="http://schemas.microsoft.com/office/drawing/2014/main" id="{1C106E83-35D1-BAFE-B2FC-CC9DD2B6D296}"/>
              </a:ext>
            </a:extLst>
          </p:cNvPr>
          <p:cNvCxnSpPr>
            <a:cxnSpLocks/>
          </p:cNvCxnSpPr>
          <p:nvPr/>
        </p:nvCxnSpPr>
        <p:spPr>
          <a:xfrm flipV="1">
            <a:off x="4513616" y="3200401"/>
            <a:ext cx="436395" cy="840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28406F7B-7BF6-F440-32A7-48C8C2250F48}"/>
              </a:ext>
            </a:extLst>
          </p:cNvPr>
          <p:cNvGrpSpPr/>
          <p:nvPr/>
        </p:nvGrpSpPr>
        <p:grpSpPr>
          <a:xfrm>
            <a:off x="7420077" y="5863"/>
            <a:ext cx="1723922" cy="613569"/>
            <a:chOff x="7420077" y="5863"/>
            <a:chExt cx="1723922" cy="613569"/>
          </a:xfrm>
        </p:grpSpPr>
        <p:sp>
          <p:nvSpPr>
            <p:cNvPr id="40" name="Rectangle 39">
              <a:extLst>
                <a:ext uri="{FF2B5EF4-FFF2-40B4-BE49-F238E27FC236}">
                  <a16:creationId xmlns:a16="http://schemas.microsoft.com/office/drawing/2014/main" id="{329D3133-5EE7-6D61-E6FD-96D5BB10A13B}"/>
                </a:ext>
              </a:extLst>
            </p:cNvPr>
            <p:cNvSpPr/>
            <p:nvPr/>
          </p:nvSpPr>
          <p:spPr>
            <a:xfrm>
              <a:off x="7420077" y="5863"/>
              <a:ext cx="1723922" cy="613569"/>
            </a:xfrm>
            <a:prstGeom prst="rect">
              <a:avLst/>
            </a:prstGeom>
            <a:solidFill>
              <a:schemeClr val="bg1">
                <a:lumMod val="95000"/>
              </a:schemeClr>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0" tIns="6350" rIns="6350" bIns="6350" numCol="1" spcCol="1270" rtlCol="0" anchor="ctr" anchorCtr="0">
              <a:noAutofit/>
            </a:bodyPr>
            <a:lstStyle/>
            <a:p>
              <a:pPr algn="ctr" defTabSz="444500">
                <a:lnSpc>
                  <a:spcPct val="90000"/>
                </a:lnSpc>
                <a:spcBef>
                  <a:spcPct val="0"/>
                </a:spcBef>
                <a:spcAft>
                  <a:spcPct val="35000"/>
                </a:spcAft>
              </a:pPr>
              <a:endParaRPr lang="en-GB" sz="1000" kern="1200">
                <a:solidFill>
                  <a:srgbClr val="34342B"/>
                </a:solidFill>
                <a:latin typeface="Vodafone Rg" pitchFamily="34" charset="0"/>
                <a:ea typeface="+mn-ea"/>
                <a:cs typeface="+mn-cs"/>
              </a:endParaRPr>
            </a:p>
          </p:txBody>
        </p:sp>
        <p:grpSp>
          <p:nvGrpSpPr>
            <p:cNvPr id="41" name="Group 40">
              <a:extLst>
                <a:ext uri="{FF2B5EF4-FFF2-40B4-BE49-F238E27FC236}">
                  <a16:creationId xmlns:a16="http://schemas.microsoft.com/office/drawing/2014/main" id="{5B459768-5842-6CBD-897C-CFFC3278C111}"/>
                </a:ext>
              </a:extLst>
            </p:cNvPr>
            <p:cNvGrpSpPr/>
            <p:nvPr/>
          </p:nvGrpSpPr>
          <p:grpSpPr>
            <a:xfrm>
              <a:off x="7505384" y="16988"/>
              <a:ext cx="837923" cy="585709"/>
              <a:chOff x="7627652" y="8105"/>
              <a:chExt cx="837923" cy="585709"/>
            </a:xfrm>
          </p:grpSpPr>
          <p:sp>
            <p:nvSpPr>
              <p:cNvPr id="43" name="TextBox 42">
                <a:extLst>
                  <a:ext uri="{FF2B5EF4-FFF2-40B4-BE49-F238E27FC236}">
                    <a16:creationId xmlns:a16="http://schemas.microsoft.com/office/drawing/2014/main" id="{74AC534A-12D1-A00D-EE80-5E1DD1204B39}"/>
                  </a:ext>
                </a:extLst>
              </p:cNvPr>
              <p:cNvSpPr txBox="1"/>
              <p:nvPr/>
            </p:nvSpPr>
            <p:spPr>
              <a:xfrm>
                <a:off x="7627652" y="400787"/>
                <a:ext cx="837923" cy="193027"/>
              </a:xfrm>
              <a:prstGeom prst="rect">
                <a:avLst/>
              </a:prstGeom>
              <a:noFill/>
            </p:spPr>
            <p:txBody>
              <a:bodyPr wrap="square" lIns="27000" tIns="27000" rIns="27000" bIns="27000" rtlCol="0">
                <a:spAutoFit/>
              </a:bodyPr>
              <a:lstStyle/>
              <a:p>
                <a:pPr algn="ctr"/>
                <a:r>
                  <a:rPr lang="en-GB" sz="900" b="1" dirty="0"/>
                  <a:t>Change Request</a:t>
                </a:r>
              </a:p>
            </p:txBody>
          </p:sp>
          <p:pic>
            <p:nvPicPr>
              <p:cNvPr id="44" name="Picture 43">
                <a:extLst>
                  <a:ext uri="{FF2B5EF4-FFF2-40B4-BE49-F238E27FC236}">
                    <a16:creationId xmlns:a16="http://schemas.microsoft.com/office/drawing/2014/main" id="{B7F4249B-E326-2DD2-F15D-C94DD225D872}"/>
                  </a:ext>
                </a:extLst>
              </p:cNvPr>
              <p:cNvPicPr>
                <a:picLocks noChangeAspect="1"/>
              </p:cNvPicPr>
              <p:nvPr/>
            </p:nvPicPr>
            <p:blipFill>
              <a:blip r:embed="rId4"/>
              <a:stretch>
                <a:fillRect/>
              </a:stretch>
            </p:blipFill>
            <p:spPr>
              <a:xfrm>
                <a:off x="7809718" y="8105"/>
                <a:ext cx="473790" cy="380305"/>
              </a:xfrm>
              <a:prstGeom prst="rect">
                <a:avLst/>
              </a:prstGeom>
            </p:spPr>
          </p:pic>
        </p:grpSp>
        <p:sp>
          <p:nvSpPr>
            <p:cNvPr id="42" name="TextBox 41">
              <a:extLst>
                <a:ext uri="{FF2B5EF4-FFF2-40B4-BE49-F238E27FC236}">
                  <a16:creationId xmlns:a16="http://schemas.microsoft.com/office/drawing/2014/main" id="{B9F51BE0-C16E-2858-2ED0-1BEB040698EF}"/>
                </a:ext>
              </a:extLst>
            </p:cNvPr>
            <p:cNvSpPr txBox="1"/>
            <p:nvPr/>
          </p:nvSpPr>
          <p:spPr>
            <a:xfrm>
              <a:off x="8377085" y="9374"/>
              <a:ext cx="734142" cy="523220"/>
            </a:xfrm>
            <a:prstGeom prst="rect">
              <a:avLst/>
            </a:prstGeom>
          </p:spPr>
          <p:txBody>
            <a:bodyPr wrap="square" lIns="0" tIns="0" rIns="0" bIns="0" rtlCol="0">
              <a:noAutofit/>
            </a:bodyPr>
            <a:lstStyle/>
            <a:p>
              <a:pPr marL="0" indent="0">
                <a:buFont typeface="Arial" pitchFamily="34" charset="0"/>
                <a:buNone/>
              </a:pPr>
              <a:r>
                <a:rPr lang="en-GB" sz="1200" b="1" dirty="0">
                  <a:solidFill>
                    <a:srgbClr val="FF0000"/>
                  </a:solidFill>
                  <a:latin typeface="Vodafone Rg" pitchFamily="34" charset="0"/>
                </a:rPr>
                <a:t>Deliveries</a:t>
              </a:r>
            </a:p>
            <a:p>
              <a:pPr marL="0" indent="0">
                <a:buFont typeface="Arial" pitchFamily="34" charset="0"/>
                <a:buNone/>
              </a:pPr>
              <a:r>
                <a:rPr lang="en-GB" sz="1200" b="1" dirty="0">
                  <a:solidFill>
                    <a:srgbClr val="FF0000"/>
                  </a:solidFill>
                  <a:latin typeface="Vodafone Rg" pitchFamily="34" charset="0"/>
                </a:rPr>
                <a:t>Functions</a:t>
              </a:r>
            </a:p>
          </p:txBody>
        </p:sp>
      </p:grpSp>
    </p:spTree>
    <p:extLst>
      <p:ext uri="{BB962C8B-B14F-4D97-AF65-F5344CB8AC3E}">
        <p14:creationId xmlns:p14="http://schemas.microsoft.com/office/powerpoint/2010/main" val="42593493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04D1542-70BE-1388-70E1-ED756419F2DE}"/>
              </a:ext>
            </a:extLst>
          </p:cNvPr>
          <p:cNvSpPr>
            <a:spLocks noGrp="1"/>
          </p:cNvSpPr>
          <p:nvPr>
            <p:ph type="ctrTitle"/>
          </p:nvPr>
        </p:nvSpPr>
        <p:spPr/>
        <p:txBody>
          <a:bodyPr/>
          <a:lstStyle/>
          <a:p>
            <a:r>
              <a:rPr lang="en-GB" dirty="0"/>
              <a:t>FUT, CJT &amp; ELS/Hypercare </a:t>
            </a:r>
            <a:endParaRPr lang="en-GB" sz="1200" dirty="0"/>
          </a:p>
        </p:txBody>
      </p:sp>
      <p:sp>
        <p:nvSpPr>
          <p:cNvPr id="4" name="Slide Number Placeholder 3">
            <a:extLst>
              <a:ext uri="{FF2B5EF4-FFF2-40B4-BE49-F238E27FC236}">
                <a16:creationId xmlns:a16="http://schemas.microsoft.com/office/drawing/2014/main" id="{574ED55A-3206-A6AB-16EF-80DBD05EDA14}"/>
              </a:ext>
            </a:extLst>
          </p:cNvPr>
          <p:cNvSpPr>
            <a:spLocks noGrp="1"/>
          </p:cNvSpPr>
          <p:nvPr>
            <p:ph type="sldNum" sz="quarter" idx="11"/>
          </p:nvPr>
        </p:nvSpPr>
        <p:spPr/>
        <p:txBody>
          <a:bodyPr/>
          <a:lstStyle/>
          <a:p>
            <a:fld id="{72A83A2B-3358-44F8-83A0-4598795D8FB5}" type="slidenum">
              <a:rPr lang="en-GB" smtClean="0"/>
              <a:pPr/>
              <a:t>49</a:t>
            </a:fld>
            <a:endParaRPr lang="en-GB"/>
          </a:p>
        </p:txBody>
      </p:sp>
    </p:spTree>
    <p:extLst>
      <p:ext uri="{BB962C8B-B14F-4D97-AF65-F5344CB8AC3E}">
        <p14:creationId xmlns:p14="http://schemas.microsoft.com/office/powerpoint/2010/main" val="40854080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a:xfrm>
            <a:off x="180000" y="540001"/>
            <a:ext cx="8712000" cy="4221186"/>
          </a:xfrm>
        </p:spPr>
        <p:txBody>
          <a:bodyPr>
            <a:normAutofit fontScale="92500" lnSpcReduction="10000"/>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fontAlgn="ctr">
              <a:spcAft>
                <a:spcPts val="0"/>
              </a:spcAft>
              <a:buNone/>
            </a:pPr>
            <a:r>
              <a:rPr lang="en-GB" sz="1500" b="1" dirty="0">
                <a:latin typeface="+mj-lt"/>
              </a:rPr>
              <a:t>To align an FUT, CJT or ELS/Hypercare defect to any Release, follow the below process:</a:t>
            </a:r>
          </a:p>
          <a:p>
            <a:pPr fontAlgn="ctr">
              <a:spcAft>
                <a:spcPts val="0"/>
              </a:spcAft>
            </a:pPr>
            <a:endParaRPr lang="en-GB" sz="1350" dirty="0">
              <a:latin typeface="+mj-lt"/>
            </a:endParaRPr>
          </a:p>
          <a:p>
            <a:pPr fontAlgn="ctr">
              <a:spcAft>
                <a:spcPts val="0"/>
              </a:spcAft>
            </a:pPr>
            <a:r>
              <a:rPr lang="en-GB" sz="1350" dirty="0">
                <a:latin typeface="+mj-lt"/>
              </a:rPr>
              <a:t>Delivery Manager </a:t>
            </a:r>
            <a:r>
              <a:rPr lang="en-GB" sz="1350" b="1" dirty="0">
                <a:highlight>
                  <a:srgbClr val="FFFF00"/>
                </a:highlight>
                <a:latin typeface="+mj-lt"/>
              </a:rPr>
              <a:t>MUST</a:t>
            </a:r>
            <a:r>
              <a:rPr lang="en-GB" sz="1350" dirty="0">
                <a:latin typeface="+mj-lt"/>
              </a:rPr>
              <a:t> raise a </a:t>
            </a:r>
            <a:r>
              <a:rPr lang="en-GB" sz="1350" b="1" dirty="0">
                <a:latin typeface="+mj-lt"/>
              </a:rPr>
              <a:t>Feature</a:t>
            </a:r>
            <a:r>
              <a:rPr lang="en-GB" sz="1350" dirty="0">
                <a:latin typeface="+mj-lt"/>
              </a:rPr>
              <a:t> (</a:t>
            </a:r>
            <a:r>
              <a:rPr lang="en-GB" sz="1350" b="1" dirty="0">
                <a:latin typeface="+mj-lt"/>
              </a:rPr>
              <a:t>Delivery</a:t>
            </a:r>
            <a:r>
              <a:rPr lang="en-GB" sz="1350" dirty="0">
                <a:latin typeface="+mj-lt"/>
              </a:rPr>
              <a:t> from CCS 25.1) and align it to a Release to secure Dev and/or SIT Support</a:t>
            </a:r>
          </a:p>
          <a:p>
            <a:pPr marL="0" indent="0" fontAlgn="ctr">
              <a:spcAft>
                <a:spcPts val="0"/>
              </a:spcAft>
              <a:buNone/>
            </a:pPr>
            <a:endParaRPr lang="en-GB" sz="1350" dirty="0">
              <a:latin typeface="+mj-lt"/>
            </a:endParaRPr>
          </a:p>
          <a:p>
            <a:pPr fontAlgn="ctr">
              <a:spcAft>
                <a:spcPts val="0"/>
              </a:spcAft>
            </a:pPr>
            <a:r>
              <a:rPr lang="en-GB" sz="1350" dirty="0">
                <a:latin typeface="+mj-lt"/>
              </a:rPr>
              <a:t>All </a:t>
            </a:r>
            <a:r>
              <a:rPr lang="en-GB" sz="1350" b="1" dirty="0">
                <a:latin typeface="+mj-lt"/>
              </a:rPr>
              <a:t>Functions</a:t>
            </a:r>
            <a:r>
              <a:rPr lang="en-GB" sz="1350" dirty="0">
                <a:latin typeface="+mj-lt"/>
              </a:rPr>
              <a:t> corresponding to relevant application </a:t>
            </a:r>
            <a:r>
              <a:rPr lang="en-GB" sz="1350" b="1" u="sng" dirty="0">
                <a:latin typeface="+mj-lt"/>
              </a:rPr>
              <a:t>to be raised </a:t>
            </a:r>
            <a:r>
              <a:rPr lang="en-GB" sz="1350" dirty="0">
                <a:latin typeface="+mj-lt"/>
              </a:rPr>
              <a:t>if dedicated support is required from factory - otherwise no function is required.  If there is no dedicated support, CJT defects will follow the BAU process to fix by factory. </a:t>
            </a:r>
            <a:br>
              <a:rPr lang="en-GB" sz="1350" dirty="0">
                <a:latin typeface="+mj-lt"/>
              </a:rPr>
            </a:br>
            <a:r>
              <a:rPr lang="en-GB" sz="1350" b="1" dirty="0">
                <a:latin typeface="+mj-lt"/>
              </a:rPr>
              <a:t>For </a:t>
            </a:r>
            <a:r>
              <a:rPr lang="en-GB" sz="1350" b="1" dirty="0" err="1">
                <a:latin typeface="+mj-lt"/>
              </a:rPr>
              <a:t>hypercare</a:t>
            </a:r>
            <a:r>
              <a:rPr lang="en-GB" sz="1350" b="1" dirty="0">
                <a:latin typeface="+mj-lt"/>
              </a:rPr>
              <a:t> there is no BAU process and dedicated support will be required.</a:t>
            </a:r>
            <a:endParaRPr lang="en-GB" sz="1350" dirty="0">
              <a:latin typeface="+mj-lt"/>
            </a:endParaRPr>
          </a:p>
          <a:p>
            <a:pPr marL="0" indent="0" fontAlgn="ctr">
              <a:spcAft>
                <a:spcPts val="0"/>
              </a:spcAft>
              <a:buNone/>
            </a:pPr>
            <a:endParaRPr lang="en-GB" sz="1350" dirty="0">
              <a:latin typeface="+mj-lt"/>
            </a:endParaRPr>
          </a:p>
          <a:p>
            <a:pPr fontAlgn="ctr">
              <a:spcAft>
                <a:spcPts val="0"/>
              </a:spcAft>
            </a:pPr>
            <a:r>
              <a:rPr lang="en-GB" sz="1350" dirty="0">
                <a:latin typeface="+mj-lt"/>
              </a:rPr>
              <a:t>Area and Iteration for the </a:t>
            </a:r>
            <a:r>
              <a:rPr lang="en-GB" sz="1350" b="1" dirty="0">
                <a:latin typeface="+mj-lt"/>
              </a:rPr>
              <a:t>Feature</a:t>
            </a:r>
            <a:r>
              <a:rPr lang="en-GB" sz="1350" dirty="0">
                <a:latin typeface="+mj-lt"/>
              </a:rPr>
              <a:t> (</a:t>
            </a:r>
            <a:r>
              <a:rPr lang="en-GB" sz="1350" b="1" dirty="0">
                <a:latin typeface="+mj-lt"/>
              </a:rPr>
              <a:t>Delivery</a:t>
            </a:r>
            <a:r>
              <a:rPr lang="en-GB" sz="1350" dirty="0">
                <a:latin typeface="+mj-lt"/>
              </a:rPr>
              <a:t> from CCS 25.1) to be set as "VF UK IT - Release Management“</a:t>
            </a:r>
          </a:p>
          <a:p>
            <a:pPr marL="0" indent="0" fontAlgn="ctr">
              <a:spcAft>
                <a:spcPts val="0"/>
              </a:spcAft>
              <a:buNone/>
            </a:pPr>
            <a:endParaRPr lang="en-GB" sz="1350" dirty="0">
              <a:latin typeface="+mj-lt"/>
            </a:endParaRPr>
          </a:p>
          <a:p>
            <a:pPr fontAlgn="ctr">
              <a:spcAft>
                <a:spcPts val="0"/>
              </a:spcAft>
            </a:pPr>
            <a:r>
              <a:rPr lang="en-GB" sz="1350" dirty="0">
                <a:latin typeface="+mj-lt"/>
              </a:rPr>
              <a:t>As and when identified, Delivery Manager to link the respective Defect Management ADO bugs within the Feature.</a:t>
            </a:r>
          </a:p>
          <a:p>
            <a:pPr marL="0" indent="0" fontAlgn="ctr">
              <a:spcAft>
                <a:spcPts val="0"/>
              </a:spcAft>
              <a:buNone/>
            </a:pPr>
            <a:endParaRPr lang="en-GB" sz="1350" dirty="0">
              <a:latin typeface="+mj-lt"/>
            </a:endParaRPr>
          </a:p>
          <a:p>
            <a:pPr fontAlgn="ctr">
              <a:spcAft>
                <a:spcPts val="0"/>
              </a:spcAft>
            </a:pPr>
            <a:r>
              <a:rPr lang="en-GB" sz="1350" b="1" dirty="0">
                <a:latin typeface="+mj-lt"/>
              </a:rPr>
              <a:t>Bugs</a:t>
            </a:r>
            <a:r>
              <a:rPr lang="en-GB" sz="1350" dirty="0">
                <a:latin typeface="+mj-lt"/>
              </a:rPr>
              <a:t> to be created in Defect Management ADO portal</a:t>
            </a:r>
            <a:r>
              <a:rPr lang="en-GB" dirty="0">
                <a:latin typeface="Vodafone Rg (Headings)"/>
              </a:rPr>
              <a:t> </a:t>
            </a:r>
            <a:r>
              <a:rPr lang="en-GB" sz="1350" dirty="0">
                <a:latin typeface="+mj-lt"/>
              </a:rPr>
              <a:t>as below</a:t>
            </a:r>
          </a:p>
          <a:p>
            <a:pPr lvl="1" fontAlgn="ctr">
              <a:spcAft>
                <a:spcPts val="0"/>
              </a:spcAft>
            </a:pPr>
            <a:r>
              <a:rPr lang="en-GB" sz="1100" dirty="0">
                <a:latin typeface="+mj-lt"/>
              </a:rPr>
              <a:t>Area "</a:t>
            </a:r>
            <a:r>
              <a:rPr lang="en-GB" sz="1100" dirty="0" err="1">
                <a:latin typeface="+mj-lt"/>
              </a:rPr>
              <a:t>Vodafone_CJT_FUT</a:t>
            </a:r>
            <a:r>
              <a:rPr lang="en-GB" sz="1100" dirty="0">
                <a:latin typeface="+mj-lt"/>
              </a:rPr>
              <a:t> team“ or “Hypercare” to be selected accordingly.</a:t>
            </a:r>
          </a:p>
          <a:p>
            <a:pPr lvl="1" fontAlgn="ctr">
              <a:spcAft>
                <a:spcPts val="0"/>
              </a:spcAft>
            </a:pPr>
            <a:r>
              <a:rPr lang="en-GB" sz="1125" dirty="0">
                <a:latin typeface="+mj-lt"/>
              </a:rPr>
              <a:t>Below fields should be populated and relevant information updated on the ticket before assigning to the appropriate team.</a:t>
            </a:r>
          </a:p>
          <a:p>
            <a:pPr lvl="2" fontAlgn="ctr">
              <a:spcAft>
                <a:spcPts val="0"/>
              </a:spcAft>
              <a:buFont typeface="Courier New" panose="02070309020205020404" pitchFamily="49" charset="0"/>
              <a:buChar char="o"/>
            </a:pPr>
            <a:r>
              <a:rPr lang="en-GB" sz="1100" dirty="0">
                <a:latin typeface="+mj-lt"/>
              </a:rPr>
              <a:t>Test Level field - "CJT“, "FUT“ or “Hypercare” to be selected accordingly.</a:t>
            </a:r>
          </a:p>
          <a:p>
            <a:pPr lvl="2" fontAlgn="ctr">
              <a:spcAft>
                <a:spcPts val="0"/>
              </a:spcAft>
              <a:buFont typeface="Courier New" panose="02070309020205020404" pitchFamily="49" charset="0"/>
              <a:buChar char="o"/>
            </a:pPr>
            <a:r>
              <a:rPr lang="en-GB" sz="1100" dirty="0">
                <a:latin typeface="+mj-lt"/>
              </a:rPr>
              <a:t>Test Type field - "Customer Journey Testing (CJT)“, "Friendly User Testing (FUT)“ or “Hypercare” to be selected accordingly.</a:t>
            </a:r>
          </a:p>
          <a:p>
            <a:pPr marL="200020" lvl="1" indent="0" fontAlgn="ctr">
              <a:spcAft>
                <a:spcPts val="0"/>
              </a:spcAft>
              <a:buNone/>
            </a:pPr>
            <a:endParaRPr lang="en-GB" sz="950" dirty="0">
              <a:latin typeface="+mj-lt"/>
            </a:endParaRPr>
          </a:p>
          <a:p>
            <a:pPr fontAlgn="ctr">
              <a:spcAft>
                <a:spcPts val="0"/>
              </a:spcAft>
            </a:pPr>
            <a:r>
              <a:rPr lang="en-GB" sz="1350" dirty="0">
                <a:latin typeface="+mj-lt"/>
              </a:rPr>
              <a:t>For replication with SIT team assign as below</a:t>
            </a:r>
          </a:p>
          <a:p>
            <a:pPr lvl="1" fontAlgn="ctr">
              <a:spcAft>
                <a:spcPts val="0"/>
              </a:spcAft>
            </a:pPr>
            <a:r>
              <a:rPr lang="en-GB" sz="1100" dirty="0">
                <a:latin typeface="+mj-lt"/>
              </a:rPr>
              <a:t>Area - "VF UK IT-Test And Defect Management\VOIS_SIT Test Team“</a:t>
            </a:r>
          </a:p>
          <a:p>
            <a:pPr lvl="1" fontAlgn="ctr">
              <a:spcAft>
                <a:spcPts val="0"/>
              </a:spcAft>
            </a:pPr>
            <a:r>
              <a:rPr lang="en-GB" sz="1100" dirty="0">
                <a:latin typeface="+mj-lt"/>
              </a:rPr>
              <a:t>Iteration Path "VF UK IT-Test And Defect Management\UK CIT_CCS Releases - FY 24 25\CCS 24.9B"). </a:t>
            </a:r>
            <a:r>
              <a:rPr lang="en-GB" sz="1100" b="1" dirty="0">
                <a:latin typeface="+mj-lt"/>
              </a:rPr>
              <a:t>Note: The release iteration path should be updated based on the release which the project is targeting to deliver the fix.</a:t>
            </a:r>
          </a:p>
          <a:p>
            <a:pPr fontAlgn="ctr">
              <a:spcAft>
                <a:spcPts val="0"/>
              </a:spcAft>
            </a:pPr>
            <a:endParaRPr lang="en-GB" sz="1350" dirty="0">
              <a:latin typeface="+mj-lt"/>
            </a:endParaRPr>
          </a:p>
          <a:p>
            <a:pPr fontAlgn="ctr">
              <a:spcAft>
                <a:spcPts val="0"/>
              </a:spcAft>
            </a:pPr>
            <a:r>
              <a:rPr lang="en-GB" sz="1350" dirty="0">
                <a:latin typeface="+mj-lt"/>
              </a:rPr>
              <a:t>Overall ownership of the CJT, FUT or Hypercare ADO bugs is with the Delivery Manager, however, they are welcome to join the appropriate daily release call to check the status.</a:t>
            </a:r>
          </a:p>
          <a:p>
            <a:pPr marL="0" indent="0">
              <a:spcBef>
                <a:spcPts val="600"/>
              </a:spcBef>
              <a:spcAft>
                <a:spcPts val="0"/>
              </a:spcAft>
              <a:buNone/>
            </a:pPr>
            <a:endParaRPr lang="en-GB" b="1" dirty="0">
              <a:solidFill>
                <a:srgbClr val="7030A0"/>
              </a:solidFill>
              <a:latin typeface="+mj-lt"/>
            </a:endParaRPr>
          </a:p>
        </p:txBody>
      </p:sp>
      <p:sp>
        <p:nvSpPr>
          <p:cNvPr id="6" name="Title 5"/>
          <p:cNvSpPr>
            <a:spLocks noGrp="1"/>
          </p:cNvSpPr>
          <p:nvPr>
            <p:ph type="title"/>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GB" sz="2000" b="0" dirty="0">
                <a:solidFill>
                  <a:schemeClr val="accent1"/>
                </a:solidFill>
                <a:latin typeface="Vodafone Rg"/>
                <a:ea typeface="+mj-ea"/>
                <a:cs typeface="+mj-cs"/>
              </a:rPr>
              <a:t>FUT, CJT &amp; ELS/Hypercare defect alignment with Release</a:t>
            </a:r>
          </a:p>
        </p:txBody>
      </p:sp>
      <p:sp>
        <p:nvSpPr>
          <p:cNvPr id="5" name="Slide Number Placeholder 4"/>
          <p:cNvSpPr>
            <a:spLocks noGrp="1"/>
          </p:cNvSpPr>
          <p:nvPr>
            <p:ph type="sldNum" sz="quarter" idx="15"/>
          </p:nvPr>
        </p:nvSpPr>
        <p:spPr>
          <a:xfrm>
            <a:off x="4365297" y="4968000"/>
            <a:ext cx="413410" cy="180000"/>
          </a:xfrm>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defTabSz="914355"/>
            <a:fld id="{72A83A2B-3358-44F8-83A0-4598795D8FB5}" type="slidenum">
              <a:rPr lang="en-GB">
                <a:solidFill>
                  <a:srgbClr val="000000"/>
                </a:solidFill>
                <a:latin typeface="Vodafone Rg"/>
              </a:rPr>
              <a:pPr defTabSz="914355"/>
              <a:t>50</a:t>
            </a:fld>
            <a:endParaRPr lang="en-GB" dirty="0">
              <a:solidFill>
                <a:srgbClr val="000000"/>
              </a:solidFill>
              <a:latin typeface="Vodafone Rg"/>
            </a:endParaRPr>
          </a:p>
        </p:txBody>
      </p:sp>
    </p:spTree>
    <p:extLst>
      <p:ext uri="{BB962C8B-B14F-4D97-AF65-F5344CB8AC3E}">
        <p14:creationId xmlns:p14="http://schemas.microsoft.com/office/powerpoint/2010/main" val="38734112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E87F-7E67-A3BA-3861-C5610332462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3E4C34-3FCE-1E79-A535-F589D9AD8467}"/>
              </a:ext>
            </a:extLst>
          </p:cNvPr>
          <p:cNvSpPr>
            <a:spLocks noGrp="1"/>
          </p:cNvSpPr>
          <p:nvPr>
            <p:ph type="ctrTitle"/>
          </p:nvPr>
        </p:nvSpPr>
        <p:spPr/>
        <p:txBody>
          <a:bodyPr/>
          <a:lstStyle/>
          <a:p>
            <a:r>
              <a:rPr lang="en-GB" dirty="0"/>
              <a:t>Thank You</a:t>
            </a:r>
            <a:endParaRPr lang="en-GB" sz="1200" dirty="0"/>
          </a:p>
        </p:txBody>
      </p:sp>
      <p:sp>
        <p:nvSpPr>
          <p:cNvPr id="4" name="Slide Number Placeholder 3">
            <a:extLst>
              <a:ext uri="{FF2B5EF4-FFF2-40B4-BE49-F238E27FC236}">
                <a16:creationId xmlns:a16="http://schemas.microsoft.com/office/drawing/2014/main" id="{5815012E-EC55-B0EC-5FB7-9D42811751B2}"/>
              </a:ext>
            </a:extLst>
          </p:cNvPr>
          <p:cNvSpPr>
            <a:spLocks noGrp="1"/>
          </p:cNvSpPr>
          <p:nvPr>
            <p:ph type="sldNum" sz="quarter" idx="11"/>
          </p:nvPr>
        </p:nvSpPr>
        <p:spPr/>
        <p:txBody>
          <a:bodyPr/>
          <a:lstStyle/>
          <a:p>
            <a:fld id="{72A83A2B-3358-44F8-83A0-4598795D8FB5}" type="slidenum">
              <a:rPr lang="en-GB" smtClean="0"/>
              <a:pPr/>
              <a:t>51</a:t>
            </a:fld>
            <a:endParaRPr lang="en-GB"/>
          </a:p>
        </p:txBody>
      </p:sp>
    </p:spTree>
    <p:extLst>
      <p:ext uri="{BB962C8B-B14F-4D97-AF65-F5344CB8AC3E}">
        <p14:creationId xmlns:p14="http://schemas.microsoft.com/office/powerpoint/2010/main" val="177328702"/>
      </p:ext>
    </p:extLst>
  </p:cSld>
  <p:clrMapOvr>
    <a:masterClrMapping/>
  </p:clrMapOvr>
</p:sld>
</file>

<file path=ppt/theme/theme1.xml><?xml version="1.0" encoding="utf-8"?>
<a:theme xmlns:a="http://schemas.openxmlformats.org/drawingml/2006/main" name="1_Vodafone">
  <a:themeElements>
    <a:clrScheme name="Vodafone 2013">
      <a:dk1>
        <a:srgbClr val="000000"/>
      </a:dk1>
      <a:lt1>
        <a:srgbClr val="FFFFFF"/>
      </a:lt1>
      <a:dk2>
        <a:srgbClr val="5E2750"/>
      </a:dk2>
      <a:lt2>
        <a:srgbClr val="4A4D4E"/>
      </a:lt2>
      <a:accent1>
        <a:srgbClr val="E60000"/>
      </a:accent1>
      <a:accent2>
        <a:srgbClr val="A8B400"/>
      </a:accent2>
      <a:accent3>
        <a:srgbClr val="9C2AA0"/>
      </a:accent3>
      <a:accent4>
        <a:srgbClr val="EB9700"/>
      </a:accent4>
      <a:accent5>
        <a:srgbClr val="00B0CA"/>
      </a:accent5>
      <a:accent6>
        <a:srgbClr val="FECB00"/>
      </a:accent6>
      <a:hlink>
        <a:srgbClr val="E60000"/>
      </a:hlink>
      <a:folHlink>
        <a:srgbClr val="E60000"/>
      </a:folHlink>
    </a:clrScheme>
    <a:fontScheme name="Vodafone">
      <a:majorFont>
        <a:latin typeface="Vodafone Rg"/>
        <a:ea typeface=""/>
        <a:cs typeface=""/>
      </a:majorFont>
      <a:minorFont>
        <a:latin typeface="Vodafone Rg"/>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5400" cap="flat" cmpd="sng" algn="ctr">
          <a:noFill/>
          <a:prstDash val="solid"/>
        </a:ln>
        <a:effectLst/>
      </a:spPr>
      <a:bodyPr spcFirstLastPara="0" vert="horz" wrap="square" lIns="6350" tIns="6350" rIns="6350" bIns="6350" numCol="1" spcCol="1270" rtlCol="0" anchor="ctr" anchorCtr="0">
        <a:noAutofit/>
      </a:bodyPr>
      <a:lstStyle>
        <a:defPPr algn="ctr" defTabSz="444500">
          <a:lnSpc>
            <a:spcPct val="90000"/>
          </a:lnSpc>
          <a:spcBef>
            <a:spcPct val="0"/>
          </a:spcBef>
          <a:spcAft>
            <a:spcPct val="35000"/>
          </a:spcAft>
          <a:defRPr sz="1000" kern="1200" dirty="0" smtClean="0">
            <a:solidFill>
              <a:srgbClr val="34342B"/>
            </a:solidFill>
            <a:latin typeface="Vodafone Rg" pitchFamily="34" charset="0"/>
            <a:ea typeface="+mn-ea"/>
            <a:cs typeface="+mn-cs"/>
          </a:defRPr>
        </a:defPPr>
      </a:lstStyle>
      <a:style>
        <a:lnRef idx="2">
          <a:scrgbClr r="0" g="0" b="0"/>
        </a:lnRef>
        <a:fillRef idx="1">
          <a:scrgbClr r="0" g="0" b="0"/>
        </a:fillRef>
        <a:effectRef idx="0">
          <a:scrgbClr r="0" g="0" b="0"/>
        </a:effectRef>
        <a:fontRef idx="minor">
          <a:schemeClr val="lt1"/>
        </a:fontRef>
      </a:style>
    </a:spDef>
    <a:txDef>
      <a:spPr/>
      <a:bodyPr wrap="square" lIns="0" tIns="0" rIns="0" bIns="0" rtlCol="0">
        <a:noAutofit/>
      </a:bodyPr>
      <a:lstStyle>
        <a:defPPr marL="0" indent="0">
          <a:buFont typeface="Arial" pitchFamily="34" charset="0"/>
          <a:buNone/>
          <a:defRPr dirty="0" smtClean="0">
            <a:latin typeface="Vodafone Rg" pitchFamily="34" charset="0"/>
          </a:defRPr>
        </a:defPPr>
      </a:lstStyle>
    </a:txDef>
  </a:objectDefaults>
  <a:extraClrSchemeLst/>
  <a:extLst>
    <a:ext uri="{05A4C25C-085E-4340-85A3-A5531E510DB2}">
      <thm15:themeFamily xmlns:thm15="http://schemas.microsoft.com/office/thememl/2012/main" name="VF_ID_PPT Template_16x9_FINAL.pptx" id="{010C958C-15E1-428D-9367-4D9E86F93742}" vid="{83371500-DBB3-4FDC-8D29-84D8304063F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504cafb-c983-4e47-bcaf-a5581da3406e" xsi:nil="true"/>
    <lcf76f155ced4ddcb4097134ff3c332f xmlns="2db5b342-eb59-4b7b-afba-4c8c6b016ad5">
      <Terms xmlns="http://schemas.microsoft.com/office/infopath/2007/PartnerControls"/>
    </lcf76f155ced4ddcb4097134ff3c332f>
    <SharedWithUsers xmlns="d0eb9e5a-a16b-4b3c-9a8b-70e07a02d7ef">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648FA249F4FE947848749BE961AE687" ma:contentTypeVersion="17" ma:contentTypeDescription="Create a new document." ma:contentTypeScope="" ma:versionID="187bddfa019813e02aab73bbc5a9ef4e">
  <xsd:schema xmlns:xsd="http://www.w3.org/2001/XMLSchema" xmlns:xs="http://www.w3.org/2001/XMLSchema" xmlns:p="http://schemas.microsoft.com/office/2006/metadata/properties" xmlns:ns2="2db5b342-eb59-4b7b-afba-4c8c6b016ad5" xmlns:ns3="d0eb9e5a-a16b-4b3c-9a8b-70e07a02d7ef" xmlns:ns4="6504cafb-c983-4e47-bcaf-a5581da3406e" targetNamespace="http://schemas.microsoft.com/office/2006/metadata/properties" ma:root="true" ma:fieldsID="2728fa605b7f1bcb9b854122f0c71dde" ns2:_="" ns3:_="" ns4:_="">
    <xsd:import namespace="2db5b342-eb59-4b7b-afba-4c8c6b016ad5"/>
    <xsd:import namespace="d0eb9e5a-a16b-4b3c-9a8b-70e07a02d7ef"/>
    <xsd:import namespace="6504cafb-c983-4e47-bcaf-a5581da3406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ObjectDetectorVersions" minOccurs="0"/>
                <xsd:element ref="ns2:MediaServiceSearchProperties"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b5b342-eb59-4b7b-afba-4c8c6b016a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1140db7b-894d-4be5-b4f9-3216f8c45b4b"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0eb9e5a-a16b-4b3c-9a8b-70e07a02d7ef"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504cafb-c983-4e47-bcaf-a5581da3406e"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9528011f-f854-424e-a71b-1b1970ae3843}" ma:internalName="TaxCatchAll" ma:showField="CatchAllData" ma:web="d0eb9e5a-a16b-4b3c-9a8b-70e07a02d7e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7DC444-F298-4F4C-B9FF-94D7902BA083}">
  <ds:schemaRefs>
    <ds:schemaRef ds:uri="http://schemas.microsoft.com/office/2006/documentManagement/types"/>
    <ds:schemaRef ds:uri="http://www.w3.org/XML/1998/namespace"/>
    <ds:schemaRef ds:uri="d0eb9e5a-a16b-4b3c-9a8b-70e07a02d7ef"/>
    <ds:schemaRef ds:uri="http://schemas.microsoft.com/office/2006/metadata/properties"/>
    <ds:schemaRef ds:uri="http://schemas.openxmlformats.org/package/2006/metadata/core-properties"/>
    <ds:schemaRef ds:uri="http://schemas.microsoft.com/office/infopath/2007/PartnerControls"/>
    <ds:schemaRef ds:uri="http://purl.org/dc/terms/"/>
    <ds:schemaRef ds:uri="6504cafb-c983-4e47-bcaf-a5581da3406e"/>
    <ds:schemaRef ds:uri="2db5b342-eb59-4b7b-afba-4c8c6b016ad5"/>
    <ds:schemaRef ds:uri="http://purl.org/dc/dcmitype/"/>
    <ds:schemaRef ds:uri="http://purl.org/dc/elements/1.1/"/>
  </ds:schemaRefs>
</ds:datastoreItem>
</file>

<file path=customXml/itemProps2.xml><?xml version="1.0" encoding="utf-8"?>
<ds:datastoreItem xmlns:ds="http://schemas.openxmlformats.org/officeDocument/2006/customXml" ds:itemID="{3E9FF5FE-91B0-42AB-A9EB-068B03B8F930}">
  <ds:schemaRefs>
    <ds:schemaRef ds:uri="http://schemas.microsoft.com/sharepoint/v3/contenttype/forms"/>
  </ds:schemaRefs>
</ds:datastoreItem>
</file>

<file path=customXml/itemProps3.xml><?xml version="1.0" encoding="utf-8"?>
<ds:datastoreItem xmlns:ds="http://schemas.openxmlformats.org/officeDocument/2006/customXml" ds:itemID="{35BBC213-9664-442F-87C2-D1C6AB5E31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b5b342-eb59-4b7b-afba-4c8c6b016ad5"/>
    <ds:schemaRef ds:uri="d0eb9e5a-a16b-4b3c-9a8b-70e07a02d7ef"/>
    <ds:schemaRef ds:uri="6504cafb-c983-4e47-bcaf-a5581da340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359f705-2ba0-454b-9cfc-6ce5bcaac040}" enabled="1" method="Privileged" siteId="{68283f3b-8487-4c86-adb3-a5228f18b893}" contentBits="2" removed="0"/>
</clbl:labelList>
</file>

<file path=docProps/app.xml><?xml version="1.0" encoding="utf-8"?>
<Properties xmlns="http://schemas.openxmlformats.org/officeDocument/2006/extended-properties" xmlns:vt="http://schemas.openxmlformats.org/officeDocument/2006/docPropsVTypes">
  <Template>VF_PowerPoint_Template_2022</Template>
  <TotalTime>0</TotalTime>
  <Words>8518</Words>
  <Application>Microsoft Office PowerPoint</Application>
  <PresentationFormat>On-screen Show (16:9)</PresentationFormat>
  <Paragraphs>1075</Paragraphs>
  <Slides>51</Slides>
  <Notes>29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51</vt:i4>
      </vt:variant>
    </vt:vector>
  </HeadingPairs>
  <TitlesOfParts>
    <vt:vector size="64" baseType="lpstr">
      <vt:lpstr>Aptos Narrow</vt:lpstr>
      <vt:lpstr>Arial</vt:lpstr>
      <vt:lpstr>Calibri</vt:lpstr>
      <vt:lpstr>Courier New</vt:lpstr>
      <vt:lpstr>Graphik</vt:lpstr>
      <vt:lpstr>Segoe UI</vt:lpstr>
      <vt:lpstr>Vodafone ExB</vt:lpstr>
      <vt:lpstr>Vodafone Lt</vt:lpstr>
      <vt:lpstr>Vodafone Rg</vt:lpstr>
      <vt:lpstr>Vodafone Rg (Body)</vt:lpstr>
      <vt:lpstr>Vodafone Rg (Headings)</vt:lpstr>
      <vt:lpstr>Wingdings</vt:lpstr>
      <vt:lpstr>1_Vodafone</vt:lpstr>
      <vt:lpstr>CCS Release Management TDM Guide</vt:lpstr>
      <vt:lpstr>Agenda</vt:lpstr>
      <vt:lpstr>Release Introduction</vt:lpstr>
      <vt:lpstr>CCS Helix –Model</vt:lpstr>
      <vt:lpstr>Release Schedule</vt:lpstr>
      <vt:lpstr>High Level Timeline – CCS, ECS &amp; Digital  || Financial Year 2026/27</vt:lpstr>
      <vt:lpstr>CCS Helix – Release Schedule</vt:lpstr>
      <vt:lpstr>Schedule || Table Views</vt:lpstr>
      <vt:lpstr>Release Governance </vt:lpstr>
      <vt:lpstr>PowerPoint Presentation</vt:lpstr>
      <vt:lpstr>PowerPoint Presentation</vt:lpstr>
      <vt:lpstr>PowerPoint Presentation</vt:lpstr>
      <vt:lpstr>PowerPoint Presentation</vt:lpstr>
      <vt:lpstr>PowerPoint Presentation</vt:lpstr>
      <vt:lpstr>PowerPoint Presentation</vt:lpstr>
      <vt:lpstr>Engaging with Release Management</vt:lpstr>
      <vt:lpstr>Check Point 0 &amp; Release Planning Meetings (RPM)</vt:lpstr>
      <vt:lpstr>Release RAGs </vt:lpstr>
      <vt:lpstr>Release Rags || Definitions</vt:lpstr>
      <vt:lpstr>Journey / Process Work-Flow</vt:lpstr>
      <vt:lpstr>High level journey – Visual</vt:lpstr>
      <vt:lpstr>High level journey - Summary</vt:lpstr>
      <vt:lpstr>Detailed workflow who does what #1</vt:lpstr>
      <vt:lpstr>Detailed workflow who does what #2</vt:lpstr>
      <vt:lpstr>Detailed workflow who does what #3</vt:lpstr>
      <vt:lpstr>Feature / Delivery / Function || State Ownership &amp;  Synchronisation </vt:lpstr>
      <vt:lpstr>Features</vt:lpstr>
      <vt:lpstr>How to update the Feature in P2D</vt:lpstr>
      <vt:lpstr>How to Move a Feature from P2D to RM ADO</vt:lpstr>
      <vt:lpstr>Updating a Feature in RM ADO || Key Fields – Details &amp; Design Tabs</vt:lpstr>
      <vt:lpstr>Updating a Feature in RM ADO || Locked Fields are Now in Delivery</vt:lpstr>
      <vt:lpstr>Delivery work item</vt:lpstr>
      <vt:lpstr>Creating a Delivery</vt:lpstr>
      <vt:lpstr>Updating a Delivery || Key Fields </vt:lpstr>
      <vt:lpstr>ADO || Delivery Consumption Plans</vt:lpstr>
      <vt:lpstr>ADO || Application (Function) Switches</vt:lpstr>
      <vt:lpstr>Engaging with Other (Non-Dev) Teams || SIT, VES, PAT, etc.</vt:lpstr>
      <vt:lpstr>Functions</vt:lpstr>
      <vt:lpstr>Functions || Key Fields </vt:lpstr>
      <vt:lpstr>How to be committed into a release? </vt:lpstr>
      <vt:lpstr>Project Scope &amp; Status || Key Info</vt:lpstr>
      <vt:lpstr>ADO || Committing Candidates into a Release</vt:lpstr>
      <vt:lpstr>PowerPoint Presentation</vt:lpstr>
      <vt:lpstr>Change Requests </vt:lpstr>
      <vt:lpstr>Change Requests &amp; Change Control || Overview </vt:lpstr>
      <vt:lpstr>Change Requests &amp; Change Control || Process</vt:lpstr>
      <vt:lpstr>How to create a Change Request #1</vt:lpstr>
      <vt:lpstr>How to create a Change Request #2</vt:lpstr>
      <vt:lpstr>FUT, CJT &amp; ELS/Hypercare </vt:lpstr>
      <vt:lpstr>FUT, CJT &amp; ELS/Hypercare defect alignment with Release</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over two lines</dc:title>
  <dc:subject/>
  <dc:creator>Marine Carnel, Vodafone</dc:creator>
  <cp:keywords/>
  <dc:description/>
  <cp:lastModifiedBy>Sara Kamal, Vodafone</cp:lastModifiedBy>
  <cp:revision>22</cp:revision>
  <cp:lastPrinted>2011-08-30T12:20:26Z</cp:lastPrinted>
  <dcterms:created xsi:type="dcterms:W3CDTF">2023-02-20T15:36:42Z</dcterms:created>
  <dcterms:modified xsi:type="dcterms:W3CDTF">2026-06-23T08:24:21Z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0x010100E648FA249F4FE947848749BE961AE687</vt:lpwstr>
  </property>
  <property fmtid="{D5CDD505-2E9C-101B-9397-08002B2CF9AE}" pid="4" name="MSIP_Label_0359f705-2ba0-454b-9cfc-6ce5bcaac040_Enabled">
    <vt:lpwstr>true</vt:lpwstr>
  </property>
  <property fmtid="{D5CDD505-2E9C-101B-9397-08002B2CF9AE}" pid="5" name="MSIP_Label_0359f705-2ba0-454b-9cfc-6ce5bcaac040_SetDate">
    <vt:lpwstr>2023-02-20T15:38:02Z</vt:lpwstr>
  </property>
  <property fmtid="{D5CDD505-2E9C-101B-9397-08002B2CF9AE}" pid="6" name="MSIP_Label_0359f705-2ba0-454b-9cfc-6ce5bcaac040_Method">
    <vt:lpwstr>Privileged</vt:lpwstr>
  </property>
  <property fmtid="{D5CDD505-2E9C-101B-9397-08002B2CF9AE}" pid="7" name="MSIP_Label_0359f705-2ba0-454b-9cfc-6ce5bcaac040_Name">
    <vt:lpwstr>0359f705-2ba0-454b-9cfc-6ce5bcaac040</vt:lpwstr>
  </property>
  <property fmtid="{D5CDD505-2E9C-101B-9397-08002B2CF9AE}" pid="8" name="MSIP_Label_0359f705-2ba0-454b-9cfc-6ce5bcaac040_SiteId">
    <vt:lpwstr>68283f3b-8487-4c86-adb3-a5228f18b893</vt:lpwstr>
  </property>
  <property fmtid="{D5CDD505-2E9C-101B-9397-08002B2CF9AE}" pid="9" name="MSIP_Label_0359f705-2ba0-454b-9cfc-6ce5bcaac040_ActionId">
    <vt:lpwstr>7654769e-36a0-4a7d-9128-2c493c0134fb</vt:lpwstr>
  </property>
  <property fmtid="{D5CDD505-2E9C-101B-9397-08002B2CF9AE}" pid="10" name="MSIP_Label_0359f705-2ba0-454b-9cfc-6ce5bcaac040_ContentBits">
    <vt:lpwstr>2</vt:lpwstr>
  </property>
  <property fmtid="{D5CDD505-2E9C-101B-9397-08002B2CF9AE}" pid="11" name="Order">
    <vt:r8>24100</vt:r8>
  </property>
  <property fmtid="{D5CDD505-2E9C-101B-9397-08002B2CF9AE}" pid="12" name="xd_Signature">
    <vt:bool>false</vt:bool>
  </property>
  <property fmtid="{D5CDD505-2E9C-101B-9397-08002B2CF9AE}" pid="13" name="xd_ProgID">
    <vt:lpwstr/>
  </property>
  <property fmtid="{D5CDD505-2E9C-101B-9397-08002B2CF9AE}" pid="14" name="_ColorHex">
    <vt:lpwstr/>
  </property>
  <property fmtid="{D5CDD505-2E9C-101B-9397-08002B2CF9AE}" pid="15" name="_Emoji">
    <vt:lpwstr/>
  </property>
  <property fmtid="{D5CDD505-2E9C-101B-9397-08002B2CF9AE}" pid="16" name="ComplianceAssetId">
    <vt:lpwstr/>
  </property>
  <property fmtid="{D5CDD505-2E9C-101B-9397-08002B2CF9AE}" pid="17" name="TemplateUrl">
    <vt:lpwstr/>
  </property>
  <property fmtid="{D5CDD505-2E9C-101B-9397-08002B2CF9AE}" pid="18" name="_ExtendedDescription">
    <vt:lpwstr/>
  </property>
  <property fmtid="{D5CDD505-2E9C-101B-9397-08002B2CF9AE}" pid="19" name="_ColorTag">
    <vt:lpwstr/>
  </property>
  <property fmtid="{D5CDD505-2E9C-101B-9397-08002B2CF9AE}" pid="20" name="TriggerFlowInfo">
    <vt:lpwstr/>
  </property>
  <property fmtid="{D5CDD505-2E9C-101B-9397-08002B2CF9AE}" pid="21" name="_dlc_DocIdItemGuid">
    <vt:lpwstr>d6897b6f-b9ec-45f3-9e02-72aa5ceca44c</vt:lpwstr>
  </property>
  <property fmtid="{D5CDD505-2E9C-101B-9397-08002B2CF9AE}" pid="22" name="MediaServiceImageTags">
    <vt:lpwstr/>
  </property>
</Properties>
</file>